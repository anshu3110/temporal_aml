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Yellowtail" charset="1" panose="02000503000000000000"/>
      <p:regular r:id="rId39"/>
    </p:embeddedFont>
    <p:embeddedFont>
      <p:font typeface="Archivo Narrow" charset="1" panose="020B0506020202020B04"/>
      <p:regular r:id="rId40"/>
    </p:embeddedFont>
    <p:embeddedFont>
      <p:font typeface="Archivo Narrow Bold" charset="1" panose="020B0806020202020B04"/>
      <p:regular r:id="rId41"/>
    </p:embeddedFont>
    <p:embeddedFont>
      <p:font typeface="Times New Roman Bold" charset="1" panose="02020803070505020304"/>
      <p:regular r:id="rId42"/>
    </p:embeddedFont>
    <p:embeddedFont>
      <p:font typeface="Times New Roman" charset="1" panose="02020603050405020304"/>
      <p:regular r:id="rId43"/>
    </p:embeddedFont>
    <p:embeddedFont>
      <p:font typeface="Arial" charset="1" panose="020B0604020202020204"/>
      <p:regular r:id="rId45"/>
    </p:embeddedFont>
    <p:embeddedFont>
      <p:font typeface="IBM Plex Sans Bold" charset="1" panose="020B0803050203000203"/>
      <p:regular r:id="rId52"/>
    </p:embeddedFont>
    <p:embeddedFont>
      <p:font typeface="TT Ramillas Bold" charset="1" panose="020E0000080000020004"/>
      <p:regular r:id="rId53"/>
    </p:embeddedFont>
    <p:embeddedFont>
      <p:font typeface="TT Ramillas" charset="1" panose="020E0000080000020004"/>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notesSlides/notesSlide2.xml" Type="http://schemas.openxmlformats.org/officeDocument/2006/relationships/notesSlide"/><Relationship Id="rId45" Target="fonts/font45.fntdata" Type="http://schemas.openxmlformats.org/officeDocument/2006/relationships/font"/><Relationship Id="rId46" Target="notesSlides/notesSlide3.xml" Type="http://schemas.openxmlformats.org/officeDocument/2006/relationships/notesSlide"/><Relationship Id="rId47" Target="notesSlides/notesSlide4.xml" Type="http://schemas.openxmlformats.org/officeDocument/2006/relationships/notesSlide"/><Relationship Id="rId48" Target="notesSlides/notesSlide5.xml" Type="http://schemas.openxmlformats.org/officeDocument/2006/relationships/notesSlide"/><Relationship Id="rId49" Target="notesSlides/notesSlide6.xml" Type="http://schemas.openxmlformats.org/officeDocument/2006/relationships/notesSlide"/><Relationship Id="rId5" Target="tableStyles.xml" Type="http://schemas.openxmlformats.org/officeDocument/2006/relationships/tableStyles"/><Relationship Id="rId50" Target="notesSlides/notesSlide7.xml" Type="http://schemas.openxmlformats.org/officeDocument/2006/relationships/notesSlide"/><Relationship Id="rId51" Target="notesSlides/notesSlide8.xml" Type="http://schemas.openxmlformats.org/officeDocument/2006/relationships/notesSlide"/><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notesSlides/notesSlide9.xml" Type="http://schemas.openxmlformats.org/officeDocument/2006/relationships/notesSlide"/><Relationship Id="rId56" Target="notesSlides/notesSlide10.xml" Type="http://schemas.openxmlformats.org/officeDocument/2006/relationships/notesSlide"/><Relationship Id="rId57" Target="notesSlides/notesSlide11.xml" Type="http://schemas.openxmlformats.org/officeDocument/2006/relationships/notesSlide"/><Relationship Id="rId58" Target="notesSlides/notesSlide12.xml" Type="http://schemas.openxmlformats.org/officeDocument/2006/relationships/notesSlide"/><Relationship Id="rId59" Target="notesSlides/notesSlide13.xml" Type="http://schemas.openxmlformats.org/officeDocument/2006/relationships/notesSlide"/><Relationship Id="rId6" Target="slides/slide1.xml" Type="http://schemas.openxmlformats.org/officeDocument/2006/relationships/slide"/><Relationship Id="rId60" Target="notesSlides/notesSlide14.xml" Type="http://schemas.openxmlformats.org/officeDocument/2006/relationships/notesSlide"/><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notesSlides/notesSlide19.xml" Type="http://schemas.openxmlformats.org/officeDocument/2006/relationships/notesSlide"/><Relationship Id="rId66" Target="notesSlides/notesSlide20.xml" Type="http://schemas.openxmlformats.org/officeDocument/2006/relationships/notesSlide"/><Relationship Id="rId67" Target="notesSlides/notesSlide21.xml" Type="http://schemas.openxmlformats.org/officeDocument/2006/relationships/notesSlide"/><Relationship Id="rId68" Target="notesSlides/notesSlide22.xml" Type="http://schemas.openxmlformats.org/officeDocument/2006/relationships/notesSlide"/><Relationship Id="rId69" Target="notesSlides/notesSlide23.xml" Type="http://schemas.openxmlformats.org/officeDocument/2006/relationships/notesSlide"/><Relationship Id="rId7" Target="slides/slide2.xml" Type="http://schemas.openxmlformats.org/officeDocument/2006/relationships/slide"/><Relationship Id="rId70" Target="notesSlides/notesSlide24.xml" Type="http://schemas.openxmlformats.org/officeDocument/2006/relationships/notesSlide"/><Relationship Id="rId71" Target="notesSlides/notesSlide25.xml" Type="http://schemas.openxmlformats.org/officeDocument/2006/relationships/notesSlide"/><Relationship Id="rId72" Target="notesSlides/notesSlide26.xml" Type="http://schemas.openxmlformats.org/officeDocument/2006/relationships/notesSlide"/><Relationship Id="rId73" Target="notesSlides/notesSlide27.xml" Type="http://schemas.openxmlformats.org/officeDocument/2006/relationships/notesSlide"/><Relationship Id="rId74" Target="notesSlides/notesSlide28.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2</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1.7.2013</a:t>
            </a:r>
          </a:p>
          <a:p>
            <a:r>
              <a:rPr lang="en-US"/>
              <a:t/>
            </a:r>
          </a:p>
          <a:p>
            <a:r>
              <a:rPr lang="en-US"/>
              <a:t>8</a:t>
            </a:r>
          </a:p>
          <a:p>
            <a:r>
              <a:rPr lang="en-US"/>
              <a:t/>
            </a:r>
          </a:p>
          <a:p>
            <a:r>
              <a:rPr lang="en-US"/>
              <a:t>‹#›</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jpeg" Type="http://schemas.openxmlformats.org/officeDocument/2006/relationships/image"/><Relationship Id="rId12" Target="../media/image10.jpeg" Type="http://schemas.openxmlformats.org/officeDocument/2006/relationships/image"/><Relationship Id="rId13" Target="../media/image11.jpeg" Type="http://schemas.openxmlformats.org/officeDocument/2006/relationships/image"/><Relationship Id="rId14" Target="../media/image12.jpe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 Id="rId9"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 Id="rId9"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 Id="rId9" Target="../media/image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 Id="rId8" Target="../media/image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2" Target="../notesSlides/notesSlide1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jpeg" Type="http://schemas.openxmlformats.org/officeDocument/2006/relationships/image"/><Relationship Id="rId2" Target="../notesSlides/notesSlide1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jpeg" Type="http://schemas.openxmlformats.org/officeDocument/2006/relationships/image"/><Relationship Id="rId2" Target="../notesSlides/notesSlide1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jpeg" Type="http://schemas.openxmlformats.org/officeDocument/2006/relationships/image"/><Relationship Id="rId2" Target="../notesSlides/notesSlide1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11" id="11"/>
          <p:cNvGrpSpPr/>
          <p:nvPr/>
        </p:nvGrpSpPr>
        <p:grpSpPr>
          <a:xfrm rot="0">
            <a:off x="-37405" y="-68732"/>
            <a:ext cx="18360057" cy="1152096"/>
            <a:chOff x="0" y="0"/>
            <a:chExt cx="24480076" cy="1536128"/>
          </a:xfrm>
        </p:grpSpPr>
        <p:sp>
          <p:nvSpPr>
            <p:cNvPr name="Freeform 12" id="12"/>
            <p:cNvSpPr/>
            <p:nvPr/>
          </p:nvSpPr>
          <p:spPr>
            <a:xfrm flipH="false" flipV="false" rot="0">
              <a:off x="0" y="0"/>
              <a:ext cx="24480013" cy="1536192"/>
            </a:xfrm>
            <a:custGeom>
              <a:avLst/>
              <a:gdLst/>
              <a:ahLst/>
              <a:cxnLst/>
              <a:rect r="r" b="b" t="t" l="l"/>
              <a:pathLst>
                <a:path h="1536192" w="24480013">
                  <a:moveTo>
                    <a:pt x="0" y="0"/>
                  </a:moveTo>
                  <a:lnTo>
                    <a:pt x="24480013" y="0"/>
                  </a:lnTo>
                  <a:lnTo>
                    <a:pt x="24480013" y="1536192"/>
                  </a:lnTo>
                  <a:lnTo>
                    <a:pt x="0" y="1536192"/>
                  </a:lnTo>
                  <a:close/>
                </a:path>
              </a:pathLst>
            </a:custGeom>
            <a:solidFill>
              <a:srgbClr val="0C5394"/>
            </a:solidFill>
            <a:ln w="14288" cap="sq">
              <a:solidFill>
                <a:srgbClr val="0C5394"/>
              </a:solidFill>
              <a:prstDash val="solid"/>
              <a:miter/>
            </a:ln>
          </p:spPr>
        </p:sp>
      </p:grpSp>
      <p:sp>
        <p:nvSpPr>
          <p:cNvPr name="Freeform 13" id="13"/>
          <p:cNvSpPr/>
          <p:nvPr/>
        </p:nvSpPr>
        <p:spPr>
          <a:xfrm flipH="false" flipV="false" rot="0">
            <a:off x="-26499" y="218608"/>
            <a:ext cx="18349960" cy="1948767"/>
          </a:xfrm>
          <a:custGeom>
            <a:avLst/>
            <a:gdLst/>
            <a:ahLst/>
            <a:cxnLst/>
            <a:rect r="r" b="b" t="t" l="l"/>
            <a:pathLst>
              <a:path h="1948767" w="18349960">
                <a:moveTo>
                  <a:pt x="0" y="0"/>
                </a:moveTo>
                <a:lnTo>
                  <a:pt x="18349961" y="0"/>
                </a:lnTo>
                <a:lnTo>
                  <a:pt x="18349961" y="1948768"/>
                </a:lnTo>
                <a:lnTo>
                  <a:pt x="0" y="1948768"/>
                </a:lnTo>
                <a:lnTo>
                  <a:pt x="0" y="0"/>
                </a:lnTo>
                <a:close/>
              </a:path>
            </a:pathLst>
          </a:custGeom>
          <a:blipFill>
            <a:blip r:embed="rId6">
              <a:extLst>
                <a:ext uri="{96DAC541-7B7A-43D3-8B79-37D633B846F1}">
                  <asvg:svgBlip xmlns:asvg="http://schemas.microsoft.com/office/drawing/2016/SVG/main" r:embed="rId7"/>
                </a:ext>
              </a:extLst>
            </a:blip>
            <a:stretch>
              <a:fillRect l="0" t="-86" r="0" b="-86"/>
            </a:stretch>
          </a:blipFill>
        </p:spPr>
      </p:sp>
      <p:grpSp>
        <p:nvGrpSpPr>
          <p:cNvPr name="Group 14" id="14"/>
          <p:cNvGrpSpPr/>
          <p:nvPr/>
        </p:nvGrpSpPr>
        <p:grpSpPr>
          <a:xfrm rot="0">
            <a:off x="16145323" y="-45530"/>
            <a:ext cx="1303210" cy="2200466"/>
            <a:chOff x="0" y="0"/>
            <a:chExt cx="1737614" cy="2933954"/>
          </a:xfrm>
        </p:grpSpPr>
        <p:sp>
          <p:nvSpPr>
            <p:cNvPr name="Freeform 15" id="15"/>
            <p:cNvSpPr/>
            <p:nvPr/>
          </p:nvSpPr>
          <p:spPr>
            <a:xfrm flipH="false" flipV="false" rot="0">
              <a:off x="0" y="0"/>
              <a:ext cx="1737614" cy="2933954"/>
            </a:xfrm>
            <a:custGeom>
              <a:avLst/>
              <a:gdLst/>
              <a:ahLst/>
              <a:cxnLst/>
              <a:rect r="r" b="b" t="t" l="l"/>
              <a:pathLst>
                <a:path h="2933954" w="1737614">
                  <a:moveTo>
                    <a:pt x="0" y="2933954"/>
                  </a:moveTo>
                  <a:lnTo>
                    <a:pt x="1005332" y="0"/>
                  </a:lnTo>
                  <a:lnTo>
                    <a:pt x="1737614" y="0"/>
                  </a:lnTo>
                  <a:lnTo>
                    <a:pt x="732282" y="2933954"/>
                  </a:lnTo>
                  <a:close/>
                </a:path>
              </a:pathLst>
            </a:custGeom>
            <a:solidFill>
              <a:srgbClr val="D2AE6C"/>
            </a:solidFill>
          </p:spPr>
        </p:sp>
      </p:grpSp>
      <p:grpSp>
        <p:nvGrpSpPr>
          <p:cNvPr name="Group 16" id="16"/>
          <p:cNvGrpSpPr/>
          <p:nvPr/>
        </p:nvGrpSpPr>
        <p:grpSpPr>
          <a:xfrm rot="0">
            <a:off x="11570999" y="-45530"/>
            <a:ext cx="5762720" cy="2233327"/>
            <a:chOff x="0" y="0"/>
            <a:chExt cx="7683627" cy="2977769"/>
          </a:xfrm>
        </p:grpSpPr>
        <p:sp>
          <p:nvSpPr>
            <p:cNvPr name="Freeform 17" id="17"/>
            <p:cNvSpPr/>
            <p:nvPr/>
          </p:nvSpPr>
          <p:spPr>
            <a:xfrm flipH="false" flipV="false" rot="0">
              <a:off x="0" y="0"/>
              <a:ext cx="7683627" cy="2977769"/>
            </a:xfrm>
            <a:custGeom>
              <a:avLst/>
              <a:gdLst/>
              <a:ahLst/>
              <a:cxnLst/>
              <a:rect r="r" b="b" t="t" l="l"/>
              <a:pathLst>
                <a:path h="2977769" w="7683627">
                  <a:moveTo>
                    <a:pt x="0" y="2977769"/>
                  </a:moveTo>
                  <a:lnTo>
                    <a:pt x="1010158" y="0"/>
                  </a:lnTo>
                  <a:lnTo>
                    <a:pt x="7683627" y="0"/>
                  </a:lnTo>
                  <a:lnTo>
                    <a:pt x="6673342" y="2977769"/>
                  </a:lnTo>
                  <a:close/>
                </a:path>
              </a:pathLst>
            </a:custGeom>
            <a:solidFill>
              <a:srgbClr val="FFFFFF"/>
            </a:solidFill>
          </p:spPr>
        </p:sp>
      </p:grpSp>
      <p:grpSp>
        <p:nvGrpSpPr>
          <p:cNvPr name="Group 18" id="18"/>
          <p:cNvGrpSpPr/>
          <p:nvPr/>
        </p:nvGrpSpPr>
        <p:grpSpPr>
          <a:xfrm rot="0">
            <a:off x="-37224" y="9883569"/>
            <a:ext cx="18371296" cy="436197"/>
            <a:chOff x="0" y="0"/>
            <a:chExt cx="24495062" cy="581596"/>
          </a:xfrm>
        </p:grpSpPr>
        <p:sp>
          <p:nvSpPr>
            <p:cNvPr name="Freeform 19" id="19"/>
            <p:cNvSpPr/>
            <p:nvPr/>
          </p:nvSpPr>
          <p:spPr>
            <a:xfrm flipH="false" flipV="false" rot="0">
              <a:off x="0" y="0"/>
              <a:ext cx="24495125" cy="581533"/>
            </a:xfrm>
            <a:custGeom>
              <a:avLst/>
              <a:gdLst/>
              <a:ahLst/>
              <a:cxnLst/>
              <a:rect r="r" b="b" t="t" l="l"/>
              <a:pathLst>
                <a:path h="581533" w="24495125">
                  <a:moveTo>
                    <a:pt x="0" y="0"/>
                  </a:moveTo>
                  <a:lnTo>
                    <a:pt x="24495125" y="0"/>
                  </a:lnTo>
                  <a:lnTo>
                    <a:pt x="24495125" y="581533"/>
                  </a:lnTo>
                  <a:lnTo>
                    <a:pt x="0" y="581533"/>
                  </a:lnTo>
                  <a:close/>
                </a:path>
              </a:pathLst>
            </a:custGeom>
            <a:solidFill>
              <a:srgbClr val="0C5394"/>
            </a:solidFill>
            <a:ln w="14288" cap="sq">
              <a:solidFill>
                <a:srgbClr val="0C5394"/>
              </a:solidFill>
              <a:prstDash val="solid"/>
              <a:miter/>
            </a:ln>
          </p:spPr>
        </p:sp>
      </p:grpSp>
      <p:sp>
        <p:nvSpPr>
          <p:cNvPr name="Freeform 20" id="20"/>
          <p:cNvSpPr/>
          <p:nvPr/>
        </p:nvSpPr>
        <p:spPr>
          <a:xfrm flipH="false" flipV="false" rot="0">
            <a:off x="-26499" y="8836857"/>
            <a:ext cx="18349960" cy="1130760"/>
          </a:xfrm>
          <a:custGeom>
            <a:avLst/>
            <a:gdLst/>
            <a:ahLst/>
            <a:cxnLst/>
            <a:rect r="r" b="b" t="t" l="l"/>
            <a:pathLst>
              <a:path h="1130760" w="18349960">
                <a:moveTo>
                  <a:pt x="0" y="0"/>
                </a:moveTo>
                <a:lnTo>
                  <a:pt x="18349961" y="0"/>
                </a:lnTo>
                <a:lnTo>
                  <a:pt x="18349961" y="1130760"/>
                </a:lnTo>
                <a:lnTo>
                  <a:pt x="0" y="1130760"/>
                </a:lnTo>
                <a:lnTo>
                  <a:pt x="0" y="0"/>
                </a:lnTo>
                <a:close/>
              </a:path>
            </a:pathLst>
          </a:custGeom>
          <a:blipFill>
            <a:blip r:embed="rId8">
              <a:extLst>
                <a:ext uri="{96DAC541-7B7A-43D3-8B79-37D633B846F1}">
                  <asvg:svgBlip xmlns:asvg="http://schemas.microsoft.com/office/drawing/2016/SVG/main" r:embed="rId9"/>
                </a:ext>
              </a:extLst>
            </a:blip>
            <a:stretch>
              <a:fillRect l="0" t="-106" r="0" b="-106"/>
            </a:stretch>
          </a:blipFill>
        </p:spPr>
      </p:sp>
      <p:sp>
        <p:nvSpPr>
          <p:cNvPr name="TextBox 21" id="21"/>
          <p:cNvSpPr txBox="true"/>
          <p:nvPr/>
        </p:nvSpPr>
        <p:spPr>
          <a:xfrm rot="0">
            <a:off x="662921" y="8864584"/>
            <a:ext cx="5532149" cy="1347749"/>
          </a:xfrm>
          <a:prstGeom prst="rect">
            <a:avLst/>
          </a:prstGeom>
        </p:spPr>
        <p:txBody>
          <a:bodyPr anchor="t" rtlCol="false" tIns="0" lIns="0" bIns="0" rIns="0">
            <a:spAutoFit/>
          </a:bodyPr>
          <a:lstStyle/>
          <a:p>
            <a:pPr algn="ctr">
              <a:lnSpc>
                <a:spcPts val="2700"/>
              </a:lnSpc>
            </a:pPr>
            <a:r>
              <a:rPr lang="en-US" sz="2250" b="true">
                <a:solidFill>
                  <a:srgbClr val="D2AE6C"/>
                </a:solidFill>
                <a:latin typeface="Archivo Narrow Bold"/>
                <a:ea typeface="Archivo Narrow Bold"/>
                <a:cs typeface="Archivo Narrow Bold"/>
                <a:sym typeface="Archivo Narrow Bold"/>
              </a:rPr>
              <a:t>Mission</a:t>
            </a:r>
          </a:p>
          <a:p>
            <a:pPr algn="ctr">
              <a:lnSpc>
                <a:spcPts val="2160"/>
              </a:lnSpc>
            </a:pPr>
            <a:r>
              <a:rPr lang="en-US" sz="1800">
                <a:solidFill>
                  <a:srgbClr val="FFFFFF"/>
                </a:solidFill>
                <a:latin typeface="Archivo Narrow"/>
                <a:ea typeface="Archivo Narrow"/>
                <a:cs typeface="Archivo Narrow"/>
                <a:sym typeface="Archivo Narrow"/>
              </a:rPr>
              <a:t>Christ University is a nurturing ground for an individual’s holistic development to make effective contribution</a:t>
            </a:r>
          </a:p>
          <a:p>
            <a:pPr algn="ctr">
              <a:lnSpc>
                <a:spcPts val="2160"/>
              </a:lnSpc>
            </a:pPr>
            <a:r>
              <a:rPr lang="en-US" sz="1800">
                <a:solidFill>
                  <a:srgbClr val="FFFFFF"/>
                </a:solidFill>
                <a:latin typeface="Archivo Narrow"/>
                <a:ea typeface="Archivo Narrow"/>
                <a:cs typeface="Archivo Narrow"/>
                <a:sym typeface="Archivo Narrow"/>
              </a:rPr>
              <a:t>to the society in a dynamic environment</a:t>
            </a:r>
          </a:p>
        </p:txBody>
      </p:sp>
      <p:sp>
        <p:nvSpPr>
          <p:cNvPr name="TextBox 22" id="22"/>
          <p:cNvSpPr txBox="true"/>
          <p:nvPr/>
        </p:nvSpPr>
        <p:spPr>
          <a:xfrm rot="0">
            <a:off x="6377921" y="8864584"/>
            <a:ext cx="5532149" cy="793804"/>
          </a:xfrm>
          <a:prstGeom prst="rect">
            <a:avLst/>
          </a:prstGeom>
        </p:spPr>
        <p:txBody>
          <a:bodyPr anchor="t" rtlCol="false" tIns="0" lIns="0" bIns="0" rIns="0">
            <a:spAutoFit/>
          </a:bodyPr>
          <a:lstStyle/>
          <a:p>
            <a:pPr algn="ctr">
              <a:lnSpc>
                <a:spcPts val="2700"/>
              </a:lnSpc>
            </a:pPr>
            <a:r>
              <a:rPr lang="en-US" sz="2250" b="true">
                <a:solidFill>
                  <a:srgbClr val="D2AE6C"/>
                </a:solidFill>
                <a:latin typeface="Archivo Narrow Bold"/>
                <a:ea typeface="Archivo Narrow Bold"/>
                <a:cs typeface="Archivo Narrow Bold"/>
                <a:sym typeface="Archivo Narrow Bold"/>
              </a:rPr>
              <a:t>Vision</a:t>
            </a:r>
          </a:p>
          <a:p>
            <a:pPr algn="ctr">
              <a:lnSpc>
                <a:spcPts val="2160"/>
              </a:lnSpc>
            </a:pPr>
            <a:r>
              <a:rPr lang="en-US" sz="1800">
                <a:solidFill>
                  <a:srgbClr val="FFFFFF"/>
                </a:solidFill>
                <a:latin typeface="Archivo Narrow"/>
                <a:ea typeface="Archivo Narrow"/>
                <a:cs typeface="Archivo Narrow"/>
                <a:sym typeface="Archivo Narrow"/>
              </a:rPr>
              <a:t>Excellence and Service</a:t>
            </a:r>
          </a:p>
        </p:txBody>
      </p:sp>
      <p:sp>
        <p:nvSpPr>
          <p:cNvPr name="TextBox 23" id="23"/>
          <p:cNvSpPr txBox="true"/>
          <p:nvPr/>
        </p:nvSpPr>
        <p:spPr>
          <a:xfrm rot="0">
            <a:off x="12950323" y="8864584"/>
            <a:ext cx="4291946" cy="1347749"/>
          </a:xfrm>
          <a:prstGeom prst="rect">
            <a:avLst/>
          </a:prstGeom>
        </p:spPr>
        <p:txBody>
          <a:bodyPr anchor="t" rtlCol="false" tIns="0" lIns="0" bIns="0" rIns="0">
            <a:spAutoFit/>
          </a:bodyPr>
          <a:lstStyle/>
          <a:p>
            <a:pPr algn="ctr">
              <a:lnSpc>
                <a:spcPts val="2700"/>
              </a:lnSpc>
            </a:pPr>
            <a:r>
              <a:rPr lang="en-US" sz="2250" b="true">
                <a:solidFill>
                  <a:srgbClr val="D2AE6C"/>
                </a:solidFill>
                <a:latin typeface="Archivo Narrow Bold"/>
                <a:ea typeface="Archivo Narrow Bold"/>
                <a:cs typeface="Archivo Narrow Bold"/>
                <a:sym typeface="Archivo Narrow Bold"/>
              </a:rPr>
              <a:t>Core Values</a:t>
            </a:r>
          </a:p>
          <a:p>
            <a:pPr algn="ctr">
              <a:lnSpc>
                <a:spcPts val="2160"/>
              </a:lnSpc>
            </a:pPr>
            <a:r>
              <a:rPr lang="en-US" sz="1800">
                <a:solidFill>
                  <a:srgbClr val="FFFFFF"/>
                </a:solidFill>
                <a:latin typeface="Archivo Narrow"/>
                <a:ea typeface="Archivo Narrow"/>
                <a:cs typeface="Archivo Narrow"/>
                <a:sym typeface="Archivo Narrow"/>
              </a:rPr>
              <a:t>Faith in God |  Moral Uprightness</a:t>
            </a:r>
          </a:p>
          <a:p>
            <a:pPr algn="ctr">
              <a:lnSpc>
                <a:spcPts val="2160"/>
              </a:lnSpc>
            </a:pPr>
            <a:r>
              <a:rPr lang="en-US" sz="1800">
                <a:solidFill>
                  <a:srgbClr val="FFFFFF"/>
                </a:solidFill>
                <a:latin typeface="Archivo Narrow"/>
                <a:ea typeface="Archivo Narrow"/>
                <a:cs typeface="Archivo Narrow"/>
                <a:sym typeface="Archivo Narrow"/>
              </a:rPr>
              <a:t> Love of Fellow Beings |  Social Responsibility</a:t>
            </a:r>
          </a:p>
          <a:p>
            <a:pPr algn="ctr">
              <a:lnSpc>
                <a:spcPts val="2160"/>
              </a:lnSpc>
            </a:pPr>
            <a:r>
              <a:rPr lang="en-US" sz="1800">
                <a:solidFill>
                  <a:srgbClr val="FFFFFF"/>
                </a:solidFill>
                <a:latin typeface="Archivo Narrow"/>
                <a:ea typeface="Archivo Narrow"/>
                <a:cs typeface="Archivo Narrow"/>
                <a:sym typeface="Archivo Narrow"/>
              </a:rPr>
              <a:t>Pursuit of Excellence</a:t>
            </a:r>
          </a:p>
        </p:txBody>
      </p:sp>
      <p:grpSp>
        <p:nvGrpSpPr>
          <p:cNvPr name="Group 24" id="24"/>
          <p:cNvGrpSpPr/>
          <p:nvPr/>
        </p:nvGrpSpPr>
        <p:grpSpPr>
          <a:xfrm rot="0">
            <a:off x="11931091" y="494414"/>
            <a:ext cx="4677918" cy="1585341"/>
            <a:chOff x="0" y="0"/>
            <a:chExt cx="6237224" cy="2113788"/>
          </a:xfrm>
        </p:grpSpPr>
        <p:sp>
          <p:nvSpPr>
            <p:cNvPr name="Freeform 25" id="25"/>
            <p:cNvSpPr/>
            <p:nvPr/>
          </p:nvSpPr>
          <p:spPr>
            <a:xfrm flipH="false" flipV="false" rot="0">
              <a:off x="0" y="0"/>
              <a:ext cx="6237224" cy="2113788"/>
            </a:xfrm>
            <a:custGeom>
              <a:avLst/>
              <a:gdLst/>
              <a:ahLst/>
              <a:cxnLst/>
              <a:rect r="r" b="b" t="t" l="l"/>
              <a:pathLst>
                <a:path h="2113788" w="6237224">
                  <a:moveTo>
                    <a:pt x="0" y="0"/>
                  </a:moveTo>
                  <a:lnTo>
                    <a:pt x="6237224" y="0"/>
                  </a:lnTo>
                  <a:lnTo>
                    <a:pt x="6237224" y="2113788"/>
                  </a:lnTo>
                  <a:lnTo>
                    <a:pt x="0" y="2113788"/>
                  </a:lnTo>
                  <a:lnTo>
                    <a:pt x="0" y="0"/>
                  </a:lnTo>
                  <a:close/>
                </a:path>
              </a:pathLst>
            </a:custGeom>
            <a:blipFill>
              <a:blip r:embed="rId10"/>
              <a:stretch>
                <a:fillRect l="0" t="-290" r="0" b="-290"/>
              </a:stretch>
            </a:blipFill>
          </p:spPr>
        </p:sp>
      </p:grpSp>
      <p:sp>
        <p:nvSpPr>
          <p:cNvPr name="TextBox 26" id="26"/>
          <p:cNvSpPr txBox="true"/>
          <p:nvPr/>
        </p:nvSpPr>
        <p:spPr>
          <a:xfrm rot="0">
            <a:off x="1248699" y="3326444"/>
            <a:ext cx="15888853" cy="1295400"/>
          </a:xfrm>
          <a:prstGeom prst="rect">
            <a:avLst/>
          </a:prstGeom>
        </p:spPr>
        <p:txBody>
          <a:bodyPr anchor="t" rtlCol="false" tIns="0" lIns="0" bIns="0" rIns="0">
            <a:spAutoFit/>
          </a:bodyPr>
          <a:lstStyle/>
          <a:p>
            <a:pPr algn="ctr">
              <a:lnSpc>
                <a:spcPts val="5040"/>
              </a:lnSpc>
            </a:pPr>
            <a:r>
              <a:rPr lang="en-US" b="true" sz="4200" spc="-38">
                <a:solidFill>
                  <a:srgbClr val="000000"/>
                </a:solidFill>
                <a:latin typeface="Times New Roman Bold"/>
                <a:ea typeface="Times New Roman Bold"/>
                <a:cs typeface="Times New Roman Bold"/>
                <a:sym typeface="Times New Roman Bold"/>
              </a:rPr>
              <a:t>Dissertation Phase – 1 (MTDS382) </a:t>
            </a:r>
          </a:p>
          <a:p>
            <a:pPr algn="ctr">
              <a:lnSpc>
                <a:spcPts val="5040"/>
              </a:lnSpc>
            </a:pPr>
            <a:r>
              <a:rPr lang="en-US" b="true" sz="4200" spc="-38">
                <a:solidFill>
                  <a:srgbClr val="000000"/>
                </a:solidFill>
                <a:latin typeface="Times New Roman Bold"/>
                <a:ea typeface="Times New Roman Bold"/>
                <a:cs typeface="Times New Roman Bold"/>
                <a:sym typeface="Times New Roman Bold"/>
              </a:rPr>
              <a:t>Review - 1</a:t>
            </a:r>
          </a:p>
        </p:txBody>
      </p:sp>
      <p:grpSp>
        <p:nvGrpSpPr>
          <p:cNvPr name="Group 27" id="27"/>
          <p:cNvGrpSpPr/>
          <p:nvPr/>
        </p:nvGrpSpPr>
        <p:grpSpPr>
          <a:xfrm rot="0">
            <a:off x="1028700" y="4921501"/>
            <a:ext cx="16213550" cy="1280160"/>
            <a:chOff x="0" y="0"/>
            <a:chExt cx="21618067" cy="1706880"/>
          </a:xfrm>
        </p:grpSpPr>
        <p:sp>
          <p:nvSpPr>
            <p:cNvPr name="Freeform 28" id="28"/>
            <p:cNvSpPr/>
            <p:nvPr/>
          </p:nvSpPr>
          <p:spPr>
            <a:xfrm flipH="false" flipV="false" rot="0">
              <a:off x="0" y="0"/>
              <a:ext cx="21618067" cy="1706880"/>
            </a:xfrm>
            <a:custGeom>
              <a:avLst/>
              <a:gdLst/>
              <a:ahLst/>
              <a:cxnLst/>
              <a:rect r="r" b="b" t="t" l="l"/>
              <a:pathLst>
                <a:path h="1706880" w="21618067">
                  <a:moveTo>
                    <a:pt x="0" y="0"/>
                  </a:moveTo>
                  <a:lnTo>
                    <a:pt x="21618067" y="0"/>
                  </a:lnTo>
                  <a:lnTo>
                    <a:pt x="21618067" y="1706880"/>
                  </a:lnTo>
                  <a:lnTo>
                    <a:pt x="0" y="1706880"/>
                  </a:lnTo>
                  <a:close/>
                </a:path>
              </a:pathLst>
            </a:custGeom>
            <a:blipFill>
              <a:blip r:embed="rId11">
                <a:alphaModFix amt="0"/>
              </a:blip>
              <a:stretch>
                <a:fillRect l="0" t="-196611" r="0" b="-196610"/>
              </a:stretch>
            </a:blipFill>
          </p:spPr>
        </p:sp>
      </p:grpSp>
      <p:grpSp>
        <p:nvGrpSpPr>
          <p:cNvPr name="Group 29" id="29"/>
          <p:cNvGrpSpPr/>
          <p:nvPr/>
        </p:nvGrpSpPr>
        <p:grpSpPr>
          <a:xfrm rot="0">
            <a:off x="1550108" y="4762500"/>
            <a:ext cx="15137702" cy="1287304"/>
            <a:chOff x="0" y="0"/>
            <a:chExt cx="20183602" cy="1716405"/>
          </a:xfrm>
        </p:grpSpPr>
        <p:sp>
          <p:nvSpPr>
            <p:cNvPr name="Freeform 30" id="30"/>
            <p:cNvSpPr/>
            <p:nvPr/>
          </p:nvSpPr>
          <p:spPr>
            <a:xfrm flipH="false" flipV="false" rot="0">
              <a:off x="0" y="0"/>
              <a:ext cx="20183602" cy="1716405"/>
            </a:xfrm>
            <a:custGeom>
              <a:avLst/>
              <a:gdLst/>
              <a:ahLst/>
              <a:cxnLst/>
              <a:rect r="r" b="b" t="t" l="l"/>
              <a:pathLst>
                <a:path h="1716405" w="20183602">
                  <a:moveTo>
                    <a:pt x="0" y="0"/>
                  </a:moveTo>
                  <a:lnTo>
                    <a:pt x="20183602" y="0"/>
                  </a:lnTo>
                  <a:lnTo>
                    <a:pt x="20183602" y="1716405"/>
                  </a:lnTo>
                  <a:lnTo>
                    <a:pt x="0" y="1716405"/>
                  </a:lnTo>
                  <a:close/>
                </a:path>
              </a:pathLst>
            </a:custGeom>
            <a:blipFill>
              <a:blip r:embed="rId12">
                <a:alphaModFix amt="0"/>
              </a:blip>
              <a:stretch>
                <a:fillRect l="0" t="-178970" r="0" b="-178969"/>
              </a:stretch>
            </a:blipFill>
          </p:spPr>
        </p:sp>
      </p:grpSp>
      <p:grpSp>
        <p:nvGrpSpPr>
          <p:cNvPr name="Group 31" id="31"/>
          <p:cNvGrpSpPr/>
          <p:nvPr/>
        </p:nvGrpSpPr>
        <p:grpSpPr>
          <a:xfrm rot="0">
            <a:off x="1550108" y="4776788"/>
            <a:ext cx="15137692" cy="1273016"/>
            <a:chOff x="0" y="0"/>
            <a:chExt cx="20183589" cy="1697355"/>
          </a:xfrm>
        </p:grpSpPr>
        <p:sp>
          <p:nvSpPr>
            <p:cNvPr name="Freeform 32" id="32"/>
            <p:cNvSpPr/>
            <p:nvPr/>
          </p:nvSpPr>
          <p:spPr>
            <a:xfrm flipH="false" flipV="false" rot="0">
              <a:off x="0" y="0"/>
              <a:ext cx="20183602" cy="1697355"/>
            </a:xfrm>
            <a:custGeom>
              <a:avLst/>
              <a:gdLst/>
              <a:ahLst/>
              <a:cxnLst/>
              <a:rect r="r" b="b" t="t" l="l"/>
              <a:pathLst>
                <a:path h="1697355" w="20183602">
                  <a:moveTo>
                    <a:pt x="0" y="0"/>
                  </a:moveTo>
                  <a:lnTo>
                    <a:pt x="20183602" y="0"/>
                  </a:lnTo>
                  <a:lnTo>
                    <a:pt x="20183602" y="1697355"/>
                  </a:lnTo>
                  <a:lnTo>
                    <a:pt x="0" y="1697355"/>
                  </a:lnTo>
                  <a:close/>
                </a:path>
              </a:pathLst>
            </a:custGeom>
            <a:blipFill>
              <a:blip r:embed="rId13">
                <a:alphaModFix amt="0"/>
              </a:blip>
              <a:stretch>
                <a:fillRect l="0" t="-181539" r="0" b="-181539"/>
              </a:stretch>
            </a:blipFill>
          </p:spPr>
        </p:sp>
      </p:grpSp>
      <p:grpSp>
        <p:nvGrpSpPr>
          <p:cNvPr name="Group 33" id="33"/>
          <p:cNvGrpSpPr/>
          <p:nvPr/>
        </p:nvGrpSpPr>
        <p:grpSpPr>
          <a:xfrm rot="0">
            <a:off x="1550108" y="4791075"/>
            <a:ext cx="15137692" cy="1369934"/>
            <a:chOff x="0" y="0"/>
            <a:chExt cx="20183589" cy="1826579"/>
          </a:xfrm>
        </p:grpSpPr>
        <p:sp>
          <p:nvSpPr>
            <p:cNvPr name="Freeform 34" id="34"/>
            <p:cNvSpPr/>
            <p:nvPr/>
          </p:nvSpPr>
          <p:spPr>
            <a:xfrm flipH="false" flipV="false" rot="0">
              <a:off x="0" y="0"/>
              <a:ext cx="20183590" cy="1826578"/>
            </a:xfrm>
            <a:custGeom>
              <a:avLst/>
              <a:gdLst/>
              <a:ahLst/>
              <a:cxnLst/>
              <a:rect r="r" b="b" t="t" l="l"/>
              <a:pathLst>
                <a:path h="1826578" w="20183590">
                  <a:moveTo>
                    <a:pt x="0" y="0"/>
                  </a:moveTo>
                  <a:lnTo>
                    <a:pt x="20183590" y="0"/>
                  </a:lnTo>
                  <a:lnTo>
                    <a:pt x="20183590" y="1826578"/>
                  </a:lnTo>
                  <a:lnTo>
                    <a:pt x="0" y="1826578"/>
                  </a:lnTo>
                  <a:close/>
                </a:path>
              </a:pathLst>
            </a:custGeom>
            <a:blipFill>
              <a:blip r:embed="rId14">
                <a:alphaModFix amt="0"/>
              </a:blip>
              <a:stretch>
                <a:fillRect l="0" t="-169367" r="0" b="-161249"/>
              </a:stretch>
            </a:blipFill>
          </p:spPr>
        </p:sp>
        <p:sp>
          <p:nvSpPr>
            <p:cNvPr name="TextBox 35" id="35"/>
            <p:cNvSpPr txBox="true"/>
            <p:nvPr/>
          </p:nvSpPr>
          <p:spPr>
            <a:xfrm>
              <a:off x="0" y="0"/>
              <a:ext cx="20183589" cy="1826579"/>
            </a:xfrm>
            <a:prstGeom prst="rect">
              <a:avLst/>
            </a:prstGeom>
          </p:spPr>
          <p:txBody>
            <a:bodyPr anchor="b" rtlCol="false" tIns="0" lIns="0" bIns="0" rIns="0"/>
            <a:lstStyle/>
            <a:p>
              <a:pPr algn="ctr">
                <a:lnSpc>
                  <a:spcPts val="4546"/>
                </a:lnSpc>
              </a:pPr>
              <a:r>
                <a:rPr lang="en-US" b="true" sz="3999" spc="-34">
                  <a:solidFill>
                    <a:srgbClr val="0C5394"/>
                  </a:solidFill>
                  <a:latin typeface="Times New Roman Bold"/>
                  <a:ea typeface="Times New Roman Bold"/>
                  <a:cs typeface="Times New Roman Bold"/>
                  <a:sym typeface="Times New Roman Bold"/>
                </a:rPr>
                <a:t>Temporal Graph Attention Networks for Explainable Anti-Money Laundering in Cryptocurrency Transactions</a:t>
              </a:r>
            </a:p>
          </p:txBody>
        </p:sp>
      </p:grpSp>
      <p:sp>
        <p:nvSpPr>
          <p:cNvPr name="TextBox 36" id="36"/>
          <p:cNvSpPr txBox="true"/>
          <p:nvPr/>
        </p:nvSpPr>
        <p:spPr>
          <a:xfrm rot="0">
            <a:off x="10515600" y="6334125"/>
            <a:ext cx="7086019" cy="2314575"/>
          </a:xfrm>
          <a:prstGeom prst="rect">
            <a:avLst/>
          </a:prstGeom>
        </p:spPr>
        <p:txBody>
          <a:bodyPr anchor="t" rtlCol="false" tIns="0" lIns="0" bIns="0" rIns="0">
            <a:spAutoFit/>
          </a:bodyPr>
          <a:lstStyle/>
          <a:p>
            <a:pPr algn="l">
              <a:lnSpc>
                <a:spcPts val="3600"/>
              </a:lnSpc>
            </a:pPr>
            <a:r>
              <a:rPr lang="en-US" sz="3000" spc="-26">
                <a:solidFill>
                  <a:srgbClr val="000000"/>
                </a:solidFill>
                <a:latin typeface="Times New Roman"/>
                <a:ea typeface="Times New Roman"/>
                <a:cs typeface="Times New Roman"/>
                <a:sym typeface="Times New Roman"/>
              </a:rPr>
              <a:t>Student Name – Anshu Kumari</a:t>
            </a:r>
          </a:p>
          <a:p>
            <a:pPr algn="l">
              <a:lnSpc>
                <a:spcPts val="3600"/>
              </a:lnSpc>
            </a:pPr>
            <a:r>
              <a:rPr lang="en-US" sz="3000" spc="-26">
                <a:solidFill>
                  <a:srgbClr val="000000"/>
                </a:solidFill>
                <a:latin typeface="Times New Roman"/>
                <a:ea typeface="Times New Roman"/>
                <a:cs typeface="Times New Roman"/>
                <a:sym typeface="Times New Roman"/>
              </a:rPr>
              <a:t>Register No - 2567203</a:t>
            </a:r>
          </a:p>
          <a:p>
            <a:pPr algn="l">
              <a:lnSpc>
                <a:spcPts val="3600"/>
              </a:lnSpc>
            </a:pPr>
            <a:r>
              <a:rPr lang="en-US" sz="3000" spc="-26">
                <a:solidFill>
                  <a:srgbClr val="000000"/>
                </a:solidFill>
                <a:latin typeface="Times New Roman"/>
                <a:ea typeface="Times New Roman"/>
                <a:cs typeface="Times New Roman"/>
                <a:sym typeface="Times New Roman"/>
              </a:rPr>
              <a:t>Section - 3MTDS</a:t>
            </a:r>
          </a:p>
          <a:p>
            <a:pPr algn="l">
              <a:lnSpc>
                <a:spcPts val="3600"/>
              </a:lnSpc>
            </a:pPr>
            <a:r>
              <a:rPr lang="en-US" sz="3000" spc="-24">
                <a:solidFill>
                  <a:srgbClr val="000000"/>
                </a:solidFill>
                <a:latin typeface="Times New Roman"/>
                <a:ea typeface="Times New Roman"/>
                <a:cs typeface="Times New Roman"/>
                <a:sym typeface="Times New Roman"/>
              </a:rPr>
              <a:t>Guide Name – Dr. Janani V S</a:t>
            </a:r>
          </a:p>
          <a:p>
            <a:pPr algn="l">
              <a:lnSpc>
                <a:spcPts val="3600"/>
              </a:lnSpc>
            </a:pPr>
            <a:r>
              <a:rPr lang="en-US" sz="3000" spc="-26">
                <a:solidFill>
                  <a:srgbClr val="000000"/>
                </a:solidFill>
                <a:latin typeface="Times New Roman"/>
                <a:ea typeface="Times New Roman"/>
                <a:cs typeface="Times New Roman"/>
                <a:sym typeface="Times New Roman"/>
              </a:rPr>
              <a:t>Co-Guide Name – Dr. Aruna S K</a:t>
            </a:r>
          </a:p>
        </p:txBody>
      </p:sp>
      <p:sp>
        <p:nvSpPr>
          <p:cNvPr name="TextBox 37" id="37"/>
          <p:cNvSpPr txBox="true"/>
          <p:nvPr/>
        </p:nvSpPr>
        <p:spPr>
          <a:xfrm rot="0">
            <a:off x="2990475" y="2375669"/>
            <a:ext cx="13618534" cy="752731"/>
          </a:xfrm>
          <a:prstGeom prst="rect">
            <a:avLst/>
          </a:prstGeom>
        </p:spPr>
        <p:txBody>
          <a:bodyPr anchor="t" rtlCol="false" tIns="0" lIns="0" bIns="0" rIns="0">
            <a:spAutoFit/>
          </a:bodyPr>
          <a:lstStyle/>
          <a:p>
            <a:pPr algn="l">
              <a:lnSpc>
                <a:spcPts val="5757"/>
              </a:lnSpc>
            </a:pPr>
            <a:r>
              <a:rPr lang="en-US" b="true" sz="4800" spc="-44">
                <a:solidFill>
                  <a:srgbClr val="000000"/>
                </a:solidFill>
                <a:latin typeface="Times New Roman Bold"/>
                <a:ea typeface="Times New Roman Bold"/>
                <a:cs typeface="Times New Roman Bold"/>
                <a:sym typeface="Times New Roman Bold"/>
              </a:rPr>
              <a:t>Department of AI &amp; Data Science Engineering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9" id="9"/>
          <p:cNvSpPr txBox="true"/>
          <p:nvPr/>
        </p:nvSpPr>
        <p:spPr>
          <a:xfrm rot="0">
            <a:off x="745303" y="859555"/>
            <a:ext cx="4594547"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Table of Contents</a:t>
            </a:r>
          </a:p>
        </p:txBody>
      </p:sp>
      <p:sp>
        <p:nvSpPr>
          <p:cNvPr name="TextBox 10" id="10"/>
          <p:cNvSpPr txBox="true"/>
          <p:nvPr/>
        </p:nvSpPr>
        <p:spPr>
          <a:xfrm rot="0">
            <a:off x="745303" y="2212886"/>
            <a:ext cx="16797252" cy="6543675"/>
          </a:xfrm>
          <a:prstGeom prst="rect">
            <a:avLst/>
          </a:prstGeom>
        </p:spPr>
        <p:txBody>
          <a:bodyPr anchor="t" rtlCol="false" tIns="0" lIns="0" bIns="0" rIns="0">
            <a:spAutoFit/>
          </a:bodyPr>
          <a:lstStyle/>
          <a:p>
            <a:pPr algn="l" marL="1151572" indent="-230314" lvl="4">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Domain</a:t>
            </a:r>
          </a:p>
          <a:p>
            <a:pPr algn="l" marL="1540764" indent="-256794" lvl="5">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Sub-Domain</a:t>
            </a:r>
          </a:p>
          <a:p>
            <a:pPr algn="l" marL="1540764" indent="-256794" lvl="5">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Application </a:t>
            </a:r>
            <a:r>
              <a:rPr lang="en-US" sz="3600" spc="-32">
                <a:solidFill>
                  <a:srgbClr val="000000"/>
                </a:solidFill>
                <a:latin typeface="Times New Roman"/>
                <a:ea typeface="Times New Roman"/>
                <a:cs typeface="Times New Roman"/>
                <a:sym typeface="Times New Roman"/>
              </a:rPr>
              <a:t> </a:t>
            </a:r>
          </a:p>
          <a:p>
            <a:pPr algn="l" marL="1151572" indent="-230314" lvl="4">
              <a:lnSpc>
                <a:spcPts val="4320"/>
              </a:lnSpc>
              <a:buFont typeface="Arial"/>
              <a:buChar char="•"/>
            </a:pPr>
            <a:r>
              <a:rPr lang="en-US" b="true" sz="3600" spc="-29">
                <a:solidFill>
                  <a:srgbClr val="000000"/>
                </a:solidFill>
                <a:latin typeface="Times New Roman Bold"/>
                <a:ea typeface="Times New Roman Bold"/>
                <a:cs typeface="Times New Roman Bold"/>
                <a:sym typeface="Times New Roman Bold"/>
              </a:rPr>
              <a:t>Introduction</a:t>
            </a:r>
          </a:p>
          <a:p>
            <a:pPr algn="l" marL="1151572" indent="-230314" lvl="4">
              <a:lnSpc>
                <a:spcPts val="4320"/>
              </a:lnSpc>
              <a:buFont typeface="Arial"/>
              <a:buChar char="•"/>
            </a:pPr>
            <a:r>
              <a:rPr lang="en-US" b="true" sz="3600" spc="-29">
                <a:solidFill>
                  <a:srgbClr val="000000"/>
                </a:solidFill>
                <a:latin typeface="Times New Roman Bold"/>
                <a:ea typeface="Times New Roman Bold"/>
                <a:cs typeface="Times New Roman Bold"/>
                <a:sym typeface="Times New Roman Bold"/>
              </a:rPr>
              <a:t>Problem Statement &amp; Motivation</a:t>
            </a:r>
          </a:p>
          <a:p>
            <a:pPr algn="l" marL="1151572" indent="-230314" lvl="4">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Literature Review</a:t>
            </a:r>
          </a:p>
          <a:p>
            <a:pPr algn="l" marL="1151572" indent="-230314" lvl="4">
              <a:lnSpc>
                <a:spcPts val="4320"/>
              </a:lnSpc>
              <a:buFont typeface="Arial"/>
              <a:buChar char="•"/>
            </a:pPr>
            <a:r>
              <a:rPr lang="en-US" b="true" sz="3600" spc="-29">
                <a:solidFill>
                  <a:srgbClr val="000000"/>
                </a:solidFill>
                <a:latin typeface="Times New Roman Bold"/>
                <a:ea typeface="Times New Roman Bold"/>
                <a:cs typeface="Times New Roman Bold"/>
                <a:sym typeface="Times New Roman Bold"/>
              </a:rPr>
              <a:t>Objectives</a:t>
            </a:r>
          </a:p>
          <a:p>
            <a:pPr algn="l" marL="1151572" indent="-230314" lvl="4">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Proposed Contribution</a:t>
            </a:r>
          </a:p>
          <a:p>
            <a:pPr algn="l" marL="1151572" indent="-230314" lvl="4">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Dataset Overview</a:t>
            </a:r>
          </a:p>
          <a:p>
            <a:pPr algn="l" marL="1151572" indent="-230314" lvl="4">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Gap Analysis</a:t>
            </a:r>
          </a:p>
          <a:p>
            <a:pPr algn="l" marL="1151572" indent="-230314" lvl="4">
              <a:lnSpc>
                <a:spcPts val="4320"/>
              </a:lnSpc>
              <a:buFont typeface="Arial"/>
              <a:buChar char="•"/>
            </a:pPr>
            <a:r>
              <a:rPr lang="en-US" b="true" sz="3600" spc="-29">
                <a:solidFill>
                  <a:srgbClr val="000000"/>
                </a:solidFill>
                <a:latin typeface="Times New Roman Bold"/>
                <a:ea typeface="Times New Roman Bold"/>
                <a:cs typeface="Times New Roman Bold"/>
                <a:sym typeface="Times New Roman Bold"/>
              </a:rPr>
              <a:t>System Architecture &amp; Methodology</a:t>
            </a:r>
          </a:p>
          <a:p>
            <a:pPr algn="l" marL="1151572" indent="-230314" lvl="4">
              <a:lnSpc>
                <a:spcPts val="4320"/>
              </a:lnSpc>
              <a:buFont typeface="Arial"/>
              <a:buChar char="•"/>
            </a:pPr>
            <a:r>
              <a:rPr lang="en-US" b="true" sz="3600" spc="-32">
                <a:solidFill>
                  <a:srgbClr val="000000"/>
                </a:solidFill>
                <a:latin typeface="Times New Roman Bold"/>
                <a:ea typeface="Times New Roman Bold"/>
                <a:cs typeface="Times New Roman Bold"/>
                <a:sym typeface="Times New Roman Bold"/>
              </a:rPr>
              <a:t>References</a:t>
            </a:r>
          </a:p>
        </p:txBody>
      </p:sp>
      <p:grpSp>
        <p:nvGrpSpPr>
          <p:cNvPr name="Group 11" id="11"/>
          <p:cNvGrpSpPr/>
          <p:nvPr/>
        </p:nvGrpSpPr>
        <p:grpSpPr>
          <a:xfrm rot="0">
            <a:off x="16830599" y="9612544"/>
            <a:ext cx="1097566" cy="602075"/>
            <a:chOff x="0" y="0"/>
            <a:chExt cx="1463421" cy="802767"/>
          </a:xfrm>
        </p:grpSpPr>
        <p:sp>
          <p:nvSpPr>
            <p:cNvPr name="Freeform 12" id="12"/>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13" id="13"/>
          <p:cNvGrpSpPr/>
          <p:nvPr/>
        </p:nvGrpSpPr>
        <p:grpSpPr>
          <a:xfrm rot="0">
            <a:off x="16830599" y="9598257"/>
            <a:ext cx="1097566" cy="616363"/>
            <a:chOff x="0" y="0"/>
            <a:chExt cx="1463421" cy="821817"/>
          </a:xfrm>
        </p:grpSpPr>
        <p:sp>
          <p:nvSpPr>
            <p:cNvPr name="Freeform 14" id="14"/>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5" id="15"/>
          <p:cNvGrpSpPr/>
          <p:nvPr/>
        </p:nvGrpSpPr>
        <p:grpSpPr>
          <a:xfrm rot="0">
            <a:off x="16830599" y="9583969"/>
            <a:ext cx="1097547" cy="630679"/>
            <a:chOff x="0" y="0"/>
            <a:chExt cx="1463396" cy="840905"/>
          </a:xfrm>
        </p:grpSpPr>
        <p:sp>
          <p:nvSpPr>
            <p:cNvPr name="Freeform 16" id="16"/>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7" id="17"/>
          <p:cNvGrpSpPr/>
          <p:nvPr/>
        </p:nvGrpSpPr>
        <p:grpSpPr>
          <a:xfrm rot="0">
            <a:off x="16830599" y="9569682"/>
            <a:ext cx="1097547" cy="644966"/>
            <a:chOff x="0" y="0"/>
            <a:chExt cx="1463396" cy="859955"/>
          </a:xfrm>
        </p:grpSpPr>
        <p:sp>
          <p:nvSpPr>
            <p:cNvPr name="Freeform 18" id="18"/>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9" id="19"/>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2050033"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Domain</a:t>
            </a:r>
          </a:p>
        </p:txBody>
      </p:sp>
      <p:sp>
        <p:nvSpPr>
          <p:cNvPr name="TextBox 12" id="12"/>
          <p:cNvSpPr txBox="true"/>
          <p:nvPr/>
        </p:nvSpPr>
        <p:spPr>
          <a:xfrm rot="0">
            <a:off x="745303" y="1877844"/>
            <a:ext cx="15896958" cy="6972426"/>
          </a:xfrm>
          <a:prstGeom prst="rect">
            <a:avLst/>
          </a:prstGeom>
        </p:spPr>
        <p:txBody>
          <a:bodyPr anchor="t" rtlCol="false" tIns="0" lIns="0" bIns="0" rIns="0">
            <a:spAutoFit/>
          </a:bodyPr>
          <a:lstStyle/>
          <a:p>
            <a:pPr algn="just" marL="1171575" indent="-234315" lvl="4">
              <a:lnSpc>
                <a:spcPts val="4320"/>
              </a:lnSpc>
              <a:buFont typeface="Arial"/>
              <a:buChar char="•"/>
            </a:pPr>
            <a:r>
              <a:rPr lang="en-US" b="true" sz="3600" spc="-29">
                <a:solidFill>
                  <a:srgbClr val="000000"/>
                </a:solidFill>
                <a:latin typeface="Times New Roman Bold"/>
                <a:ea typeface="Times New Roman Bold"/>
                <a:cs typeface="Times New Roman Bold"/>
                <a:sym typeface="Times New Roman Bold"/>
              </a:rPr>
              <a:t>Domain: Finance &amp; FinTech</a:t>
            </a:r>
          </a:p>
          <a:p>
            <a:pPr algn="just" marL="1109472" indent="-184912" lvl="5">
              <a:lnSpc>
                <a:spcPts val="2878"/>
              </a:lnSpc>
              <a:buFont typeface="Arial"/>
              <a:buChar char="⚬"/>
            </a:pPr>
            <a:r>
              <a:rPr lang="en-US" sz="2400" spc="-19">
                <a:solidFill>
                  <a:srgbClr val="000000"/>
                </a:solidFill>
                <a:latin typeface="Times New Roman"/>
                <a:ea typeface="Times New Roman"/>
                <a:cs typeface="Times New Roman"/>
                <a:sym typeface="Times New Roman"/>
              </a:rPr>
              <a:t>Application of Temporal Graph Neural Networks to detect money laundering patterns in cryptocurrency transaction networks using time-aware deep learning.</a:t>
            </a:r>
          </a:p>
          <a:p>
            <a:pPr algn="just" marL="2001522" indent="-285932" lvl="6">
              <a:lnSpc>
                <a:spcPts val="3840"/>
              </a:lnSpc>
              <a:buFont typeface="Arial"/>
              <a:buChar char="￭"/>
            </a:pPr>
            <a:r>
              <a:rPr lang="en-US" b="true" sz="3200" spc="-26">
                <a:solidFill>
                  <a:srgbClr val="000000"/>
                </a:solidFill>
                <a:latin typeface="Times New Roman Bold"/>
                <a:ea typeface="Times New Roman Bold"/>
                <a:cs typeface="Times New Roman Bold"/>
                <a:sym typeface="Times New Roman Bold"/>
              </a:rPr>
              <a:t>Sub-Domain:</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Graph Neural Networks (GNN)</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Temporal Graph Learning</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Anti-Money Laundering (AML)</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Blockchain Analytics</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Explainable AI (XAI)</a:t>
            </a:r>
          </a:p>
          <a:p>
            <a:pPr algn="just" marL="2001522" indent="-285932" lvl="6">
              <a:lnSpc>
                <a:spcPts val="3840"/>
              </a:lnSpc>
              <a:buFont typeface="Arial"/>
              <a:buChar char="￭"/>
            </a:pPr>
            <a:r>
              <a:rPr lang="en-US" b="true" sz="3200" spc="-26">
                <a:solidFill>
                  <a:srgbClr val="000000"/>
                </a:solidFill>
                <a:latin typeface="Times New Roman Bold"/>
                <a:ea typeface="Times New Roman Bold"/>
                <a:cs typeface="Times New Roman Bold"/>
                <a:sym typeface="Times New Roman Bold"/>
              </a:rPr>
              <a:t>Application:</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Cryptocurrency Fraud Detection</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Financial Crime Investigation</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Suspicious Activity Report (SAR) Filing</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Compliance Risk Management</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Blockchain Forensics</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RegTech and FinTech Platforms</a:t>
            </a:r>
          </a:p>
          <a:p>
            <a:pPr algn="just" marL="2379342" indent="-264371" lvl="8">
              <a:lnSpc>
                <a:spcPts val="2878"/>
              </a:lnSpc>
              <a:buFont typeface="Arial"/>
              <a:buChar char="⚬"/>
            </a:pPr>
            <a:r>
              <a:rPr lang="en-US" sz="2400" spc="-19">
                <a:solidFill>
                  <a:srgbClr val="000000"/>
                </a:solidFill>
                <a:latin typeface="Times New Roman"/>
                <a:ea typeface="Times New Roman"/>
                <a:cs typeface="Times New Roman"/>
                <a:sym typeface="Times New Roman"/>
              </a:rPr>
              <a:t>Central Bank &amp; FATF Regulatory Systems</a:t>
            </a:r>
          </a:p>
          <a:p>
            <a:pPr algn="just" marL="2379342" indent="-264371" lvl="8">
              <a:lnSpc>
                <a:spcPts val="2878"/>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8762368"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Introduction</a:t>
            </a:r>
          </a:p>
        </p:txBody>
      </p:sp>
      <p:sp>
        <p:nvSpPr>
          <p:cNvPr name="TextBox 12" id="12"/>
          <p:cNvSpPr txBox="true"/>
          <p:nvPr/>
        </p:nvSpPr>
        <p:spPr>
          <a:xfrm rot="0">
            <a:off x="745312" y="1976192"/>
            <a:ext cx="17182852" cy="7563205"/>
          </a:xfrm>
          <a:prstGeom prst="rect">
            <a:avLst/>
          </a:prstGeom>
        </p:spPr>
        <p:txBody>
          <a:bodyPr anchor="t" rtlCol="false" tIns="0" lIns="0" bIns="0" rIns="0">
            <a:spAutoFit/>
          </a:bodyPr>
          <a:lstStyle/>
          <a:p>
            <a:pPr algn="just">
              <a:lnSpc>
                <a:spcPts val="3356"/>
              </a:lnSpc>
            </a:pPr>
            <a:r>
              <a:rPr lang="en-US" sz="2799" spc="-11">
                <a:solidFill>
                  <a:srgbClr val="000000"/>
                </a:solidFill>
                <a:latin typeface="Times New Roman"/>
                <a:ea typeface="Times New Roman"/>
                <a:cs typeface="Times New Roman"/>
                <a:sym typeface="Times New Roman"/>
              </a:rPr>
              <a:t>1.</a:t>
            </a:r>
            <a:r>
              <a:rPr lang="en-US" sz="2799" spc="-11">
                <a:solidFill>
                  <a:srgbClr val="000000"/>
                </a:solidFill>
                <a:latin typeface="Times New Roman"/>
                <a:ea typeface="Times New Roman"/>
                <a:cs typeface="Times New Roman"/>
                <a:sym typeface="Times New Roman"/>
              </a:rPr>
              <a:t> What is Cryptocurrency?</a:t>
            </a:r>
          </a:p>
          <a:p>
            <a:pPr algn="l"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Decentralized, peer-to-peer digital monetary medium operating on immutable distributed ledgers (Blockchains)  without central bank intermediaries.</a:t>
            </a:r>
          </a:p>
          <a:p>
            <a:pPr algn="just">
              <a:lnSpc>
                <a:spcPts val="3356"/>
              </a:lnSpc>
            </a:pPr>
            <a:r>
              <a:rPr lang="en-US" sz="2799" spc="-11">
                <a:solidFill>
                  <a:srgbClr val="000000"/>
                </a:solidFill>
                <a:latin typeface="Times New Roman"/>
                <a:ea typeface="Times New Roman"/>
                <a:cs typeface="Times New Roman"/>
                <a:sym typeface="Times New Roman"/>
              </a:rPr>
              <a:t>2. What is Bitcoin?</a:t>
            </a:r>
          </a:p>
          <a:p>
            <a:pPr algn="l"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Bitcoin is t</a:t>
            </a:r>
            <a:r>
              <a:rPr lang="en-US" sz="2799" spc="-11">
                <a:solidFill>
                  <a:srgbClr val="000000"/>
                </a:solidFill>
                <a:latin typeface="Times New Roman"/>
                <a:ea typeface="Times New Roman"/>
                <a:cs typeface="Times New Roman"/>
                <a:sym typeface="Times New Roman"/>
              </a:rPr>
              <a:t>he first and most popular cryptocurrency, invented in 2009 by an anonymous person called Satoshi </a:t>
            </a:r>
            <a:r>
              <a:rPr lang="en-US" sz="2799" spc="-11">
                <a:solidFill>
                  <a:srgbClr val="000000"/>
                </a:solidFill>
                <a:latin typeface="Times New Roman"/>
                <a:ea typeface="Times New Roman"/>
                <a:cs typeface="Times New Roman"/>
                <a:sym typeface="Times New Roman"/>
              </a:rPr>
              <a:t>N</a:t>
            </a:r>
            <a:r>
              <a:rPr lang="en-US" sz="2799" spc="-11">
                <a:solidFill>
                  <a:srgbClr val="000000"/>
                </a:solidFill>
                <a:latin typeface="Times New Roman"/>
                <a:ea typeface="Times New Roman"/>
                <a:cs typeface="Times New Roman"/>
                <a:sym typeface="Times New Roman"/>
              </a:rPr>
              <a:t>akamoto.</a:t>
            </a:r>
          </a:p>
          <a:p>
            <a:pPr algn="l"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Every Bitcoin transaction is permanently recorded on a public database called the blockchain</a:t>
            </a:r>
          </a:p>
          <a:p>
            <a:pPr algn="just">
              <a:lnSpc>
                <a:spcPts val="3356"/>
              </a:lnSpc>
            </a:pPr>
            <a:r>
              <a:rPr lang="en-US" sz="2799" spc="-11">
                <a:solidFill>
                  <a:srgbClr val="000000"/>
                </a:solidFill>
                <a:latin typeface="Times New Roman"/>
                <a:ea typeface="Times New Roman"/>
                <a:cs typeface="Times New Roman"/>
                <a:sym typeface="Times New Roman"/>
              </a:rPr>
              <a:t>3. What is a Digital Signature?</a:t>
            </a:r>
          </a:p>
          <a:p>
            <a:pPr algn="l"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A digital signature is a mathematical proof that a transaction was authorised by the real owner</a:t>
            </a:r>
            <a:r>
              <a:rPr lang="en-US" sz="2799" spc="-11">
                <a:solidFill>
                  <a:srgbClr val="000000"/>
                </a:solidFill>
                <a:latin typeface="Times New Roman"/>
                <a:ea typeface="Times New Roman"/>
                <a:cs typeface="Times New Roman"/>
                <a:sym typeface="Times New Roman"/>
              </a:rPr>
              <a:t> of a wallet-witho</a:t>
            </a:r>
            <a:r>
              <a:rPr lang="en-US" sz="2799" spc="-11">
                <a:solidFill>
                  <a:srgbClr val="000000"/>
                </a:solidFill>
                <a:latin typeface="Times New Roman"/>
                <a:ea typeface="Times New Roman"/>
                <a:cs typeface="Times New Roman"/>
                <a:sym typeface="Times New Roman"/>
              </a:rPr>
              <a:t>ut revealing their identity.</a:t>
            </a:r>
          </a:p>
          <a:p>
            <a:pPr algn="just">
              <a:lnSpc>
                <a:spcPts val="3356"/>
              </a:lnSpc>
            </a:pPr>
            <a:r>
              <a:rPr lang="en-US" sz="2799" spc="-11">
                <a:solidFill>
                  <a:srgbClr val="000000"/>
                </a:solidFill>
                <a:latin typeface="Times New Roman"/>
                <a:ea typeface="Times New Roman"/>
                <a:cs typeface="Times New Roman"/>
                <a:sym typeface="Times New Roman"/>
              </a:rPr>
              <a:t>4. Money Laundering:</a:t>
            </a:r>
          </a:p>
          <a:p>
            <a:pPr algn="l"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The process of disguising the criminal origins of illicit proceeds ($800B to $2 Trillion annually, 2–5% of global GDP).</a:t>
            </a:r>
          </a:p>
          <a:p>
            <a:pPr algn="just">
              <a:lnSpc>
                <a:spcPts val="3356"/>
              </a:lnSpc>
            </a:pPr>
          </a:p>
          <a:p>
            <a:pPr algn="just">
              <a:lnSpc>
                <a:spcPts val="3356"/>
              </a:lnSpc>
            </a:pPr>
          </a:p>
          <a:p>
            <a:pPr algn="just">
              <a:lnSpc>
                <a:spcPts val="3356"/>
              </a:lnSpc>
            </a:pPr>
          </a:p>
          <a:p>
            <a:pPr algn="just">
              <a:lnSpc>
                <a:spcPts val="3357"/>
              </a:lnSpc>
            </a:pPr>
          </a:p>
          <a:p>
            <a:pPr algn="just">
              <a:lnSpc>
                <a:spcPts val="3356"/>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8762368"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Introduction</a:t>
            </a:r>
          </a:p>
        </p:txBody>
      </p:sp>
      <p:sp>
        <p:nvSpPr>
          <p:cNvPr name="TextBox 12" id="12"/>
          <p:cNvSpPr txBox="true"/>
          <p:nvPr/>
        </p:nvSpPr>
        <p:spPr>
          <a:xfrm rot="0">
            <a:off x="745303" y="1672831"/>
            <a:ext cx="15734614" cy="5886805"/>
          </a:xfrm>
          <a:prstGeom prst="rect">
            <a:avLst/>
          </a:prstGeom>
        </p:spPr>
        <p:txBody>
          <a:bodyPr anchor="t" rtlCol="false" tIns="0" lIns="0" bIns="0" rIns="0">
            <a:spAutoFit/>
          </a:bodyPr>
          <a:lstStyle/>
          <a:p>
            <a:pPr algn="just">
              <a:lnSpc>
                <a:spcPts val="3356"/>
              </a:lnSpc>
            </a:pPr>
          </a:p>
          <a:p>
            <a:pPr algn="just">
              <a:lnSpc>
                <a:spcPts val="3356"/>
              </a:lnSpc>
            </a:pPr>
            <a:r>
              <a:rPr lang="en-US" sz="2799" spc="-11">
                <a:solidFill>
                  <a:srgbClr val="000000"/>
                </a:solidFill>
                <a:latin typeface="Times New Roman"/>
                <a:ea typeface="Times New Roman"/>
                <a:cs typeface="Times New Roman"/>
                <a:sym typeface="Times New Roman"/>
              </a:rPr>
              <a:t>5</a:t>
            </a:r>
            <a:r>
              <a:rPr lang="en-US" sz="2799" spc="-11">
                <a:solidFill>
                  <a:srgbClr val="000000"/>
                </a:solidFill>
                <a:latin typeface="Times New Roman"/>
                <a:ea typeface="Times New Roman"/>
                <a:cs typeface="Times New Roman"/>
                <a:sym typeface="Times New Roman"/>
              </a:rPr>
              <a:t>. Money Laundering Typologies in Crypto Graphs:</a:t>
            </a:r>
          </a:p>
          <a:p>
            <a:pPr algn="just"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Criminals bypass compliance filters using 3 distinct structural graph patterns:</a:t>
            </a:r>
          </a:p>
          <a:p>
            <a:pPr algn="just"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Circular Transfers: Directed closed loops ($A \to B \to C \to A$) for wash-trading, spoofing volumes, and inducing infinite loops in audit software.</a:t>
            </a:r>
          </a:p>
          <a:p>
            <a:pPr algn="just"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Layering Chains: Rapid sequential multi-hop transfers across consecutive timestamps to distance dirty funds from origin crimes.</a:t>
            </a:r>
          </a:p>
          <a:p>
            <a:pPr algn="just" marL="604304" indent="-302152" lvl="1">
              <a:lnSpc>
                <a:spcPts val="3356"/>
              </a:lnSpc>
              <a:buFont typeface="Arial"/>
              <a:buChar char="•"/>
            </a:pPr>
            <a:r>
              <a:rPr lang="en-US" sz="2799" spc="-11">
                <a:solidFill>
                  <a:srgbClr val="000000"/>
                </a:solidFill>
                <a:latin typeface="Times New Roman"/>
                <a:ea typeface="Times New Roman"/>
                <a:cs typeface="Times New Roman"/>
                <a:sym typeface="Times New Roman"/>
              </a:rPr>
              <a:t>Smurfing (Structuring): Splitting large criminal proceeds into micro-transactions below mandatory regulatory reporting thresholds ($10,000 limit) and aggregating at exit hubs.</a:t>
            </a:r>
          </a:p>
          <a:p>
            <a:pPr algn="just">
              <a:lnSpc>
                <a:spcPts val="3356"/>
              </a:lnSpc>
            </a:pPr>
            <a:r>
              <a:rPr lang="en-US" sz="2799" spc="-11">
                <a:solidFill>
                  <a:srgbClr val="000000"/>
                </a:solidFill>
                <a:latin typeface="Times New Roman"/>
                <a:ea typeface="Times New Roman"/>
                <a:cs typeface="Times New Roman"/>
                <a:sym typeface="Times New Roman"/>
              </a:rPr>
              <a:t>6. Proposed Solution (TemporalAML):</a:t>
            </a:r>
          </a:p>
          <a:p>
            <a:pPr algn="just" marL="604304" indent="-302152" lvl="1">
              <a:lnSpc>
                <a:spcPts val="3357"/>
              </a:lnSpc>
              <a:buFont typeface="Arial"/>
              <a:buChar char="•"/>
            </a:pPr>
            <a:r>
              <a:rPr lang="en-US" sz="2799" spc="-12">
                <a:solidFill>
                  <a:srgbClr val="000000"/>
                </a:solidFill>
                <a:latin typeface="Times New Roman"/>
                <a:ea typeface="Times New Roman"/>
                <a:cs typeface="Times New Roman"/>
                <a:sym typeface="Times New Roman"/>
              </a:rPr>
              <a:t>A continuous-time Temporal Graph Attention Network (TGAT) with Learnable Fourier Time Encoding that simultaneously identifies all 3 typologies from shared embeddings and generates auditable causal subgraph evidence.</a:t>
            </a:r>
          </a:p>
          <a:p>
            <a:pPr algn="just">
              <a:lnSpc>
                <a:spcPts val="3356"/>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4</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10788834"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Problem Statement</a:t>
            </a:r>
          </a:p>
        </p:txBody>
      </p:sp>
      <p:sp>
        <p:nvSpPr>
          <p:cNvPr name="TextBox 12" id="12"/>
          <p:cNvSpPr txBox="true"/>
          <p:nvPr/>
        </p:nvSpPr>
        <p:spPr>
          <a:xfrm rot="0">
            <a:off x="745303" y="2797693"/>
            <a:ext cx="16812854" cy="5431282"/>
          </a:xfrm>
          <a:prstGeom prst="rect">
            <a:avLst/>
          </a:prstGeom>
        </p:spPr>
        <p:txBody>
          <a:bodyPr anchor="t" rtlCol="false" tIns="0" lIns="0" bIns="0" rIns="0">
            <a:spAutoFit/>
          </a:bodyPr>
          <a:lstStyle/>
          <a:p>
            <a:pPr algn="just">
              <a:lnSpc>
                <a:spcPts val="3359"/>
              </a:lnSpc>
            </a:pPr>
          </a:p>
          <a:p>
            <a:pPr algn="just" marL="482601" indent="-120650" lvl="3">
              <a:lnSpc>
                <a:spcPts val="3359"/>
              </a:lnSpc>
              <a:buFont typeface="Arial"/>
              <a:buChar char="￭"/>
            </a:pPr>
            <a:r>
              <a:rPr lang="en-US" sz="2000" spc="-20">
                <a:solidFill>
                  <a:srgbClr val="000000"/>
                </a:solidFill>
                <a:latin typeface="Times New Roman"/>
                <a:ea typeface="Times New Roman"/>
                <a:cs typeface="Times New Roman"/>
                <a:sym typeface="Times New Roman"/>
              </a:rPr>
              <a:t>Hybrid GNN-LSTM approaches process graph structure and time information in two separate disconnected modules — the graph attention mechanism itself remains time-unaware and cannot understand when neighbours transacted or how long ago.</a:t>
            </a:r>
          </a:p>
          <a:p>
            <a:pPr algn="just" marL="482601" indent="-120650" lvl="3">
              <a:lnSpc>
                <a:spcPts val="3359"/>
              </a:lnSpc>
              <a:buFont typeface="Arial"/>
              <a:buChar char="￭"/>
            </a:pPr>
            <a:r>
              <a:rPr lang="en-US" sz="2000" spc="-20">
                <a:solidFill>
                  <a:srgbClr val="000000"/>
                </a:solidFill>
                <a:latin typeface="Times New Roman"/>
                <a:ea typeface="Times New Roman"/>
                <a:cs typeface="Times New Roman"/>
                <a:sym typeface="Times New Roman"/>
              </a:rPr>
              <a:t>Wavelet-based temporal encodings (Lin et al., 2026) apply fixed, predetermined frequency bands that cannot adapt to discover the intrinsic timescales at which circular transfers, layering chains, and smurfing actually operate in Bitcoin transaction data.</a:t>
            </a:r>
          </a:p>
          <a:p>
            <a:pPr algn="just" marL="482601" indent="-120650" lvl="3">
              <a:lnSpc>
                <a:spcPts val="3359"/>
              </a:lnSpc>
              <a:buFont typeface="Arial"/>
              <a:buChar char="￭"/>
            </a:pPr>
            <a:r>
              <a:rPr lang="en-US" sz="2000" spc="-20">
                <a:solidFill>
                  <a:srgbClr val="000000"/>
                </a:solidFill>
                <a:latin typeface="Times New Roman"/>
                <a:ea typeface="Times New Roman"/>
                <a:cs typeface="Times New Roman"/>
                <a:sym typeface="Times New Roman"/>
              </a:rPr>
              <a:t>Every existing AML paper outputs a binary illicit or licit label — no system identifies which specific pattern type (circular transfer, layering chain, or smurfing) triggered the alert, making outputs non-actionable for compliance investigation and SAR filing.</a:t>
            </a:r>
          </a:p>
          <a:p>
            <a:pPr algn="just" marL="482601" indent="-120650" lvl="3">
              <a:lnSpc>
                <a:spcPts val="3359"/>
              </a:lnSpc>
              <a:buFont typeface="Arial"/>
              <a:buChar char="￭"/>
            </a:pPr>
            <a:r>
              <a:rPr lang="en-US" sz="2000" spc="-20">
                <a:solidFill>
                  <a:srgbClr val="000000"/>
                </a:solidFill>
                <a:latin typeface="Times New Roman"/>
                <a:ea typeface="Times New Roman"/>
                <a:cs typeface="Times New Roman"/>
                <a:sym typeface="Times New Roman"/>
              </a:rPr>
              <a:t>Existing explainability approaches use attention weights as a proxy — they do not produce the specific transaction subgraph evidence, do not show time ordering of that evidence, and do not connect the explanation to a specific laundering pattern type.</a:t>
            </a:r>
          </a:p>
          <a:p>
            <a:pPr algn="just" marL="482601" indent="-120650" lvl="3">
              <a:lnSpc>
                <a:spcPts val="3359"/>
              </a:lnSpc>
              <a:buFont typeface="Arial"/>
              <a:buChar char="￭"/>
            </a:pPr>
            <a:r>
              <a:rPr lang="en-US" sz="2000" spc="-20">
                <a:solidFill>
                  <a:srgbClr val="000000"/>
                </a:solidFill>
                <a:latin typeface="Times New Roman"/>
                <a:ea typeface="Times New Roman"/>
                <a:cs typeface="Times New Roman"/>
                <a:sym typeface="Times New Roman"/>
              </a:rPr>
              <a:t>Class imbalance in the Elliptic dataset (only ~2% illicit transactions) is addressed uniformly across all time steps — no existing paper recognises or corrects for temporal drift in illicit transaction ratios across the 49 available time snapshots.</a:t>
            </a:r>
          </a:p>
          <a:p>
            <a:pPr algn="just" marL="482601" indent="-120650" lvl="3">
              <a:lnSpc>
                <a:spcPts val="3359"/>
              </a:lnSpc>
              <a:buFont typeface="Arial"/>
              <a:buChar char="￭"/>
            </a:pPr>
            <a:r>
              <a:rPr lang="en-US" sz="2000" spc="-20">
                <a:solidFill>
                  <a:srgbClr val="000000"/>
                </a:solidFill>
                <a:latin typeface="Times New Roman"/>
                <a:ea typeface="Times New Roman"/>
                <a:cs typeface="Times New Roman"/>
                <a:sym typeface="Times New Roman"/>
              </a:rPr>
              <a:t>There is a critical and unaddressed need for an AML detection framework that natively integrates learnable temporal encoding inside graph attention, simultaneously detects all three laundering pattern types, and produces per-pattern time-ordered subgraph evidence for compliance-ready output.</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5</a:t>
              </a:r>
            </a:p>
          </p:txBody>
        </p:sp>
      </p:grpSp>
      <p:sp>
        <p:nvSpPr>
          <p:cNvPr name="TextBox 22" id="22"/>
          <p:cNvSpPr txBox="true"/>
          <p:nvPr/>
        </p:nvSpPr>
        <p:spPr>
          <a:xfrm rot="0">
            <a:off x="833647" y="1923879"/>
            <a:ext cx="16609695" cy="1095628"/>
          </a:xfrm>
          <a:prstGeom prst="rect">
            <a:avLst/>
          </a:prstGeom>
        </p:spPr>
        <p:txBody>
          <a:bodyPr anchor="t" rtlCol="false" tIns="0" lIns="0" bIns="0" rIns="0">
            <a:spAutoFit/>
          </a:bodyPr>
          <a:lstStyle/>
          <a:p>
            <a:pPr algn="l">
              <a:lnSpc>
                <a:spcPts val="2878"/>
              </a:lnSpc>
            </a:pPr>
            <a:r>
              <a:rPr lang="en-US" b="true" sz="2400" spc="-10">
                <a:solidFill>
                  <a:srgbClr val="000000"/>
                </a:solidFill>
                <a:latin typeface="Times New Roman Bold"/>
                <a:ea typeface="Times New Roman Bold"/>
                <a:cs typeface="Times New Roman Bold"/>
                <a:sym typeface="Times New Roman Bold"/>
              </a:rPr>
              <a:t>"Existing AML systems model cryptocurrency transactions as static graph snapshots, capturing structural connectivity between wallets while discarding temporal ordering, transaction velocity, and time-evolving behavioural patterns that are the primary diagnostic signatures of money laundering."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6859816"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Motivation</a:t>
            </a:r>
          </a:p>
        </p:txBody>
      </p:sp>
      <p:sp>
        <p:nvSpPr>
          <p:cNvPr name="TextBox 12" id="12"/>
          <p:cNvSpPr txBox="true"/>
          <p:nvPr/>
        </p:nvSpPr>
        <p:spPr>
          <a:xfrm rot="0">
            <a:off x="745303" y="2143182"/>
            <a:ext cx="15731080" cy="3286125"/>
          </a:xfrm>
          <a:prstGeom prst="rect">
            <a:avLst/>
          </a:prstGeom>
        </p:spPr>
        <p:txBody>
          <a:bodyPr anchor="t" rtlCol="false" tIns="0" lIns="0" bIns="0" rIns="0">
            <a:spAutoFit/>
          </a:bodyPr>
          <a:lstStyle/>
          <a:p>
            <a:pPr algn="just">
              <a:lnSpc>
                <a:spcPts val="4320"/>
              </a:lnSpc>
            </a:pPr>
            <a:r>
              <a:rPr lang="en-US" sz="3600" spc="-29">
                <a:solidFill>
                  <a:srgbClr val="000000"/>
                </a:solidFill>
                <a:latin typeface="Times New Roman"/>
                <a:ea typeface="Times New Roman"/>
                <a:cs typeface="Times New Roman"/>
                <a:sym typeface="Times New Roman"/>
              </a:rPr>
              <a:t>Need for</a:t>
            </a:r>
          </a:p>
          <a:p>
            <a:pPr algn="l" marL="1171575" indent="-234315" lvl="4">
              <a:lnSpc>
                <a:spcPts val="4320"/>
              </a:lnSpc>
              <a:buFont typeface="Arial"/>
              <a:buChar char="•"/>
            </a:pPr>
            <a:r>
              <a:rPr lang="en-US" sz="3600" spc="-29">
                <a:solidFill>
                  <a:srgbClr val="000000"/>
                </a:solidFill>
                <a:latin typeface="Times New Roman"/>
                <a:ea typeface="Times New Roman"/>
                <a:cs typeface="Times New Roman"/>
                <a:sym typeface="Times New Roman"/>
              </a:rPr>
              <a:t>Temporal-aware AML detection beyond static snapshots</a:t>
            </a:r>
          </a:p>
          <a:p>
            <a:pPr algn="l" marL="1171575" indent="-234315" lvl="4">
              <a:lnSpc>
                <a:spcPts val="4320"/>
              </a:lnSpc>
              <a:buFont typeface="Arial"/>
              <a:buChar char="•"/>
            </a:pPr>
            <a:r>
              <a:rPr lang="en-US" sz="3600" spc="-29">
                <a:solidFill>
                  <a:srgbClr val="000000"/>
                </a:solidFill>
                <a:latin typeface="Times New Roman"/>
                <a:ea typeface="Times New Roman"/>
                <a:cs typeface="Times New Roman"/>
                <a:sym typeface="Times New Roman"/>
              </a:rPr>
              <a:t>Learnable time encoding that adapts to laundering timescales</a:t>
            </a:r>
          </a:p>
          <a:p>
            <a:pPr algn="l" marL="1171575" indent="-234315" lvl="4">
              <a:lnSpc>
                <a:spcPts val="4320"/>
              </a:lnSpc>
              <a:buFont typeface="Arial"/>
              <a:buChar char="•"/>
            </a:pPr>
            <a:r>
              <a:rPr lang="en-US" sz="3600" spc="-29">
                <a:solidFill>
                  <a:srgbClr val="000000"/>
                </a:solidFill>
                <a:latin typeface="Times New Roman"/>
                <a:ea typeface="Times New Roman"/>
                <a:cs typeface="Times New Roman"/>
                <a:sym typeface="Times New Roman"/>
              </a:rPr>
              <a:t>Unified multi-pattern detection — circular, layering, smurfing</a:t>
            </a:r>
          </a:p>
          <a:p>
            <a:pPr algn="l" marL="1171575" indent="-234315" lvl="4">
              <a:lnSpc>
                <a:spcPts val="4320"/>
              </a:lnSpc>
              <a:buFont typeface="Arial"/>
              <a:buChar char="•"/>
            </a:pPr>
            <a:r>
              <a:rPr lang="en-US" sz="3600" spc="-29">
                <a:solidFill>
                  <a:srgbClr val="000000"/>
                </a:solidFill>
                <a:latin typeface="Times New Roman"/>
                <a:ea typeface="Times New Roman"/>
                <a:cs typeface="Times New Roman"/>
                <a:sym typeface="Times New Roman"/>
              </a:rPr>
              <a:t>Explainable per-pattern subgraph evidence for compliance</a:t>
            </a:r>
          </a:p>
          <a:p>
            <a:pPr algn="l" marL="1171575" indent="-234315" lvl="4">
              <a:lnSpc>
                <a:spcPts val="4320"/>
              </a:lnSpc>
              <a:buFont typeface="Arial"/>
              <a:buChar char="•"/>
            </a:pPr>
            <a:r>
              <a:rPr lang="en-US" sz="3600" spc="-29">
                <a:solidFill>
                  <a:srgbClr val="000000"/>
                </a:solidFill>
                <a:latin typeface="Times New Roman"/>
                <a:ea typeface="Times New Roman"/>
                <a:cs typeface="Times New Roman"/>
                <a:sym typeface="Times New Roman"/>
              </a:rPr>
              <a:t>Causal temporal constraint for production-grade deployment</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6</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7</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9">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Literature Review</a:t>
            </a:r>
          </a:p>
        </p:txBody>
      </p:sp>
      <p:graphicFrame>
        <p:nvGraphicFramePr>
          <p:cNvPr name="Table 21" id="21"/>
          <p:cNvGraphicFramePr>
            <a:graphicFrameLocks noGrp="true"/>
          </p:cNvGraphicFramePr>
          <p:nvPr/>
        </p:nvGraphicFramePr>
        <p:xfrm>
          <a:off x="745301" y="1849680"/>
          <a:ext cx="16573500" cy="7315200"/>
        </p:xfrm>
        <a:graphic>
          <a:graphicData uri="http://schemas.openxmlformats.org/drawingml/2006/table">
            <a:tbl>
              <a:tblPr/>
              <a:tblGrid>
                <a:gridCol w="1285059"/>
                <a:gridCol w="5093120"/>
                <a:gridCol w="3469604"/>
                <a:gridCol w="3443122"/>
                <a:gridCol w="3282595"/>
              </a:tblGrid>
              <a:tr h="682112">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52159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 </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in Bitcoin: Experimenting with Graph Convolutional Networks for Financial Forensics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Weber, Domeniconi, Chen et al. (2019)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GCN applied on Elliptic Bitcoin Dataset for illicit transaction classification — foundational AML-GNN paper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Static graph only; no temporal awareness; binary classification with no pattern typology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2778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Graph-based LSTM for Anti-Money Laundering: Experimenting Temporal Graph Convolutional Network with Bitcoin Data</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Alarab &amp; Prakoonwit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Hybrid GNN-LSTM model combining graph structure with sequential temporal learning on Elliptic dataset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and time processed in separate modules; attention is not time-aware;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318492">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Detecting Illicit Transactions in Bitcoin: A Wavelet-Temporal Graph Transformer Approach for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Lin, Luo, Wu, Shen et al. (2026)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Wavelet-based frequency decomposition combined with temporal graph transformer for Bitcoin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Fixed wavelet frequencies cannot adapt to Bitcoin-specific laundering timescales; no multi-pattern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18492">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 Explainable Graph Neural Network Framework for AML in Cryptocurrency using the Elliptic Dataset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Lawal, Okolie &amp; Obunadike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GAT-based GNN with attention weights used as proxy for explainability on the Elliptic dataset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Attention weights are not reliable explainability; no temporal modelling; no pattern-specific subgraph evidence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96632">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in Cryptocurrencies through Graph Neural Networks: A Comparative Study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Marasi &amp; Ferretti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Systematic comparison of GCN, GAT, and GraphSAGE for cryptocurrency AML on Bitcoin transaction data</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All models are static; no temporal encoding; no explainability; binary classification only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8</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9">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Cont..</a:t>
            </a:r>
          </a:p>
        </p:txBody>
      </p:sp>
      <p:graphicFrame>
        <p:nvGraphicFramePr>
          <p:cNvPr name="Table 21" id="21"/>
          <p:cNvGraphicFramePr>
            <a:graphicFrameLocks noGrp="true"/>
          </p:cNvGraphicFramePr>
          <p:nvPr/>
        </p:nvGraphicFramePr>
        <p:xfrm>
          <a:off x="745301" y="2040180"/>
          <a:ext cx="16002000" cy="7124700"/>
        </p:xfrm>
        <a:graphic>
          <a:graphicData uri="http://schemas.openxmlformats.org/drawingml/2006/table">
            <a:tbl>
              <a:tblPr/>
              <a:tblGrid>
                <a:gridCol w="1241150"/>
                <a:gridCol w="4917142"/>
                <a:gridCol w="3349931"/>
                <a:gridCol w="3324367"/>
                <a:gridCol w="3169409"/>
              </a:tblGrid>
              <a:tr h="725501">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616411">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Enhancing Anti-Money Laundering Frameworks: An Application of Graph Neural Networks in Cryptocurrency Transaction Classification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Ferretti, D'Angelo &amp; Ghini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GATv2 and Chebyshev GCN tested on Elliptic dataset — IEEE Access open-access benchmark paper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Static models only; no temporal encoding; binary classification; no explainability component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6413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by Group-Aware Deep Graph Learning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Cheng, Ye, Xiang, Ma, Zhang &amp; Jiang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Group-aware deep graph learning for AML — IEEE Transactions on Knowledge and Data Engineering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Group structure used but no temporal modelling; no multi-pattern detection heads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1186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 Spatio-Temporal Attention-Based GCN for Anti-Money Laundering Transaction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Huang, Wang, Zhang &amp; Zhao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Spatio-temporal graph convolutional network combining spatial GCN and temporal attention for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Spatial and temporal modules are separate; no learnable Fourier encoding; binary output only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3600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Global-Local Graph Attention with Cyclic Pseudo-Labels for Bitcoin AML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Li, Jia &amp; Su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Global-local GAT with cyclic pseudo-labels targeting circular patterns — Scientific Reports Nature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Targets only circular patterns; no learnable time encoding; no layering or smurfing detection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2707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Inductive Representation Learning on Temporal Graphs (TGAT)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Xu, Ruan, Korpeoglu, Kumar &amp; Achan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TGAT with Fourier time encoding for temporal graph learning — foundational architecture of our model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General-purpose temporal GNN; not applied to AML; no pattern-specific detection or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9</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9">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Cont..</a:t>
            </a:r>
          </a:p>
        </p:txBody>
      </p:sp>
      <p:graphicFrame>
        <p:nvGraphicFramePr>
          <p:cNvPr name="Table 21" id="21"/>
          <p:cNvGraphicFramePr>
            <a:graphicFrameLocks noGrp="true"/>
          </p:cNvGraphicFramePr>
          <p:nvPr/>
        </p:nvGraphicFramePr>
        <p:xfrm>
          <a:off x="745301" y="2040180"/>
          <a:ext cx="16002000" cy="7124700"/>
        </p:xfrm>
        <a:graphic>
          <a:graphicData uri="http://schemas.openxmlformats.org/drawingml/2006/table">
            <a:tbl>
              <a:tblPr/>
              <a:tblGrid>
                <a:gridCol w="1241149"/>
                <a:gridCol w="4917143"/>
                <a:gridCol w="3349931"/>
                <a:gridCol w="3324367"/>
                <a:gridCol w="3169409"/>
              </a:tblGrid>
              <a:tr h="725501">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616411">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GNNExplainer: Generating Explanations for Graph Neural Networks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Ying, Bourgeois, You, Zitnik &amp; Leskovec (2019)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Minimal subgraph mask learning using mutual information maximisation for GNN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General-purpose; not applied to AML; no temporal subgraph ordering; no pattern-type labelling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6413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Semi-Supervised Classification with Graph Convolutional Networks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Kipf &amp; Welling (2017)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Convolutional Network using spectral convolution — foundational GNN paper and our first baseline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Static graph only; no temporal awareness; neighbourhood aggregation ignores time completely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1186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Attention Networks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Veličković, Cucurull, Casanova et al. (2018)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Attention-weighted neighbourhood aggregation in GNN — direct predecessor architecture of TGAT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No temporal component; static attention only; no laundering pattern awareness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3600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Temporal Graph Networks for Deep Learning on Dynamic Graphs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Rossi, Chamberlain, Frasca et al.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TGN framework for dynamic graphs with memory modules and temporal neighbourhood aggregation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General temporal GNN; not applied to AML or crypto; no laundering pattern heads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2707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 Dynamic Graph Convolutional Network for Anti-Money Laundering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Wei, Zeng, Guo, Guo, Tu &amp; Xu (2023)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Dynamic GAT (DynGAT) capturing temporal information within the graph attention mechanism for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Temporal attention not inside Fourier encoding; no multi-pattern detection;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2">
              <a:extLst>
                <a:ext uri="{96DAC541-7B7A-43D3-8B79-37D633B846F1}">
                  <asvg:svgBlip xmlns:asvg="http://schemas.microsoft.com/office/drawing/2016/SVG/main" r:embed="rId3"/>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4">
                <a:alphaModFix amt="3000"/>
              </a:blip>
              <a:stretch>
                <a:fillRect l="0" t="0" r="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5">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6">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7">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10</a:t>
              </a:r>
            </a:p>
          </p:txBody>
        </p:sp>
      </p:grpSp>
      <p:grpSp>
        <p:nvGrpSpPr>
          <p:cNvPr name="Group 16" id="16"/>
          <p:cNvGrpSpPr/>
          <p:nvPr/>
        </p:nvGrpSpPr>
        <p:grpSpPr>
          <a:xfrm rot="0">
            <a:off x="16830599" y="9612544"/>
            <a:ext cx="1097566" cy="602075"/>
            <a:chOff x="0" y="0"/>
            <a:chExt cx="1463421" cy="802767"/>
          </a:xfrm>
        </p:grpSpPr>
        <p:sp>
          <p:nvSpPr>
            <p:cNvPr name="Freeform 17" id="17"/>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8">
                <a:alphaModFix amt="0"/>
              </a:blip>
              <a:stretch>
                <a:fillRect l="-20430" t="0" r="-20430" b="0"/>
              </a:stretch>
            </a:blipFill>
          </p:spPr>
        </p:sp>
      </p:grpSp>
      <p:sp>
        <p:nvSpPr>
          <p:cNvPr name="TextBox 18" id="18"/>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9" id="19"/>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0" id="20"/>
          <p:cNvSpPr txBox="true"/>
          <p:nvPr/>
        </p:nvSpPr>
        <p:spPr>
          <a:xfrm rot="0">
            <a:off x="745303" y="897655"/>
            <a:ext cx="16797252" cy="685533"/>
          </a:xfrm>
          <a:prstGeom prst="rect">
            <a:avLst/>
          </a:prstGeom>
        </p:spPr>
        <p:txBody>
          <a:bodyPr anchor="t" rtlCol="false" tIns="0" lIns="0" bIns="0" rIns="0">
            <a:spAutoFit/>
          </a:bodyPr>
          <a:lstStyle/>
          <a:p>
            <a:pPr algn="l">
              <a:lnSpc>
                <a:spcPts val="5757"/>
              </a:lnSpc>
            </a:pPr>
            <a:r>
              <a:rPr lang="en-US" b="true" sz="4800" spc="-18">
                <a:solidFill>
                  <a:srgbClr val="0000FF"/>
                </a:solidFill>
                <a:latin typeface="IBM Plex Sans Bold"/>
                <a:ea typeface="IBM Plex Sans Bold"/>
                <a:cs typeface="IBM Plex Sans Bold"/>
                <a:sym typeface="IBM Plex Sans Bold"/>
              </a:rPr>
              <a:t>Cont..</a:t>
            </a:r>
          </a:p>
        </p:txBody>
      </p:sp>
      <p:graphicFrame>
        <p:nvGraphicFramePr>
          <p:cNvPr name="Table 21" id="21"/>
          <p:cNvGraphicFramePr>
            <a:graphicFrameLocks noGrp="true"/>
          </p:cNvGraphicFramePr>
          <p:nvPr/>
        </p:nvGraphicFramePr>
        <p:xfrm>
          <a:off x="745301" y="2040180"/>
          <a:ext cx="16002000" cy="7124700"/>
        </p:xfrm>
        <a:graphic>
          <a:graphicData uri="http://schemas.openxmlformats.org/drawingml/2006/table">
            <a:tbl>
              <a:tblPr/>
              <a:tblGrid>
                <a:gridCol w="1241149"/>
                <a:gridCol w="4917143"/>
                <a:gridCol w="3349931"/>
                <a:gridCol w="3324367"/>
                <a:gridCol w="3169409"/>
              </a:tblGrid>
              <a:tr h="725501">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S.No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Paper Title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Authors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Methodology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2160"/>
                        </a:lnSpc>
                        <a:defRPr/>
                      </a:pPr>
                      <a:r>
                        <a:rPr lang="en-US" b="true" sz="1800" spc="-7">
                          <a:solidFill>
                            <a:srgbClr val="FFFFFF"/>
                          </a:solidFill>
                          <a:latin typeface="TT Ramillas Bold"/>
                          <a:ea typeface="TT Ramillas Bold"/>
                          <a:cs typeface="TT Ramillas Bold"/>
                          <a:sym typeface="TT Ramillas Bold"/>
                        </a:rPr>
                        <a:t>Research Gaps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616411">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 Spatio-Temporal Graph Neural Network for Detecting Money Laundering in Cryptocurrency Transactions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Al-Harbi, H.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Spatial-temporal GNN combining spatial GCN and temporal sequence learning for blockchain anomaly detection — IEEE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Spatial and temporal streams are separate; no learnable Fourier encoding; binary classification only;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64139">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Anti-Money Laundering in Cryptocurrencies through Graph Neural Networks: A Comparative Study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Marasi &amp; Ferretti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Systematic benchmark comparing GCN, GAT, and GraphSAGE for cryptocurrency AML — IEEE CCNC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All static models; no temporal encoding; binary output; no multi-pattern detection; used as baseline in our work</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11186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EvolveGCN: Evolving Graph Convolutional Networks for Dynamic Graphs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Pareja, Domeniconi, Chen et al.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GCN with RNN-based weight evolution across dynamic graph snapshots — AAAI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Evolves weights per snapshot but no within-snapshot temporal attention; no AML application; no explainability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36008">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19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Scalable Semi-Supervised Graph Learning Techniques for Anti-Money Laundering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Karim, Hermsen, Chala &amp; De Perthuis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Semi-supervised graph learning on large AML transaction graphs addressing class imbalance — IEEE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Semi-supervised approach; static graph; uniform class weighting ignores temporal drift; no Fourier encoding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EDF4"/>
                    </a:solidFill>
                  </a:tcPr>
                </a:tc>
              </a:tr>
              <a:tr h="1270773">
                <a:tc>
                  <a:txBody>
                    <a:bodyPr anchor="t" rtlCol="false"/>
                    <a:lstStyle/>
                    <a:p>
                      <a:pPr algn="ctr">
                        <a:lnSpc>
                          <a:spcPts val="2160"/>
                        </a:lnSpc>
                        <a:defRPr/>
                      </a:pPr>
                      <a:r>
                        <a:rPr lang="en-US" b="true" sz="1800" spc="-7">
                          <a:solidFill>
                            <a:srgbClr val="000000"/>
                          </a:solidFill>
                          <a:latin typeface="TT Ramillas Bold"/>
                          <a:ea typeface="TT Ramillas Bold"/>
                          <a:cs typeface="TT Ramillas Bold"/>
                          <a:sym typeface="TT Ramillas Bold"/>
                        </a:rPr>
                        <a:t>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Diffusion Arithmetic Feature Interaction Transformer with Temporal Information for Bitcoin AML</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Li, Jia, Ma &amp; Su (2026)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Graph diffusion combined with temporal arithmetic feature interaction transformer — Springer Applied Intelligence 2026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160"/>
                        </a:lnSpc>
                        <a:defRPr/>
                      </a:pPr>
                      <a:r>
                        <a:rPr lang="en-US" sz="1800" spc="-7">
                          <a:solidFill>
                            <a:srgbClr val="000000"/>
                          </a:solidFill>
                          <a:latin typeface="TT Ramillas"/>
                          <a:ea typeface="TT Ramillas"/>
                          <a:cs typeface="TT Ramillas"/>
                          <a:sym typeface="TT Ramillas"/>
                        </a:rPr>
                        <a:t>No learnable frequency encoding; no unified multi-pattern detection; no per-pattern explainability module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2">
              <a:extLst>
                <a:ext uri="{96DAC541-7B7A-43D3-8B79-37D633B846F1}">
                  <asvg:svgBlip xmlns:asvg="http://schemas.microsoft.com/office/drawing/2016/SVG/main" r:embed="rId3"/>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4">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Gap Analysis</a:t>
            </a:r>
          </a:p>
        </p:txBody>
      </p:sp>
      <p:sp>
        <p:nvSpPr>
          <p:cNvPr name="TextBox 12" id="12"/>
          <p:cNvSpPr txBox="true"/>
          <p:nvPr/>
        </p:nvSpPr>
        <p:spPr>
          <a:xfrm rot="0">
            <a:off x="745303" y="2143182"/>
            <a:ext cx="15731080" cy="6562725"/>
          </a:xfrm>
          <a:prstGeom prst="rect">
            <a:avLst/>
          </a:prstGeom>
        </p:spPr>
        <p:txBody>
          <a:bodyPr anchor="t" rtlCol="false" tIns="0" lIns="0" bIns="0" rIns="0">
            <a:spAutoFit/>
          </a:bodyPr>
          <a:lstStyle/>
          <a:p>
            <a:pPr algn="just">
              <a:lnSpc>
                <a:spcPts val="3719"/>
              </a:lnSpc>
            </a:pPr>
            <a:r>
              <a:rPr lang="en-US" sz="3099" spc="-23">
                <a:solidFill>
                  <a:srgbClr val="000000"/>
                </a:solidFill>
                <a:latin typeface="Times New Roman"/>
                <a:ea typeface="Times New Roman"/>
                <a:cs typeface="Times New Roman"/>
                <a:sym typeface="Times New Roman"/>
              </a:rPr>
              <a:t>Research Gaps Identified from Literature Review</a:t>
            </a:r>
          </a:p>
          <a:p>
            <a:pPr algn="l" marL="1008855" indent="-201771" lvl="4">
              <a:lnSpc>
                <a:spcPts val="3719"/>
              </a:lnSpc>
              <a:buFont typeface="Arial"/>
              <a:buChar char="•"/>
            </a:pPr>
            <a:r>
              <a:rPr lang="en-US" b="true" sz="3099" spc="-23">
                <a:solidFill>
                  <a:srgbClr val="000000"/>
                </a:solidFill>
                <a:latin typeface="Times New Roman Bold"/>
                <a:ea typeface="Times New Roman Bold"/>
                <a:cs typeface="Times New Roman Bold"/>
                <a:sym typeface="Times New Roman Bold"/>
              </a:rPr>
              <a:t>Structural Gap: </a:t>
            </a:r>
            <a:r>
              <a:rPr lang="en-US" sz="3099" spc="-23">
                <a:solidFill>
                  <a:srgbClr val="000000"/>
                </a:solidFill>
                <a:latin typeface="Times New Roman"/>
                <a:ea typeface="Times New Roman"/>
                <a:cs typeface="Times New Roman"/>
                <a:sym typeface="Times New Roman"/>
              </a:rPr>
              <a:t>Static and disconnected temporal GNN models (Weber 2019, Alarab 2023, Lin 2026) fail to capture the time-evolving nature of laundering patterns — either ignoring time entirely or encoding it with fixed, non-adaptive frequencies that cannot learn Bitcoin-specific laundering timescales.</a:t>
            </a:r>
          </a:p>
          <a:p>
            <a:pPr algn="l" marL="1008855" indent="-201771" lvl="4">
              <a:lnSpc>
                <a:spcPts val="3719"/>
              </a:lnSpc>
              <a:buFont typeface="Arial"/>
              <a:buChar char="•"/>
            </a:pPr>
            <a:r>
              <a:rPr lang="en-US" b="true" sz="3099" spc="-24">
                <a:solidFill>
                  <a:srgbClr val="000000"/>
                </a:solidFill>
                <a:latin typeface="Times New Roman Bold"/>
                <a:ea typeface="Times New Roman Bold"/>
                <a:cs typeface="Times New Roman Bold"/>
                <a:sym typeface="Times New Roman Bold"/>
              </a:rPr>
              <a:t>Detection Gap:</a:t>
            </a:r>
            <a:r>
              <a:rPr lang="en-US" sz="3099" spc="-24">
                <a:solidFill>
                  <a:srgbClr val="000000"/>
                </a:solidFill>
                <a:latin typeface="Times New Roman"/>
                <a:ea typeface="Times New Roman"/>
                <a:cs typeface="Times New Roman"/>
                <a:sym typeface="Times New Roman"/>
              </a:rPr>
              <a:t> No existing system performs multi-pattern detection. All papers produce a binary illicit/licit output without identifying whether the crime is a circular transfer, layering chain, or smurfing — leaving compliance officers without the pattern context needed for SAR investigation.</a:t>
            </a:r>
          </a:p>
          <a:p>
            <a:pPr algn="l" marL="1008855" indent="-201771" lvl="4">
              <a:lnSpc>
                <a:spcPts val="3719"/>
              </a:lnSpc>
              <a:buFont typeface="Arial"/>
              <a:buChar char="•"/>
            </a:pPr>
            <a:r>
              <a:rPr lang="en-US" b="true" sz="3099" spc="-24">
                <a:solidFill>
                  <a:srgbClr val="000000"/>
                </a:solidFill>
                <a:latin typeface="Times New Roman Bold"/>
                <a:ea typeface="Times New Roman Bold"/>
                <a:cs typeface="Times New Roman Bold"/>
                <a:sym typeface="Times New Roman Bold"/>
              </a:rPr>
              <a:t>Explainability Gap: </a:t>
            </a:r>
            <a:r>
              <a:rPr lang="en-US" sz="3099" spc="-24">
                <a:solidFill>
                  <a:srgbClr val="000000"/>
                </a:solidFill>
                <a:latin typeface="Times New Roman"/>
                <a:ea typeface="Times New Roman"/>
                <a:cs typeface="Times New Roman"/>
                <a:sym typeface="Times New Roman"/>
              </a:rPr>
              <a:t>Current explainability approaches use attention weights (Lawal 2025) rather than evidence subgraphs — producing neither time-ordered transaction trails nor pattern-specific forensic evidence, making existing models unsuitable for real-world regulatory deployment.</a:t>
            </a:r>
          </a:p>
          <a:p>
            <a:pPr algn="l" marL="1008855" indent="-201771" lvl="4">
              <a:lnSpc>
                <a:spcPts val="3719"/>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6</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2715667"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Objectives</a:t>
            </a:r>
          </a:p>
        </p:txBody>
      </p:sp>
      <p:sp>
        <p:nvSpPr>
          <p:cNvPr name="TextBox 12" id="12"/>
          <p:cNvSpPr txBox="true"/>
          <p:nvPr/>
        </p:nvSpPr>
        <p:spPr>
          <a:xfrm rot="0">
            <a:off x="745303" y="1847850"/>
            <a:ext cx="16085296" cy="5905603"/>
          </a:xfrm>
          <a:prstGeom prst="rect">
            <a:avLst/>
          </a:prstGeom>
        </p:spPr>
        <p:txBody>
          <a:bodyPr anchor="t" rtlCol="false" tIns="0" lIns="0" bIns="0" rIns="0">
            <a:spAutoFit/>
          </a:bodyPr>
          <a:lstStyle/>
          <a:p>
            <a:pPr algn="just">
              <a:lnSpc>
                <a:spcPts val="3357"/>
              </a:lnSpc>
            </a:pPr>
            <a:r>
              <a:rPr lang="en-US" b="true" sz="2799" spc="-19">
                <a:solidFill>
                  <a:srgbClr val="000000"/>
                </a:solidFill>
                <a:latin typeface="Times New Roman Bold"/>
                <a:ea typeface="Times New Roman Bold"/>
                <a:cs typeface="Times New Roman Bold"/>
                <a:sym typeface="Times New Roman Bold"/>
              </a:rPr>
              <a:t>Research Aim: </a:t>
            </a:r>
            <a:r>
              <a:rPr lang="en-US" sz="2799" spc="-19">
                <a:solidFill>
                  <a:srgbClr val="000000"/>
                </a:solidFill>
                <a:latin typeface="Times New Roman"/>
                <a:ea typeface="Times New Roman"/>
                <a:cs typeface="Times New Roman"/>
                <a:sym typeface="Times New Roman"/>
              </a:rPr>
              <a:t>To design, implement, and validate a Temporal Graph Attention Network with learnable Fourier time encoding for explainable multi-pattern Anti-Money Laundering detection in cryptocurrency transaction networks.</a:t>
            </a:r>
          </a:p>
          <a:p>
            <a:pPr algn="just">
              <a:lnSpc>
                <a:spcPts val="6717"/>
              </a:lnSpc>
            </a:pPr>
            <a:r>
              <a:rPr lang="en-US" b="true" sz="2799" spc="-19">
                <a:solidFill>
                  <a:srgbClr val="000000"/>
                </a:solidFill>
                <a:latin typeface="Times New Roman Bold"/>
                <a:ea typeface="Times New Roman Bold"/>
                <a:cs typeface="Times New Roman Bold"/>
                <a:sym typeface="Times New Roman Bold"/>
              </a:rPr>
              <a:t>O1 – Temporal Graph Construction</a:t>
            </a:r>
          </a:p>
          <a:p>
            <a:pPr algn="just">
              <a:lnSpc>
                <a:spcPts val="3357"/>
              </a:lnSpc>
            </a:pPr>
            <a:r>
              <a:rPr lang="en-US" sz="2799" spc="-19">
                <a:solidFill>
                  <a:srgbClr val="000000"/>
                </a:solidFill>
                <a:latin typeface="Times New Roman"/>
                <a:ea typeface="Times New Roman"/>
                <a:cs typeface="Times New Roman"/>
                <a:sym typeface="Times New Roman"/>
              </a:rPr>
              <a:t>Build a directed, weighted, temporal graph from the Elliptic Bitcoin Dataset — wallet addresses as nodes, Bitcoin transactions as timestamped directed edges — preserving all 49 ordered time snapshots for time-aware model training and evaluation.</a:t>
            </a:r>
          </a:p>
          <a:p>
            <a:pPr algn="just">
              <a:lnSpc>
                <a:spcPts val="6717"/>
              </a:lnSpc>
            </a:pPr>
            <a:r>
              <a:rPr lang="en-US" b="true" sz="2799" spc="-19">
                <a:solidFill>
                  <a:srgbClr val="000000"/>
                </a:solidFill>
                <a:latin typeface="Times New Roman Bold"/>
                <a:ea typeface="Times New Roman Bold"/>
                <a:cs typeface="Times New Roman Bold"/>
                <a:sym typeface="Times New Roman Bold"/>
              </a:rPr>
              <a:t>O2 – Learnable Fourier Time Encoding (Core Novelty)</a:t>
            </a:r>
          </a:p>
          <a:p>
            <a:pPr algn="just">
              <a:lnSpc>
                <a:spcPts val="3357"/>
              </a:lnSpc>
            </a:pPr>
            <a:r>
              <a:rPr lang="en-US" sz="2799" spc="-19">
                <a:solidFill>
                  <a:srgbClr val="000000"/>
                </a:solidFill>
                <a:latin typeface="Times New Roman"/>
                <a:ea typeface="Times New Roman"/>
                <a:cs typeface="Times New Roman"/>
                <a:sym typeface="Times New Roman"/>
              </a:rPr>
              <a:t>Design and implement trainable Fourier frequency parameters ω₁ through ωd inside the graph attention mechanism — enabling the model to automatically discover the characteristic timescales of circular transfers, layering chains, and smurfing from real transaction data without any human-specified frequencies.</a:t>
            </a:r>
          </a:p>
          <a:p>
            <a:pPr algn="just">
              <a:lnSpc>
                <a:spcPts val="3357"/>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10</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97655"/>
            <a:ext cx="16797252" cy="685800"/>
          </a:xfrm>
          <a:prstGeom prst="rect">
            <a:avLst/>
          </a:prstGeom>
        </p:spPr>
        <p:txBody>
          <a:bodyPr anchor="t" rtlCol="false" tIns="0" lIns="0" bIns="0" rIns="0">
            <a:spAutoFit/>
          </a:bodyPr>
          <a:lstStyle/>
          <a:p>
            <a:pPr algn="l">
              <a:lnSpc>
                <a:spcPts val="5757"/>
              </a:lnSpc>
            </a:pPr>
            <a:r>
              <a:rPr lang="en-US" b="true" sz="4800" spc="-21">
                <a:solidFill>
                  <a:srgbClr val="0000FF"/>
                </a:solidFill>
                <a:latin typeface="IBM Plex Sans Bold"/>
                <a:ea typeface="IBM Plex Sans Bold"/>
                <a:cs typeface="IBM Plex Sans Bold"/>
                <a:sym typeface="IBM Plex Sans Bold"/>
              </a:rPr>
              <a:t>Cont..</a:t>
            </a:r>
          </a:p>
        </p:txBody>
      </p:sp>
      <p:sp>
        <p:nvSpPr>
          <p:cNvPr name="TextBox 12" id="12"/>
          <p:cNvSpPr txBox="true"/>
          <p:nvPr/>
        </p:nvSpPr>
        <p:spPr>
          <a:xfrm rot="0">
            <a:off x="745303" y="810273"/>
            <a:ext cx="15790097" cy="5587468"/>
          </a:xfrm>
          <a:prstGeom prst="rect">
            <a:avLst/>
          </a:prstGeom>
        </p:spPr>
        <p:txBody>
          <a:bodyPr anchor="t" rtlCol="false" tIns="0" lIns="0" bIns="0" rIns="0">
            <a:spAutoFit/>
          </a:bodyPr>
          <a:lstStyle/>
          <a:p>
            <a:pPr algn="just">
              <a:lnSpc>
                <a:spcPts val="6717"/>
              </a:lnSpc>
            </a:pPr>
          </a:p>
          <a:p>
            <a:pPr algn="just">
              <a:lnSpc>
                <a:spcPts val="3357"/>
              </a:lnSpc>
            </a:pPr>
            <a:r>
              <a:rPr lang="en-US" b="true" sz="2799" spc="-19">
                <a:solidFill>
                  <a:srgbClr val="000000"/>
                </a:solidFill>
                <a:latin typeface="Times New Roman Bold"/>
                <a:ea typeface="Times New Roman Bold"/>
                <a:cs typeface="Times New Roman Bold"/>
                <a:sym typeface="Times New Roman Bold"/>
              </a:rPr>
              <a:t>O3 – Unified Multi-Pattern Detection</a:t>
            </a:r>
          </a:p>
          <a:p>
            <a:pPr algn="just">
              <a:lnSpc>
                <a:spcPts val="3357"/>
              </a:lnSpc>
            </a:pPr>
            <a:r>
              <a:rPr lang="en-US" sz="2799" spc="-19">
                <a:solidFill>
                  <a:srgbClr val="000000"/>
                </a:solidFill>
                <a:latin typeface="Times New Roman"/>
                <a:ea typeface="Times New Roman"/>
                <a:cs typeface="Times New Roman"/>
                <a:sym typeface="Times New Roman"/>
              </a:rPr>
              <a:t>Build pattern-specific detection heads on top of shared TGAT embeddings to simultaneously detect all three laundering strategies — circular transfers via subgraph motif matching, layering chains via temporal path velocity scoring, and smurfing via fan-out anomaly scoring.</a:t>
            </a:r>
          </a:p>
          <a:p>
            <a:pPr algn="just">
              <a:lnSpc>
                <a:spcPts val="3357"/>
              </a:lnSpc>
            </a:pPr>
          </a:p>
          <a:p>
            <a:pPr algn="just">
              <a:lnSpc>
                <a:spcPts val="3357"/>
              </a:lnSpc>
            </a:pPr>
            <a:r>
              <a:rPr lang="en-US" b="true" sz="2799" spc="-19">
                <a:solidFill>
                  <a:srgbClr val="000000"/>
                </a:solidFill>
                <a:latin typeface="Times New Roman Bold"/>
                <a:ea typeface="Times New Roman Bold"/>
                <a:cs typeface="Times New Roman Bold"/>
                <a:sym typeface="Times New Roman Bold"/>
              </a:rPr>
              <a:t>O4 – Per-Pattern Subgraph Explainability</a:t>
            </a:r>
          </a:p>
          <a:p>
            <a:pPr algn="just">
              <a:lnSpc>
                <a:spcPts val="3357"/>
              </a:lnSpc>
            </a:pPr>
            <a:r>
              <a:rPr lang="en-US" sz="2799" spc="-19">
                <a:solidFill>
                  <a:srgbClr val="000000"/>
                </a:solidFill>
                <a:latin typeface="Times New Roman"/>
                <a:ea typeface="Times New Roman"/>
                <a:cs typeface="Times New Roman"/>
                <a:sym typeface="Times New Roman"/>
              </a:rPr>
              <a:t>Integrate GNNExplainer to produce per-alert, per-pattern time-ordered minimal subgraph evidence reports — identifying the exact transaction chains responsible for each flag and enabling compliance-ready Suspicious Activity Report generation.</a:t>
            </a:r>
          </a:p>
          <a:p>
            <a:pPr algn="just">
              <a:lnSpc>
                <a:spcPts val="3357"/>
              </a:lnSpc>
            </a:pPr>
          </a:p>
          <a:p>
            <a:pPr algn="just">
              <a:lnSpc>
                <a:spcPts val="3357"/>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11</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5956102"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Proposed Contribution</a:t>
            </a:r>
          </a:p>
        </p:txBody>
      </p:sp>
      <p:sp>
        <p:nvSpPr>
          <p:cNvPr name="TextBox 12" id="12"/>
          <p:cNvSpPr txBox="true"/>
          <p:nvPr/>
        </p:nvSpPr>
        <p:spPr>
          <a:xfrm rot="0">
            <a:off x="745303" y="1724644"/>
            <a:ext cx="15731080" cy="5964402"/>
          </a:xfrm>
          <a:prstGeom prst="rect">
            <a:avLst/>
          </a:prstGeom>
        </p:spPr>
        <p:txBody>
          <a:bodyPr anchor="t" rtlCol="false" tIns="0" lIns="0" bIns="0" rIns="0">
            <a:spAutoFit/>
          </a:bodyPr>
          <a:lstStyle/>
          <a:p>
            <a:pPr algn="just">
              <a:lnSpc>
                <a:spcPts val="4320"/>
              </a:lnSpc>
            </a:pPr>
            <a:r>
              <a:rPr lang="en-US" sz="2799" spc="-24">
                <a:solidFill>
                  <a:srgbClr val="000000"/>
                </a:solidFill>
                <a:latin typeface="Times New Roman"/>
                <a:ea typeface="Times New Roman"/>
                <a:cs typeface="Times New Roman"/>
                <a:sym typeface="Times New Roman"/>
              </a:rPr>
              <a:t>This research proposes</a:t>
            </a:r>
          </a:p>
          <a:p>
            <a:pPr algn="just" marL="954193" indent="-190839" lvl="4">
              <a:lnSpc>
                <a:spcPts val="4320"/>
              </a:lnSpc>
              <a:buFont typeface="Arial"/>
              <a:buChar char="•"/>
            </a:pPr>
            <a:r>
              <a:rPr lang="en-US" sz="2799" spc="-24">
                <a:solidFill>
                  <a:srgbClr val="000000"/>
                </a:solidFill>
                <a:latin typeface="Times New Roman"/>
                <a:ea typeface="Times New Roman"/>
                <a:cs typeface="Times New Roman"/>
                <a:sym typeface="Times New Roman"/>
              </a:rPr>
              <a:t>Learnable Fourier time encoding trained end-to-end inside graph attention — model discovers laundering timescales from data automatically.</a:t>
            </a:r>
          </a:p>
          <a:p>
            <a:pPr algn="just" marL="954193" indent="-190839" lvl="4">
              <a:lnSpc>
                <a:spcPts val="4320"/>
              </a:lnSpc>
              <a:buFont typeface="Arial"/>
              <a:buChar char="•"/>
            </a:pPr>
            <a:r>
              <a:rPr lang="en-US" sz="2799" spc="-24">
                <a:solidFill>
                  <a:srgbClr val="000000"/>
                </a:solidFill>
                <a:latin typeface="Times New Roman"/>
                <a:ea typeface="Times New Roman"/>
                <a:cs typeface="Times New Roman"/>
                <a:sym typeface="Times New Roman"/>
              </a:rPr>
              <a:t>Unified 3-pattern detection framework — circular transfers, layering chains, and smurfing detected simultaneously from shared TGAT embeddings.</a:t>
            </a:r>
          </a:p>
          <a:p>
            <a:pPr algn="just" marL="954193" indent="-190839" lvl="4">
              <a:lnSpc>
                <a:spcPts val="4320"/>
              </a:lnSpc>
              <a:buFont typeface="Arial"/>
              <a:buChar char="•"/>
            </a:pPr>
            <a:r>
              <a:rPr lang="en-US" sz="2799" spc="-24">
                <a:solidFill>
                  <a:srgbClr val="000000"/>
                </a:solidFill>
                <a:latin typeface="Times New Roman"/>
                <a:ea typeface="Times New Roman"/>
                <a:cs typeface="Times New Roman"/>
                <a:sym typeface="Times New Roman"/>
              </a:rPr>
              <a:t>Causal temporal neighbourhood constraint — only past transactions used per node, ensuring production-grade deployability.</a:t>
            </a:r>
          </a:p>
          <a:p>
            <a:pPr algn="just" marL="954193" indent="-190839" lvl="4">
              <a:lnSpc>
                <a:spcPts val="4320"/>
              </a:lnSpc>
              <a:buFont typeface="Arial"/>
              <a:buChar char="•"/>
            </a:pPr>
            <a:r>
              <a:rPr lang="en-US" sz="2799" spc="-24">
                <a:solidFill>
                  <a:srgbClr val="000000"/>
                </a:solidFill>
                <a:latin typeface="Times New Roman"/>
                <a:ea typeface="Times New Roman"/>
                <a:cs typeface="Times New Roman"/>
                <a:sym typeface="Times New Roman"/>
              </a:rPr>
              <a:t>Per-pattern time-ordered subgraph explainability via GNNExplainer — compliance-ready SAR evidence for every alert.</a:t>
            </a:r>
          </a:p>
          <a:p>
            <a:pPr algn="just" marL="954193" indent="-190839" lvl="4">
              <a:lnSpc>
                <a:spcPts val="4320"/>
              </a:lnSpc>
              <a:buFont typeface="Arial"/>
              <a:buChar char="•"/>
            </a:pPr>
            <a:r>
              <a:rPr lang="en-US" sz="2799" spc="-24">
                <a:solidFill>
                  <a:srgbClr val="000000"/>
                </a:solidFill>
                <a:latin typeface="Times New Roman"/>
                <a:ea typeface="Times New Roman"/>
                <a:cs typeface="Times New Roman"/>
                <a:sym typeface="Times New Roman"/>
              </a:rPr>
              <a:t>Temporal class imbalance correction — per-timestep class weighting addressing drift across 49 Elliptic time steps.</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4578474"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Dataset Overview</a:t>
            </a:r>
          </a:p>
        </p:txBody>
      </p:sp>
      <p:sp>
        <p:nvSpPr>
          <p:cNvPr name="TextBox 12" id="12"/>
          <p:cNvSpPr txBox="true"/>
          <p:nvPr/>
        </p:nvSpPr>
        <p:spPr>
          <a:xfrm rot="0">
            <a:off x="745303" y="1438894"/>
            <a:ext cx="16976131" cy="7859877"/>
          </a:xfrm>
          <a:prstGeom prst="rect">
            <a:avLst/>
          </a:prstGeom>
        </p:spPr>
        <p:txBody>
          <a:bodyPr anchor="t" rtlCol="false" tIns="0" lIns="0" bIns="0" rIns="0">
            <a:spAutoFit/>
          </a:bodyPr>
          <a:lstStyle/>
          <a:p>
            <a:pPr algn="just">
              <a:lnSpc>
                <a:spcPts val="4320"/>
              </a:lnSpc>
            </a:pPr>
            <a:r>
              <a:rPr lang="en-US" sz="2799" spc="-24">
                <a:solidFill>
                  <a:srgbClr val="000000"/>
                </a:solidFill>
                <a:latin typeface="Times New Roman"/>
                <a:ea typeface="Times New Roman"/>
                <a:cs typeface="Times New Roman"/>
                <a:sym typeface="Times New Roman"/>
              </a:rPr>
              <a:t>Dataset Overview — Elliptic Bitcoin Dataset</a:t>
            </a:r>
          </a:p>
          <a:p>
            <a:pPr algn="just">
              <a:lnSpc>
                <a:spcPts val="4320"/>
              </a:lnSpc>
            </a:pPr>
            <a:r>
              <a:rPr lang="en-US" b="true" sz="2799" spc="-24">
                <a:solidFill>
                  <a:srgbClr val="000000"/>
                </a:solidFill>
                <a:latin typeface="Times New Roman Bold"/>
                <a:ea typeface="Times New Roman Bold"/>
                <a:cs typeface="Times New Roman Bold"/>
                <a:sym typeface="Times New Roman Bold"/>
              </a:rPr>
              <a:t>Key Statistics:</a:t>
            </a:r>
          </a:p>
          <a:p>
            <a:pPr algn="just">
              <a:lnSpc>
                <a:spcPts val="4320"/>
              </a:lnSpc>
            </a:pPr>
            <a:r>
              <a:rPr lang="en-US" sz="2799" spc="-24">
                <a:solidFill>
                  <a:srgbClr val="000000"/>
                </a:solidFill>
                <a:latin typeface="Times New Roman"/>
                <a:ea typeface="Times New Roman"/>
                <a:cs typeface="Times New Roman"/>
                <a:sym typeface="Times New Roman"/>
              </a:rPr>
              <a:t>203,769 transactions (nodes) — 234,355 directed edges — 49 temporal snapshots — 166 features per transaction — approximately 2% illicit transactions</a:t>
            </a:r>
          </a:p>
          <a:p>
            <a:pPr algn="just">
              <a:lnSpc>
                <a:spcPts val="4320"/>
              </a:lnSpc>
            </a:pPr>
            <a:r>
              <a:rPr lang="en-US" b="true" sz="2799" spc="-24">
                <a:solidFill>
                  <a:srgbClr val="000000"/>
                </a:solidFill>
                <a:latin typeface="Times New Roman Bold"/>
                <a:ea typeface="Times New Roman Bold"/>
                <a:cs typeface="Times New Roman Bold"/>
                <a:sym typeface="Times New Roman Bold"/>
              </a:rPr>
              <a:t>Feature Structure:</a:t>
            </a:r>
          </a:p>
          <a:p>
            <a:pPr algn="just" marL="675438" indent="-168859" lvl="3">
              <a:lnSpc>
                <a:spcPts val="3357"/>
              </a:lnSpc>
              <a:buFont typeface="Arial"/>
              <a:buChar char="￭"/>
            </a:pPr>
            <a:r>
              <a:rPr lang="en-US" sz="2799" spc="-24">
                <a:solidFill>
                  <a:srgbClr val="000000"/>
                </a:solidFill>
                <a:latin typeface="Times New Roman"/>
                <a:ea typeface="Times New Roman"/>
                <a:cs typeface="Times New Roman"/>
                <a:sym typeface="Times New Roman"/>
              </a:rPr>
              <a:t>Local Features — 94 features</a:t>
            </a:r>
          </a:p>
          <a:p>
            <a:pPr algn="just" marL="675438" indent="-168859" lvl="3">
              <a:lnSpc>
                <a:spcPts val="3357"/>
              </a:lnSpc>
            </a:pPr>
            <a:r>
              <a:rPr lang="en-US" sz="2799" spc="-24">
                <a:solidFill>
                  <a:srgbClr val="000000"/>
                </a:solidFill>
                <a:latin typeface="Times New Roman"/>
                <a:ea typeface="Times New Roman"/>
                <a:cs typeface="Times New Roman"/>
                <a:sym typeface="Times New Roman"/>
              </a:rPr>
              <a:t> Transaction fee, number of inputs, number of outputs, total BTC value, average input and output values, transaction size in bytes, and time step — all extracted directly from raw Bitcoin blockchain data.</a:t>
            </a:r>
          </a:p>
          <a:p>
            <a:pPr algn="just" marL="675438" indent="-168859" lvl="3">
              <a:lnSpc>
                <a:spcPts val="3357"/>
              </a:lnSpc>
              <a:buFont typeface="Arial"/>
              <a:buChar char="￭"/>
            </a:pPr>
            <a:r>
              <a:rPr lang="en-US" sz="2799" spc="-24">
                <a:solidFill>
                  <a:srgbClr val="000000"/>
                </a:solidFill>
                <a:latin typeface="Times New Roman"/>
                <a:ea typeface="Times New Roman"/>
                <a:cs typeface="Times New Roman"/>
                <a:sym typeface="Times New Roman"/>
              </a:rPr>
              <a:t> Neighborhood Features — 72 features</a:t>
            </a:r>
          </a:p>
          <a:p>
            <a:pPr algn="just" marL="675438" indent="-168859" lvl="3">
              <a:lnSpc>
                <a:spcPts val="3357"/>
              </a:lnSpc>
            </a:pPr>
            <a:r>
              <a:rPr lang="en-US" sz="2799" spc="-24">
                <a:solidFill>
                  <a:srgbClr val="000000"/>
                </a:solidFill>
                <a:latin typeface="Times New Roman"/>
                <a:ea typeface="Times New Roman"/>
                <a:cs typeface="Times New Roman"/>
                <a:sym typeface="Times New Roman"/>
              </a:rPr>
              <a:t> Mean, median, standard deviation, maximum, and minimum values computed across all 1-hop neighboring transactions — pre-aggregated statistics that describe the local transaction environment.</a:t>
            </a:r>
          </a:p>
          <a:p>
            <a:pPr algn="just" marL="675438" indent="-168859" lvl="3">
              <a:lnSpc>
                <a:spcPts val="3357"/>
              </a:lnSpc>
            </a:pPr>
            <a:r>
              <a:rPr lang="en-US" b="true" sz="2799" spc="-24">
                <a:solidFill>
                  <a:srgbClr val="000000"/>
                </a:solidFill>
                <a:latin typeface="Times New Roman Bold"/>
                <a:ea typeface="Times New Roman Bold"/>
                <a:cs typeface="Times New Roman Bold"/>
                <a:sym typeface="Times New Roman Bold"/>
              </a:rPr>
              <a:t>Temporal Structure:</a:t>
            </a:r>
          </a:p>
          <a:p>
            <a:pPr algn="just" marL="675438" indent="-168859" lvl="3">
              <a:lnSpc>
                <a:spcPts val="3357"/>
              </a:lnSpc>
            </a:pPr>
            <a:r>
              <a:rPr lang="en-US" sz="2799" spc="-24">
                <a:solidFill>
                  <a:srgbClr val="000000"/>
                </a:solidFill>
                <a:latin typeface="Times New Roman"/>
                <a:ea typeface="Times New Roman"/>
                <a:cs typeface="Times New Roman"/>
                <a:sym typeface="Times New Roman"/>
              </a:rPr>
              <a:t> 49 ordered snapshots taken approximately every two weeks covering roughly two years of Bitcoin transactions from 2011 to 2013. Labels are illicit, licit, or unknown per node. Source is Elliptic.co — freely available on Kaggle. This is the only public AML dataset combining ground truth labels with genuine temporal structure — making it the ideal and only appropriate choice for our project.</a:t>
            </a:r>
          </a:p>
          <a:p>
            <a:pPr algn="just" marL="675438" indent="-168859" lvl="3">
              <a:lnSpc>
                <a:spcPts val="4320"/>
              </a:lnSpc>
            </a:pP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3071632" y="2107392"/>
            <a:ext cx="12658690" cy="6072215"/>
          </a:xfrm>
          <a:custGeom>
            <a:avLst/>
            <a:gdLst/>
            <a:ahLst/>
            <a:cxnLst/>
            <a:rect r="r" b="b" t="t" l="l"/>
            <a:pathLst>
              <a:path h="6072215" w="12658690">
                <a:moveTo>
                  <a:pt x="0" y="0"/>
                </a:moveTo>
                <a:lnTo>
                  <a:pt x="12658690" y="0"/>
                </a:lnTo>
                <a:lnTo>
                  <a:pt x="12658690" y="6072216"/>
                </a:lnTo>
                <a:lnTo>
                  <a:pt x="0" y="6072216"/>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54755"/>
            <a:ext cx="10804178" cy="781444"/>
          </a:xfrm>
          <a:prstGeom prst="rect">
            <a:avLst/>
          </a:prstGeom>
        </p:spPr>
        <p:txBody>
          <a:bodyPr anchor="t" rtlCol="false" tIns="0" lIns="0" bIns="0" rIns="0">
            <a:spAutoFit/>
          </a:bodyPr>
          <a:lstStyle/>
          <a:p>
            <a:pPr algn="l">
              <a:lnSpc>
                <a:spcPts val="5996"/>
              </a:lnSpc>
            </a:pPr>
            <a:r>
              <a:rPr lang="en-US" b="true" sz="4999" spc="-21">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2635616" y="2134852"/>
            <a:ext cx="13267254" cy="5700773"/>
          </a:xfrm>
          <a:custGeom>
            <a:avLst/>
            <a:gdLst/>
            <a:ahLst/>
            <a:cxnLst/>
            <a:rect r="r" b="b" t="t" l="l"/>
            <a:pathLst>
              <a:path h="5700773" w="13267254">
                <a:moveTo>
                  <a:pt x="0" y="0"/>
                </a:moveTo>
                <a:lnTo>
                  <a:pt x="13267253" y="0"/>
                </a:lnTo>
                <a:lnTo>
                  <a:pt x="13267253" y="5700773"/>
                </a:lnTo>
                <a:lnTo>
                  <a:pt x="0" y="5700773"/>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54755"/>
            <a:ext cx="10804178" cy="781444"/>
          </a:xfrm>
          <a:prstGeom prst="rect">
            <a:avLst/>
          </a:prstGeom>
        </p:spPr>
        <p:txBody>
          <a:bodyPr anchor="t" rtlCol="false" tIns="0" lIns="0" bIns="0" rIns="0">
            <a:spAutoFit/>
          </a:bodyPr>
          <a:lstStyle/>
          <a:p>
            <a:pPr algn="l">
              <a:lnSpc>
                <a:spcPts val="5996"/>
              </a:lnSpc>
            </a:pPr>
            <a:r>
              <a:rPr lang="en-US" b="true" sz="4999" spc="-21">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2878692" y="1633948"/>
            <a:ext cx="12530617" cy="7019103"/>
          </a:xfrm>
          <a:custGeom>
            <a:avLst/>
            <a:gdLst/>
            <a:ahLst/>
            <a:cxnLst/>
            <a:rect r="r" b="b" t="t" l="l"/>
            <a:pathLst>
              <a:path h="7019103" w="12530617">
                <a:moveTo>
                  <a:pt x="0" y="0"/>
                </a:moveTo>
                <a:lnTo>
                  <a:pt x="12530616" y="0"/>
                </a:lnTo>
                <a:lnTo>
                  <a:pt x="12530616" y="7019104"/>
                </a:lnTo>
                <a:lnTo>
                  <a:pt x="0" y="7019104"/>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54755"/>
            <a:ext cx="10804178" cy="781444"/>
          </a:xfrm>
          <a:prstGeom prst="rect">
            <a:avLst/>
          </a:prstGeom>
        </p:spPr>
        <p:txBody>
          <a:bodyPr anchor="t" rtlCol="false" tIns="0" lIns="0" bIns="0" rIns="0">
            <a:spAutoFit/>
          </a:bodyPr>
          <a:lstStyle/>
          <a:p>
            <a:pPr algn="l">
              <a:lnSpc>
                <a:spcPts val="5996"/>
              </a:lnSpc>
            </a:pPr>
            <a:r>
              <a:rPr lang="en-US" b="true" sz="4999" spc="-21">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2210374" y="3204601"/>
            <a:ext cx="5977033" cy="5953316"/>
            <a:chOff x="0" y="0"/>
            <a:chExt cx="7969377" cy="7937754"/>
          </a:xfrm>
        </p:grpSpPr>
        <p:sp>
          <p:nvSpPr>
            <p:cNvPr name="Freeform 8" id="8"/>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grpSp>
        <p:nvGrpSpPr>
          <p:cNvPr name="Group 9" id="9"/>
          <p:cNvGrpSpPr/>
          <p:nvPr/>
        </p:nvGrpSpPr>
        <p:grpSpPr>
          <a:xfrm rot="0">
            <a:off x="16830599" y="9612544"/>
            <a:ext cx="1097566" cy="602075"/>
            <a:chOff x="0" y="0"/>
            <a:chExt cx="1463421" cy="802767"/>
          </a:xfrm>
        </p:grpSpPr>
        <p:sp>
          <p:nvSpPr>
            <p:cNvPr name="Freeform 10" id="10"/>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1" id="11"/>
          <p:cNvGrpSpPr/>
          <p:nvPr/>
        </p:nvGrpSpPr>
        <p:grpSpPr>
          <a:xfrm rot="0">
            <a:off x="16830599" y="9598257"/>
            <a:ext cx="1097566" cy="616363"/>
            <a:chOff x="0" y="0"/>
            <a:chExt cx="1463421" cy="821817"/>
          </a:xfrm>
        </p:grpSpPr>
        <p:sp>
          <p:nvSpPr>
            <p:cNvPr name="Freeform 12" id="12"/>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3" id="13"/>
          <p:cNvGrpSpPr/>
          <p:nvPr/>
        </p:nvGrpSpPr>
        <p:grpSpPr>
          <a:xfrm rot="0">
            <a:off x="16830599" y="9583969"/>
            <a:ext cx="1097547" cy="630679"/>
            <a:chOff x="0" y="0"/>
            <a:chExt cx="1463396" cy="840905"/>
          </a:xfrm>
        </p:grpSpPr>
        <p:sp>
          <p:nvSpPr>
            <p:cNvPr name="Freeform 14" id="14"/>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5" id="15"/>
          <p:cNvGrpSpPr/>
          <p:nvPr/>
        </p:nvGrpSpPr>
        <p:grpSpPr>
          <a:xfrm rot="0">
            <a:off x="16830599" y="9569682"/>
            <a:ext cx="1097547" cy="644966"/>
            <a:chOff x="0" y="0"/>
            <a:chExt cx="1463396" cy="859955"/>
          </a:xfrm>
        </p:grpSpPr>
        <p:sp>
          <p:nvSpPr>
            <p:cNvPr name="Freeform 16" id="16"/>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17" id="17"/>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12</a:t>
              </a:r>
            </a:p>
          </p:txBody>
        </p:sp>
      </p:grpSp>
      <p:sp>
        <p:nvSpPr>
          <p:cNvPr name="Freeform 18" id="18"/>
          <p:cNvSpPr/>
          <p:nvPr/>
        </p:nvSpPr>
        <p:spPr>
          <a:xfrm flipH="false" flipV="false" rot="0">
            <a:off x="2878692" y="1581145"/>
            <a:ext cx="12714834" cy="7022959"/>
          </a:xfrm>
          <a:custGeom>
            <a:avLst/>
            <a:gdLst/>
            <a:ahLst/>
            <a:cxnLst/>
            <a:rect r="r" b="b" t="t" l="l"/>
            <a:pathLst>
              <a:path h="7022959" w="12714834">
                <a:moveTo>
                  <a:pt x="0" y="0"/>
                </a:moveTo>
                <a:lnTo>
                  <a:pt x="12714833" y="0"/>
                </a:lnTo>
                <a:lnTo>
                  <a:pt x="12714833" y="7022959"/>
                </a:lnTo>
                <a:lnTo>
                  <a:pt x="0" y="7022959"/>
                </a:lnTo>
                <a:lnTo>
                  <a:pt x="0" y="0"/>
                </a:lnTo>
                <a:close/>
              </a:path>
            </a:pathLst>
          </a:custGeom>
          <a:blipFill>
            <a:blip r:embed="rId10"/>
            <a:stretch>
              <a:fillRect l="0" t="0" r="0" b="0"/>
            </a:stretch>
          </a:blipFill>
        </p:spPr>
      </p:sp>
      <p:sp>
        <p:nvSpPr>
          <p:cNvPr name="TextBox 19" id="19"/>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20" id="20"/>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21" id="21"/>
          <p:cNvSpPr txBox="true"/>
          <p:nvPr/>
        </p:nvSpPr>
        <p:spPr>
          <a:xfrm rot="0">
            <a:off x="848620" y="554755"/>
            <a:ext cx="10804178" cy="781444"/>
          </a:xfrm>
          <a:prstGeom prst="rect">
            <a:avLst/>
          </a:prstGeom>
        </p:spPr>
        <p:txBody>
          <a:bodyPr anchor="t" rtlCol="false" tIns="0" lIns="0" bIns="0" rIns="0">
            <a:spAutoFit/>
          </a:bodyPr>
          <a:lstStyle/>
          <a:p>
            <a:pPr algn="l">
              <a:lnSpc>
                <a:spcPts val="5996"/>
              </a:lnSpc>
            </a:pPr>
            <a:r>
              <a:rPr lang="en-US" b="true" sz="4999" spc="-21">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13</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582120" y="943204"/>
            <a:ext cx="16797252" cy="778297"/>
          </a:xfrm>
          <a:prstGeom prst="rect">
            <a:avLst/>
          </a:prstGeom>
        </p:spPr>
        <p:txBody>
          <a:bodyPr anchor="t" rtlCol="false" tIns="0" lIns="0" bIns="0" rIns="0">
            <a:spAutoFit/>
          </a:bodyPr>
          <a:lstStyle/>
          <a:p>
            <a:pPr algn="l">
              <a:lnSpc>
                <a:spcPts val="6396"/>
              </a:lnSpc>
            </a:pPr>
            <a:r>
              <a:rPr lang="en-US" b="true" sz="3999" spc="-16">
                <a:solidFill>
                  <a:srgbClr val="0000FF"/>
                </a:solidFill>
                <a:latin typeface="Times New Roman Bold"/>
                <a:ea typeface="Times New Roman Bold"/>
                <a:cs typeface="Times New Roman Bold"/>
                <a:sym typeface="Times New Roman Bold"/>
              </a:rPr>
              <a:t>Methodology 1: Data Collection &amp; Graph Construction</a:t>
            </a:r>
          </a:p>
        </p:txBody>
      </p:sp>
      <p:sp>
        <p:nvSpPr>
          <p:cNvPr name="TextBox 19" id="19"/>
          <p:cNvSpPr txBox="true"/>
          <p:nvPr/>
        </p:nvSpPr>
        <p:spPr>
          <a:xfrm rot="0">
            <a:off x="745303" y="2669305"/>
            <a:ext cx="16651557" cy="4476887"/>
          </a:xfrm>
          <a:prstGeom prst="rect">
            <a:avLst/>
          </a:prstGeom>
        </p:spPr>
        <p:txBody>
          <a:bodyPr anchor="t" rtlCol="false" tIns="0" lIns="0" bIns="0" rIns="0">
            <a:spAutoFit/>
          </a:bodyPr>
          <a:lstStyle/>
          <a:p>
            <a:pPr algn="just">
              <a:lnSpc>
                <a:spcPts val="4559"/>
              </a:lnSpc>
            </a:pPr>
            <a:r>
              <a:rPr lang="en-US" b="true" sz="3799" spc="-30">
                <a:solidFill>
                  <a:srgbClr val="000000"/>
                </a:solidFill>
                <a:latin typeface="Times New Roman Bold"/>
                <a:ea typeface="Times New Roman Bold"/>
                <a:cs typeface="Times New Roman Bold"/>
                <a:sym typeface="Times New Roman Bold"/>
              </a:rPr>
              <a:t>Description:</a:t>
            </a:r>
          </a:p>
          <a:p>
            <a:pPr algn="just">
              <a:lnSpc>
                <a:spcPts val="3117"/>
              </a:lnSpc>
            </a:pPr>
            <a:r>
              <a:rPr lang="en-US" sz="2599" spc="-20">
                <a:solidFill>
                  <a:srgbClr val="000000"/>
                </a:solidFill>
                <a:latin typeface="Times New Roman"/>
                <a:ea typeface="Times New Roman"/>
                <a:cs typeface="Times New Roman"/>
                <a:sym typeface="Times New Roman"/>
              </a:rPr>
              <a:t>Download the Elliptic Bitcoin Dataset from Kaggle. Load elliptic_txs_features.csv, elliptic_txs_classes.csv, and elliptic_txs_edgelist.csv. Construct a directed temporal graph with 203,769 wallet nodes and 234,355 timestamped transaction edges across 49 ordered time steps.</a:t>
            </a:r>
          </a:p>
          <a:p>
            <a:pPr algn="just">
              <a:lnSpc>
                <a:spcPts val="4559"/>
              </a:lnSpc>
            </a:pPr>
            <a:r>
              <a:rPr lang="en-US" b="true" sz="3799" spc="-30">
                <a:solidFill>
                  <a:srgbClr val="000000"/>
                </a:solidFill>
                <a:latin typeface="Times New Roman Bold"/>
                <a:ea typeface="Times New Roman Bold"/>
                <a:cs typeface="Times New Roman Bold"/>
                <a:sym typeface="Times New Roman Bold"/>
              </a:rPr>
              <a:t>Steps:</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Load &amp; merge 3 Elliptic CSV files</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Engineer 6 temporal features (time-delta, fan-in/out ratio, degree, recency, cycle indicator)</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Build PyG TemporalData object with edge timestamps</a:t>
            </a:r>
          </a:p>
          <a:p>
            <a:pPr algn="just" marL="1236661" indent="-247332" lvl="4">
              <a:lnSpc>
                <a:spcPts val="4559"/>
              </a:lnSpc>
            </a:pPr>
            <a:r>
              <a:rPr lang="en-US" b="true" sz="3799" spc="-30">
                <a:solidFill>
                  <a:srgbClr val="000000"/>
                </a:solidFill>
                <a:latin typeface="Times New Roman Bold"/>
                <a:ea typeface="Times New Roman Bold"/>
                <a:cs typeface="Times New Roman Bold"/>
                <a:sym typeface="Times New Roman Bold"/>
              </a:rPr>
              <a:t>Output:</a:t>
            </a:r>
          </a:p>
          <a:p>
            <a:pPr algn="just" marL="846136" indent="-169227" lvl="4">
              <a:lnSpc>
                <a:spcPts val="3117"/>
              </a:lnSpc>
            </a:pPr>
            <a:r>
              <a:rPr lang="en-US" sz="2599" spc="-20">
                <a:solidFill>
                  <a:srgbClr val="000000"/>
                </a:solidFill>
                <a:latin typeface="Times New Roman"/>
                <a:ea typeface="Times New Roman"/>
                <a:cs typeface="Times New Roman"/>
                <a:sym typeface="Times New Roman"/>
              </a:rPr>
              <a:t>172-dimensional node feature vectors and temporal edge list ready for TGAT training.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14</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572348" y="943204"/>
            <a:ext cx="17182843" cy="778297"/>
          </a:xfrm>
          <a:prstGeom prst="rect">
            <a:avLst/>
          </a:prstGeom>
        </p:spPr>
        <p:txBody>
          <a:bodyPr anchor="t" rtlCol="false" tIns="0" lIns="0" bIns="0" rIns="0">
            <a:spAutoFit/>
          </a:bodyPr>
          <a:lstStyle/>
          <a:p>
            <a:pPr algn="l">
              <a:lnSpc>
                <a:spcPts val="6396"/>
              </a:lnSpc>
            </a:pPr>
            <a:r>
              <a:rPr lang="en-US" b="true" sz="3999" spc="-16">
                <a:solidFill>
                  <a:srgbClr val="0000FF"/>
                </a:solidFill>
                <a:latin typeface="Times New Roman Bold"/>
                <a:ea typeface="Times New Roman Bold"/>
                <a:cs typeface="Times New Roman Bold"/>
                <a:sym typeface="Times New Roman Bold"/>
              </a:rPr>
              <a:t>Methodology 2: Learnable Fourier Time Encoding (Core Novelty)</a:t>
            </a:r>
          </a:p>
        </p:txBody>
      </p:sp>
      <p:sp>
        <p:nvSpPr>
          <p:cNvPr name="TextBox 19" id="19"/>
          <p:cNvSpPr txBox="true"/>
          <p:nvPr/>
        </p:nvSpPr>
        <p:spPr>
          <a:xfrm rot="0">
            <a:off x="745303" y="2669534"/>
            <a:ext cx="17009888" cy="5648462"/>
          </a:xfrm>
          <a:prstGeom prst="rect">
            <a:avLst/>
          </a:prstGeom>
        </p:spPr>
        <p:txBody>
          <a:bodyPr anchor="t" rtlCol="false" tIns="0" lIns="0" bIns="0" rIns="0">
            <a:spAutoFit/>
          </a:bodyPr>
          <a:lstStyle/>
          <a:p>
            <a:pPr algn="just">
              <a:lnSpc>
                <a:spcPts val="4559"/>
              </a:lnSpc>
            </a:pPr>
            <a:r>
              <a:rPr lang="en-US" b="true" sz="3799" spc="-30">
                <a:solidFill>
                  <a:srgbClr val="000000"/>
                </a:solidFill>
                <a:latin typeface="Times New Roman Bold"/>
                <a:ea typeface="Times New Roman Bold"/>
                <a:cs typeface="Times New Roman Bold"/>
                <a:sym typeface="Times New Roman Bold"/>
              </a:rPr>
              <a:t>Description:</a:t>
            </a:r>
          </a:p>
          <a:p>
            <a:pPr algn="just">
              <a:lnSpc>
                <a:spcPts val="3117"/>
              </a:lnSpc>
            </a:pPr>
            <a:r>
              <a:rPr lang="en-US" sz="2599" spc="-20">
                <a:solidFill>
                  <a:srgbClr val="000000"/>
                </a:solidFill>
                <a:latin typeface="Times New Roman"/>
                <a:ea typeface="Times New Roman"/>
                <a:cs typeface="Times New Roman"/>
                <a:sym typeface="Times New Roman"/>
              </a:rPr>
              <a:t>Implement the Fourier time encoding module φ(t) = [cos(ω₁t), sin(ω₁t)...cos(ωdt), sin(ωdt)] where all frequency parameters ω₁...ωd are initialised randomly and trained end-to-end with the TGAT model. Concatenate the 128-dimensional time vector with node features before attention computation.</a:t>
            </a:r>
          </a:p>
          <a:p>
            <a:pPr algn="just">
              <a:lnSpc>
                <a:spcPts val="4559"/>
              </a:lnSpc>
            </a:pPr>
            <a:r>
              <a:rPr lang="en-US" b="true" sz="3799" spc="-30">
                <a:solidFill>
                  <a:srgbClr val="000000"/>
                </a:solidFill>
                <a:latin typeface="Times New Roman Bold"/>
                <a:ea typeface="Times New Roman Bold"/>
                <a:cs typeface="Times New Roman Bold"/>
                <a:sym typeface="Times New Roman Bold"/>
              </a:rPr>
              <a:t>Components:</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Fourier encoder: cos/sin waves at d=64 frequencies</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Trainable ω parameters updated via backpropagation</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Causal constraint: only past neighbours included at time t</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Time-delta encoding: φ(t_current − t_neighbour) per edge</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Concatenation: [node features (172d) || time encoding (128d)]</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Multi-head attention: 4 heads over temporal neighbourhood</a:t>
            </a:r>
          </a:p>
          <a:p>
            <a:pPr algn="just" marL="1236661" indent="-247332" lvl="4">
              <a:lnSpc>
                <a:spcPts val="4559"/>
              </a:lnSpc>
            </a:pPr>
            <a:r>
              <a:rPr lang="en-US" b="true" sz="3799" spc="-30">
                <a:solidFill>
                  <a:srgbClr val="000000"/>
                </a:solidFill>
                <a:latin typeface="Times New Roman Bold"/>
                <a:ea typeface="Times New Roman Bold"/>
                <a:cs typeface="Times New Roman Bold"/>
                <a:sym typeface="Times New Roman Bold"/>
              </a:rPr>
              <a:t>Output:</a:t>
            </a:r>
          </a:p>
          <a:p>
            <a:pPr algn="just" marL="846136" indent="-169227" lvl="4">
              <a:lnSpc>
                <a:spcPts val="3117"/>
              </a:lnSpc>
            </a:pPr>
            <a:r>
              <a:rPr lang="en-US" sz="2599" spc="-20">
                <a:solidFill>
                  <a:srgbClr val="000000"/>
                </a:solidFill>
                <a:latin typeface="Times New Roman"/>
                <a:ea typeface="Times New Roman"/>
                <a:cs typeface="Times New Roman"/>
                <a:sym typeface="Times New Roman"/>
              </a:rPr>
              <a:t>Time-aware node embeddings capturing laundering-specific temporal signatures.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15</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745303" y="854650"/>
            <a:ext cx="15157561" cy="778297"/>
          </a:xfrm>
          <a:prstGeom prst="rect">
            <a:avLst/>
          </a:prstGeom>
        </p:spPr>
        <p:txBody>
          <a:bodyPr anchor="t" rtlCol="false" tIns="0" lIns="0" bIns="0" rIns="0">
            <a:spAutoFit/>
          </a:bodyPr>
          <a:lstStyle/>
          <a:p>
            <a:pPr algn="l">
              <a:lnSpc>
                <a:spcPts val="6396"/>
              </a:lnSpc>
            </a:pPr>
            <a:r>
              <a:rPr lang="en-US" b="true" sz="3999" spc="-16">
                <a:solidFill>
                  <a:srgbClr val="0000FF"/>
                </a:solidFill>
                <a:latin typeface="Times New Roman Bold"/>
                <a:ea typeface="Times New Roman Bold"/>
                <a:cs typeface="Times New Roman Bold"/>
                <a:sym typeface="Times New Roman Bold"/>
              </a:rPr>
              <a:t>Methodology 3: TGAT Model Training &amp; Pattern Detection</a:t>
            </a:r>
          </a:p>
        </p:txBody>
      </p:sp>
      <p:sp>
        <p:nvSpPr>
          <p:cNvPr name="TextBox 19" id="19"/>
          <p:cNvSpPr txBox="true"/>
          <p:nvPr/>
        </p:nvSpPr>
        <p:spPr>
          <a:xfrm rot="0">
            <a:off x="745303" y="2431409"/>
            <a:ext cx="17079849" cy="5257937"/>
          </a:xfrm>
          <a:prstGeom prst="rect">
            <a:avLst/>
          </a:prstGeom>
        </p:spPr>
        <p:txBody>
          <a:bodyPr anchor="t" rtlCol="false" tIns="0" lIns="0" bIns="0" rIns="0">
            <a:spAutoFit/>
          </a:bodyPr>
          <a:lstStyle/>
          <a:p>
            <a:pPr algn="just">
              <a:lnSpc>
                <a:spcPts val="4559"/>
              </a:lnSpc>
            </a:pPr>
            <a:r>
              <a:rPr lang="en-US" b="true" sz="3799" spc="-30">
                <a:solidFill>
                  <a:srgbClr val="000000"/>
                </a:solidFill>
                <a:latin typeface="Times New Roman Bold"/>
                <a:ea typeface="Times New Roman Bold"/>
                <a:cs typeface="Times New Roman Bold"/>
                <a:sym typeface="Times New Roman Bold"/>
              </a:rPr>
              <a:t>Description:</a:t>
            </a:r>
          </a:p>
          <a:p>
            <a:pPr algn="just">
              <a:lnSpc>
                <a:spcPts val="3117"/>
              </a:lnSpc>
            </a:pPr>
            <a:r>
              <a:rPr lang="en-US" sz="2599" spc="-20">
                <a:solidFill>
                  <a:srgbClr val="000000"/>
                </a:solidFill>
                <a:latin typeface="Times New Roman"/>
                <a:ea typeface="Times New Roman"/>
                <a:cs typeface="Times New Roman"/>
                <a:sym typeface="Times New Roman"/>
              </a:rPr>
              <a:t>Train the full TGAT model with learnable Fourier encoding on the Elliptic dataset. Build three pattern-specific detection heads on the shared embedding space. Train with binary cross-entropy loss and per-timestep class weighting to address the ~2% illicit class imbalance across 49 time steps.</a:t>
            </a:r>
          </a:p>
          <a:p>
            <a:pPr algn="just">
              <a:lnSpc>
                <a:spcPts val="4559"/>
              </a:lnSpc>
            </a:pPr>
            <a:r>
              <a:rPr lang="en-US" b="true" sz="3799" spc="-30">
                <a:solidFill>
                  <a:srgbClr val="000000"/>
                </a:solidFill>
                <a:latin typeface="Times New Roman Bold"/>
                <a:ea typeface="Times New Roman Bold"/>
                <a:cs typeface="Times New Roman Bold"/>
                <a:sym typeface="Times New Roman Bold"/>
              </a:rPr>
              <a:t>Components:</a:t>
            </a:r>
          </a:p>
          <a:p>
            <a:pPr algn="l" marL="953451" indent="-190690" lvl="4">
              <a:lnSpc>
                <a:spcPts val="3117"/>
              </a:lnSpc>
              <a:buFont typeface="Arial"/>
              <a:buChar char="•"/>
            </a:pPr>
            <a:r>
              <a:rPr lang="en-US" sz="2599" spc="-27">
                <a:solidFill>
                  <a:srgbClr val="000000"/>
                </a:solidFill>
                <a:latin typeface="Times New Roman"/>
                <a:ea typeface="Times New Roman"/>
                <a:cs typeface="Times New Roman"/>
                <a:sym typeface="Times New Roman"/>
              </a:rPr>
              <a:t>Circular Transfer Head: subgraph motif matching on temporal cycles A→B→C→A</a:t>
            </a:r>
          </a:p>
          <a:p>
            <a:pPr algn="l" marL="953451" indent="-190690" lvl="4">
              <a:lnSpc>
                <a:spcPts val="3117"/>
              </a:lnSpc>
              <a:buFont typeface="Arial"/>
              <a:buChar char="•"/>
            </a:pPr>
            <a:r>
              <a:rPr lang="en-US" sz="2599" spc="-27">
                <a:solidFill>
                  <a:srgbClr val="000000"/>
                </a:solidFill>
                <a:latin typeface="Times New Roman"/>
                <a:ea typeface="Times New Roman"/>
                <a:cs typeface="Times New Roman"/>
                <a:sym typeface="Times New Roman"/>
              </a:rPr>
              <a:t>Layering Chain Head: temporal path velocity scoring for 10+ hop chains</a:t>
            </a:r>
          </a:p>
          <a:p>
            <a:pPr algn="l" marL="953451" indent="-190690" lvl="4">
              <a:lnSpc>
                <a:spcPts val="3117"/>
              </a:lnSpc>
              <a:buFont typeface="Arial"/>
              <a:buChar char="•"/>
            </a:pPr>
            <a:r>
              <a:rPr lang="en-US" sz="2599" spc="-27">
                <a:solidFill>
                  <a:srgbClr val="000000"/>
                </a:solidFill>
                <a:latin typeface="Times New Roman"/>
                <a:ea typeface="Times New Roman"/>
                <a:cs typeface="Times New Roman"/>
                <a:sym typeface="Times New Roman"/>
              </a:rPr>
              <a:t>Smurfing Head: fan-out anomaly score for 50+ outgoing txns in 1-2 steps</a:t>
            </a:r>
          </a:p>
          <a:p>
            <a:pPr algn="l" marL="953451" indent="-190690" lvl="4">
              <a:lnSpc>
                <a:spcPts val="3117"/>
              </a:lnSpc>
              <a:buFont typeface="Arial"/>
              <a:buChar char="•"/>
            </a:pPr>
            <a:r>
              <a:rPr lang="en-US" sz="2599" spc="-27">
                <a:solidFill>
                  <a:srgbClr val="000000"/>
                </a:solidFill>
                <a:latin typeface="Times New Roman"/>
                <a:ea typeface="Times New Roman"/>
                <a:cs typeface="Times New Roman"/>
                <a:sym typeface="Times New Roman"/>
              </a:rPr>
              <a:t>Loss: Binary Cross-Entropy + L2 regularization + per-timestep class weights</a:t>
            </a:r>
          </a:p>
          <a:p>
            <a:pPr algn="l" marL="953451" indent="-190690" lvl="4">
              <a:lnSpc>
                <a:spcPts val="3117"/>
              </a:lnSpc>
              <a:buFont typeface="Arial"/>
              <a:buChar char="•"/>
            </a:pPr>
            <a:r>
              <a:rPr lang="en-US" sz="2599" spc="-27">
                <a:solidFill>
                  <a:srgbClr val="000000"/>
                </a:solidFill>
                <a:latin typeface="Times New Roman"/>
                <a:ea typeface="Times New Roman"/>
                <a:cs typeface="Times New Roman"/>
                <a:sym typeface="Times New Roman"/>
              </a:rPr>
              <a:t>Optimizer: Adam, LR=0.001, 200 epochs, Google Colab free GPU</a:t>
            </a:r>
          </a:p>
          <a:p>
            <a:pPr algn="just" marL="1393506" indent="-278701" lvl="4">
              <a:lnSpc>
                <a:spcPts val="4559"/>
              </a:lnSpc>
            </a:pPr>
            <a:r>
              <a:rPr lang="en-US" b="true" sz="3799" spc="-30">
                <a:solidFill>
                  <a:srgbClr val="000000"/>
                </a:solidFill>
                <a:latin typeface="Times New Roman Bold"/>
                <a:ea typeface="Times New Roman Bold"/>
                <a:cs typeface="Times New Roman Bold"/>
                <a:sym typeface="Times New Roman Bold"/>
              </a:rPr>
              <a:t>Output:</a:t>
            </a:r>
          </a:p>
          <a:p>
            <a:pPr algn="just" marL="953451" indent="-190690" lvl="4">
              <a:lnSpc>
                <a:spcPts val="3117"/>
              </a:lnSpc>
            </a:pPr>
            <a:r>
              <a:rPr lang="en-US" sz="2599" spc="-20">
                <a:solidFill>
                  <a:srgbClr val="000000"/>
                </a:solidFill>
                <a:latin typeface="Times New Roman"/>
                <a:ea typeface="Times New Roman"/>
                <a:cs typeface="Times New Roman"/>
                <a:sym typeface="Times New Roman"/>
              </a:rPr>
              <a:t>Trained TGAT model producing multi-label pattern classification for every wallet node.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grpSp>
        <p:nvGrpSpPr>
          <p:cNvPr name="Group 7" id="7"/>
          <p:cNvGrpSpPr/>
          <p:nvPr/>
        </p:nvGrpSpPr>
        <p:grpSpPr>
          <a:xfrm rot="0">
            <a:off x="16830599" y="9612544"/>
            <a:ext cx="1097566" cy="602075"/>
            <a:chOff x="0" y="0"/>
            <a:chExt cx="1463421" cy="802767"/>
          </a:xfrm>
        </p:grpSpPr>
        <p:sp>
          <p:nvSpPr>
            <p:cNvPr name="Freeform 8" id="8"/>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5">
                <a:alphaModFix amt="0"/>
              </a:blip>
              <a:stretch>
                <a:fillRect l="-20430" t="0" r="-20430" b="0"/>
              </a:stretch>
            </a:blipFill>
          </p:spPr>
        </p:sp>
      </p:grpSp>
      <p:grpSp>
        <p:nvGrpSpPr>
          <p:cNvPr name="Group 9" id="9"/>
          <p:cNvGrpSpPr/>
          <p:nvPr/>
        </p:nvGrpSpPr>
        <p:grpSpPr>
          <a:xfrm rot="0">
            <a:off x="16830599" y="9598257"/>
            <a:ext cx="1097566" cy="616363"/>
            <a:chOff x="0" y="0"/>
            <a:chExt cx="1463421" cy="821817"/>
          </a:xfrm>
        </p:grpSpPr>
        <p:sp>
          <p:nvSpPr>
            <p:cNvPr name="Freeform 10" id="10"/>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6">
                <a:alphaModFix amt="0"/>
              </a:blip>
              <a:stretch>
                <a:fillRect l="-22101" t="0" r="-22101" b="0"/>
              </a:stretch>
            </a:blipFill>
          </p:spPr>
        </p:sp>
      </p:grpSp>
      <p:grpSp>
        <p:nvGrpSpPr>
          <p:cNvPr name="Group 11" id="11"/>
          <p:cNvGrpSpPr/>
          <p:nvPr/>
        </p:nvGrpSpPr>
        <p:grpSpPr>
          <a:xfrm rot="0">
            <a:off x="16830599" y="9583969"/>
            <a:ext cx="1097547" cy="630679"/>
            <a:chOff x="0" y="0"/>
            <a:chExt cx="1463396" cy="840905"/>
          </a:xfrm>
        </p:grpSpPr>
        <p:sp>
          <p:nvSpPr>
            <p:cNvPr name="Freeform 12" id="12"/>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7">
                <a:alphaModFix amt="0"/>
              </a:blip>
              <a:stretch>
                <a:fillRect l="-23777" t="0" r="-23775" b="-4"/>
              </a:stretch>
            </a:blipFill>
          </p:spPr>
        </p:sp>
      </p:grpSp>
      <p:grpSp>
        <p:nvGrpSpPr>
          <p:cNvPr name="Group 13" id="13"/>
          <p:cNvGrpSpPr/>
          <p:nvPr/>
        </p:nvGrpSpPr>
        <p:grpSpPr>
          <a:xfrm rot="0">
            <a:off x="16830599" y="9569682"/>
            <a:ext cx="1097547" cy="644966"/>
            <a:chOff x="0" y="0"/>
            <a:chExt cx="1463396" cy="859955"/>
          </a:xfrm>
        </p:grpSpPr>
        <p:sp>
          <p:nvSpPr>
            <p:cNvPr name="Freeform 14" id="14"/>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8">
                <a:alphaModFix amt="0"/>
              </a:blip>
              <a:stretch>
                <a:fillRect l="-25396" t="0" r="-25396" b="0"/>
              </a:stretch>
            </a:blipFill>
          </p:spPr>
        </p:sp>
        <p:sp>
          <p:nvSpPr>
            <p:cNvPr name="TextBox 15" id="15"/>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16</a:t>
              </a:r>
            </a:p>
          </p:txBody>
        </p:sp>
      </p:grpSp>
      <p:sp>
        <p:nvSpPr>
          <p:cNvPr name="TextBox 16" id="16"/>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17" id="17"/>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name="TextBox 18" id="18"/>
          <p:cNvSpPr txBox="true"/>
          <p:nvPr/>
        </p:nvSpPr>
        <p:spPr>
          <a:xfrm rot="0">
            <a:off x="754837" y="884168"/>
            <a:ext cx="15157561" cy="778297"/>
          </a:xfrm>
          <a:prstGeom prst="rect">
            <a:avLst/>
          </a:prstGeom>
        </p:spPr>
        <p:txBody>
          <a:bodyPr anchor="t" rtlCol="false" tIns="0" lIns="0" bIns="0" rIns="0">
            <a:spAutoFit/>
          </a:bodyPr>
          <a:lstStyle/>
          <a:p>
            <a:pPr algn="l">
              <a:lnSpc>
                <a:spcPts val="6396"/>
              </a:lnSpc>
            </a:pPr>
            <a:r>
              <a:rPr lang="en-US" b="true" sz="3999" spc="-16">
                <a:solidFill>
                  <a:srgbClr val="0000FF"/>
                </a:solidFill>
                <a:latin typeface="Times New Roman Bold"/>
                <a:ea typeface="Times New Roman Bold"/>
                <a:cs typeface="Times New Roman Bold"/>
                <a:sym typeface="Times New Roman Bold"/>
              </a:rPr>
              <a:t>Methodology 4: Explainability &amp; Benchmarking</a:t>
            </a:r>
          </a:p>
        </p:txBody>
      </p:sp>
      <p:sp>
        <p:nvSpPr>
          <p:cNvPr name="TextBox 19" id="19"/>
          <p:cNvSpPr txBox="true"/>
          <p:nvPr/>
        </p:nvSpPr>
        <p:spPr>
          <a:xfrm rot="0">
            <a:off x="745303" y="2431409"/>
            <a:ext cx="16756799" cy="4476887"/>
          </a:xfrm>
          <a:prstGeom prst="rect">
            <a:avLst/>
          </a:prstGeom>
        </p:spPr>
        <p:txBody>
          <a:bodyPr anchor="t" rtlCol="false" tIns="0" lIns="0" bIns="0" rIns="0">
            <a:spAutoFit/>
          </a:bodyPr>
          <a:lstStyle/>
          <a:p>
            <a:pPr algn="just">
              <a:lnSpc>
                <a:spcPts val="4559"/>
              </a:lnSpc>
            </a:pPr>
            <a:r>
              <a:rPr lang="en-US" b="true" sz="3799" spc="-30">
                <a:solidFill>
                  <a:srgbClr val="000000"/>
                </a:solidFill>
                <a:latin typeface="Times New Roman Bold"/>
                <a:ea typeface="Times New Roman Bold"/>
                <a:cs typeface="Times New Roman Bold"/>
                <a:sym typeface="Times New Roman Bold"/>
              </a:rPr>
              <a:t>Description:</a:t>
            </a:r>
          </a:p>
          <a:p>
            <a:pPr algn="just">
              <a:lnSpc>
                <a:spcPts val="3117"/>
              </a:lnSpc>
            </a:pPr>
            <a:r>
              <a:rPr lang="en-US" sz="2599" spc="-20">
                <a:solidFill>
                  <a:srgbClr val="000000"/>
                </a:solidFill>
                <a:latin typeface="Times New Roman"/>
                <a:ea typeface="Times New Roman"/>
                <a:cs typeface="Times New Roman"/>
                <a:sym typeface="Times New Roman"/>
              </a:rPr>
              <a:t>Integrate GNNExplainer to produce per-alert, per-pattern minimal subgraph evidence. Benchmark TemporalAML against 5 baselines. Run ablation study removing time encoding and pattern heads to isolate each contribution. Report Precision, Recall, F1-Score, and AUC-ROC for all models.</a:t>
            </a:r>
          </a:p>
          <a:p>
            <a:pPr algn="just">
              <a:lnSpc>
                <a:spcPts val="4559"/>
              </a:lnSpc>
            </a:pPr>
            <a:r>
              <a:rPr lang="en-US" b="true" sz="3799" spc="-30">
                <a:solidFill>
                  <a:srgbClr val="000000"/>
                </a:solidFill>
                <a:latin typeface="Times New Roman Bold"/>
                <a:ea typeface="Times New Roman Bold"/>
                <a:cs typeface="Times New Roman Bold"/>
                <a:sym typeface="Times New Roman Bold"/>
              </a:rPr>
              <a:t>Baselines:</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B1: Rule-based AML (threshold + blacklist)</a:t>
            </a:r>
          </a:p>
          <a:p>
            <a:pPr algn="just" marL="846136" indent="-169227" lvl="4">
              <a:lnSpc>
                <a:spcPts val="3117"/>
              </a:lnSpc>
              <a:buFont typeface="Arial"/>
              <a:buChar char="•"/>
            </a:pPr>
            <a:r>
              <a:rPr lang="en-US" sz="2599" spc="-20">
                <a:solidFill>
                  <a:srgbClr val="000000"/>
                </a:solidFill>
                <a:latin typeface="Times New Roman"/>
                <a:ea typeface="Times New Roman"/>
                <a:cs typeface="Times New Roman"/>
                <a:sym typeface="Times New Roman"/>
              </a:rPr>
              <a:t>B2: Static GCN (Weber et al. 2019)</a:t>
            </a:r>
          </a:p>
          <a:p>
            <a:pPr algn="just" marL="1236661" indent="-247332" lvl="4">
              <a:lnSpc>
                <a:spcPts val="4559"/>
              </a:lnSpc>
            </a:pPr>
            <a:r>
              <a:rPr lang="en-US" b="true" sz="3799" spc="-30">
                <a:solidFill>
                  <a:srgbClr val="000000"/>
                </a:solidFill>
                <a:latin typeface="Times New Roman Bold"/>
                <a:ea typeface="Times New Roman Bold"/>
                <a:cs typeface="Times New Roman Bold"/>
                <a:sym typeface="Times New Roman Bold"/>
              </a:rPr>
              <a:t>Output:</a:t>
            </a:r>
          </a:p>
          <a:p>
            <a:pPr algn="just" marL="846136" indent="-169227" lvl="4">
              <a:lnSpc>
                <a:spcPts val="3117"/>
              </a:lnSpc>
            </a:pPr>
            <a:r>
              <a:rPr lang="en-US" sz="2599" spc="-20">
                <a:solidFill>
                  <a:srgbClr val="000000"/>
                </a:solidFill>
                <a:latin typeface="Times New Roman"/>
                <a:ea typeface="Times New Roman"/>
                <a:cs typeface="Times New Roman"/>
                <a:sym typeface="Times New Roman"/>
              </a:rPr>
              <a:t>Metrics: Precision, Recall, F1-Score, AUC-ROC, Ablation study</a:t>
            </a:r>
          </a:p>
          <a:p>
            <a:pPr algn="just" marL="846136" indent="-169227" lvl="4">
              <a:lnSpc>
                <a:spcPts val="3117"/>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5118422"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Expected Outcomes</a:t>
            </a:r>
          </a:p>
        </p:txBody>
      </p:sp>
      <p:sp>
        <p:nvSpPr>
          <p:cNvPr name="TextBox 12" id="12"/>
          <p:cNvSpPr txBox="true"/>
          <p:nvPr/>
        </p:nvSpPr>
        <p:spPr>
          <a:xfrm rot="0">
            <a:off x="745303" y="1991392"/>
            <a:ext cx="15731080" cy="5834862"/>
          </a:xfrm>
          <a:prstGeom prst="rect">
            <a:avLst/>
          </a:prstGeom>
        </p:spPr>
        <p:txBody>
          <a:bodyPr anchor="t" rtlCol="false" tIns="0" lIns="0" bIns="0" rIns="0">
            <a:spAutoFit/>
          </a:bodyPr>
          <a:lstStyle/>
          <a:p>
            <a:pPr algn="just" marL="675438" indent="-168859" lvl="3">
              <a:lnSpc>
                <a:spcPts val="3840"/>
              </a:lnSpc>
              <a:buFont typeface="Arial"/>
              <a:buChar char="￭"/>
            </a:pPr>
            <a:r>
              <a:rPr lang="en-US" sz="2799" spc="-12">
                <a:solidFill>
                  <a:srgbClr val="000000"/>
                </a:solidFill>
                <a:latin typeface="Times New Roman"/>
                <a:ea typeface="Times New Roman"/>
                <a:cs typeface="Times New Roman"/>
                <a:sym typeface="Times New Roman"/>
              </a:rPr>
              <a:t>A novel Temporal Graph Attention Network with learnable Fourier time encoding that autonomously discovers laundering-specific timescales — outperforming static GCN, GraphSAGE, GNN-LSTM, and ChronoWave-GNN baselines on F1-Score and AUC-ROC metrics on the Elliptic Bitcoin Dataset.</a:t>
            </a:r>
          </a:p>
          <a:p>
            <a:pPr algn="just" marL="675438" indent="-168859" lvl="3">
              <a:lnSpc>
                <a:spcPts val="3840"/>
              </a:lnSpc>
              <a:buFont typeface="Arial"/>
              <a:buChar char="￭"/>
            </a:pPr>
            <a:r>
              <a:rPr lang="en-US" sz="2799" spc="-12">
                <a:solidFill>
                  <a:srgbClr val="000000"/>
                </a:solidFill>
                <a:latin typeface="Times New Roman"/>
                <a:ea typeface="Times New Roman"/>
                <a:cs typeface="Times New Roman"/>
                <a:sym typeface="Times New Roman"/>
              </a:rPr>
              <a:t>First unified framework simultaneously detecting circular transfers, layering chains, and smurfing from a shared TGAT embedding — producing multi-label pattern classification outputs instead of binary illicit/licit predictions.</a:t>
            </a:r>
          </a:p>
          <a:p>
            <a:pPr algn="just" marL="675438" indent="-168859" lvl="3">
              <a:lnSpc>
                <a:spcPts val="3840"/>
              </a:lnSpc>
              <a:buFont typeface="Arial"/>
              <a:buChar char="￭"/>
            </a:pPr>
            <a:r>
              <a:rPr lang="en-US" sz="2799" spc="-12">
                <a:solidFill>
                  <a:srgbClr val="000000"/>
                </a:solidFill>
                <a:latin typeface="Times New Roman"/>
                <a:ea typeface="Times New Roman"/>
                <a:cs typeface="Times New Roman"/>
                <a:sym typeface="Times New Roman"/>
              </a:rPr>
              <a:t>Per-pattern time-ordered subgraph evidence reports via GNNExplainer — providing compliance-ready Suspicious Activity Report evidence that identifies which specific transactions constitute the laundering trail.</a:t>
            </a:r>
          </a:p>
          <a:p>
            <a:pPr algn="just" marL="675438" indent="-168859" lvl="3">
              <a:lnSpc>
                <a:spcPts val="3840"/>
              </a:lnSpc>
              <a:buFont typeface="Arial"/>
              <a:buChar char="￭"/>
            </a:pPr>
            <a:r>
              <a:rPr lang="en-US" sz="2799" spc="-12">
                <a:solidFill>
                  <a:srgbClr val="000000"/>
                </a:solidFill>
                <a:latin typeface="Times New Roman"/>
                <a:ea typeface="Times New Roman"/>
                <a:cs typeface="Times New Roman"/>
                <a:sym typeface="Times New Roman"/>
              </a:rPr>
              <a:t>Formal demonstration that causal temporal neighbourhood constraints are necessary for production AML deployment — preventing future data leakage that makes existing temporal GNN models architecturally unsound.</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17</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4307309"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Project Timeline</a:t>
            </a:r>
          </a:p>
        </p:txBody>
      </p:sp>
      <p:grpSp>
        <p:nvGrpSpPr>
          <p:cNvPr name="Group 12" id="12"/>
          <p:cNvGrpSpPr/>
          <p:nvPr/>
        </p:nvGrpSpPr>
        <p:grpSpPr>
          <a:xfrm rot="0">
            <a:off x="16830599" y="9612544"/>
            <a:ext cx="1097566" cy="602075"/>
            <a:chOff x="0" y="0"/>
            <a:chExt cx="1463421" cy="802767"/>
          </a:xfrm>
        </p:grpSpPr>
        <p:sp>
          <p:nvSpPr>
            <p:cNvPr name="Freeform 13" id="13"/>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4" id="14"/>
          <p:cNvGrpSpPr/>
          <p:nvPr/>
        </p:nvGrpSpPr>
        <p:grpSpPr>
          <a:xfrm rot="0">
            <a:off x="16830599" y="9598257"/>
            <a:ext cx="1097566" cy="616363"/>
            <a:chOff x="0" y="0"/>
            <a:chExt cx="1463421" cy="821817"/>
          </a:xfrm>
        </p:grpSpPr>
        <p:sp>
          <p:nvSpPr>
            <p:cNvPr name="Freeform 15" id="15"/>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6" id="16"/>
          <p:cNvGrpSpPr/>
          <p:nvPr/>
        </p:nvGrpSpPr>
        <p:grpSpPr>
          <a:xfrm rot="0">
            <a:off x="16830599" y="9583969"/>
            <a:ext cx="1097547" cy="630679"/>
            <a:chOff x="0" y="0"/>
            <a:chExt cx="1463396" cy="840905"/>
          </a:xfrm>
        </p:grpSpPr>
        <p:sp>
          <p:nvSpPr>
            <p:cNvPr name="Freeform 17" id="17"/>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8" id="18"/>
          <p:cNvGrpSpPr/>
          <p:nvPr/>
        </p:nvGrpSpPr>
        <p:grpSpPr>
          <a:xfrm rot="0">
            <a:off x="16830599" y="9569682"/>
            <a:ext cx="1097547" cy="644966"/>
            <a:chOff x="0" y="0"/>
            <a:chExt cx="1463396" cy="859955"/>
          </a:xfrm>
        </p:grpSpPr>
        <p:sp>
          <p:nvSpPr>
            <p:cNvPr name="Freeform 19" id="19"/>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0" id="20"/>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18</a:t>
              </a:r>
            </a:p>
          </p:txBody>
        </p:sp>
      </p:grpSp>
      <p:graphicFrame>
        <p:nvGraphicFramePr>
          <p:cNvPr name="Table 21" id="21"/>
          <p:cNvGraphicFramePr>
            <a:graphicFrameLocks noGrp="true"/>
          </p:cNvGraphicFramePr>
          <p:nvPr/>
        </p:nvGraphicFramePr>
        <p:xfrm>
          <a:off x="747032" y="1892853"/>
          <a:ext cx="14935200" cy="6299200"/>
        </p:xfrm>
        <a:graphic>
          <a:graphicData uri="http://schemas.openxmlformats.org/drawingml/2006/table">
            <a:tbl>
              <a:tblPr/>
              <a:tblGrid>
                <a:gridCol w="4233162"/>
                <a:gridCol w="1528863"/>
                <a:gridCol w="1528863"/>
                <a:gridCol w="1528863"/>
                <a:gridCol w="1528863"/>
                <a:gridCol w="1528863"/>
                <a:gridCol w="1528863"/>
                <a:gridCol w="1528863"/>
              </a:tblGrid>
              <a:tr h="393700">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Activity</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May-Jun</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Jul-Aug</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Sep</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Oct</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Nov-Dec</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2026</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Jan</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2027</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ctr">
                        <a:lnSpc>
                          <a:spcPts val="1919"/>
                        </a:lnSpc>
                        <a:defRPr/>
                      </a:pPr>
                      <a:r>
                        <a:rPr lang="en-US" b="true" sz="1599" spc="-7">
                          <a:solidFill>
                            <a:srgbClr val="000000"/>
                          </a:solidFill>
                          <a:latin typeface="TT Ramillas Bold"/>
                          <a:ea typeface="TT Ramillas Bold"/>
                          <a:cs typeface="TT Ramillas Bold"/>
                          <a:sym typeface="TT Ramillas Bold"/>
                        </a:rPr>
                        <a:t>Feb-Mar</a:t>
                      </a:r>
                      <a:endParaRPr lang="en-US" sz="1100"/>
                    </a:p>
                    <a:p>
                      <a:pPr algn="ctr">
                        <a:lnSpc>
                          <a:spcPts val="1919"/>
                        </a:lnSpc>
                      </a:pPr>
                      <a:r>
                        <a:rPr lang="en-US" b="true" sz="1599" spc="-7">
                          <a:solidFill>
                            <a:srgbClr val="000000"/>
                          </a:solidFill>
                          <a:latin typeface="TT Ramillas Bold"/>
                          <a:ea typeface="TT Ramillas Bold"/>
                          <a:cs typeface="TT Ramillas Bold"/>
                          <a:sym typeface="TT Ramillas Bold"/>
                        </a:rPr>
                        <a:t>2027</a:t>
                      </a:r>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Topic Finalization, Domain Study, Problem Formulation &amp; 0th Review</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Literature Survey (30+ papers), Gap Analysis, Novelty &amp; Review 1</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Dataset Download, EDA, Temporal Graph Construction (O1) &amp; Review 2</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Baseline Implementation (GCN, GraphSAGE, GNN-LSTM)</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TGAT + Learnable Fourier Time Encoding — O2</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Multi-Pattern Detection Heads — O3</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GNNExplainer Integration &amp; Ablation Study — O4, O5</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Full Benchmark vs 5 Baselines &amp; Result Validation</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Writing — Introduction, Literature Review, Methodology</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Submission (ICAIF 2025 / IEEE Q1 Journal)</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Refinement, Revision &amp; Camera-Ready Submission</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Dissertation Complete Documentation &amp; Chapter Writing</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Paper Presentation at Conference (Jan 2027)</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Phase II End-Semester Examination (Feb 2027)</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r>
              <a:tr h="393700">
                <a:tc>
                  <a:txBody>
                    <a:bodyPr anchor="t" rtlCol="false"/>
                    <a:lstStyle/>
                    <a:p>
                      <a:pPr algn="l">
                        <a:lnSpc>
                          <a:spcPts val="1919"/>
                        </a:lnSpc>
                        <a:defRPr/>
                      </a:pPr>
                      <a:r>
                        <a:rPr lang="en-US" sz="1599" spc="-7">
                          <a:solidFill>
                            <a:srgbClr val="000000"/>
                          </a:solidFill>
                          <a:latin typeface="TT Ramillas"/>
                          <a:ea typeface="TT Ramillas"/>
                          <a:cs typeface="TT Ramillas"/>
                          <a:sym typeface="TT Ramillas"/>
                        </a:rPr>
                        <a:t>Final Viva-Voce &amp; Degree Award (Mar 2027)</a:t>
                      </a: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324" marR="7324" marT="7324" marB="7324"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F81BD"/>
                    </a:solidFill>
                  </a:tcPr>
                </a:tc>
              </a:tr>
            </a:tbl>
          </a:graphicData>
        </a:graphic>
      </p:graphicFrame>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2886819"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Conclusion</a:t>
            </a:r>
          </a:p>
        </p:txBody>
      </p:sp>
      <p:sp>
        <p:nvSpPr>
          <p:cNvPr name="TextBox 12" id="12"/>
          <p:cNvSpPr txBox="true"/>
          <p:nvPr/>
        </p:nvSpPr>
        <p:spPr>
          <a:xfrm rot="0">
            <a:off x="643252" y="2083927"/>
            <a:ext cx="15731080" cy="5857875"/>
          </a:xfrm>
          <a:prstGeom prst="rect">
            <a:avLst/>
          </a:prstGeom>
        </p:spPr>
        <p:txBody>
          <a:bodyPr anchor="t" rtlCol="false" tIns="0" lIns="0" bIns="0" rIns="0">
            <a:spAutoFit/>
          </a:bodyPr>
          <a:lstStyle/>
          <a:p>
            <a:pPr algn="just">
              <a:lnSpc>
                <a:spcPts val="3840"/>
              </a:lnSpc>
            </a:pPr>
            <a:r>
              <a:rPr lang="en-US" sz="3200" spc="-26">
                <a:solidFill>
                  <a:srgbClr val="000000"/>
                </a:solidFill>
                <a:latin typeface="Times New Roman"/>
                <a:ea typeface="Times New Roman"/>
                <a:cs typeface="Times New Roman"/>
                <a:sym typeface="Times New Roman"/>
              </a:rPr>
              <a:t>This research proposes TemporalAML — a Temporal Graph Attention Network with learnable Fourier time encoding for explainable multi-pattern Anti-Money Laundering detection in cryptocurrency transaction networks. The framework addresses five critical gaps identified across 30+ reviewed papers: static graph representations that ignore time, disconnected temporal modules, fixed frequency encodings, binary-only classification, and absence of pattern-aware explainability. TemporalAML integrates learnable time encoding directly inside graph attention, simultaneously detects circular transfers, layering chains, and smurfing from shared embeddings, and generates per-pattern time-ordered subgraph evidence via GNNExplainer — producing the first AML system capable of compliance-ready Suspicious Activity Report generation. Experimental validation on the Elliptic Bitcoin Dataset against five baselines is expected to demonstrate superior Precision, Recall, F1-Score, and AUC-ROC, with ablation studies confirming the independent contribution of each proposed component.</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19</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2816275"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References</a:t>
            </a:r>
          </a:p>
        </p:txBody>
      </p:sp>
      <p:sp>
        <p:nvSpPr>
          <p:cNvPr name="TextBox 12" id="12"/>
          <p:cNvSpPr txBox="true"/>
          <p:nvPr/>
        </p:nvSpPr>
        <p:spPr>
          <a:xfrm rot="0">
            <a:off x="594922" y="2017833"/>
            <a:ext cx="16204968" cy="6191250"/>
          </a:xfrm>
          <a:prstGeom prst="rect">
            <a:avLst/>
          </a:prstGeom>
        </p:spPr>
        <p:txBody>
          <a:bodyPr anchor="t" rtlCol="false" tIns="0" lIns="0" bIns="0" rIns="0">
            <a:spAutoFit/>
          </a:bodyPr>
          <a:lstStyle/>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M. Weber, G. Domeniconi, J. Chen, D. K. I. Weidele, C. Bellei, T. Robinson, and C. E. Leiserson, "Anti-Money Laundering in Bitcoin: Experimenting with Graph Convolutional Networks for Financial Forensics," in Proc. KDD 2019 Workshop on Anomaly Detection in Finance, 2019.</a:t>
            </a:r>
          </a:p>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I. Alarab and S. Prakoonwit, "Graph-based LSTM for Anti-Money Laundering: Experimenting Temporal Graph Convolutional Network with Bitcoin Data," Neural Processing Letters, Springer, 2023.</a:t>
            </a:r>
          </a:p>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Z. Lin, Q. Luo, D. Wu, J. Shen, L. Li, X. Nong, and Z. Qin, "Detecting Illicit Transactions in Bitcoin: A Wavelet-Temporal Graph Transformer Approach for Anti-Money Laundering," Scientific Reports, Nature, 2026.</a:t>
            </a:r>
          </a:p>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O. Lawal, A. Okolie, and C. Obunadike, "An Explainable Graph Neural Network Framework for Anti-Money Laundering in Cryptocurrency Transactions using the Elliptic Dataset," International Journal of Network Security, 2025.</a:t>
            </a:r>
          </a:p>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Y. Nie, N. H. Nguyen, P. Sinthong, and J. Kalagnanam, "A Time Series Is Worth 64 Words: Long-Term Forecasting with Transformers," in Proc. International Conference on Learning Representations (ICLR), 2023, doi: 10.48550/arXiv.2211.14730.</a:t>
            </a:r>
          </a:p>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S. Ferretti, G. D'Angelo, and V. Ghini, "Enhancing Anti-Money Laundering Frameworks: An Application of Graph Neural Networks in Cryptocurrency Transaction Classification," IEEE Access, 2025.</a:t>
            </a:r>
          </a:p>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Y. He, L. Xing, Y. Chen, W. Pedrycz, L. Wang, and G. Wu, "A Generic Markov Decision Process Model and Reinforcement Learning Method for Scheduling Agile Earth Observation Satellites," IEEE Transactions on Systems, Man, and Cybernetics: Systems, vol. 52, no. 3, pp. 1463-1474, Mar. 2022, doi: 10.1109/TSMC.2020.3020732.</a:t>
            </a:r>
          </a:p>
          <a:p>
            <a:pPr algn="just" marL="852968" indent="-170594" lvl="4">
              <a:lnSpc>
                <a:spcPts val="2760"/>
              </a:lnSpc>
              <a:buAutoNum type="arabicPeriod" startAt="1"/>
            </a:pPr>
            <a:r>
              <a:rPr lang="en-US" sz="2300" spc="-17">
                <a:solidFill>
                  <a:srgbClr val="000000"/>
                </a:solidFill>
                <a:latin typeface="Times New Roman"/>
                <a:ea typeface="Times New Roman"/>
                <a:cs typeface="Times New Roman"/>
                <a:sym typeface="Times New Roman"/>
              </a:rPr>
              <a:t>B. Peng et al., "FACMAC: Factored Multi-Agent Centralised Policy Gradients," in Advances in Neural Information Processing Systems, vol. 34, pp. 12208-12221, 2021, doi: 10.48550/arXiv.2003.06709.</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20</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03" y="859555"/>
            <a:ext cx="1575867" cy="752853"/>
          </a:xfrm>
          <a:prstGeom prst="rect">
            <a:avLst/>
          </a:prstGeom>
        </p:spPr>
        <p:txBody>
          <a:bodyPr anchor="t" rtlCol="false" tIns="0" lIns="0" bIns="0" rIns="0">
            <a:spAutoFit/>
          </a:bodyPr>
          <a:lstStyle/>
          <a:p>
            <a:pPr algn="l">
              <a:lnSpc>
                <a:spcPts val="5757"/>
              </a:lnSpc>
            </a:pPr>
            <a:r>
              <a:rPr lang="en-US" b="true" sz="4800" spc="-21">
                <a:solidFill>
                  <a:srgbClr val="0000FF"/>
                </a:solidFill>
                <a:latin typeface="Times New Roman Bold"/>
                <a:ea typeface="Times New Roman Bold"/>
                <a:cs typeface="Times New Roman Bold"/>
                <a:sym typeface="Times New Roman Bold"/>
              </a:rPr>
              <a:t>Cont..</a:t>
            </a:r>
          </a:p>
        </p:txBody>
      </p:sp>
      <p:sp>
        <p:nvSpPr>
          <p:cNvPr name="TextBox 12" id="12"/>
          <p:cNvSpPr txBox="true"/>
          <p:nvPr/>
        </p:nvSpPr>
        <p:spPr>
          <a:xfrm rot="0">
            <a:off x="638137" y="1953873"/>
            <a:ext cx="16204968" cy="4819650"/>
          </a:xfrm>
          <a:prstGeom prst="rect">
            <a:avLst/>
          </a:prstGeom>
        </p:spPr>
        <p:txBody>
          <a:bodyPr anchor="t" rtlCol="false" tIns="0" lIns="0" bIns="0" rIns="0">
            <a:spAutoFit/>
          </a:bodyPr>
          <a:lstStyle/>
          <a:p>
            <a:pPr algn="l" marL="496571" indent="-248285" lvl="1">
              <a:lnSpc>
                <a:spcPts val="2760"/>
              </a:lnSpc>
              <a:buAutoNum type="arabicPeriod" startAt="1"/>
            </a:pPr>
            <a:r>
              <a:rPr lang="en-US" sz="2300" spc="-17">
                <a:solidFill>
                  <a:srgbClr val="000000"/>
                </a:solidFill>
                <a:latin typeface="Times New Roman"/>
                <a:ea typeface="Times New Roman"/>
                <a:cs typeface="Times New Roman"/>
                <a:sym typeface="Times New Roman"/>
              </a:rPr>
              <a:t> </a:t>
            </a:r>
            <a:r>
              <a:rPr lang="en-US" sz="2300" spc="-17">
                <a:solidFill>
                  <a:srgbClr val="000000"/>
                </a:solidFill>
                <a:latin typeface="Times New Roman"/>
                <a:ea typeface="Times New Roman"/>
                <a:cs typeface="Times New Roman"/>
                <a:sym typeface="Times New Roman"/>
              </a:rPr>
              <a:t>R. Ying, D. Bourgeois, J. You, M. Zitnik, and J. Leskovec, "GNNExplainer: Generating Explanations for Graph Neural Networks," Advances in Neural Information Processing Systems (NeurIPS), 2019.</a:t>
            </a:r>
          </a:p>
          <a:p>
            <a:pPr algn="just">
              <a:lnSpc>
                <a:spcPts val="2760"/>
              </a:lnSpc>
            </a:pPr>
            <a:r>
              <a:rPr lang="en-US" sz="2300" spc="-16">
                <a:solidFill>
                  <a:srgbClr val="000000"/>
                </a:solidFill>
                <a:latin typeface="Times New Roman"/>
                <a:ea typeface="Times New Roman"/>
                <a:cs typeface="Times New Roman"/>
                <a:sym typeface="Times New Roman"/>
              </a:rPr>
              <a:t>  12. </a:t>
            </a:r>
            <a:r>
              <a:rPr lang="en-US" sz="2300" spc="-16">
                <a:solidFill>
                  <a:srgbClr val="000000"/>
                </a:solidFill>
                <a:latin typeface="Times New Roman"/>
                <a:ea typeface="Times New Roman"/>
                <a:cs typeface="Times New Roman"/>
                <a:sym typeface="Times New Roman"/>
              </a:rPr>
              <a:t>[X. Wang, G. Wu, L. Xing, and W. Pedrycz, "Agile Earth Observation Satellite Scheduling Over 20 Years: Formulations, Methods, and</a:t>
            </a:r>
          </a:p>
          <a:p>
            <a:pPr algn="just">
              <a:lnSpc>
                <a:spcPts val="2760"/>
              </a:lnSpc>
            </a:pPr>
            <a:r>
              <a:rPr lang="en-US" sz="2300" spc="-17">
                <a:solidFill>
                  <a:srgbClr val="000000"/>
                </a:solidFill>
                <a:latin typeface="Times New Roman"/>
                <a:ea typeface="Times New Roman"/>
                <a:cs typeface="Times New Roman"/>
                <a:sym typeface="Times New Roman"/>
              </a:rPr>
              <a:t>       Future Directions," IEEE Systems Journal, vol. 15, no. 3, pp. 3881-3892, Sep. 2021, doi: 10.1109/JSYST.2020.2997050.</a:t>
            </a:r>
          </a:p>
          <a:p>
            <a:pPr algn="l" marL="496571" indent="-248285" lvl="1">
              <a:lnSpc>
                <a:spcPts val="2760"/>
              </a:lnSpc>
              <a:buAutoNum type="arabicPeriod" startAt="1"/>
            </a:pPr>
            <a:r>
              <a:rPr lang="en-US" sz="2300" spc="-17">
                <a:solidFill>
                  <a:srgbClr val="000000"/>
                </a:solidFill>
                <a:latin typeface="Times New Roman"/>
                <a:ea typeface="Times New Roman"/>
                <a:cs typeface="Times New Roman"/>
                <a:sym typeface="Times New Roman"/>
              </a:rPr>
              <a:t>P. Veličković, G. Cucurull, A. Casanova, A. Romero, P. Liò, and Y. Bengio, "Graph Attention Networks," International Conference on Learning Representations (ICLR), 2018.</a:t>
            </a:r>
          </a:p>
          <a:p>
            <a:pPr algn="just">
              <a:lnSpc>
                <a:spcPts val="2760"/>
              </a:lnSpc>
            </a:pPr>
            <a:r>
              <a:rPr lang="en-US" sz="2300" spc="-16">
                <a:solidFill>
                  <a:srgbClr val="000000"/>
                </a:solidFill>
                <a:latin typeface="Times New Roman"/>
                <a:ea typeface="Times New Roman"/>
                <a:cs typeface="Times New Roman"/>
                <a:sym typeface="Times New Roman"/>
              </a:rPr>
              <a:t> 14. </a:t>
            </a:r>
            <a:r>
              <a:rPr lang="en-US" sz="2300" spc="-16">
                <a:solidFill>
                  <a:srgbClr val="000000"/>
                </a:solidFill>
                <a:latin typeface="Times New Roman"/>
                <a:ea typeface="Times New Roman"/>
                <a:cs typeface="Times New Roman"/>
                <a:sym typeface="Times New Roman"/>
              </a:rPr>
              <a:t>E. Rossi, B. Chamberlain, F. Frasca, D. Eynard, F. Monti, and M. Bronstein, "Temporal Graph Networks for Deep Learning on</a:t>
            </a:r>
          </a:p>
          <a:p>
            <a:pPr algn="just">
              <a:lnSpc>
                <a:spcPts val="2760"/>
              </a:lnSpc>
            </a:pPr>
            <a:r>
              <a:rPr lang="en-US" sz="2300" spc="-17">
                <a:solidFill>
                  <a:srgbClr val="000000"/>
                </a:solidFill>
                <a:latin typeface="Times New Roman"/>
                <a:ea typeface="Times New Roman"/>
                <a:cs typeface="Times New Roman"/>
                <a:sym typeface="Times New Roman"/>
              </a:rPr>
              <a:t>       Dynamic Graphs," ICML 2020 Workshop on Graph Representation Learning.</a:t>
            </a:r>
          </a:p>
          <a:p>
            <a:pPr algn="just">
              <a:lnSpc>
                <a:spcPts val="2760"/>
              </a:lnSpc>
            </a:pPr>
            <a:r>
              <a:rPr lang="en-US" sz="2300" spc="-16">
                <a:solidFill>
                  <a:srgbClr val="000000"/>
                </a:solidFill>
                <a:latin typeface="Times New Roman"/>
                <a:ea typeface="Times New Roman"/>
                <a:cs typeface="Times New Roman"/>
                <a:sym typeface="Times New Roman"/>
              </a:rPr>
              <a:t> 15. </a:t>
            </a:r>
            <a:r>
              <a:rPr lang="en-US" sz="2300" spc="-16">
                <a:solidFill>
                  <a:srgbClr val="000000"/>
                </a:solidFill>
                <a:latin typeface="Times New Roman"/>
                <a:ea typeface="Times New Roman"/>
                <a:cs typeface="Times New Roman"/>
                <a:sym typeface="Times New Roman"/>
              </a:rPr>
              <a:t>M. R. Karim, F. Hermsen, S. A. Chala, and P. De Perthuis, "Scalable Semi-Supervised Graph Learning Techniques for Anti-Money </a:t>
            </a:r>
          </a:p>
          <a:p>
            <a:pPr algn="just">
              <a:lnSpc>
                <a:spcPts val="2760"/>
              </a:lnSpc>
            </a:pPr>
            <a:r>
              <a:rPr lang="en-US" sz="2300" spc="-17">
                <a:solidFill>
                  <a:srgbClr val="000000"/>
                </a:solidFill>
                <a:latin typeface="Times New Roman"/>
                <a:ea typeface="Times New Roman"/>
                <a:cs typeface="Times New Roman"/>
                <a:sym typeface="Times New Roman"/>
              </a:rPr>
              <a:t>       </a:t>
            </a:r>
            <a:r>
              <a:rPr lang="en-US" sz="2300" spc="-17">
                <a:solidFill>
                  <a:srgbClr val="000000"/>
                </a:solidFill>
                <a:latin typeface="Times New Roman"/>
                <a:ea typeface="Times New Roman"/>
                <a:cs typeface="Times New Roman"/>
                <a:sym typeface="Times New Roman"/>
              </a:rPr>
              <a:t>Laundering," IEEE, 2024.</a:t>
            </a:r>
          </a:p>
          <a:p>
            <a:pPr algn="just">
              <a:lnSpc>
                <a:spcPts val="2760"/>
              </a:lnSpc>
            </a:pPr>
            <a:r>
              <a:rPr lang="en-US" sz="2300" spc="-16">
                <a:solidFill>
                  <a:srgbClr val="000000"/>
                </a:solidFill>
                <a:latin typeface="Times New Roman"/>
                <a:ea typeface="Times New Roman"/>
                <a:cs typeface="Times New Roman"/>
                <a:sym typeface="Times New Roman"/>
              </a:rPr>
              <a:t> 16.</a:t>
            </a:r>
            <a:r>
              <a:rPr lang="en-US" sz="2300" spc="-16">
                <a:solidFill>
                  <a:srgbClr val="000000"/>
                </a:solidFill>
                <a:latin typeface="Times New Roman"/>
                <a:ea typeface="Times New Roman"/>
                <a:cs typeface="Times New Roman"/>
                <a:sym typeface="Times New Roman"/>
              </a:rPr>
              <a:t>T. Rashid et al., "QMIX: Monotonic Value Function Factorisation for Deep Multi-Agent Reinforcement Learning," in Proc. 35th </a:t>
            </a:r>
          </a:p>
          <a:p>
            <a:pPr algn="just">
              <a:lnSpc>
                <a:spcPts val="2760"/>
              </a:lnSpc>
            </a:pPr>
            <a:r>
              <a:rPr lang="en-US" sz="2300" spc="-17">
                <a:solidFill>
                  <a:srgbClr val="000000"/>
                </a:solidFill>
                <a:latin typeface="Times New Roman"/>
                <a:ea typeface="Times New Roman"/>
                <a:cs typeface="Times New Roman"/>
                <a:sym typeface="Times New Roman"/>
              </a:rPr>
              <a:t>       </a:t>
            </a:r>
            <a:r>
              <a:rPr lang="en-US" sz="2300" spc="-17">
                <a:solidFill>
                  <a:srgbClr val="000000"/>
                </a:solidFill>
                <a:latin typeface="Times New Roman"/>
                <a:ea typeface="Times New Roman"/>
                <a:cs typeface="Times New Roman"/>
                <a:sym typeface="Times New Roman"/>
              </a:rPr>
              <a:t>International Conference on Machine Learning (ICML), vol. 80, pp. 4295-4304, 2018, doi: 10.48550/arXiv.1803.11485.</a:t>
            </a:r>
          </a:p>
          <a:p>
            <a:pPr algn="l" marL="496571" indent="-248285" lvl="1">
              <a:lnSpc>
                <a:spcPts val="2760"/>
              </a:lnSpc>
              <a:buAutoNum type="arabicPeriod" startAt="1"/>
            </a:pPr>
            <a:r>
              <a:rPr lang="en-US" sz="2300" spc="-17">
                <a:solidFill>
                  <a:srgbClr val="000000"/>
                </a:solidFill>
                <a:latin typeface="Times New Roman"/>
                <a:ea typeface="Times New Roman"/>
                <a:cs typeface="Times New Roman"/>
                <a:sym typeface="Times New Roman"/>
              </a:rPr>
              <a:t>J. N. Foerster, G. Farquhar, T. Afouras, N. Nardelli, and S. Whiteson, "Counterfactual Multi-Agent Policy Gradients," in Proc. 32nd AAAI Conference on Artificial Intelligence (AAAI), pp. 2974-2982, 2018, doi: 10.1609/aaai.v32i1.11794.</a:t>
            </a:r>
          </a:p>
        </p:txBody>
      </p:sp>
      <p:grpSp>
        <p:nvGrpSpPr>
          <p:cNvPr name="Group 13" id="13"/>
          <p:cNvGrpSpPr/>
          <p:nvPr/>
        </p:nvGrpSpPr>
        <p:grpSpPr>
          <a:xfrm rot="0">
            <a:off x="16830599" y="9612544"/>
            <a:ext cx="1097566" cy="602075"/>
            <a:chOff x="0" y="0"/>
            <a:chExt cx="1463421" cy="802767"/>
          </a:xfrm>
        </p:grpSpPr>
        <p:sp>
          <p:nvSpPr>
            <p:cNvPr name="Freeform 14" id="14"/>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5" id="15"/>
          <p:cNvGrpSpPr/>
          <p:nvPr/>
        </p:nvGrpSpPr>
        <p:grpSpPr>
          <a:xfrm rot="0">
            <a:off x="16830599" y="9598257"/>
            <a:ext cx="1097566" cy="616363"/>
            <a:chOff x="0" y="0"/>
            <a:chExt cx="1463421" cy="821817"/>
          </a:xfrm>
        </p:grpSpPr>
        <p:sp>
          <p:nvSpPr>
            <p:cNvPr name="Freeform 16" id="16"/>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7" id="17"/>
          <p:cNvGrpSpPr/>
          <p:nvPr/>
        </p:nvGrpSpPr>
        <p:grpSpPr>
          <a:xfrm rot="0">
            <a:off x="16830599" y="9583969"/>
            <a:ext cx="1097547" cy="630679"/>
            <a:chOff x="0" y="0"/>
            <a:chExt cx="1463396" cy="840905"/>
          </a:xfrm>
        </p:grpSpPr>
        <p:sp>
          <p:nvSpPr>
            <p:cNvPr name="Freeform 18" id="18"/>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9" id="19"/>
          <p:cNvGrpSpPr/>
          <p:nvPr/>
        </p:nvGrpSpPr>
        <p:grpSpPr>
          <a:xfrm rot="0">
            <a:off x="16830599" y="9569682"/>
            <a:ext cx="1097547" cy="644966"/>
            <a:chOff x="0" y="0"/>
            <a:chExt cx="1463396" cy="859955"/>
          </a:xfrm>
        </p:grpSpPr>
        <p:sp>
          <p:nvSpPr>
            <p:cNvPr name="Freeform 20" id="20"/>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1" id="21"/>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21</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12" y="-37814"/>
            <a:ext cx="18334434" cy="439245"/>
            <a:chOff x="0" y="0"/>
            <a:chExt cx="24445912" cy="585660"/>
          </a:xfrm>
        </p:grpSpPr>
        <p:sp>
          <p:nvSpPr>
            <p:cNvPr name="Freeform 3" id="3"/>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grpSp>
        <p:nvGrpSpPr>
          <p:cNvPr name="Group 4" id="4"/>
          <p:cNvGrpSpPr/>
          <p:nvPr/>
        </p:nvGrpSpPr>
        <p:grpSpPr>
          <a:xfrm rot="0">
            <a:off x="-23212" y="9900114"/>
            <a:ext cx="18334434" cy="439245"/>
            <a:chOff x="0" y="0"/>
            <a:chExt cx="24445912" cy="585660"/>
          </a:xfrm>
        </p:grpSpPr>
        <p:sp>
          <p:nvSpPr>
            <p:cNvPr name="Freeform 5" id="5"/>
            <p:cNvSpPr/>
            <p:nvPr/>
          </p:nvSpPr>
          <p:spPr>
            <a:xfrm flipH="false" flipV="false" rot="0">
              <a:off x="0" y="0"/>
              <a:ext cx="24445976" cy="585724"/>
            </a:xfrm>
            <a:custGeom>
              <a:avLst/>
              <a:gdLst/>
              <a:ahLst/>
              <a:cxnLst/>
              <a:rect r="r" b="b" t="t" l="l"/>
              <a:pathLst>
                <a:path h="585724" w="24445976">
                  <a:moveTo>
                    <a:pt x="0" y="0"/>
                  </a:moveTo>
                  <a:lnTo>
                    <a:pt x="24445976" y="0"/>
                  </a:lnTo>
                  <a:lnTo>
                    <a:pt x="24445976" y="585724"/>
                  </a:lnTo>
                  <a:lnTo>
                    <a:pt x="0" y="585724"/>
                  </a:lnTo>
                  <a:close/>
                </a:path>
              </a:pathLst>
            </a:custGeom>
            <a:solidFill>
              <a:srgbClr val="0C5394"/>
            </a:solidFill>
            <a:ln w="14288" cap="sq">
              <a:solidFill>
                <a:srgbClr val="0C5394"/>
              </a:solidFill>
              <a:prstDash val="solid"/>
              <a:miter/>
            </a:ln>
          </p:spPr>
        </p:sp>
      </p:grpSp>
      <p:sp>
        <p:nvSpPr>
          <p:cNvPr name="Freeform 6" id="6"/>
          <p:cNvSpPr/>
          <p:nvPr/>
        </p:nvSpPr>
        <p:spPr>
          <a:xfrm flipH="false" flipV="false" rot="0">
            <a:off x="-12583" y="9568444"/>
            <a:ext cx="18313003" cy="555165"/>
          </a:xfrm>
          <a:custGeom>
            <a:avLst/>
            <a:gdLst/>
            <a:ahLst/>
            <a:cxnLst/>
            <a:rect r="r" b="b" t="t" l="l"/>
            <a:pathLst>
              <a:path h="555165" w="18313003">
                <a:moveTo>
                  <a:pt x="0" y="0"/>
                </a:moveTo>
                <a:lnTo>
                  <a:pt x="18313004" y="0"/>
                </a:lnTo>
                <a:lnTo>
                  <a:pt x="18313004" y="555164"/>
                </a:lnTo>
                <a:lnTo>
                  <a:pt x="0" y="555164"/>
                </a:lnTo>
                <a:lnTo>
                  <a:pt x="0" y="0"/>
                </a:lnTo>
                <a:close/>
              </a:path>
            </a:pathLst>
          </a:custGeom>
          <a:blipFill>
            <a:blip r:embed="rId3">
              <a:extLst>
                <a:ext uri="{96DAC541-7B7A-43D3-8B79-37D633B846F1}">
                  <asvg:svgBlip xmlns:asvg="http://schemas.microsoft.com/office/drawing/2016/SVG/main" r:embed="rId4"/>
                </a:ext>
              </a:extLst>
            </a:blip>
            <a:stretch>
              <a:fillRect l="0" t="-603" r="0" b="-602"/>
            </a:stretch>
          </a:blipFill>
        </p:spPr>
      </p:sp>
      <p:sp>
        <p:nvSpPr>
          <p:cNvPr name="TextBox 7" id="7"/>
          <p:cNvSpPr txBox="true"/>
          <p:nvPr/>
        </p:nvSpPr>
        <p:spPr>
          <a:xfrm rot="-462600">
            <a:off x="13326703" y="9610416"/>
            <a:ext cx="2554043" cy="501910"/>
          </a:xfrm>
          <a:prstGeom prst="rect">
            <a:avLst/>
          </a:prstGeom>
        </p:spPr>
        <p:txBody>
          <a:bodyPr anchor="t" rtlCol="false" tIns="0" lIns="0" bIns="0" rIns="0">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name="TextBox 8" id="8"/>
          <p:cNvSpPr txBox="true"/>
          <p:nvPr/>
        </p:nvSpPr>
        <p:spPr>
          <a:xfrm rot="1440">
            <a:off x="9193218" y="9725958"/>
            <a:ext cx="4176751" cy="455552"/>
          </a:xfrm>
          <a:prstGeom prst="rect">
            <a:avLst/>
          </a:prstGeom>
        </p:spPr>
        <p:txBody>
          <a:bodyPr anchor="t" rtlCol="false" tIns="0" lIns="0" bIns="0" rIns="0">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name="Group 9" id="9"/>
          <p:cNvGrpSpPr/>
          <p:nvPr/>
        </p:nvGrpSpPr>
        <p:grpSpPr>
          <a:xfrm rot="0">
            <a:off x="12210374" y="3204601"/>
            <a:ext cx="5977033" cy="5953316"/>
            <a:chOff x="0" y="0"/>
            <a:chExt cx="7969377" cy="7937754"/>
          </a:xfrm>
        </p:grpSpPr>
        <p:sp>
          <p:nvSpPr>
            <p:cNvPr name="Freeform 10" id="10"/>
            <p:cNvSpPr/>
            <p:nvPr/>
          </p:nvSpPr>
          <p:spPr>
            <a:xfrm flipH="false" flipV="false" rot="0">
              <a:off x="0" y="0"/>
              <a:ext cx="7969377" cy="7937754"/>
            </a:xfrm>
            <a:custGeom>
              <a:avLst/>
              <a:gdLst/>
              <a:ahLst/>
              <a:cxnLst/>
              <a:rect r="r" b="b" t="t" l="l"/>
              <a:pathLst>
                <a:path h="7937754" w="7969377">
                  <a:moveTo>
                    <a:pt x="0" y="0"/>
                  </a:moveTo>
                  <a:lnTo>
                    <a:pt x="7969377" y="0"/>
                  </a:lnTo>
                  <a:lnTo>
                    <a:pt x="7969377" y="7937754"/>
                  </a:lnTo>
                  <a:lnTo>
                    <a:pt x="0" y="7937754"/>
                  </a:lnTo>
                  <a:lnTo>
                    <a:pt x="0" y="0"/>
                  </a:lnTo>
                  <a:close/>
                </a:path>
              </a:pathLst>
            </a:custGeom>
            <a:blipFill>
              <a:blip r:embed="rId5">
                <a:alphaModFix amt="3000"/>
              </a:blip>
              <a:stretch>
                <a:fillRect l="0" t="0" r="0" b="0"/>
              </a:stretch>
            </a:blipFill>
          </p:spPr>
        </p:sp>
      </p:grpSp>
      <p:sp>
        <p:nvSpPr>
          <p:cNvPr name="TextBox 11" id="11"/>
          <p:cNvSpPr txBox="true"/>
          <p:nvPr/>
        </p:nvSpPr>
        <p:spPr>
          <a:xfrm rot="0">
            <a:off x="745379" y="3272085"/>
            <a:ext cx="16797252" cy="2167195"/>
          </a:xfrm>
          <a:prstGeom prst="rect">
            <a:avLst/>
          </a:prstGeom>
        </p:spPr>
        <p:txBody>
          <a:bodyPr anchor="t" rtlCol="false" tIns="0" lIns="0" bIns="0" rIns="0">
            <a:spAutoFit/>
          </a:bodyPr>
          <a:lstStyle/>
          <a:p>
            <a:pPr algn="ctr">
              <a:lnSpc>
                <a:spcPts val="17280"/>
              </a:lnSpc>
            </a:pPr>
            <a:r>
              <a:rPr lang="en-US" sz="14400" spc="-65">
                <a:solidFill>
                  <a:srgbClr val="CC0000"/>
                </a:solidFill>
                <a:latin typeface="TT Ramillas"/>
                <a:ea typeface="TT Ramillas"/>
                <a:cs typeface="TT Ramillas"/>
                <a:sym typeface="TT Ramillas"/>
              </a:rPr>
              <a:t>Thank You </a:t>
            </a:r>
          </a:p>
        </p:txBody>
      </p:sp>
      <p:grpSp>
        <p:nvGrpSpPr>
          <p:cNvPr name="Group 12" id="12"/>
          <p:cNvGrpSpPr/>
          <p:nvPr/>
        </p:nvGrpSpPr>
        <p:grpSpPr>
          <a:xfrm rot="0">
            <a:off x="16830599" y="9612544"/>
            <a:ext cx="1097566" cy="602075"/>
            <a:chOff x="0" y="0"/>
            <a:chExt cx="1463421" cy="802767"/>
          </a:xfrm>
        </p:grpSpPr>
        <p:sp>
          <p:nvSpPr>
            <p:cNvPr name="Freeform 13" id="13"/>
            <p:cNvSpPr/>
            <p:nvPr/>
          </p:nvSpPr>
          <p:spPr>
            <a:xfrm flipH="false" flipV="false" rot="0">
              <a:off x="0" y="0"/>
              <a:ext cx="1463421" cy="802767"/>
            </a:xfrm>
            <a:custGeom>
              <a:avLst/>
              <a:gdLst/>
              <a:ahLst/>
              <a:cxnLst/>
              <a:rect r="r" b="b" t="t" l="l"/>
              <a:pathLst>
                <a:path h="802767" w="1463421">
                  <a:moveTo>
                    <a:pt x="0" y="0"/>
                  </a:moveTo>
                  <a:lnTo>
                    <a:pt x="1463421" y="0"/>
                  </a:lnTo>
                  <a:lnTo>
                    <a:pt x="1463421" y="802767"/>
                  </a:lnTo>
                  <a:lnTo>
                    <a:pt x="0" y="802767"/>
                  </a:lnTo>
                  <a:close/>
                </a:path>
              </a:pathLst>
            </a:custGeom>
            <a:blipFill>
              <a:blip r:embed="rId6">
                <a:alphaModFix amt="0"/>
              </a:blip>
              <a:stretch>
                <a:fillRect l="-20430" t="0" r="-20430" b="0"/>
              </a:stretch>
            </a:blipFill>
          </p:spPr>
        </p:sp>
      </p:grpSp>
      <p:grpSp>
        <p:nvGrpSpPr>
          <p:cNvPr name="Group 14" id="14"/>
          <p:cNvGrpSpPr/>
          <p:nvPr/>
        </p:nvGrpSpPr>
        <p:grpSpPr>
          <a:xfrm rot="0">
            <a:off x="16830599" y="9598257"/>
            <a:ext cx="1097566" cy="616363"/>
            <a:chOff x="0" y="0"/>
            <a:chExt cx="1463421" cy="821817"/>
          </a:xfrm>
        </p:grpSpPr>
        <p:sp>
          <p:nvSpPr>
            <p:cNvPr name="Freeform 15" id="15"/>
            <p:cNvSpPr/>
            <p:nvPr/>
          </p:nvSpPr>
          <p:spPr>
            <a:xfrm flipH="false" flipV="false" rot="0">
              <a:off x="0" y="0"/>
              <a:ext cx="1463421" cy="821817"/>
            </a:xfrm>
            <a:custGeom>
              <a:avLst/>
              <a:gdLst/>
              <a:ahLst/>
              <a:cxnLst/>
              <a:rect r="r" b="b" t="t" l="l"/>
              <a:pathLst>
                <a:path h="821817" w="1463421">
                  <a:moveTo>
                    <a:pt x="0" y="0"/>
                  </a:moveTo>
                  <a:lnTo>
                    <a:pt x="1463421" y="0"/>
                  </a:lnTo>
                  <a:lnTo>
                    <a:pt x="1463421" y="821817"/>
                  </a:lnTo>
                  <a:lnTo>
                    <a:pt x="0" y="821817"/>
                  </a:lnTo>
                  <a:close/>
                </a:path>
              </a:pathLst>
            </a:custGeom>
            <a:blipFill>
              <a:blip r:embed="rId7">
                <a:alphaModFix amt="0"/>
              </a:blip>
              <a:stretch>
                <a:fillRect l="-22101" t="0" r="-22101" b="0"/>
              </a:stretch>
            </a:blipFill>
          </p:spPr>
        </p:sp>
      </p:grpSp>
      <p:grpSp>
        <p:nvGrpSpPr>
          <p:cNvPr name="Group 16" id="16"/>
          <p:cNvGrpSpPr/>
          <p:nvPr/>
        </p:nvGrpSpPr>
        <p:grpSpPr>
          <a:xfrm rot="0">
            <a:off x="16830599" y="9583969"/>
            <a:ext cx="1097547" cy="630679"/>
            <a:chOff x="0" y="0"/>
            <a:chExt cx="1463396" cy="840905"/>
          </a:xfrm>
        </p:grpSpPr>
        <p:sp>
          <p:nvSpPr>
            <p:cNvPr name="Freeform 17" id="17"/>
            <p:cNvSpPr/>
            <p:nvPr/>
          </p:nvSpPr>
          <p:spPr>
            <a:xfrm flipH="false" flipV="false" rot="0">
              <a:off x="0" y="0"/>
              <a:ext cx="1463421" cy="840867"/>
            </a:xfrm>
            <a:custGeom>
              <a:avLst/>
              <a:gdLst/>
              <a:ahLst/>
              <a:cxnLst/>
              <a:rect r="r" b="b" t="t" l="l"/>
              <a:pathLst>
                <a:path h="840867" w="1463421">
                  <a:moveTo>
                    <a:pt x="0" y="0"/>
                  </a:moveTo>
                  <a:lnTo>
                    <a:pt x="1463421" y="0"/>
                  </a:lnTo>
                  <a:lnTo>
                    <a:pt x="1463421" y="840867"/>
                  </a:lnTo>
                  <a:lnTo>
                    <a:pt x="0" y="840867"/>
                  </a:lnTo>
                  <a:close/>
                </a:path>
              </a:pathLst>
            </a:custGeom>
            <a:blipFill>
              <a:blip r:embed="rId8">
                <a:alphaModFix amt="0"/>
              </a:blip>
              <a:stretch>
                <a:fillRect l="-23777" t="0" r="-23775" b="-4"/>
              </a:stretch>
            </a:blipFill>
          </p:spPr>
        </p:sp>
      </p:grpSp>
      <p:grpSp>
        <p:nvGrpSpPr>
          <p:cNvPr name="Group 18" id="18"/>
          <p:cNvGrpSpPr/>
          <p:nvPr/>
        </p:nvGrpSpPr>
        <p:grpSpPr>
          <a:xfrm rot="0">
            <a:off x="16830599" y="9569682"/>
            <a:ext cx="1097547" cy="644966"/>
            <a:chOff x="0" y="0"/>
            <a:chExt cx="1463396" cy="859955"/>
          </a:xfrm>
        </p:grpSpPr>
        <p:sp>
          <p:nvSpPr>
            <p:cNvPr name="Freeform 19" id="19"/>
            <p:cNvSpPr/>
            <p:nvPr/>
          </p:nvSpPr>
          <p:spPr>
            <a:xfrm flipH="false" flipV="false" rot="0">
              <a:off x="0" y="0"/>
              <a:ext cx="1463396" cy="859955"/>
            </a:xfrm>
            <a:custGeom>
              <a:avLst/>
              <a:gdLst/>
              <a:ahLst/>
              <a:cxnLst/>
              <a:rect r="r" b="b" t="t" l="l"/>
              <a:pathLst>
                <a:path h="859955" w="1463396">
                  <a:moveTo>
                    <a:pt x="0" y="0"/>
                  </a:moveTo>
                  <a:lnTo>
                    <a:pt x="1463396" y="0"/>
                  </a:lnTo>
                  <a:lnTo>
                    <a:pt x="1463396" y="859955"/>
                  </a:lnTo>
                  <a:lnTo>
                    <a:pt x="0" y="859955"/>
                  </a:lnTo>
                  <a:close/>
                </a:path>
              </a:pathLst>
            </a:custGeom>
            <a:blipFill>
              <a:blip r:embed="rId9">
                <a:alphaModFix amt="0"/>
              </a:blip>
              <a:stretch>
                <a:fillRect l="-25396" t="0" r="-25396" b="0"/>
              </a:stretch>
            </a:blipFill>
          </p:spPr>
        </p:sp>
        <p:sp>
          <p:nvSpPr>
            <p:cNvPr name="TextBox 20" id="20"/>
            <p:cNvSpPr txBox="true"/>
            <p:nvPr/>
          </p:nvSpPr>
          <p:spPr>
            <a:xfrm>
              <a:off x="0" y="-19050"/>
              <a:ext cx="1463396" cy="879005"/>
            </a:xfrm>
            <a:prstGeom prst="rect">
              <a:avLst/>
            </a:prstGeom>
          </p:spPr>
          <p:txBody>
            <a:bodyPr anchor="ctr" rtlCol="false" tIns="0" lIns="0" bIns="0" rIns="0"/>
            <a:lstStyle/>
            <a:p>
              <a:pPr algn="r">
                <a:lnSpc>
                  <a:spcPts val="2160"/>
                </a:lnSpc>
              </a:pPr>
              <a:r>
                <a:rPr lang="en-US" sz="1800">
                  <a:solidFill>
                    <a:srgbClr val="FFFFFF"/>
                  </a:solidFill>
                  <a:latin typeface="Arial"/>
                  <a:ea typeface="Arial"/>
                  <a:cs typeface="Arial"/>
                  <a:sym typeface="Arial"/>
                </a:rPr>
                <a:t>22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DAHS6GS8eks</dc:identifier>
  <dcterms:modified xsi:type="dcterms:W3CDTF">2011-08-01T06:04:30Z</dcterms:modified>
  <cp:revision>1</cp:revision>
  <dc:title>TemporalAML_review_1(AnshuKumari).pptx</dc:title>
</cp:coreProperties>
</file>