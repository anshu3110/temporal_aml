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media/image3.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2" r:id="rId26"/>
    <p:sldId id="283" r:id="rId27"/>
    <p:sldId id="284" r:id="rId28"/>
    <p:sldId id="285" r:id="rId29"/>
  </p:sldIdLst>
  <p:sldSz cx="18288000" cy="10287000"/>
  <p:notesSz cx="6858000" cy="9144000"/>
  <p:embeddedFontLst>
    <p:embeddedFont>
      <p:font typeface="Archivo Narrow" panose="020B0604020202020204" charset="0"/>
      <p:regular r:id="rId31"/>
    </p:embeddedFont>
    <p:embeddedFont>
      <p:font typeface="Archivo Narrow Bold" panose="020B0604020202020204" charset="0"/>
      <p:regular r:id="rId32"/>
    </p:embeddedFont>
    <p:embeddedFont>
      <p:font typeface="IBM Plex Sans Bold" panose="020B0803050203000203" pitchFamily="34" charset="0"/>
      <p:regular r:id="rId33"/>
      <p:bold r:id="rId34"/>
    </p:embeddedFont>
    <p:embeddedFont>
      <p:font typeface="Times New Roman Bold" panose="02020803070505020304" pitchFamily="18" charset="0"/>
      <p:regular r:id="rId35"/>
      <p:bold r:id="rId36"/>
    </p:embeddedFont>
    <p:embeddedFont>
      <p:font typeface="TT Ramillas" panose="020B0604020202020204" charset="0"/>
      <p:regular r:id="rId37"/>
    </p:embeddedFont>
    <p:embeddedFont>
      <p:font typeface="TT Ramillas Bold" panose="020B0604020202020204" charset="0"/>
      <p:regular r:id="rId38"/>
    </p:embeddedFont>
    <p:embeddedFont>
      <p:font typeface="Yellowtail" panose="020B0604020202020204" charset="0"/>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B8E2C8-5E9D-4B63-A9E5-B444E8789250}" v="4" dt="2026-10-09T13:54:28.5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font" Target="fonts/font5.fntdata"/><Relationship Id="rId36" Type="http://schemas.openxmlformats.org/officeDocument/2006/relationships/font" Target="fonts/font6.fntdata"/><Relationship Id="rId37" Type="http://schemas.openxmlformats.org/officeDocument/2006/relationships/font" Target="fonts/font7.fntdata"/><Relationship Id="rId38" Type="http://schemas.openxmlformats.org/officeDocument/2006/relationships/font" Target="fonts/font8.fntdata"/><Relationship Id="rId39" Type="http://schemas.openxmlformats.org/officeDocument/2006/relationships/font" Target="fonts/font9.fntdata"/><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09.10.2026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1.7.2013</a:t>
            </a:r>
          </a:p>
          <a:p>
            <a:endParaRPr lang="en-US"/>
          </a:p>
          <a:p>
            <a:r>
              <a:rPr lang="en-US"/>
              <a:t>1.7.2013</a:t>
            </a:r>
          </a:p>
          <a:p>
            <a:endParaRPr lang="en-US"/>
          </a:p>
          <a:p>
            <a:r>
              <a:rPr lang="en-US"/>
              <a:t>1.7.2013</a:t>
            </a:r>
          </a:p>
          <a:p>
            <a:endParaRPr lang="en-US"/>
          </a:p>
          <a:p>
            <a:endParaRPr lang="en-US"/>
          </a:p>
          <a:p>
            <a:endParaRPr lang="en-US"/>
          </a:p>
          <a:p>
            <a:r>
              <a:rPr lang="en-US"/>
              <a:t>‹#›</a:t>
            </a:r>
          </a:p>
          <a:p>
            <a:endParaRPr lang="en-US"/>
          </a:p>
          <a:p>
            <a:r>
              <a:rPr lang="en-US"/>
              <a:t>‹#›</a:t>
            </a:r>
          </a:p>
          <a:p>
            <a:endParaRPr lang="en-US"/>
          </a:p>
          <a:p>
            <a:r>
              <a:rPr lang="en-US"/>
              <a:t>‹#›</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1.7.2013</a:t>
            </a:r>
          </a:p>
          <a:p>
            <a:endParaRPr lang="en-US"/>
          </a:p>
          <a:p>
            <a:r>
              <a:rPr lang="en-US"/>
              <a:t>1.7.2013</a:t>
            </a:r>
          </a:p>
          <a:p>
            <a:endParaRPr lang="en-US"/>
          </a:p>
          <a:p>
            <a:r>
              <a:rPr lang="en-US"/>
              <a:t>1.7.2013</a:t>
            </a:r>
          </a:p>
          <a:p>
            <a:endParaRPr lang="en-US"/>
          </a:p>
          <a:p>
            <a:r>
              <a:rPr lang="en-US"/>
              <a:t>2</a:t>
            </a:r>
          </a:p>
          <a:p>
            <a:endParaRPr lang="en-US"/>
          </a:p>
          <a:p>
            <a:r>
              <a:rPr lang="en-US"/>
              <a:t>‹#›</a:t>
            </a:r>
          </a:p>
          <a:p>
            <a:endParaRPr lang="en-US"/>
          </a:p>
          <a:p>
            <a:r>
              <a:rPr lang="en-US"/>
              <a:t>‹#›</a:t>
            </a:r>
          </a:p>
          <a:p>
            <a:endParaRPr lang="en-US"/>
          </a:p>
          <a:p>
            <a:r>
              <a:rPr lang="en-US"/>
              <a:t>‹#›</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1.7.2013</a:t>
            </a:r>
          </a:p>
          <a:p>
            <a:endParaRPr lang="en-US"/>
          </a:p>
          <a:p>
            <a:r>
              <a:rPr lang="en-US"/>
              <a:t>1.7.2013</a:t>
            </a:r>
          </a:p>
          <a:p>
            <a:endParaRPr lang="en-US"/>
          </a:p>
          <a:p>
            <a:r>
              <a:rPr lang="en-US"/>
              <a:t>1.7.2013</a:t>
            </a:r>
          </a:p>
          <a:p>
            <a:endParaRPr lang="en-US"/>
          </a:p>
          <a:p>
            <a:r>
              <a:rPr lang="en-US"/>
              <a:t>2</a:t>
            </a:r>
          </a:p>
          <a:p>
            <a:endParaRPr lang="en-US"/>
          </a:p>
          <a:p>
            <a:r>
              <a:rPr lang="en-US"/>
              <a:t>‹#›</a:t>
            </a:r>
          </a:p>
          <a:p>
            <a:endParaRPr lang="en-US"/>
          </a:p>
          <a:p>
            <a:r>
              <a:rPr lang="en-US"/>
              <a:t>‹#›</a:t>
            </a:r>
          </a:p>
          <a:p>
            <a:endParaRPr lang="en-US"/>
          </a:p>
          <a:p>
            <a:r>
              <a:rPr lang="en-US"/>
              <a:t>‹#›</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1.7.2013</a:t>
            </a:r>
          </a:p>
          <a:p>
            <a:endParaRPr lang="en-US"/>
          </a:p>
          <a:p>
            <a:r>
              <a:rPr lang="en-US"/>
              <a:t>1.7.2013</a:t>
            </a:r>
          </a:p>
          <a:p>
            <a:endParaRPr lang="en-US"/>
          </a:p>
          <a:p>
            <a:r>
              <a:rPr lang="en-US"/>
              <a:t>1.7.2013</a:t>
            </a:r>
          </a:p>
          <a:p>
            <a:endParaRPr lang="en-US"/>
          </a:p>
          <a:p>
            <a:r>
              <a:rPr lang="en-US"/>
              <a:t>2</a:t>
            </a:r>
          </a:p>
          <a:p>
            <a:endParaRPr lang="en-US"/>
          </a:p>
          <a:p>
            <a:r>
              <a:rPr lang="en-US"/>
              <a:t>‹#›</a:t>
            </a:r>
          </a:p>
          <a:p>
            <a:endParaRPr lang="en-US"/>
          </a:p>
          <a:p>
            <a:r>
              <a:rPr lang="en-US"/>
              <a:t>‹#›</a:t>
            </a:r>
          </a:p>
          <a:p>
            <a:endParaRPr lang="en-US"/>
          </a:p>
          <a:p>
            <a:r>
              <a:rPr lang="en-US"/>
              <a:t>‹#›</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1.7.2013</a:t>
            </a:r>
          </a:p>
          <a:p>
            <a:endParaRPr lang="en-US"/>
          </a:p>
          <a:p>
            <a:r>
              <a:rPr lang="en-US"/>
              <a:t>1.7.2013</a:t>
            </a:r>
          </a:p>
          <a:p>
            <a:endParaRPr lang="en-US"/>
          </a:p>
          <a:p>
            <a:r>
              <a:rPr lang="en-US"/>
              <a:t>1.7.2013</a:t>
            </a:r>
          </a:p>
          <a:p>
            <a:endParaRPr lang="en-US"/>
          </a:p>
          <a:p>
            <a:r>
              <a:rPr lang="en-US"/>
              <a:t>2</a:t>
            </a:r>
          </a:p>
          <a:p>
            <a:endParaRPr lang="en-US"/>
          </a:p>
          <a:p>
            <a:r>
              <a:rPr lang="en-US"/>
              <a:t>‹#›</a:t>
            </a:r>
          </a:p>
          <a:p>
            <a:endParaRPr lang="en-US"/>
          </a:p>
          <a:p>
            <a:r>
              <a:rPr lang="en-US"/>
              <a:t>‹#›</a:t>
            </a:r>
          </a:p>
          <a:p>
            <a:endParaRPr lang="en-US"/>
          </a:p>
          <a:p>
            <a:r>
              <a:rPr lang="en-US"/>
              <a:t>‹#›</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1.7.2013</a:t>
            </a:r>
          </a:p>
          <a:p>
            <a:endParaRPr lang="en-US"/>
          </a:p>
          <a:p>
            <a:r>
              <a:rPr lang="en-US"/>
              <a:t>1.7.2013</a:t>
            </a:r>
          </a:p>
          <a:p>
            <a:endParaRPr lang="en-US"/>
          </a:p>
          <a:p>
            <a:r>
              <a:rPr lang="en-US"/>
              <a:t>1.7.2013</a:t>
            </a:r>
          </a:p>
          <a:p>
            <a:endParaRPr lang="en-US"/>
          </a:p>
          <a:p>
            <a:r>
              <a:rPr lang="en-US"/>
              <a:t>2</a:t>
            </a:r>
          </a:p>
          <a:p>
            <a:endParaRPr lang="en-US"/>
          </a:p>
          <a:p>
            <a:r>
              <a:rPr lang="en-US"/>
              <a:t>‹#›</a:t>
            </a:r>
          </a:p>
          <a:p>
            <a:endParaRPr lang="en-US"/>
          </a:p>
          <a:p>
            <a:r>
              <a:rPr lang="en-US"/>
              <a:t>‹#›</a:t>
            </a:r>
          </a:p>
          <a:p>
            <a:endParaRPr lang="en-US"/>
          </a:p>
          <a:p>
            <a:r>
              <a:rPr lang="en-US"/>
              <a:t>‹#›</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1.7.2013</a:t>
            </a:r>
          </a:p>
          <a:p>
            <a:endParaRPr lang="en-US"/>
          </a:p>
          <a:p>
            <a:r>
              <a:rPr lang="en-US"/>
              <a:t>1.7.2013</a:t>
            </a:r>
          </a:p>
          <a:p>
            <a:endParaRPr lang="en-US"/>
          </a:p>
          <a:p>
            <a:r>
              <a:rPr lang="en-US"/>
              <a:t>1.7.2013</a:t>
            </a:r>
          </a:p>
          <a:p>
            <a:endParaRPr lang="en-US"/>
          </a:p>
          <a:p>
            <a:r>
              <a:rPr lang="en-US"/>
              <a:t>2</a:t>
            </a:r>
          </a:p>
          <a:p>
            <a:endParaRPr lang="en-US"/>
          </a:p>
          <a:p>
            <a:r>
              <a:rPr lang="en-US"/>
              <a:t>‹#›</a:t>
            </a:r>
          </a:p>
          <a:p>
            <a:endParaRPr lang="en-US"/>
          </a:p>
          <a:p>
            <a:r>
              <a:rPr lang="en-US"/>
              <a:t>‹#›</a:t>
            </a:r>
          </a:p>
          <a:p>
            <a:endParaRPr lang="en-US"/>
          </a:p>
          <a:p>
            <a:r>
              <a:rPr lang="en-US"/>
              <a:t>‹#›</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1.7.2013</a:t>
            </a:r>
          </a:p>
          <a:p>
            <a:endParaRPr lang="en-US"/>
          </a:p>
          <a:p>
            <a:r>
              <a:rPr lang="en-US"/>
              <a:t>1.7.2013</a:t>
            </a:r>
          </a:p>
          <a:p>
            <a:endParaRPr lang="en-US"/>
          </a:p>
          <a:p>
            <a:r>
              <a:rPr lang="en-US"/>
              <a:t>1.7.2013</a:t>
            </a:r>
          </a:p>
          <a:p>
            <a:endParaRPr lang="en-US"/>
          </a:p>
          <a:p>
            <a:r>
              <a:rPr lang="en-US"/>
              <a:t>2</a:t>
            </a:r>
          </a:p>
          <a:p>
            <a:endParaRPr lang="en-US"/>
          </a:p>
          <a:p>
            <a:r>
              <a:rPr lang="en-US"/>
              <a:t>‹#›</a:t>
            </a:r>
          </a:p>
          <a:p>
            <a:endParaRPr lang="en-US"/>
          </a:p>
          <a:p>
            <a:r>
              <a:rPr lang="en-US"/>
              <a:t>‹#›</a:t>
            </a:r>
          </a:p>
          <a:p>
            <a:endParaRPr lang="en-US"/>
          </a:p>
          <a:p>
            <a:r>
              <a:rPr lang="en-US"/>
              <a:t>‹#›</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1.7.2013</a:t>
            </a:r>
          </a:p>
          <a:p>
            <a:endParaRPr lang="en-US"/>
          </a:p>
          <a:p>
            <a:r>
              <a:rPr lang="en-US"/>
              <a:t>1.7.2013</a:t>
            </a:r>
          </a:p>
          <a:p>
            <a:endParaRPr lang="en-US"/>
          </a:p>
          <a:p>
            <a:r>
              <a:rPr lang="en-US"/>
              <a:t>1.7.2013</a:t>
            </a:r>
          </a:p>
          <a:p>
            <a:endParaRPr lang="en-US"/>
          </a:p>
          <a:p>
            <a:r>
              <a:rPr lang="en-US"/>
              <a:t>2</a:t>
            </a:r>
          </a:p>
          <a:p>
            <a:endParaRPr lang="en-US"/>
          </a:p>
          <a:p>
            <a:r>
              <a:rPr lang="en-US"/>
              <a:t>‹#›</a:t>
            </a:r>
          </a:p>
          <a:p>
            <a:endParaRPr lang="en-US"/>
          </a:p>
          <a:p>
            <a:r>
              <a:rPr lang="en-US"/>
              <a:t>‹#›</a:t>
            </a:r>
          </a:p>
          <a:p>
            <a:endParaRPr lang="en-US"/>
          </a:p>
          <a:p>
            <a:r>
              <a:rPr lang="en-US"/>
              <a:t>‹#›</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1.7.2013</a:t>
            </a:r>
          </a:p>
          <a:p>
            <a:endParaRPr lang="en-US"/>
          </a:p>
          <a:p>
            <a:r>
              <a:rPr lang="en-US"/>
              <a:t>1.7.2013</a:t>
            </a:r>
          </a:p>
          <a:p>
            <a:endParaRPr lang="en-US"/>
          </a:p>
          <a:p>
            <a:r>
              <a:rPr lang="en-US"/>
              <a:t>1.7.2013</a:t>
            </a:r>
          </a:p>
          <a:p>
            <a:endParaRPr lang="en-US"/>
          </a:p>
          <a:p>
            <a:r>
              <a:rPr lang="en-US"/>
              <a:t>2</a:t>
            </a:r>
          </a:p>
          <a:p>
            <a:endParaRPr lang="en-US"/>
          </a:p>
          <a:p>
            <a:r>
              <a:rPr lang="en-US"/>
              <a:t>‹#›</a:t>
            </a:r>
          </a:p>
          <a:p>
            <a:endParaRPr lang="en-US"/>
          </a:p>
          <a:p>
            <a:r>
              <a:rPr lang="en-US"/>
              <a:t>‹#›</a:t>
            </a:r>
          </a:p>
          <a:p>
            <a:endParaRPr lang="en-US"/>
          </a:p>
          <a:p>
            <a:r>
              <a:rPr lang="en-US"/>
              <a:t>‹#›</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1.7.2013</a:t>
            </a:r>
          </a:p>
          <a:p>
            <a:endParaRPr lang="en-US"/>
          </a:p>
          <a:p>
            <a:r>
              <a:rPr lang="en-US"/>
              <a:t>1.7.2013</a:t>
            </a:r>
          </a:p>
          <a:p>
            <a:endParaRPr lang="en-US"/>
          </a:p>
          <a:p>
            <a:r>
              <a:rPr lang="en-US"/>
              <a:t>1.7.2013</a:t>
            </a:r>
          </a:p>
          <a:p>
            <a:endParaRPr lang="en-US"/>
          </a:p>
          <a:p>
            <a:r>
              <a:rPr lang="en-US"/>
              <a:t>2</a:t>
            </a:r>
          </a:p>
          <a:p>
            <a:endParaRPr lang="en-US"/>
          </a:p>
          <a:p>
            <a:r>
              <a:rPr lang="en-US"/>
              <a:t>‹#›</a:t>
            </a:r>
          </a:p>
          <a:p>
            <a:endParaRPr lang="en-US"/>
          </a:p>
          <a:p>
            <a:r>
              <a:rPr lang="en-US"/>
              <a:t>‹#›</a:t>
            </a:r>
          </a:p>
          <a:p>
            <a:endParaRPr lang="en-US"/>
          </a:p>
          <a:p>
            <a:r>
              <a:rPr lang="en-US"/>
              <a:t>‹#›</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1.7.2013</a:t>
            </a:r>
          </a:p>
          <a:p>
            <a:endParaRPr lang="en-US"/>
          </a:p>
          <a:p>
            <a:r>
              <a:rPr lang="en-US"/>
              <a:t>1.7.2013</a:t>
            </a:r>
          </a:p>
          <a:p>
            <a:endParaRPr lang="en-US"/>
          </a:p>
          <a:p>
            <a:r>
              <a:rPr lang="en-US"/>
              <a:t>1.7.2013</a:t>
            </a:r>
          </a:p>
          <a:p>
            <a:endParaRPr lang="en-US"/>
          </a:p>
          <a:p>
            <a:r>
              <a:rPr lang="en-US"/>
              <a:t>2</a:t>
            </a:r>
          </a:p>
          <a:p>
            <a:endParaRPr lang="en-US"/>
          </a:p>
          <a:p>
            <a:r>
              <a:rPr lang="en-US"/>
              <a:t>‹#›</a:t>
            </a:r>
          </a:p>
          <a:p>
            <a:endParaRPr lang="en-US"/>
          </a:p>
          <a:p>
            <a:r>
              <a:rPr lang="en-US"/>
              <a:t>‹#›</a:t>
            </a:r>
          </a:p>
          <a:p>
            <a:endParaRPr lang="en-US"/>
          </a:p>
          <a:p>
            <a:r>
              <a:rPr lang="en-US"/>
              <a:t>‹#›</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1.7.2013</a:t>
            </a:r>
          </a:p>
          <a:p>
            <a:endParaRPr lang="en-US"/>
          </a:p>
          <a:p>
            <a:r>
              <a:rPr lang="en-US"/>
              <a:t>1.7.2013</a:t>
            </a:r>
          </a:p>
          <a:p>
            <a:endParaRPr lang="en-US"/>
          </a:p>
          <a:p>
            <a:r>
              <a:rPr lang="en-US"/>
              <a:t>1.7.2013</a:t>
            </a:r>
          </a:p>
          <a:p>
            <a:endParaRPr lang="en-US"/>
          </a:p>
          <a:p>
            <a:r>
              <a:rPr lang="en-US"/>
              <a:t>2</a:t>
            </a:r>
          </a:p>
          <a:p>
            <a:endParaRPr lang="en-US"/>
          </a:p>
          <a:p>
            <a:r>
              <a:rPr lang="en-US"/>
              <a:t>‹#›</a:t>
            </a:r>
          </a:p>
          <a:p>
            <a:endParaRPr lang="en-US"/>
          </a:p>
          <a:p>
            <a:r>
              <a:rPr lang="en-US"/>
              <a:t>‹#›</a:t>
            </a:r>
          </a:p>
          <a:p>
            <a:endParaRPr lang="en-US"/>
          </a:p>
          <a:p>
            <a:r>
              <a:rPr lang="en-US"/>
              <a:t>‹#›</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1.7.2013</a:t>
            </a:r>
          </a:p>
          <a:p>
            <a:endParaRPr lang="en-US"/>
          </a:p>
          <a:p>
            <a:r>
              <a:rPr lang="en-US"/>
              <a:t>1.7.2013</a:t>
            </a:r>
          </a:p>
          <a:p>
            <a:endParaRPr lang="en-US"/>
          </a:p>
          <a:p>
            <a:r>
              <a:rPr lang="en-US"/>
              <a:t>1.7.2013</a:t>
            </a:r>
          </a:p>
          <a:p>
            <a:endParaRPr lang="en-US"/>
          </a:p>
          <a:p>
            <a:r>
              <a:rPr lang="en-US"/>
              <a:t>2</a:t>
            </a:r>
          </a:p>
          <a:p>
            <a:endParaRPr lang="en-US"/>
          </a:p>
          <a:p>
            <a:r>
              <a:rPr lang="en-US"/>
              <a:t>‹#›</a:t>
            </a:r>
          </a:p>
          <a:p>
            <a:endParaRPr lang="en-US"/>
          </a:p>
          <a:p>
            <a:r>
              <a:rPr lang="en-US"/>
              <a:t>‹#›</a:t>
            </a:r>
          </a:p>
          <a:p>
            <a:endParaRPr lang="en-US"/>
          </a:p>
          <a:p>
            <a:r>
              <a:rPr lang="en-US"/>
              <a:t>‹#›</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1.7.2013</a:t>
            </a:r>
          </a:p>
          <a:p>
            <a:endParaRPr lang="en-US"/>
          </a:p>
          <a:p>
            <a:r>
              <a:rPr lang="en-US"/>
              <a:t>1.7.2013</a:t>
            </a:r>
          </a:p>
          <a:p>
            <a:endParaRPr lang="en-US"/>
          </a:p>
          <a:p>
            <a:r>
              <a:rPr lang="en-US"/>
              <a:t>1.7.2013</a:t>
            </a:r>
          </a:p>
          <a:p>
            <a:endParaRPr lang="en-US"/>
          </a:p>
          <a:p>
            <a:r>
              <a:rPr lang="en-US"/>
              <a:t>2</a:t>
            </a:r>
          </a:p>
          <a:p>
            <a:endParaRPr lang="en-US"/>
          </a:p>
          <a:p>
            <a:r>
              <a:rPr lang="en-US"/>
              <a:t>‹#›</a:t>
            </a:r>
          </a:p>
          <a:p>
            <a:endParaRPr lang="en-US"/>
          </a:p>
          <a:p>
            <a:r>
              <a:rPr lang="en-US"/>
              <a:t>‹#›</a:t>
            </a:r>
          </a:p>
          <a:p>
            <a:endParaRPr lang="en-US"/>
          </a:p>
          <a:p>
            <a:r>
              <a:rPr lang="en-US"/>
              <a:t>‹#›</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1.7.2013</a:t>
            </a:r>
          </a:p>
          <a:p>
            <a:endParaRPr lang="en-US"/>
          </a:p>
          <a:p>
            <a:r>
              <a:rPr lang="en-US"/>
              <a:t>1.7.2013</a:t>
            </a:r>
          </a:p>
          <a:p>
            <a:endParaRPr lang="en-US"/>
          </a:p>
          <a:p>
            <a:r>
              <a:rPr lang="en-US"/>
              <a:t>1.7.2013</a:t>
            </a:r>
          </a:p>
          <a:p>
            <a:endParaRPr lang="en-US"/>
          </a:p>
          <a:p>
            <a:r>
              <a:rPr lang="en-US"/>
              <a:t>2</a:t>
            </a:r>
          </a:p>
          <a:p>
            <a:endParaRPr lang="en-US"/>
          </a:p>
          <a:p>
            <a:r>
              <a:rPr lang="en-US"/>
              <a:t>‹#›</a:t>
            </a:r>
          </a:p>
          <a:p>
            <a:endParaRPr lang="en-US"/>
          </a:p>
          <a:p>
            <a:r>
              <a:rPr lang="en-US"/>
              <a:t>‹#›</a:t>
            </a:r>
          </a:p>
          <a:p>
            <a:endParaRPr lang="en-US"/>
          </a:p>
          <a:p>
            <a:r>
              <a:rPr lang="en-US"/>
              <a:t>‹#›</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1.7.2013</a:t>
            </a:r>
          </a:p>
          <a:p>
            <a:endParaRPr lang="en-US"/>
          </a:p>
          <a:p>
            <a:r>
              <a:rPr lang="en-US"/>
              <a:t>1.7.2013</a:t>
            </a:r>
          </a:p>
          <a:p>
            <a:endParaRPr lang="en-US"/>
          </a:p>
          <a:p>
            <a:r>
              <a:rPr lang="en-US"/>
              <a:t>1.7.2013</a:t>
            </a:r>
          </a:p>
          <a:p>
            <a:endParaRPr lang="en-US"/>
          </a:p>
          <a:p>
            <a:r>
              <a:rPr lang="en-US"/>
              <a:t>2</a:t>
            </a:r>
          </a:p>
          <a:p>
            <a:endParaRPr lang="en-US"/>
          </a:p>
          <a:p>
            <a:r>
              <a:rPr lang="en-US"/>
              <a:t>‹#›</a:t>
            </a:r>
          </a:p>
          <a:p>
            <a:endParaRPr lang="en-US"/>
          </a:p>
          <a:p>
            <a:r>
              <a:rPr lang="en-US"/>
              <a:t>‹#›</a:t>
            </a:r>
          </a:p>
          <a:p>
            <a:endParaRPr lang="en-US"/>
          </a:p>
          <a:p>
            <a:r>
              <a:rPr lang="en-US"/>
              <a:t>‹#›</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1.7.2013</a:t>
            </a:r>
          </a:p>
          <a:p>
            <a:endParaRPr lang="en-US"/>
          </a:p>
          <a:p>
            <a:r>
              <a:rPr lang="en-US"/>
              <a:t>1.7.2013</a:t>
            </a:r>
          </a:p>
          <a:p>
            <a:endParaRPr lang="en-US"/>
          </a:p>
          <a:p>
            <a:r>
              <a:rPr lang="en-US"/>
              <a:t>1.7.2013</a:t>
            </a:r>
          </a:p>
          <a:p>
            <a:endParaRPr lang="en-US"/>
          </a:p>
          <a:p>
            <a:r>
              <a:rPr lang="en-US"/>
              <a:t>2</a:t>
            </a:r>
          </a:p>
          <a:p>
            <a:endParaRPr lang="en-US"/>
          </a:p>
          <a:p>
            <a:r>
              <a:rPr lang="en-US"/>
              <a:t>‹#›</a:t>
            </a:r>
          </a:p>
          <a:p>
            <a:endParaRPr lang="en-US"/>
          </a:p>
          <a:p>
            <a:r>
              <a:rPr lang="en-US"/>
              <a:t>‹#›</a:t>
            </a:r>
          </a:p>
          <a:p>
            <a:endParaRPr lang="en-US"/>
          </a:p>
          <a:p>
            <a:r>
              <a:rPr lang="en-US"/>
              <a:t>‹#›</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1.7.2013</a:t>
            </a:r>
          </a:p>
          <a:p>
            <a:endParaRPr lang="en-US"/>
          </a:p>
          <a:p>
            <a:r>
              <a:rPr lang="en-US"/>
              <a:t>1.7.2013</a:t>
            </a:r>
          </a:p>
          <a:p>
            <a:endParaRPr lang="en-US"/>
          </a:p>
          <a:p>
            <a:r>
              <a:rPr lang="en-US"/>
              <a:t>1.7.2013</a:t>
            </a:r>
          </a:p>
          <a:p>
            <a:endParaRPr lang="en-US"/>
          </a:p>
          <a:p>
            <a:r>
              <a:rPr lang="en-US"/>
              <a:t>2</a:t>
            </a:r>
          </a:p>
          <a:p>
            <a:endParaRPr lang="en-US"/>
          </a:p>
          <a:p>
            <a:r>
              <a:rPr lang="en-US"/>
              <a:t>‹#›</a:t>
            </a:r>
          </a:p>
          <a:p>
            <a:endParaRPr lang="en-US"/>
          </a:p>
          <a:p>
            <a:r>
              <a:rPr lang="en-US"/>
              <a:t>‹#›</a:t>
            </a:r>
          </a:p>
          <a:p>
            <a:endParaRPr lang="en-US"/>
          </a:p>
          <a:p>
            <a:r>
              <a:rPr lang="en-US"/>
              <a:t>‹#›</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1.7.2013</a:t>
            </a:r>
          </a:p>
          <a:p>
            <a:endParaRPr lang="en-US"/>
          </a:p>
          <a:p>
            <a:r>
              <a:rPr lang="en-US"/>
              <a:t>1.7.2013</a:t>
            </a:r>
          </a:p>
          <a:p>
            <a:endParaRPr lang="en-US"/>
          </a:p>
          <a:p>
            <a:r>
              <a:rPr lang="en-US"/>
              <a:t>1.7.2013</a:t>
            </a:r>
          </a:p>
          <a:p>
            <a:endParaRPr lang="en-US"/>
          </a:p>
          <a:p>
            <a:r>
              <a:rPr lang="en-US"/>
              <a:t>2</a:t>
            </a:r>
          </a:p>
          <a:p>
            <a:endParaRPr lang="en-US"/>
          </a:p>
          <a:p>
            <a:r>
              <a:rPr lang="en-US"/>
              <a:t>‹#›</a:t>
            </a:r>
          </a:p>
          <a:p>
            <a:endParaRPr lang="en-US"/>
          </a:p>
          <a:p>
            <a:r>
              <a:rPr lang="en-US"/>
              <a:t>‹#›</a:t>
            </a:r>
          </a:p>
          <a:p>
            <a:endParaRPr lang="en-US"/>
          </a:p>
          <a:p>
            <a:r>
              <a:rPr lang="en-US"/>
              <a:t>‹#›</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1.7.2013</a:t>
            </a:r>
          </a:p>
          <a:p>
            <a:endParaRPr lang="en-US"/>
          </a:p>
          <a:p>
            <a:r>
              <a:rPr lang="en-US"/>
              <a:t>1.7.2013</a:t>
            </a:r>
          </a:p>
          <a:p>
            <a:endParaRPr lang="en-US"/>
          </a:p>
          <a:p>
            <a:r>
              <a:rPr lang="en-US"/>
              <a:t>1.7.2013</a:t>
            </a:r>
          </a:p>
          <a:p>
            <a:endParaRPr lang="en-US"/>
          </a:p>
          <a:p>
            <a:r>
              <a:rPr lang="en-US"/>
              <a:t>2</a:t>
            </a:r>
          </a:p>
          <a:p>
            <a:endParaRPr lang="en-US"/>
          </a:p>
          <a:p>
            <a:r>
              <a:rPr lang="en-US"/>
              <a:t>‹#›</a:t>
            </a:r>
          </a:p>
          <a:p>
            <a:endParaRPr lang="en-US"/>
          </a:p>
          <a:p>
            <a:r>
              <a:rPr lang="en-US"/>
              <a:t>‹#›</a:t>
            </a:r>
          </a:p>
          <a:p>
            <a:endParaRPr lang="en-US"/>
          </a:p>
          <a:p>
            <a:r>
              <a:rPr lang="en-US"/>
              <a:t>‹#›</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1.7.2013</a:t>
            </a:r>
          </a:p>
          <a:p>
            <a:endParaRPr lang="en-US"/>
          </a:p>
          <a:p>
            <a:r>
              <a:rPr lang="en-US"/>
              <a:t>1.7.2013</a:t>
            </a:r>
          </a:p>
          <a:p>
            <a:endParaRPr lang="en-US"/>
          </a:p>
          <a:p>
            <a:r>
              <a:rPr lang="en-US"/>
              <a:t>1.7.2013</a:t>
            </a:r>
          </a:p>
          <a:p>
            <a:endParaRPr lang="en-US"/>
          </a:p>
          <a:p>
            <a:r>
              <a:rPr lang="en-US"/>
              <a:t>2</a:t>
            </a:r>
          </a:p>
          <a:p>
            <a:endParaRPr lang="en-US"/>
          </a:p>
          <a:p>
            <a:r>
              <a:rPr lang="en-US"/>
              <a:t>‹#›</a:t>
            </a:r>
          </a:p>
          <a:p>
            <a:endParaRPr lang="en-US"/>
          </a:p>
          <a:p>
            <a:r>
              <a:rPr lang="en-US"/>
              <a:t>‹#›</a:t>
            </a:r>
          </a:p>
          <a:p>
            <a:endParaRPr lang="en-US"/>
          </a:p>
          <a:p>
            <a:r>
              <a:rPr lang="en-US"/>
              <a:t>‹#›</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1.7.2013</a:t>
            </a:r>
          </a:p>
          <a:p>
            <a:endParaRPr lang="en-US"/>
          </a:p>
          <a:p>
            <a:r>
              <a:rPr lang="en-US"/>
              <a:t>1.7.2013</a:t>
            </a:r>
          </a:p>
          <a:p>
            <a:endParaRPr lang="en-US"/>
          </a:p>
          <a:p>
            <a:r>
              <a:rPr lang="en-US"/>
              <a:t>1.7.2013</a:t>
            </a:r>
          </a:p>
          <a:p>
            <a:endParaRPr lang="en-US"/>
          </a:p>
          <a:p>
            <a:r>
              <a:rPr lang="en-US"/>
              <a:t>2</a:t>
            </a:r>
          </a:p>
          <a:p>
            <a:endParaRPr lang="en-US"/>
          </a:p>
          <a:p>
            <a:r>
              <a:rPr lang="en-US"/>
              <a:t>‹#›</a:t>
            </a:r>
          </a:p>
          <a:p>
            <a:endParaRPr lang="en-US"/>
          </a:p>
          <a:p>
            <a:r>
              <a:rPr lang="en-US"/>
              <a:t>‹#›</a:t>
            </a:r>
          </a:p>
          <a:p>
            <a:endParaRPr lang="en-US"/>
          </a:p>
          <a:p>
            <a:r>
              <a:rPr lang="en-US"/>
              <a:t>‹#›</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1.7.2013</a:t>
            </a:r>
          </a:p>
          <a:p>
            <a:endParaRPr lang="en-US"/>
          </a:p>
          <a:p>
            <a:r>
              <a:rPr lang="en-US"/>
              <a:t>1.7.2013</a:t>
            </a:r>
          </a:p>
          <a:p>
            <a:endParaRPr lang="en-US"/>
          </a:p>
          <a:p>
            <a:r>
              <a:rPr lang="en-US"/>
              <a:t>1.7.2013</a:t>
            </a:r>
          </a:p>
          <a:p>
            <a:endParaRPr lang="en-US"/>
          </a:p>
          <a:p>
            <a:r>
              <a:rPr lang="en-US"/>
              <a:t>2</a:t>
            </a:r>
          </a:p>
          <a:p>
            <a:endParaRPr lang="en-US"/>
          </a:p>
          <a:p>
            <a:r>
              <a:rPr lang="en-US"/>
              <a:t>‹#›</a:t>
            </a:r>
          </a:p>
          <a:p>
            <a:endParaRPr lang="en-US"/>
          </a:p>
          <a:p>
            <a:r>
              <a:rPr lang="en-US"/>
              <a:t>‹#›</a:t>
            </a:r>
          </a:p>
          <a:p>
            <a:endParaRPr lang="en-US"/>
          </a:p>
          <a:p>
            <a:r>
              <a:rPr lang="en-US"/>
              <a:t>‹#›</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1.7.2013</a:t>
            </a:r>
          </a:p>
          <a:p>
            <a:endParaRPr lang="en-US"/>
          </a:p>
          <a:p>
            <a:r>
              <a:rPr lang="en-US"/>
              <a:t>1.7.2013</a:t>
            </a:r>
          </a:p>
          <a:p>
            <a:endParaRPr lang="en-US"/>
          </a:p>
          <a:p>
            <a:r>
              <a:rPr lang="en-US"/>
              <a:t>1.7.2013</a:t>
            </a:r>
          </a:p>
          <a:p>
            <a:endParaRPr lang="en-US"/>
          </a:p>
          <a:p>
            <a:r>
              <a:rPr lang="en-US"/>
              <a:t>2</a:t>
            </a:r>
          </a:p>
          <a:p>
            <a:endParaRPr lang="en-US"/>
          </a:p>
          <a:p>
            <a:r>
              <a:rPr lang="en-US"/>
              <a:t>‹#›</a:t>
            </a:r>
          </a:p>
          <a:p>
            <a:endParaRPr lang="en-US"/>
          </a:p>
          <a:p>
            <a:r>
              <a:rPr lang="en-US"/>
              <a:t>‹#›</a:t>
            </a:r>
          </a:p>
          <a:p>
            <a:endParaRPr lang="en-US"/>
          </a:p>
          <a:p>
            <a:r>
              <a:rPr lang="en-US"/>
              <a:t>‹#›</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1.7.2013</a:t>
            </a:r>
          </a:p>
          <a:p>
            <a:endParaRPr lang="en-US"/>
          </a:p>
          <a:p>
            <a:r>
              <a:rPr lang="en-US"/>
              <a:t>1.7.2013</a:t>
            </a:r>
          </a:p>
          <a:p>
            <a:endParaRPr lang="en-US"/>
          </a:p>
          <a:p>
            <a:r>
              <a:rPr lang="en-US"/>
              <a:t>1.7.2013</a:t>
            </a:r>
          </a:p>
          <a:p>
            <a:endParaRPr lang="en-US"/>
          </a:p>
          <a:p>
            <a:r>
              <a:rPr lang="en-US"/>
              <a:t>8</a:t>
            </a:r>
          </a:p>
          <a:p>
            <a:endParaRPr lang="en-US"/>
          </a:p>
          <a:p>
            <a:r>
              <a:rPr lang="en-US"/>
              <a:t>‹#›</a:t>
            </a:r>
          </a:p>
          <a:p>
            <a:endParaRPr lang="en-US"/>
          </a:p>
          <a:p>
            <a:r>
              <a:rPr lang="en-US"/>
              <a:t>‹#›</a:t>
            </a:r>
          </a:p>
          <a:p>
            <a:endParaRPr lang="en-US"/>
          </a:p>
          <a:p>
            <a:r>
              <a:rPr lang="en-US"/>
              <a:t>‹#›</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svg"/><Relationship Id="rId4" Type="http://schemas.openxmlformats.org/officeDocument/2006/relationships/image" Target="../media/image2.png"/><Relationship Id="rId5" Type="http://schemas.openxmlformats.org/officeDocument/2006/relationships/image" Target="../media/image3.svg"/><Relationship Id="rId6" Type="http://schemas.openxmlformats.org/officeDocument/2006/relationships/image" Target="../media/image4.svg"/><Relationship Id="rId7" Type="http://schemas.openxmlformats.org/officeDocument/2006/relationships/image" Target="../media/image5.png"/><Relationship Id="rId8" Type="http://schemas.openxmlformats.org/officeDocument/2006/relationships/image" Target="../media/image6.jpeg"/><Relationship Id="rId9" Type="http://schemas.openxmlformats.org/officeDocument/2006/relationships/image" Target="../media/image7.jpeg"/><Relationship Id="rId10" Type="http://schemas.openxmlformats.org/officeDocument/2006/relationships/image" Target="../media/image8.jpeg"/><Relationship Id="rId11" Type="http://schemas.openxmlformats.org/officeDocument/2006/relationships/image" Target="../media/image9.jpeg"/><Relationship Id="rId12" Type="http://schemas.openxmlformats.org/officeDocument/2006/relationships/image" Target="../media/image10.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svg"/><Relationship Id="rId4" Type="http://schemas.openxmlformats.org/officeDocument/2006/relationships/image" Target="../media/image6.jpeg"/><Relationship Id="rId5" Type="http://schemas.openxmlformats.org/officeDocument/2006/relationships/image" Target="../media/image7.jpeg"/><Relationship Id="rId6" Type="http://schemas.openxmlformats.org/officeDocument/2006/relationships/image" Target="../media/image8.jpeg"/><Relationship Id="rId7" Type="http://schemas.openxmlformats.org/officeDocument/2006/relationships/image" Target="../media/image9.jpeg"/><Relationship Id="rId8" Type="http://schemas.openxmlformats.org/officeDocument/2006/relationships/image" Target="../media/image10.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svg"/><Relationship Id="rId4" Type="http://schemas.openxmlformats.org/officeDocument/2006/relationships/image" Target="../media/image2.png"/><Relationship Id="rId5" Type="http://schemas.openxmlformats.org/officeDocument/2006/relationships/image" Target="../media/image6.jpe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 Id="rId9" Type="http://schemas.openxmlformats.org/officeDocument/2006/relationships/image" Target="../media/image10.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svg"/><Relationship Id="rId4" Type="http://schemas.openxmlformats.org/officeDocument/2006/relationships/image" Target="../media/image2.png"/><Relationship Id="rId5" Type="http://schemas.openxmlformats.org/officeDocument/2006/relationships/image" Target="../media/image6.jpe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 Id="rId9" Type="http://schemas.openxmlformats.org/officeDocument/2006/relationships/image" Target="../media/image10.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svg"/><Relationship Id="rId4" Type="http://schemas.openxmlformats.org/officeDocument/2006/relationships/image" Target="../media/image2.png"/><Relationship Id="rId5" Type="http://schemas.openxmlformats.org/officeDocument/2006/relationships/image" Target="../media/image6.jpe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 Id="rId9" Type="http://schemas.openxmlformats.org/officeDocument/2006/relationships/image" Target="../media/image10.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svg"/><Relationship Id="rId4" Type="http://schemas.openxmlformats.org/officeDocument/2006/relationships/image" Target="../media/image2.png"/><Relationship Id="rId5" Type="http://schemas.openxmlformats.org/officeDocument/2006/relationships/image" Target="../media/image6.jpe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 Id="rId9" Type="http://schemas.openxmlformats.org/officeDocument/2006/relationships/image" Target="../media/image10.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svg"/><Relationship Id="rId4" Type="http://schemas.openxmlformats.org/officeDocument/2006/relationships/image" Target="../media/image2.png"/><Relationship Id="rId5" Type="http://schemas.openxmlformats.org/officeDocument/2006/relationships/image" Target="../media/image6.jpe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 Id="rId9" Type="http://schemas.openxmlformats.org/officeDocument/2006/relationships/image" Target="../media/image10.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svg"/><Relationship Id="rId4" Type="http://schemas.openxmlformats.org/officeDocument/2006/relationships/image" Target="../media/image2.png"/><Relationship Id="rId5" Type="http://schemas.openxmlformats.org/officeDocument/2006/relationships/image" Target="../media/image7.jpeg"/><Relationship Id="rId6" Type="http://schemas.openxmlformats.org/officeDocument/2006/relationships/image" Target="../media/image8.jpeg"/><Relationship Id="rId7" Type="http://schemas.openxmlformats.org/officeDocument/2006/relationships/image" Target="../media/image9.jpeg"/><Relationship Id="rId8" Type="http://schemas.openxmlformats.org/officeDocument/2006/relationships/image" Target="../media/image10.jpeg"/><Relationship Id="rId9" Type="http://schemas.openxmlformats.org/officeDocument/2006/relationships/image" Target="../media/image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svg"/><Relationship Id="rId4" Type="http://schemas.openxmlformats.org/officeDocument/2006/relationships/image" Target="../media/image2.png"/><Relationship Id="rId5" Type="http://schemas.openxmlformats.org/officeDocument/2006/relationships/image" Target="../media/image7.jpeg"/><Relationship Id="rId6" Type="http://schemas.openxmlformats.org/officeDocument/2006/relationships/image" Target="../media/image8.jpeg"/><Relationship Id="rId7" Type="http://schemas.openxmlformats.org/officeDocument/2006/relationships/image" Target="../media/image9.jpeg"/><Relationship Id="rId8" Type="http://schemas.openxmlformats.org/officeDocument/2006/relationships/image" Target="../media/image10.jpeg"/><Relationship Id="rId9" Type="http://schemas.openxmlformats.org/officeDocument/2006/relationships/image" Target="../media/image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svg"/><Relationship Id="rId4" Type="http://schemas.openxmlformats.org/officeDocument/2006/relationships/image" Target="../media/image2.png"/><Relationship Id="rId5" Type="http://schemas.openxmlformats.org/officeDocument/2006/relationships/image" Target="../media/image7.jpeg"/><Relationship Id="rId6" Type="http://schemas.openxmlformats.org/officeDocument/2006/relationships/image" Target="../media/image8.jpeg"/><Relationship Id="rId7" Type="http://schemas.openxmlformats.org/officeDocument/2006/relationships/image" Target="../media/image9.jpeg"/><Relationship Id="rId8" Type="http://schemas.openxmlformats.org/officeDocument/2006/relationships/image" Target="../media/image10.jpeg"/><Relationship Id="rId9" Type="http://schemas.openxmlformats.org/officeDocument/2006/relationships/image" Target="../media/image6.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png"/><Relationship Id="rId4" Type="http://schemas.openxmlformats.org/officeDocument/2006/relationships/image" Target="../media/image7.jpeg"/><Relationship Id="rId5" Type="http://schemas.openxmlformats.org/officeDocument/2006/relationships/image" Target="../media/image8.jpeg"/><Relationship Id="rId6" Type="http://schemas.openxmlformats.org/officeDocument/2006/relationships/image" Target="../media/image9.jpeg"/><Relationship Id="rId7" Type="http://schemas.openxmlformats.org/officeDocument/2006/relationships/image" Target="../media/image10.jpeg"/><Relationship Id="rId8" Type="http://schemas.openxmlformats.org/officeDocument/2006/relationships/image" Target="../media/image6.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png"/><Relationship Id="rId4" Type="http://schemas.openxmlformats.org/officeDocument/2006/relationships/image" Target="../media/image6.jpeg"/><Relationship Id="rId5" Type="http://schemas.openxmlformats.org/officeDocument/2006/relationships/image" Target="../media/image7.jpeg"/><Relationship Id="rId6" Type="http://schemas.openxmlformats.org/officeDocument/2006/relationships/image" Target="../media/image8.jpeg"/><Relationship Id="rId7" Type="http://schemas.openxmlformats.org/officeDocument/2006/relationships/image" Target="../media/image9.jpeg"/><Relationship Id="rId8" Type="http://schemas.openxmlformats.org/officeDocument/2006/relationships/image" Target="../media/image10.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svg"/><Relationship Id="rId4" Type="http://schemas.openxmlformats.org/officeDocument/2006/relationships/image" Target="../media/image2.png"/><Relationship Id="rId5" Type="http://schemas.openxmlformats.org/officeDocument/2006/relationships/image" Target="../media/image6.jpe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 Id="rId9" Type="http://schemas.openxmlformats.org/officeDocument/2006/relationships/image" Target="../media/image10.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svg"/><Relationship Id="rId4" Type="http://schemas.openxmlformats.org/officeDocument/2006/relationships/image" Target="../media/image2.png"/><Relationship Id="rId5" Type="http://schemas.openxmlformats.org/officeDocument/2006/relationships/image" Target="../media/image6.jpe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 Id="rId9" Type="http://schemas.openxmlformats.org/officeDocument/2006/relationships/image" Target="../media/image10.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svg"/><Relationship Id="rId4" Type="http://schemas.openxmlformats.org/officeDocument/2006/relationships/image" Target="../media/image2.png"/><Relationship Id="rId5" Type="http://schemas.openxmlformats.org/officeDocument/2006/relationships/image" Target="../media/image6.jpe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 Id="rId9" Type="http://schemas.openxmlformats.org/officeDocument/2006/relationships/image" Target="../media/image10.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svg"/><Relationship Id="rId4" Type="http://schemas.openxmlformats.org/officeDocument/2006/relationships/image" Target="../media/image2.png"/><Relationship Id="rId5" Type="http://schemas.openxmlformats.org/officeDocument/2006/relationships/image" Target="../media/image6.jpe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 Id="rId9" Type="http://schemas.openxmlformats.org/officeDocument/2006/relationships/image" Target="../media/image10.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svg"/><Relationship Id="rId4" Type="http://schemas.openxmlformats.org/officeDocument/2006/relationships/image" Target="../media/image2.png"/><Relationship Id="rId5" Type="http://schemas.openxmlformats.org/officeDocument/2006/relationships/image" Target="../media/image6.jpe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 Id="rId9" Type="http://schemas.openxmlformats.org/officeDocument/2006/relationships/image" Target="../media/image10.jpeg"/><Relationship Id="rId10" Type="http://schemas.openxmlformats.org/officeDocument/2006/relationships/image" Target="../media/image11.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svg"/><Relationship Id="rId4" Type="http://schemas.openxmlformats.org/officeDocument/2006/relationships/image" Target="../media/image2.png"/><Relationship Id="rId5" Type="http://schemas.openxmlformats.org/officeDocument/2006/relationships/image" Target="../media/image6.jpe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 Id="rId9" Type="http://schemas.openxmlformats.org/officeDocument/2006/relationships/image" Target="../media/image10.jpeg"/><Relationship Id="rId10" Type="http://schemas.openxmlformats.org/officeDocument/2006/relationships/image" Target="../media/image12.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svg"/><Relationship Id="rId4" Type="http://schemas.openxmlformats.org/officeDocument/2006/relationships/image" Target="../media/image2.png"/><Relationship Id="rId5" Type="http://schemas.openxmlformats.org/officeDocument/2006/relationships/image" Target="../media/image6.jpe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 Id="rId9" Type="http://schemas.openxmlformats.org/officeDocument/2006/relationships/image" Target="../media/image10.jpeg"/><Relationship Id="rId10" Type="http://schemas.openxmlformats.org/officeDocument/2006/relationships/image" Target="../media/image13.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svg"/><Relationship Id="rId4" Type="http://schemas.openxmlformats.org/officeDocument/2006/relationships/image" Target="../media/image2.png"/><Relationship Id="rId5" Type="http://schemas.openxmlformats.org/officeDocument/2006/relationships/image" Target="../media/image6.jpe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 Id="rId9" Type="http://schemas.openxmlformats.org/officeDocument/2006/relationships/image" Target="../media/image10.jpeg"/><Relationship Id="rId10" Type="http://schemas.openxmlformats.org/officeDocument/2006/relationships/image" Target="../media/image14.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svg"/><Relationship Id="rId4" Type="http://schemas.openxmlformats.org/officeDocument/2006/relationships/image" Target="../media/image6.jpeg"/><Relationship Id="rId5" Type="http://schemas.openxmlformats.org/officeDocument/2006/relationships/image" Target="../media/image7.jpeg"/><Relationship Id="rId6" Type="http://schemas.openxmlformats.org/officeDocument/2006/relationships/image" Target="../media/image8.jpeg"/><Relationship Id="rId7" Type="http://schemas.openxmlformats.org/officeDocument/2006/relationships/image" Target="../media/image9.jpeg"/><Relationship Id="rId8" Type="http://schemas.openxmlformats.org/officeDocument/2006/relationships/image" Target="../media/image10.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svg"/><Relationship Id="rId4" Type="http://schemas.openxmlformats.org/officeDocument/2006/relationships/image" Target="../media/image6.jpeg"/><Relationship Id="rId5" Type="http://schemas.openxmlformats.org/officeDocument/2006/relationships/image" Target="../media/image7.jpeg"/><Relationship Id="rId6" Type="http://schemas.openxmlformats.org/officeDocument/2006/relationships/image" Target="../media/image8.jpeg"/><Relationship Id="rId7" Type="http://schemas.openxmlformats.org/officeDocument/2006/relationships/image" Target="../media/image9.jpeg"/><Relationship Id="rId8" Type="http://schemas.openxmlformats.org/officeDocument/2006/relationships/image" Target="../media/image10.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svg"/><Relationship Id="rId4" Type="http://schemas.openxmlformats.org/officeDocument/2006/relationships/image" Target="../media/image6.jpeg"/><Relationship Id="rId5" Type="http://schemas.openxmlformats.org/officeDocument/2006/relationships/image" Target="../media/image7.jpeg"/><Relationship Id="rId6" Type="http://schemas.openxmlformats.org/officeDocument/2006/relationships/image" Target="../media/image8.jpeg"/><Relationship Id="rId7" Type="http://schemas.openxmlformats.org/officeDocument/2006/relationships/image" Target="../media/image9.jpeg"/><Relationship Id="rId8" Type="http://schemas.openxmlformats.org/officeDocument/2006/relationships/image" Target="../media/image10.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svg"/><Relationship Id="rId4" Type="http://schemas.openxmlformats.org/officeDocument/2006/relationships/image" Target="../media/image6.jpeg"/><Relationship Id="rId5" Type="http://schemas.openxmlformats.org/officeDocument/2006/relationships/image" Target="../media/image7.jpeg"/><Relationship Id="rId6" Type="http://schemas.openxmlformats.org/officeDocument/2006/relationships/image" Target="../media/image8.jpeg"/><Relationship Id="rId7" Type="http://schemas.openxmlformats.org/officeDocument/2006/relationships/image" Target="../media/image9.jpeg"/><Relationship Id="rId8" Type="http://schemas.openxmlformats.org/officeDocument/2006/relationships/image" Target="../media/image10.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svg"/><Relationship Id="rId4" Type="http://schemas.openxmlformats.org/officeDocument/2006/relationships/image" Target="../media/image2.png"/><Relationship Id="rId5" Type="http://schemas.openxmlformats.org/officeDocument/2006/relationships/image" Target="../media/image6.jpe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 Id="rId9" Type="http://schemas.openxmlformats.org/officeDocument/2006/relationships/image" Target="../media/image10.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svg"/><Relationship Id="rId4" Type="http://schemas.openxmlformats.org/officeDocument/2006/relationships/image" Target="../media/image2.png"/><Relationship Id="rId5" Type="http://schemas.openxmlformats.org/officeDocument/2006/relationships/image" Target="../media/image6.jpe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 Id="rId9" Type="http://schemas.openxmlformats.org/officeDocument/2006/relationships/image" Target="../media/image10.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svg"/><Relationship Id="rId4" Type="http://schemas.openxmlformats.org/officeDocument/2006/relationships/image" Target="../media/image2.png"/><Relationship Id="rId5" Type="http://schemas.openxmlformats.org/officeDocument/2006/relationships/image" Target="../media/image6.jpe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 Id="rId9" Type="http://schemas.openxmlformats.org/officeDocument/2006/relationships/image" Target="../media/image10.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svg"/><Relationship Id="rId4" Type="http://schemas.openxmlformats.org/officeDocument/2006/relationships/image" Target="../media/image2.png"/><Relationship Id="rId5" Type="http://schemas.openxmlformats.org/officeDocument/2006/relationships/image" Target="../media/image6.jpe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 Id="rId9"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65" y="-43167"/>
            <a:ext cx="18345198" cy="450009"/>
            <a:chOff x="0" y="0"/>
            <a:chExt cx="24460264" cy="600012"/>
          </a:xfrm>
        </p:grpSpPr>
        <p:sp>
          <p:nvSpPr>
            <p:cNvPr id="3" name="Freeform 3"/>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grpSp>
        <p:nvGrpSpPr>
          <p:cNvPr id="4" name="Group 4"/>
          <p:cNvGrpSpPr/>
          <p:nvPr/>
        </p:nvGrpSpPr>
        <p:grpSpPr>
          <a:xfrm>
            <a:off x="-28565" y="9894760"/>
            <a:ext cx="18345198" cy="450009"/>
            <a:chOff x="0" y="0"/>
            <a:chExt cx="24460264" cy="600012"/>
          </a:xfrm>
        </p:grpSpPr>
        <p:sp>
          <p:nvSpPr>
            <p:cNvPr id="5" name="Freeform 5"/>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sp>
        <p:nvSpPr>
          <p:cNvPr id="6" name="Freeform 6"/>
          <p:cNvSpPr/>
          <p:nvPr/>
        </p:nvSpPr>
        <p:spPr>
          <a:xfrm>
            <a:off x="-12583" y="9568444"/>
            <a:ext cx="18313003" cy="555165"/>
          </a:xfrm>
          <a:custGeom>
            <a:avLst/>
            <a:gdLst/>
            <a:ahLst/>
            <a:cxnLst/>
            <a:rect l="l" t="t" r="r" b="b"/>
            <a:pathLst>
              <a:path w="18313003" h="555165">
                <a:moveTo>
                  <a:pt x="0" y="0"/>
                </a:moveTo>
                <a:lnTo>
                  <a:pt x="18313004" y="0"/>
                </a:lnTo>
                <a:lnTo>
                  <a:pt x="18313004" y="555164"/>
                </a:lnTo>
                <a:lnTo>
                  <a:pt x="0" y="555164"/>
                </a:lnTo>
                <a:lnTo>
                  <a:pt x="0" y="0"/>
                </a:lnTo>
                <a:close/>
              </a:path>
            </a:pathLst>
          </a:custGeom>
          <a:blipFill>
            <a:blip>
              <a:extLst>
                <a:ext uri="{96DAC541-7B7A-43D3-8B79-37D633B846F1}">
                  <asvg:svgBlip xmlns:asvg="http://schemas.microsoft.com/office/drawing/2016/SVG/main" r:embed="rId3"/>
                </a:ext>
              </a:extLst>
            </a:blip>
            <a:stretch>
              <a:fillRect t="-603" b="-602"/>
            </a:stretch>
          </a:blipFill>
        </p:spPr>
      </p:sp>
      <p:sp>
        <p:nvSpPr>
          <p:cNvPr id="7" name="TextBox 7"/>
          <p:cNvSpPr txBox="1"/>
          <p:nvPr/>
        </p:nvSpPr>
        <p:spPr>
          <a:xfrm rot="-462600">
            <a:off x="13326065" y="9600938"/>
            <a:ext cx="2554043" cy="511435"/>
          </a:xfrm>
          <a:prstGeom prst="rect">
            <a:avLst/>
          </a:prstGeom>
        </p:spPr>
        <p:txBody>
          <a:bodyPr lIns="0" tIns="0" rIns="0" bIns="0" rtlCol="0" anchor="t">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id="8" name="TextBox 8"/>
          <p:cNvSpPr txBox="1"/>
          <p:nvPr/>
        </p:nvSpPr>
        <p:spPr>
          <a:xfrm rot="1440">
            <a:off x="9193218" y="9716433"/>
            <a:ext cx="4176751" cy="465077"/>
          </a:xfrm>
          <a:prstGeom prst="rect">
            <a:avLst/>
          </a:prstGeom>
        </p:spPr>
        <p:txBody>
          <a:bodyPr lIns="0" tIns="0" rIns="0" bIns="0" rtlCol="0" anchor="t">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id="9" name="Group 9"/>
          <p:cNvGrpSpPr/>
          <p:nvPr/>
        </p:nvGrpSpPr>
        <p:grpSpPr>
          <a:xfrm>
            <a:off x="12210374" y="3204601"/>
            <a:ext cx="5977033" cy="5953316"/>
            <a:chOff x="0" y="0"/>
            <a:chExt cx="7969377" cy="7937754"/>
          </a:xfrm>
        </p:grpSpPr>
        <p:sp>
          <p:nvSpPr>
            <p:cNvPr id="10" name="Freeform 10"/>
            <p:cNvSpPr/>
            <p:nvPr/>
          </p:nvSpPr>
          <p:spPr>
            <a:xfrm>
              <a:off x="0" y="0"/>
              <a:ext cx="7969377" cy="7937754"/>
            </a:xfrm>
            <a:custGeom>
              <a:avLst/>
              <a:gdLst/>
              <a:ahLst/>
              <a:cxnLst/>
              <a:rect l="l" t="t" r="r" b="b"/>
              <a:pathLst>
                <a:path w="7969377" h="7937754">
                  <a:moveTo>
                    <a:pt x="0" y="0"/>
                  </a:moveTo>
                  <a:lnTo>
                    <a:pt x="7969377" y="0"/>
                  </a:lnTo>
                  <a:lnTo>
                    <a:pt x="7969377" y="7937754"/>
                  </a:lnTo>
                  <a:lnTo>
                    <a:pt x="0" y="7937754"/>
                  </a:lnTo>
                  <a:lnTo>
                    <a:pt x="0" y="0"/>
                  </a:lnTo>
                  <a:close/>
                </a:path>
              </a:pathLst>
            </a:custGeom>
            <a:blipFill>
              <a:blip r:embed="rId4">
                <a:alphaModFix amt="3000"/>
              </a:blip>
              <a:stretch>
                <a:fillRect/>
              </a:stretch>
            </a:blipFill>
          </p:spPr>
        </p:sp>
      </p:grpSp>
      <p:grpSp>
        <p:nvGrpSpPr>
          <p:cNvPr id="11" name="Group 11"/>
          <p:cNvGrpSpPr/>
          <p:nvPr/>
        </p:nvGrpSpPr>
        <p:grpSpPr>
          <a:xfrm>
            <a:off x="-42767" y="-74085"/>
            <a:ext cx="18370725" cy="1162860"/>
            <a:chOff x="0" y="0"/>
            <a:chExt cx="24494300" cy="1550480"/>
          </a:xfrm>
        </p:grpSpPr>
        <p:sp>
          <p:nvSpPr>
            <p:cNvPr id="12" name="Freeform 12"/>
            <p:cNvSpPr/>
            <p:nvPr/>
          </p:nvSpPr>
          <p:spPr>
            <a:xfrm>
              <a:off x="0" y="0"/>
              <a:ext cx="24494362" cy="1550543"/>
            </a:xfrm>
            <a:custGeom>
              <a:avLst/>
              <a:gdLst/>
              <a:ahLst/>
              <a:cxnLst/>
              <a:rect l="l" t="t" r="r" b="b"/>
              <a:pathLst>
                <a:path w="24494362" h="1550543">
                  <a:moveTo>
                    <a:pt x="0" y="0"/>
                  </a:moveTo>
                  <a:lnTo>
                    <a:pt x="24494362" y="0"/>
                  </a:lnTo>
                  <a:lnTo>
                    <a:pt x="24494362" y="1550543"/>
                  </a:lnTo>
                  <a:lnTo>
                    <a:pt x="0" y="1550543"/>
                  </a:lnTo>
                  <a:close/>
                </a:path>
              </a:pathLst>
            </a:custGeom>
            <a:solidFill>
              <a:srgbClr val="0C5394"/>
            </a:solidFill>
            <a:ln w="14288" cap="sq">
              <a:solidFill>
                <a:srgbClr val="0C5394"/>
              </a:solidFill>
              <a:prstDash val="solid"/>
              <a:miter/>
            </a:ln>
          </p:spPr>
        </p:sp>
      </p:grpSp>
      <p:sp>
        <p:nvSpPr>
          <p:cNvPr id="13" name="Freeform 13"/>
          <p:cNvSpPr/>
          <p:nvPr/>
        </p:nvSpPr>
        <p:spPr>
          <a:xfrm>
            <a:off x="-26499" y="218608"/>
            <a:ext cx="18349960" cy="1948767"/>
          </a:xfrm>
          <a:custGeom>
            <a:avLst/>
            <a:gdLst/>
            <a:ahLst/>
            <a:cxnLst/>
            <a:rect l="l" t="t" r="r" b="b"/>
            <a:pathLst>
              <a:path w="18349960" h="1948767">
                <a:moveTo>
                  <a:pt x="0" y="0"/>
                </a:moveTo>
                <a:lnTo>
                  <a:pt x="18349961" y="0"/>
                </a:lnTo>
                <a:lnTo>
                  <a:pt x="18349961" y="1948768"/>
                </a:lnTo>
                <a:lnTo>
                  <a:pt x="0" y="1948768"/>
                </a:lnTo>
                <a:lnTo>
                  <a:pt x="0" y="0"/>
                </a:lnTo>
                <a:close/>
              </a:path>
            </a:pathLst>
          </a:custGeom>
          <a:blipFill>
            <a:blip>
              <a:extLst>
                <a:ext uri="{96DAC541-7B7A-43D3-8B79-37D633B846F1}">
                  <asvg:svgBlip xmlns:asvg="http://schemas.microsoft.com/office/drawing/2016/SVG/main" r:embed="rId5"/>
                </a:ext>
              </a:extLst>
            </a:blip>
            <a:stretch>
              <a:fillRect t="-86" b="-86"/>
            </a:stretch>
          </a:blipFill>
        </p:spPr>
      </p:sp>
      <p:grpSp>
        <p:nvGrpSpPr>
          <p:cNvPr id="14" name="Group 14"/>
          <p:cNvGrpSpPr/>
          <p:nvPr/>
        </p:nvGrpSpPr>
        <p:grpSpPr>
          <a:xfrm>
            <a:off x="16145323" y="-45530"/>
            <a:ext cx="1303210" cy="2200466"/>
            <a:chOff x="0" y="0"/>
            <a:chExt cx="1737614" cy="2933954"/>
          </a:xfrm>
        </p:grpSpPr>
        <p:sp>
          <p:nvSpPr>
            <p:cNvPr id="15" name="Freeform 15"/>
            <p:cNvSpPr/>
            <p:nvPr/>
          </p:nvSpPr>
          <p:spPr>
            <a:xfrm>
              <a:off x="0" y="0"/>
              <a:ext cx="1737614" cy="2933954"/>
            </a:xfrm>
            <a:custGeom>
              <a:avLst/>
              <a:gdLst/>
              <a:ahLst/>
              <a:cxnLst/>
              <a:rect l="l" t="t" r="r" b="b"/>
              <a:pathLst>
                <a:path w="1737614" h="2933954">
                  <a:moveTo>
                    <a:pt x="0" y="2933954"/>
                  </a:moveTo>
                  <a:lnTo>
                    <a:pt x="1005332" y="0"/>
                  </a:lnTo>
                  <a:lnTo>
                    <a:pt x="1737614" y="0"/>
                  </a:lnTo>
                  <a:lnTo>
                    <a:pt x="732282" y="2933954"/>
                  </a:lnTo>
                  <a:close/>
                </a:path>
              </a:pathLst>
            </a:custGeom>
            <a:solidFill>
              <a:srgbClr val="D2AE6C"/>
            </a:solidFill>
          </p:spPr>
        </p:sp>
      </p:grpSp>
      <p:grpSp>
        <p:nvGrpSpPr>
          <p:cNvPr id="16" name="Group 16"/>
          <p:cNvGrpSpPr/>
          <p:nvPr/>
        </p:nvGrpSpPr>
        <p:grpSpPr>
          <a:xfrm>
            <a:off x="11570999" y="-45530"/>
            <a:ext cx="5762720" cy="2233327"/>
            <a:chOff x="0" y="0"/>
            <a:chExt cx="7683627" cy="2977769"/>
          </a:xfrm>
        </p:grpSpPr>
        <p:sp>
          <p:nvSpPr>
            <p:cNvPr id="17" name="Freeform 17"/>
            <p:cNvSpPr/>
            <p:nvPr/>
          </p:nvSpPr>
          <p:spPr>
            <a:xfrm>
              <a:off x="0" y="0"/>
              <a:ext cx="7683627" cy="2977769"/>
            </a:xfrm>
            <a:custGeom>
              <a:avLst/>
              <a:gdLst/>
              <a:ahLst/>
              <a:cxnLst/>
              <a:rect l="l" t="t" r="r" b="b"/>
              <a:pathLst>
                <a:path w="7683627" h="2977769">
                  <a:moveTo>
                    <a:pt x="0" y="2977769"/>
                  </a:moveTo>
                  <a:lnTo>
                    <a:pt x="1010158" y="0"/>
                  </a:lnTo>
                  <a:lnTo>
                    <a:pt x="7683627" y="0"/>
                  </a:lnTo>
                  <a:lnTo>
                    <a:pt x="6673342" y="2977769"/>
                  </a:lnTo>
                  <a:close/>
                </a:path>
              </a:pathLst>
            </a:custGeom>
            <a:solidFill>
              <a:srgbClr val="FFFFFF"/>
            </a:solidFill>
          </p:spPr>
        </p:sp>
      </p:grpSp>
      <p:grpSp>
        <p:nvGrpSpPr>
          <p:cNvPr id="18" name="Group 18"/>
          <p:cNvGrpSpPr/>
          <p:nvPr/>
        </p:nvGrpSpPr>
        <p:grpSpPr>
          <a:xfrm>
            <a:off x="-42586" y="9878216"/>
            <a:ext cx="18382059" cy="446865"/>
            <a:chOff x="0" y="0"/>
            <a:chExt cx="24509412" cy="595820"/>
          </a:xfrm>
        </p:grpSpPr>
        <p:sp>
          <p:nvSpPr>
            <p:cNvPr id="19" name="Freeform 19"/>
            <p:cNvSpPr/>
            <p:nvPr/>
          </p:nvSpPr>
          <p:spPr>
            <a:xfrm>
              <a:off x="0" y="0"/>
              <a:ext cx="24509349" cy="595884"/>
            </a:xfrm>
            <a:custGeom>
              <a:avLst/>
              <a:gdLst/>
              <a:ahLst/>
              <a:cxnLst/>
              <a:rect l="l" t="t" r="r" b="b"/>
              <a:pathLst>
                <a:path w="24509349" h="595884">
                  <a:moveTo>
                    <a:pt x="0" y="0"/>
                  </a:moveTo>
                  <a:lnTo>
                    <a:pt x="24509349" y="0"/>
                  </a:lnTo>
                  <a:lnTo>
                    <a:pt x="24509349" y="595884"/>
                  </a:lnTo>
                  <a:lnTo>
                    <a:pt x="0" y="595884"/>
                  </a:lnTo>
                  <a:close/>
                </a:path>
              </a:pathLst>
            </a:custGeom>
            <a:solidFill>
              <a:srgbClr val="0C5394"/>
            </a:solidFill>
            <a:ln w="14288" cap="sq">
              <a:solidFill>
                <a:srgbClr val="0C5394"/>
              </a:solidFill>
              <a:prstDash val="solid"/>
              <a:miter/>
            </a:ln>
          </p:spPr>
        </p:sp>
      </p:grpSp>
      <p:sp>
        <p:nvSpPr>
          <p:cNvPr id="20" name="Freeform 20"/>
          <p:cNvSpPr/>
          <p:nvPr/>
        </p:nvSpPr>
        <p:spPr>
          <a:xfrm>
            <a:off x="-26499" y="8836857"/>
            <a:ext cx="18349960" cy="1130760"/>
          </a:xfrm>
          <a:custGeom>
            <a:avLst/>
            <a:gdLst/>
            <a:ahLst/>
            <a:cxnLst/>
            <a:rect l="l" t="t" r="r" b="b"/>
            <a:pathLst>
              <a:path w="18349960" h="1130760">
                <a:moveTo>
                  <a:pt x="0" y="0"/>
                </a:moveTo>
                <a:lnTo>
                  <a:pt x="18349961" y="0"/>
                </a:lnTo>
                <a:lnTo>
                  <a:pt x="18349961" y="1130760"/>
                </a:lnTo>
                <a:lnTo>
                  <a:pt x="0" y="1130760"/>
                </a:lnTo>
                <a:lnTo>
                  <a:pt x="0" y="0"/>
                </a:lnTo>
                <a:close/>
              </a:path>
            </a:pathLst>
          </a:custGeom>
          <a:blipFill>
            <a:blip>
              <a:extLst>
                <a:ext uri="{96DAC541-7B7A-43D3-8B79-37D633B846F1}">
                  <asvg:svgBlip xmlns:asvg="http://schemas.microsoft.com/office/drawing/2016/SVG/main" r:embed="rId6"/>
                </a:ext>
              </a:extLst>
            </a:blip>
            <a:stretch>
              <a:fillRect t="-106" b="-106"/>
            </a:stretch>
          </a:blipFill>
        </p:spPr>
      </p:sp>
      <p:sp>
        <p:nvSpPr>
          <p:cNvPr id="21" name="TextBox 21"/>
          <p:cNvSpPr txBox="1"/>
          <p:nvPr/>
        </p:nvSpPr>
        <p:spPr>
          <a:xfrm>
            <a:off x="662921" y="8845534"/>
            <a:ext cx="5532149" cy="1366799"/>
          </a:xfrm>
          <a:prstGeom prst="rect">
            <a:avLst/>
          </a:prstGeom>
        </p:spPr>
        <p:txBody>
          <a:bodyPr lIns="0" tIns="0" rIns="0" bIns="0" rtlCol="0" anchor="t">
            <a:spAutoFit/>
          </a:bodyPr>
          <a:lstStyle/>
          <a:p>
            <a:pPr algn="ctr">
              <a:lnSpc>
                <a:spcPts val="2700"/>
              </a:lnSpc>
            </a:pPr>
            <a:r>
              <a:rPr lang="en-US" sz="2250" b="1">
                <a:solidFill>
                  <a:srgbClr val="D2AE6C"/>
                </a:solidFill>
                <a:latin typeface="Archivo Narrow Bold"/>
                <a:ea typeface="Archivo Narrow Bold"/>
                <a:cs typeface="Archivo Narrow Bold"/>
                <a:sym typeface="Archivo Narrow Bold"/>
              </a:rPr>
              <a:t>Mission</a:t>
            </a:r>
          </a:p>
          <a:p>
            <a:pPr algn="ctr">
              <a:lnSpc>
                <a:spcPts val="2160"/>
              </a:lnSpc>
            </a:pPr>
            <a:r>
              <a:rPr lang="en-US" sz="1800">
                <a:solidFill>
                  <a:srgbClr val="FFFFFF"/>
                </a:solidFill>
                <a:latin typeface="Archivo Narrow"/>
                <a:ea typeface="Archivo Narrow"/>
                <a:cs typeface="Archivo Narrow"/>
                <a:sym typeface="Archivo Narrow"/>
              </a:rPr>
              <a:t>Christ University is a nurturing ground for an individual’s holistic development to make effective contribution</a:t>
            </a:r>
          </a:p>
          <a:p>
            <a:pPr algn="ctr">
              <a:lnSpc>
                <a:spcPts val="2160"/>
              </a:lnSpc>
            </a:pPr>
            <a:r>
              <a:rPr lang="en-US" sz="1800">
                <a:solidFill>
                  <a:srgbClr val="FFFFFF"/>
                </a:solidFill>
                <a:latin typeface="Archivo Narrow"/>
                <a:ea typeface="Archivo Narrow"/>
                <a:cs typeface="Archivo Narrow"/>
                <a:sym typeface="Archivo Narrow"/>
              </a:rPr>
              <a:t>to the society in a dynamic environment</a:t>
            </a:r>
          </a:p>
        </p:txBody>
      </p:sp>
      <p:sp>
        <p:nvSpPr>
          <p:cNvPr id="22" name="TextBox 22"/>
          <p:cNvSpPr txBox="1"/>
          <p:nvPr/>
        </p:nvSpPr>
        <p:spPr>
          <a:xfrm>
            <a:off x="6377921" y="8845534"/>
            <a:ext cx="5532149" cy="812854"/>
          </a:xfrm>
          <a:prstGeom prst="rect">
            <a:avLst/>
          </a:prstGeom>
        </p:spPr>
        <p:txBody>
          <a:bodyPr lIns="0" tIns="0" rIns="0" bIns="0" rtlCol="0" anchor="t">
            <a:spAutoFit/>
          </a:bodyPr>
          <a:lstStyle/>
          <a:p>
            <a:pPr algn="ctr">
              <a:lnSpc>
                <a:spcPts val="2700"/>
              </a:lnSpc>
            </a:pPr>
            <a:r>
              <a:rPr lang="en-US" sz="2250" b="1">
                <a:solidFill>
                  <a:srgbClr val="D2AE6C"/>
                </a:solidFill>
                <a:latin typeface="Archivo Narrow Bold"/>
                <a:ea typeface="Archivo Narrow Bold"/>
                <a:cs typeface="Archivo Narrow Bold"/>
                <a:sym typeface="Archivo Narrow Bold"/>
              </a:rPr>
              <a:t>Vision</a:t>
            </a:r>
          </a:p>
          <a:p>
            <a:pPr algn="ctr">
              <a:lnSpc>
                <a:spcPts val="2160"/>
              </a:lnSpc>
            </a:pPr>
            <a:r>
              <a:rPr lang="en-US" sz="1800">
                <a:solidFill>
                  <a:srgbClr val="FFFFFF"/>
                </a:solidFill>
                <a:latin typeface="Archivo Narrow"/>
                <a:ea typeface="Archivo Narrow"/>
                <a:cs typeface="Archivo Narrow"/>
                <a:sym typeface="Archivo Narrow"/>
              </a:rPr>
              <a:t>Excellence and Service</a:t>
            </a:r>
          </a:p>
        </p:txBody>
      </p:sp>
      <p:sp>
        <p:nvSpPr>
          <p:cNvPr id="23" name="TextBox 23"/>
          <p:cNvSpPr txBox="1"/>
          <p:nvPr/>
        </p:nvSpPr>
        <p:spPr>
          <a:xfrm>
            <a:off x="12950323" y="8845534"/>
            <a:ext cx="4291946" cy="1366799"/>
          </a:xfrm>
          <a:prstGeom prst="rect">
            <a:avLst/>
          </a:prstGeom>
        </p:spPr>
        <p:txBody>
          <a:bodyPr lIns="0" tIns="0" rIns="0" bIns="0" rtlCol="0" anchor="t">
            <a:spAutoFit/>
          </a:bodyPr>
          <a:lstStyle/>
          <a:p>
            <a:pPr algn="ctr">
              <a:lnSpc>
                <a:spcPts val="2700"/>
              </a:lnSpc>
            </a:pPr>
            <a:r>
              <a:rPr lang="en-US" sz="2250" b="1">
                <a:solidFill>
                  <a:srgbClr val="D2AE6C"/>
                </a:solidFill>
                <a:latin typeface="Archivo Narrow Bold"/>
                <a:ea typeface="Archivo Narrow Bold"/>
                <a:cs typeface="Archivo Narrow Bold"/>
                <a:sym typeface="Archivo Narrow Bold"/>
              </a:rPr>
              <a:t>Core Values</a:t>
            </a:r>
          </a:p>
          <a:p>
            <a:pPr algn="ctr">
              <a:lnSpc>
                <a:spcPts val="2160"/>
              </a:lnSpc>
            </a:pPr>
            <a:r>
              <a:rPr lang="en-US" sz="1800">
                <a:solidFill>
                  <a:srgbClr val="FFFFFF"/>
                </a:solidFill>
                <a:latin typeface="Archivo Narrow"/>
                <a:ea typeface="Archivo Narrow"/>
                <a:cs typeface="Archivo Narrow"/>
                <a:sym typeface="Archivo Narrow"/>
              </a:rPr>
              <a:t>Faith in God |  Moral Uprightness</a:t>
            </a:r>
          </a:p>
          <a:p>
            <a:pPr algn="ctr">
              <a:lnSpc>
                <a:spcPts val="2160"/>
              </a:lnSpc>
            </a:pPr>
            <a:r>
              <a:rPr lang="en-US" sz="1800">
                <a:solidFill>
                  <a:srgbClr val="FFFFFF"/>
                </a:solidFill>
                <a:latin typeface="Archivo Narrow"/>
                <a:ea typeface="Archivo Narrow"/>
                <a:cs typeface="Archivo Narrow"/>
                <a:sym typeface="Archivo Narrow"/>
              </a:rPr>
              <a:t> Love of Fellow Beings |  Social Responsibility</a:t>
            </a:r>
          </a:p>
          <a:p>
            <a:pPr algn="ctr">
              <a:lnSpc>
                <a:spcPts val="2160"/>
              </a:lnSpc>
            </a:pPr>
            <a:r>
              <a:rPr lang="en-US" sz="1800">
                <a:solidFill>
                  <a:srgbClr val="FFFFFF"/>
                </a:solidFill>
                <a:latin typeface="Archivo Narrow"/>
                <a:ea typeface="Archivo Narrow"/>
                <a:cs typeface="Archivo Narrow"/>
                <a:sym typeface="Archivo Narrow"/>
              </a:rPr>
              <a:t>Pursuit of Excellence</a:t>
            </a:r>
          </a:p>
        </p:txBody>
      </p:sp>
      <p:grpSp>
        <p:nvGrpSpPr>
          <p:cNvPr id="24" name="Group 24"/>
          <p:cNvGrpSpPr/>
          <p:nvPr/>
        </p:nvGrpSpPr>
        <p:grpSpPr>
          <a:xfrm>
            <a:off x="11931091" y="494414"/>
            <a:ext cx="4677918" cy="1585341"/>
            <a:chOff x="0" y="0"/>
            <a:chExt cx="6237224" cy="2113788"/>
          </a:xfrm>
        </p:grpSpPr>
        <p:sp>
          <p:nvSpPr>
            <p:cNvPr id="25" name="Freeform 25"/>
            <p:cNvSpPr/>
            <p:nvPr/>
          </p:nvSpPr>
          <p:spPr>
            <a:xfrm>
              <a:off x="0" y="0"/>
              <a:ext cx="6237224" cy="2113788"/>
            </a:xfrm>
            <a:custGeom>
              <a:avLst/>
              <a:gdLst/>
              <a:ahLst/>
              <a:cxnLst/>
              <a:rect l="l" t="t" r="r" b="b"/>
              <a:pathLst>
                <a:path w="6237224" h="2113788">
                  <a:moveTo>
                    <a:pt x="0" y="0"/>
                  </a:moveTo>
                  <a:lnTo>
                    <a:pt x="6237224" y="0"/>
                  </a:lnTo>
                  <a:lnTo>
                    <a:pt x="6237224" y="2113788"/>
                  </a:lnTo>
                  <a:lnTo>
                    <a:pt x="0" y="2113788"/>
                  </a:lnTo>
                  <a:lnTo>
                    <a:pt x="0" y="0"/>
                  </a:lnTo>
                  <a:close/>
                </a:path>
              </a:pathLst>
            </a:custGeom>
            <a:blipFill>
              <a:blip r:embed="rId7"/>
              <a:stretch>
                <a:fillRect t="-290" b="-290"/>
              </a:stretch>
            </a:blipFill>
          </p:spPr>
        </p:sp>
      </p:grpSp>
      <p:sp>
        <p:nvSpPr>
          <p:cNvPr id="26" name="TextBox 26"/>
          <p:cNvSpPr txBox="1"/>
          <p:nvPr/>
        </p:nvSpPr>
        <p:spPr>
          <a:xfrm>
            <a:off x="1248699" y="3307394"/>
            <a:ext cx="15888853" cy="1314450"/>
          </a:xfrm>
          <a:prstGeom prst="rect">
            <a:avLst/>
          </a:prstGeom>
        </p:spPr>
        <p:txBody>
          <a:bodyPr lIns="0" tIns="0" rIns="0" bIns="0" rtlCol="0" anchor="t">
            <a:spAutoFit/>
          </a:bodyPr>
          <a:lstStyle/>
          <a:p>
            <a:pPr algn="ctr">
              <a:lnSpc>
                <a:spcPts val="5040"/>
              </a:lnSpc>
            </a:pPr>
            <a:r>
              <a:rPr lang="en-US" sz="4200" b="1" spc="-38">
                <a:solidFill>
                  <a:srgbClr val="000000"/>
                </a:solidFill>
                <a:latin typeface="Times New Roman Bold"/>
                <a:ea typeface="Times New Roman Bold"/>
                <a:cs typeface="Times New Roman Bold"/>
                <a:sym typeface="Times New Roman Bold"/>
              </a:rPr>
              <a:t>Dissertation Phase – 1 (MTDS382) </a:t>
            </a:r>
          </a:p>
          <a:p>
            <a:pPr algn="ctr">
              <a:lnSpc>
                <a:spcPts val="5040"/>
              </a:lnSpc>
            </a:pPr>
            <a:r>
              <a:rPr lang="en-US" sz="4200" b="1" spc="-38">
                <a:solidFill>
                  <a:srgbClr val="000000"/>
                </a:solidFill>
                <a:latin typeface="Times New Roman Bold"/>
                <a:ea typeface="Times New Roman Bold"/>
                <a:cs typeface="Times New Roman Bold"/>
                <a:sym typeface="Times New Roman Bold"/>
              </a:rPr>
              <a:t>Review - 1</a:t>
            </a:r>
          </a:p>
        </p:txBody>
      </p:sp>
      <p:grpSp>
        <p:nvGrpSpPr>
          <p:cNvPr id="27" name="Group 27"/>
          <p:cNvGrpSpPr/>
          <p:nvPr/>
        </p:nvGrpSpPr>
        <p:grpSpPr>
          <a:xfrm>
            <a:off x="1028700" y="4921501"/>
            <a:ext cx="16213550" cy="1280160"/>
            <a:chOff x="0" y="0"/>
            <a:chExt cx="21618067" cy="1706880"/>
          </a:xfrm>
        </p:grpSpPr>
        <p:sp>
          <p:nvSpPr>
            <p:cNvPr id="28" name="Freeform 28"/>
            <p:cNvSpPr/>
            <p:nvPr/>
          </p:nvSpPr>
          <p:spPr>
            <a:xfrm>
              <a:off x="0" y="0"/>
              <a:ext cx="21618067" cy="1706880"/>
            </a:xfrm>
            <a:custGeom>
              <a:avLst/>
              <a:gdLst/>
              <a:ahLst/>
              <a:cxnLst/>
              <a:rect l="l" t="t" r="r" b="b"/>
              <a:pathLst>
                <a:path w="21618067" h="1706880">
                  <a:moveTo>
                    <a:pt x="0" y="0"/>
                  </a:moveTo>
                  <a:lnTo>
                    <a:pt x="21618067" y="0"/>
                  </a:lnTo>
                  <a:lnTo>
                    <a:pt x="21618067" y="1706880"/>
                  </a:lnTo>
                  <a:lnTo>
                    <a:pt x="0" y="1706880"/>
                  </a:lnTo>
                  <a:close/>
                </a:path>
              </a:pathLst>
            </a:custGeom>
            <a:blipFill>
              <a:blip r:embed="rId8">
                <a:alphaModFix amt="0"/>
              </a:blip>
              <a:stretch>
                <a:fillRect t="-196611" b="-196610"/>
              </a:stretch>
            </a:blipFill>
          </p:spPr>
        </p:sp>
      </p:grpSp>
      <p:grpSp>
        <p:nvGrpSpPr>
          <p:cNvPr id="29" name="Group 29"/>
          <p:cNvGrpSpPr/>
          <p:nvPr/>
        </p:nvGrpSpPr>
        <p:grpSpPr>
          <a:xfrm>
            <a:off x="1550108" y="4762500"/>
            <a:ext cx="15137702" cy="1287304"/>
            <a:chOff x="0" y="0"/>
            <a:chExt cx="20183602" cy="1716405"/>
          </a:xfrm>
        </p:grpSpPr>
        <p:sp>
          <p:nvSpPr>
            <p:cNvPr id="30" name="Freeform 30"/>
            <p:cNvSpPr/>
            <p:nvPr/>
          </p:nvSpPr>
          <p:spPr>
            <a:xfrm>
              <a:off x="0" y="0"/>
              <a:ext cx="20183602" cy="1716405"/>
            </a:xfrm>
            <a:custGeom>
              <a:avLst/>
              <a:gdLst/>
              <a:ahLst/>
              <a:cxnLst/>
              <a:rect l="l" t="t" r="r" b="b"/>
              <a:pathLst>
                <a:path w="20183602" h="1716405">
                  <a:moveTo>
                    <a:pt x="0" y="0"/>
                  </a:moveTo>
                  <a:lnTo>
                    <a:pt x="20183602" y="0"/>
                  </a:lnTo>
                  <a:lnTo>
                    <a:pt x="20183602" y="1716405"/>
                  </a:lnTo>
                  <a:lnTo>
                    <a:pt x="0" y="1716405"/>
                  </a:lnTo>
                  <a:close/>
                </a:path>
              </a:pathLst>
            </a:custGeom>
            <a:blipFill>
              <a:blip r:embed="rId9">
                <a:alphaModFix amt="0"/>
              </a:blip>
              <a:stretch>
                <a:fillRect t="-178970" b="-178969"/>
              </a:stretch>
            </a:blipFill>
          </p:spPr>
        </p:sp>
      </p:grpSp>
      <p:grpSp>
        <p:nvGrpSpPr>
          <p:cNvPr id="31" name="Group 31"/>
          <p:cNvGrpSpPr/>
          <p:nvPr/>
        </p:nvGrpSpPr>
        <p:grpSpPr>
          <a:xfrm>
            <a:off x="1550108" y="4776788"/>
            <a:ext cx="15137702" cy="1273016"/>
            <a:chOff x="0" y="0"/>
            <a:chExt cx="20183602" cy="1697355"/>
          </a:xfrm>
        </p:grpSpPr>
        <p:sp>
          <p:nvSpPr>
            <p:cNvPr id="32" name="Freeform 32"/>
            <p:cNvSpPr/>
            <p:nvPr/>
          </p:nvSpPr>
          <p:spPr>
            <a:xfrm>
              <a:off x="0" y="0"/>
              <a:ext cx="20183602" cy="1697355"/>
            </a:xfrm>
            <a:custGeom>
              <a:avLst/>
              <a:gdLst/>
              <a:ahLst/>
              <a:cxnLst/>
              <a:rect l="l" t="t" r="r" b="b"/>
              <a:pathLst>
                <a:path w="20183602" h="1697355">
                  <a:moveTo>
                    <a:pt x="0" y="0"/>
                  </a:moveTo>
                  <a:lnTo>
                    <a:pt x="20183602" y="0"/>
                  </a:lnTo>
                  <a:lnTo>
                    <a:pt x="20183602" y="1697355"/>
                  </a:lnTo>
                  <a:lnTo>
                    <a:pt x="0" y="1697355"/>
                  </a:lnTo>
                  <a:close/>
                </a:path>
              </a:pathLst>
            </a:custGeom>
            <a:blipFill>
              <a:blip r:embed="rId10">
                <a:alphaModFix amt="0"/>
              </a:blip>
              <a:stretch>
                <a:fillRect t="-181539" b="-181539"/>
              </a:stretch>
            </a:blipFill>
          </p:spPr>
        </p:sp>
      </p:grpSp>
      <p:grpSp>
        <p:nvGrpSpPr>
          <p:cNvPr id="33" name="Group 33"/>
          <p:cNvGrpSpPr/>
          <p:nvPr/>
        </p:nvGrpSpPr>
        <p:grpSpPr>
          <a:xfrm>
            <a:off x="1550108" y="4791075"/>
            <a:ext cx="15137692" cy="1369933"/>
            <a:chOff x="0" y="0"/>
            <a:chExt cx="20183589" cy="1826577"/>
          </a:xfrm>
        </p:grpSpPr>
        <p:sp>
          <p:nvSpPr>
            <p:cNvPr id="34" name="Freeform 34"/>
            <p:cNvSpPr/>
            <p:nvPr/>
          </p:nvSpPr>
          <p:spPr>
            <a:xfrm>
              <a:off x="0" y="0"/>
              <a:ext cx="20183602" cy="1826641"/>
            </a:xfrm>
            <a:custGeom>
              <a:avLst/>
              <a:gdLst/>
              <a:ahLst/>
              <a:cxnLst/>
              <a:rect l="l" t="t" r="r" b="b"/>
              <a:pathLst>
                <a:path w="20183602" h="1826641">
                  <a:moveTo>
                    <a:pt x="0" y="0"/>
                  </a:moveTo>
                  <a:lnTo>
                    <a:pt x="20183602" y="0"/>
                  </a:lnTo>
                  <a:lnTo>
                    <a:pt x="20183602" y="1826641"/>
                  </a:lnTo>
                  <a:lnTo>
                    <a:pt x="0" y="1826641"/>
                  </a:lnTo>
                  <a:close/>
                </a:path>
              </a:pathLst>
            </a:custGeom>
            <a:blipFill>
              <a:blip r:embed="rId11">
                <a:alphaModFix amt="0"/>
              </a:blip>
              <a:stretch>
                <a:fillRect t="-165153" b="-165149"/>
              </a:stretch>
            </a:blipFill>
          </p:spPr>
        </p:sp>
      </p:grpSp>
      <p:grpSp>
        <p:nvGrpSpPr>
          <p:cNvPr id="35" name="Group 35"/>
          <p:cNvGrpSpPr/>
          <p:nvPr/>
        </p:nvGrpSpPr>
        <p:grpSpPr>
          <a:xfrm>
            <a:off x="1550108" y="4791075"/>
            <a:ext cx="15137692" cy="1369933"/>
            <a:chOff x="0" y="0"/>
            <a:chExt cx="20183589" cy="1826577"/>
          </a:xfrm>
        </p:grpSpPr>
        <p:sp>
          <p:nvSpPr>
            <p:cNvPr id="36" name="Freeform 36"/>
            <p:cNvSpPr/>
            <p:nvPr/>
          </p:nvSpPr>
          <p:spPr>
            <a:xfrm>
              <a:off x="0" y="0"/>
              <a:ext cx="20183590" cy="1826579"/>
            </a:xfrm>
            <a:custGeom>
              <a:avLst/>
              <a:gdLst/>
              <a:ahLst/>
              <a:cxnLst/>
              <a:rect l="l" t="t" r="r" b="b"/>
              <a:pathLst>
                <a:path w="20183590" h="1826579">
                  <a:moveTo>
                    <a:pt x="0" y="0"/>
                  </a:moveTo>
                  <a:lnTo>
                    <a:pt x="20183590" y="0"/>
                  </a:lnTo>
                  <a:lnTo>
                    <a:pt x="20183590" y="1826579"/>
                  </a:lnTo>
                  <a:lnTo>
                    <a:pt x="0" y="1826579"/>
                  </a:lnTo>
                  <a:close/>
                </a:path>
              </a:pathLst>
            </a:custGeom>
            <a:blipFill>
              <a:blip r:embed="rId12">
                <a:alphaModFix amt="0"/>
              </a:blip>
              <a:stretch>
                <a:fillRect t="-165308" b="-165308"/>
              </a:stretch>
            </a:blipFill>
          </p:spPr>
        </p:sp>
        <p:sp>
          <p:nvSpPr>
            <p:cNvPr id="37" name="TextBox 37"/>
            <p:cNvSpPr txBox="1"/>
            <p:nvPr/>
          </p:nvSpPr>
          <p:spPr>
            <a:xfrm>
              <a:off x="0" y="0"/>
              <a:ext cx="20183589" cy="1826577"/>
            </a:xfrm>
            <a:prstGeom prst="rect">
              <a:avLst/>
            </a:prstGeom>
          </p:spPr>
          <p:txBody>
            <a:bodyPr lIns="0" tIns="0" rIns="0" bIns="0" rtlCol="0" anchor="b"/>
            <a:lstStyle/>
            <a:p>
              <a:pPr algn="ctr">
                <a:lnSpc>
                  <a:spcPts val="4545"/>
                </a:lnSpc>
              </a:pPr>
              <a:r>
                <a:rPr lang="en-US" sz="3999" b="1" spc="-34">
                  <a:solidFill>
                    <a:srgbClr val="0C5394"/>
                  </a:solidFill>
                  <a:latin typeface="Times New Roman Bold"/>
                  <a:ea typeface="Times New Roman Bold"/>
                  <a:cs typeface="Times New Roman Bold"/>
                  <a:sym typeface="Times New Roman Bold"/>
                </a:rPr>
                <a:t>Temporal Graph Attention Networks for Explainable Anti-Money Laundering in Cryptocurrency Transactions</a:t>
              </a:r>
            </a:p>
          </p:txBody>
        </p:sp>
      </p:grpSp>
      <p:sp>
        <p:nvSpPr>
          <p:cNvPr id="38" name="TextBox 38"/>
          <p:cNvSpPr txBox="1"/>
          <p:nvPr/>
        </p:nvSpPr>
        <p:spPr>
          <a:xfrm>
            <a:off x="10515600" y="6305550"/>
            <a:ext cx="7086019" cy="2343150"/>
          </a:xfrm>
          <a:prstGeom prst="rect">
            <a:avLst/>
          </a:prstGeom>
        </p:spPr>
        <p:txBody>
          <a:bodyPr lIns="0" tIns="0" rIns="0" bIns="0" rtlCol="0" anchor="t">
            <a:spAutoFit/>
          </a:bodyPr>
          <a:lstStyle/>
          <a:p>
            <a:pPr algn="l">
              <a:lnSpc>
                <a:spcPts val="3600"/>
              </a:lnSpc>
            </a:pPr>
            <a:r>
              <a:rPr lang="en-US" sz="3000" spc="-26">
                <a:solidFill>
                  <a:srgbClr val="000000"/>
                </a:solidFill>
                <a:latin typeface="Times New Roman"/>
                <a:ea typeface="Times New Roman"/>
                <a:cs typeface="Times New Roman"/>
                <a:sym typeface="Times New Roman"/>
              </a:rPr>
              <a:t>Student Name – Anshu Kumari</a:t>
            </a:r>
          </a:p>
          <a:p>
            <a:pPr algn="l">
              <a:lnSpc>
                <a:spcPts val="3600"/>
              </a:lnSpc>
            </a:pPr>
            <a:r>
              <a:rPr lang="en-US" sz="3000" spc="-26">
                <a:solidFill>
                  <a:srgbClr val="000000"/>
                </a:solidFill>
                <a:latin typeface="Times New Roman"/>
                <a:ea typeface="Times New Roman"/>
                <a:cs typeface="Times New Roman"/>
                <a:sym typeface="Times New Roman"/>
              </a:rPr>
              <a:t>Register No - 2567203</a:t>
            </a:r>
          </a:p>
          <a:p>
            <a:pPr algn="l">
              <a:lnSpc>
                <a:spcPts val="3600"/>
              </a:lnSpc>
            </a:pPr>
            <a:r>
              <a:rPr lang="en-US" sz="3000" spc="-26">
                <a:solidFill>
                  <a:srgbClr val="000000"/>
                </a:solidFill>
                <a:latin typeface="Times New Roman"/>
                <a:ea typeface="Times New Roman"/>
                <a:cs typeface="Times New Roman"/>
                <a:sym typeface="Times New Roman"/>
              </a:rPr>
              <a:t>Section - 3MTDS</a:t>
            </a:r>
          </a:p>
          <a:p>
            <a:pPr algn="l">
              <a:lnSpc>
                <a:spcPts val="3600"/>
              </a:lnSpc>
            </a:pPr>
            <a:r>
              <a:rPr lang="en-US" sz="3000" spc="-24">
                <a:solidFill>
                  <a:srgbClr val="000000"/>
                </a:solidFill>
                <a:latin typeface="Times New Roman"/>
                <a:ea typeface="Times New Roman"/>
                <a:cs typeface="Times New Roman"/>
                <a:sym typeface="Times New Roman"/>
              </a:rPr>
              <a:t>Guide Name – Dr. Janani V S</a:t>
            </a:r>
          </a:p>
          <a:p>
            <a:pPr algn="l">
              <a:lnSpc>
                <a:spcPts val="3600"/>
              </a:lnSpc>
            </a:pPr>
            <a:r>
              <a:rPr lang="en-US" sz="3000" spc="-26">
                <a:solidFill>
                  <a:srgbClr val="000000"/>
                </a:solidFill>
                <a:latin typeface="Times New Roman"/>
                <a:ea typeface="Times New Roman"/>
                <a:cs typeface="Times New Roman"/>
                <a:sym typeface="Times New Roman"/>
              </a:rPr>
              <a:t>Co-Guide Name – Dr. Aruna S K</a:t>
            </a:r>
          </a:p>
        </p:txBody>
      </p:sp>
      <p:sp>
        <p:nvSpPr>
          <p:cNvPr id="39" name="TextBox 39"/>
          <p:cNvSpPr txBox="1"/>
          <p:nvPr/>
        </p:nvSpPr>
        <p:spPr>
          <a:xfrm>
            <a:off x="2990479" y="2347093"/>
            <a:ext cx="13618531" cy="781307"/>
          </a:xfrm>
          <a:prstGeom prst="rect">
            <a:avLst/>
          </a:prstGeom>
        </p:spPr>
        <p:txBody>
          <a:bodyPr lIns="0" tIns="0" rIns="0" bIns="0" rtlCol="0" anchor="t">
            <a:spAutoFit/>
          </a:bodyPr>
          <a:lstStyle/>
          <a:p>
            <a:pPr algn="l">
              <a:lnSpc>
                <a:spcPts val="5757"/>
              </a:lnSpc>
            </a:pPr>
            <a:r>
              <a:rPr lang="en-US" sz="4800" b="1" spc="-44">
                <a:solidFill>
                  <a:srgbClr val="000000"/>
                </a:solidFill>
                <a:latin typeface="Times New Roman Bold"/>
                <a:ea typeface="Times New Roman Bold"/>
                <a:cs typeface="Times New Roman Bold"/>
                <a:sym typeface="Times New Roman Bold"/>
              </a:rPr>
              <a:t>Department of AI &amp; Data Science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65" y="-43167"/>
            <a:ext cx="18345198" cy="450009"/>
            <a:chOff x="0" y="0"/>
            <a:chExt cx="24460264" cy="600012"/>
          </a:xfrm>
        </p:grpSpPr>
        <p:sp>
          <p:nvSpPr>
            <p:cNvPr id="3" name="Freeform 3"/>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grpSp>
        <p:nvGrpSpPr>
          <p:cNvPr id="4" name="Group 4"/>
          <p:cNvGrpSpPr/>
          <p:nvPr/>
        </p:nvGrpSpPr>
        <p:grpSpPr>
          <a:xfrm>
            <a:off x="-28565" y="9894760"/>
            <a:ext cx="18345198" cy="450009"/>
            <a:chOff x="0" y="0"/>
            <a:chExt cx="24460264" cy="600012"/>
          </a:xfrm>
        </p:grpSpPr>
        <p:sp>
          <p:nvSpPr>
            <p:cNvPr id="5" name="Freeform 5"/>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sp>
        <p:nvSpPr>
          <p:cNvPr id="6" name="Freeform 6"/>
          <p:cNvSpPr/>
          <p:nvPr/>
        </p:nvSpPr>
        <p:spPr>
          <a:xfrm>
            <a:off x="-12583" y="9568444"/>
            <a:ext cx="18313003" cy="555165"/>
          </a:xfrm>
          <a:custGeom>
            <a:avLst/>
            <a:gdLst/>
            <a:ahLst/>
            <a:cxnLst/>
            <a:rect l="l" t="t" r="r" b="b"/>
            <a:pathLst>
              <a:path w="18313003" h="555165">
                <a:moveTo>
                  <a:pt x="0" y="0"/>
                </a:moveTo>
                <a:lnTo>
                  <a:pt x="18313004" y="0"/>
                </a:lnTo>
                <a:lnTo>
                  <a:pt x="18313004" y="555164"/>
                </a:lnTo>
                <a:lnTo>
                  <a:pt x="0" y="555164"/>
                </a:lnTo>
                <a:lnTo>
                  <a:pt x="0" y="0"/>
                </a:lnTo>
                <a:close/>
              </a:path>
            </a:pathLst>
          </a:custGeom>
          <a:blipFill>
            <a:blip>
              <a:extLst>
                <a:ext uri="{96DAC541-7B7A-43D3-8B79-37D633B846F1}">
                  <asvg:svgBlip xmlns:asvg="http://schemas.microsoft.com/office/drawing/2016/SVG/main" r:embed="rId3"/>
                </a:ext>
              </a:extLst>
            </a:blip>
            <a:stretch>
              <a:fillRect t="-603" b="-602"/>
            </a:stretch>
          </a:blipFill>
        </p:spPr>
      </p:sp>
      <p:sp>
        <p:nvSpPr>
          <p:cNvPr id="7" name="TextBox 7"/>
          <p:cNvSpPr txBox="1"/>
          <p:nvPr/>
        </p:nvSpPr>
        <p:spPr>
          <a:xfrm rot="-462600">
            <a:off x="13326065" y="9600938"/>
            <a:ext cx="2554043" cy="511435"/>
          </a:xfrm>
          <a:prstGeom prst="rect">
            <a:avLst/>
          </a:prstGeom>
        </p:spPr>
        <p:txBody>
          <a:bodyPr lIns="0" tIns="0" rIns="0" bIns="0" rtlCol="0" anchor="t">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id="8" name="TextBox 8"/>
          <p:cNvSpPr txBox="1"/>
          <p:nvPr/>
        </p:nvSpPr>
        <p:spPr>
          <a:xfrm rot="1440">
            <a:off x="9193218" y="9716433"/>
            <a:ext cx="4176751" cy="465077"/>
          </a:xfrm>
          <a:prstGeom prst="rect">
            <a:avLst/>
          </a:prstGeom>
        </p:spPr>
        <p:txBody>
          <a:bodyPr lIns="0" tIns="0" rIns="0" bIns="0" rtlCol="0" anchor="t">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id="9" name="TextBox 9"/>
          <p:cNvSpPr txBox="1"/>
          <p:nvPr/>
        </p:nvSpPr>
        <p:spPr>
          <a:xfrm>
            <a:off x="745303" y="830980"/>
            <a:ext cx="4594546" cy="781431"/>
          </a:xfrm>
          <a:prstGeom prst="rect">
            <a:avLst/>
          </a:prstGeom>
        </p:spPr>
        <p:txBody>
          <a:bodyPr lIns="0" tIns="0" rIns="0" bIns="0" rtlCol="0" anchor="t">
            <a:spAutoFit/>
          </a:bodyPr>
          <a:lstStyle/>
          <a:p>
            <a:pPr algn="l">
              <a:lnSpc>
                <a:spcPts val="5757"/>
              </a:lnSpc>
            </a:pPr>
            <a:r>
              <a:rPr lang="en-US" sz="4800" b="1" spc="-21">
                <a:solidFill>
                  <a:srgbClr val="0000FF"/>
                </a:solidFill>
                <a:latin typeface="Times New Roman Bold"/>
                <a:ea typeface="Times New Roman Bold"/>
                <a:cs typeface="Times New Roman Bold"/>
                <a:sym typeface="Times New Roman Bold"/>
              </a:rPr>
              <a:t>Table of Contents</a:t>
            </a:r>
          </a:p>
        </p:txBody>
      </p:sp>
      <p:sp>
        <p:nvSpPr>
          <p:cNvPr id="10" name="TextBox 10"/>
          <p:cNvSpPr txBox="1"/>
          <p:nvPr/>
        </p:nvSpPr>
        <p:spPr>
          <a:xfrm>
            <a:off x="745303" y="2184311"/>
            <a:ext cx="16797252" cy="6572250"/>
          </a:xfrm>
          <a:prstGeom prst="rect">
            <a:avLst/>
          </a:prstGeom>
        </p:spPr>
        <p:txBody>
          <a:bodyPr lIns="0" tIns="0" rIns="0" bIns="0" rtlCol="0" anchor="t">
            <a:spAutoFit/>
          </a:bodyPr>
          <a:lstStyle/>
          <a:p>
            <a:pPr marL="1355598" lvl="5" indent="-225933" algn="l">
              <a:lnSpc>
                <a:spcPts val="4320"/>
              </a:lnSpc>
              <a:buFont typeface="Arial"/>
              <a:buChar char="⚬"/>
            </a:pPr>
            <a:r>
              <a:rPr lang="en-US" sz="3600" b="1" spc="-32">
                <a:solidFill>
                  <a:srgbClr val="000000"/>
                </a:solidFill>
                <a:latin typeface="Times New Roman Bold"/>
                <a:ea typeface="Times New Roman Bold"/>
                <a:cs typeface="Times New Roman Bold"/>
                <a:sym typeface="Times New Roman Bold"/>
              </a:rPr>
              <a:t>Domain</a:t>
            </a:r>
          </a:p>
          <a:p>
            <a:pPr marL="1718308" lvl="6" indent="-245473" algn="l">
              <a:lnSpc>
                <a:spcPts val="4320"/>
              </a:lnSpc>
              <a:buFont typeface="Arial"/>
              <a:buChar char="￭"/>
            </a:pPr>
            <a:r>
              <a:rPr lang="en-US" sz="3600" b="1" spc="-32">
                <a:solidFill>
                  <a:srgbClr val="000000"/>
                </a:solidFill>
                <a:latin typeface="Times New Roman Bold"/>
                <a:ea typeface="Times New Roman Bold"/>
                <a:cs typeface="Times New Roman Bold"/>
                <a:sym typeface="Times New Roman Bold"/>
              </a:rPr>
              <a:t>Sub-Domain</a:t>
            </a:r>
          </a:p>
          <a:p>
            <a:pPr marL="1718308" lvl="6" indent="-245473" algn="l">
              <a:lnSpc>
                <a:spcPts val="4320"/>
              </a:lnSpc>
              <a:buFont typeface="Arial"/>
              <a:buChar char="￭"/>
            </a:pPr>
            <a:r>
              <a:rPr lang="en-US" sz="3600" b="1" spc="-32">
                <a:solidFill>
                  <a:srgbClr val="000000"/>
                </a:solidFill>
                <a:latin typeface="Times New Roman Bold"/>
                <a:ea typeface="Times New Roman Bold"/>
                <a:cs typeface="Times New Roman Bold"/>
                <a:sym typeface="Times New Roman Bold"/>
              </a:rPr>
              <a:t>Application </a:t>
            </a:r>
            <a:r>
              <a:rPr lang="en-US" sz="3600" spc="-32">
                <a:solidFill>
                  <a:srgbClr val="000000"/>
                </a:solidFill>
                <a:latin typeface="Times New Roman"/>
                <a:ea typeface="Times New Roman"/>
                <a:cs typeface="Times New Roman"/>
                <a:sym typeface="Times New Roman"/>
              </a:rPr>
              <a:t> </a:t>
            </a:r>
          </a:p>
          <a:p>
            <a:pPr marL="1355598" lvl="5" indent="-225933" algn="l">
              <a:lnSpc>
                <a:spcPts val="4320"/>
              </a:lnSpc>
              <a:buFont typeface="Arial"/>
              <a:buChar char="⚬"/>
            </a:pPr>
            <a:r>
              <a:rPr lang="en-US" sz="3600" b="1" spc="-29">
                <a:solidFill>
                  <a:srgbClr val="000000"/>
                </a:solidFill>
                <a:latin typeface="Times New Roman Bold"/>
                <a:ea typeface="Times New Roman Bold"/>
                <a:cs typeface="Times New Roman Bold"/>
                <a:sym typeface="Times New Roman Bold"/>
              </a:rPr>
              <a:t>Introduction</a:t>
            </a:r>
          </a:p>
          <a:p>
            <a:pPr marL="1355598" lvl="5" indent="-225933" algn="l">
              <a:lnSpc>
                <a:spcPts val="4320"/>
              </a:lnSpc>
              <a:buFont typeface="Arial"/>
              <a:buChar char="⚬"/>
            </a:pPr>
            <a:r>
              <a:rPr lang="en-US" sz="3600" b="1" spc="-29">
                <a:solidFill>
                  <a:srgbClr val="000000"/>
                </a:solidFill>
                <a:latin typeface="Times New Roman Bold"/>
                <a:ea typeface="Times New Roman Bold"/>
                <a:cs typeface="Times New Roman Bold"/>
                <a:sym typeface="Times New Roman Bold"/>
              </a:rPr>
              <a:t>Problem Statement &amp; Motivation</a:t>
            </a:r>
          </a:p>
          <a:p>
            <a:pPr marL="1355598" lvl="5" indent="-225933" algn="l">
              <a:lnSpc>
                <a:spcPts val="4320"/>
              </a:lnSpc>
              <a:buFont typeface="Arial"/>
              <a:buChar char="⚬"/>
            </a:pPr>
            <a:r>
              <a:rPr lang="en-US" sz="3600" b="1" spc="-32">
                <a:solidFill>
                  <a:srgbClr val="000000"/>
                </a:solidFill>
                <a:latin typeface="Times New Roman Bold"/>
                <a:ea typeface="Times New Roman Bold"/>
                <a:cs typeface="Times New Roman Bold"/>
                <a:sym typeface="Times New Roman Bold"/>
              </a:rPr>
              <a:t>Literature Review</a:t>
            </a:r>
          </a:p>
          <a:p>
            <a:pPr marL="1355598" lvl="5" indent="-225933" algn="l">
              <a:lnSpc>
                <a:spcPts val="4320"/>
              </a:lnSpc>
              <a:buFont typeface="Arial"/>
              <a:buChar char="⚬"/>
            </a:pPr>
            <a:r>
              <a:rPr lang="en-US" sz="3600" b="1" spc="-29">
                <a:solidFill>
                  <a:srgbClr val="000000"/>
                </a:solidFill>
                <a:latin typeface="Times New Roman Bold"/>
                <a:ea typeface="Times New Roman Bold"/>
                <a:cs typeface="Times New Roman Bold"/>
                <a:sym typeface="Times New Roman Bold"/>
              </a:rPr>
              <a:t>Objectives</a:t>
            </a:r>
          </a:p>
          <a:p>
            <a:pPr marL="1355598" lvl="5" indent="-225933" algn="l">
              <a:lnSpc>
                <a:spcPts val="4320"/>
              </a:lnSpc>
              <a:buFont typeface="Arial"/>
              <a:buChar char="⚬"/>
            </a:pPr>
            <a:r>
              <a:rPr lang="en-US" sz="3600" b="1" spc="-32">
                <a:solidFill>
                  <a:srgbClr val="000000"/>
                </a:solidFill>
                <a:latin typeface="Times New Roman Bold"/>
                <a:ea typeface="Times New Roman Bold"/>
                <a:cs typeface="Times New Roman Bold"/>
                <a:sym typeface="Times New Roman Bold"/>
              </a:rPr>
              <a:t>Proposed Contribution</a:t>
            </a:r>
          </a:p>
          <a:p>
            <a:pPr marL="1355598" lvl="5" indent="-225933" algn="l">
              <a:lnSpc>
                <a:spcPts val="4320"/>
              </a:lnSpc>
              <a:buFont typeface="Arial"/>
              <a:buChar char="⚬"/>
            </a:pPr>
            <a:r>
              <a:rPr lang="en-US" sz="3600" b="1" spc="-32">
                <a:solidFill>
                  <a:srgbClr val="000000"/>
                </a:solidFill>
                <a:latin typeface="Times New Roman Bold"/>
                <a:ea typeface="Times New Roman Bold"/>
                <a:cs typeface="Times New Roman Bold"/>
                <a:sym typeface="Times New Roman Bold"/>
              </a:rPr>
              <a:t>Dataset Overview</a:t>
            </a:r>
          </a:p>
          <a:p>
            <a:pPr marL="1355598" lvl="5" indent="-225933" algn="l">
              <a:lnSpc>
                <a:spcPts val="4320"/>
              </a:lnSpc>
              <a:buFont typeface="Arial"/>
              <a:buChar char="⚬"/>
            </a:pPr>
            <a:r>
              <a:rPr lang="en-US" sz="3600" b="1" spc="-32">
                <a:solidFill>
                  <a:srgbClr val="000000"/>
                </a:solidFill>
                <a:latin typeface="Times New Roman Bold"/>
                <a:ea typeface="Times New Roman Bold"/>
                <a:cs typeface="Times New Roman Bold"/>
                <a:sym typeface="Times New Roman Bold"/>
              </a:rPr>
              <a:t>Gap Analysis</a:t>
            </a:r>
          </a:p>
          <a:p>
            <a:pPr marL="1355598" lvl="5" indent="-225933" algn="l">
              <a:lnSpc>
                <a:spcPts val="4320"/>
              </a:lnSpc>
              <a:buFont typeface="Arial"/>
              <a:buChar char="⚬"/>
            </a:pPr>
            <a:r>
              <a:rPr lang="en-US" sz="3600" b="1" spc="-29">
                <a:solidFill>
                  <a:srgbClr val="000000"/>
                </a:solidFill>
                <a:latin typeface="Times New Roman Bold"/>
                <a:ea typeface="Times New Roman Bold"/>
                <a:cs typeface="Times New Roman Bold"/>
                <a:sym typeface="Times New Roman Bold"/>
              </a:rPr>
              <a:t>System Architecture &amp; Methodology</a:t>
            </a:r>
          </a:p>
          <a:p>
            <a:pPr marL="1355598" lvl="5" indent="-225933" algn="l">
              <a:lnSpc>
                <a:spcPts val="4320"/>
              </a:lnSpc>
              <a:buFont typeface="Arial"/>
              <a:buChar char="⚬"/>
            </a:pPr>
            <a:r>
              <a:rPr lang="en-US" sz="3600" b="1" spc="-32">
                <a:solidFill>
                  <a:srgbClr val="000000"/>
                </a:solidFill>
                <a:latin typeface="Times New Roman Bold"/>
                <a:ea typeface="Times New Roman Bold"/>
                <a:cs typeface="Times New Roman Bold"/>
                <a:sym typeface="Times New Roman Bold"/>
              </a:rPr>
              <a:t>References</a:t>
            </a:r>
          </a:p>
        </p:txBody>
      </p:sp>
      <p:grpSp>
        <p:nvGrpSpPr>
          <p:cNvPr id="11" name="Group 11"/>
          <p:cNvGrpSpPr/>
          <p:nvPr/>
        </p:nvGrpSpPr>
        <p:grpSpPr>
          <a:xfrm>
            <a:off x="16830599" y="9612544"/>
            <a:ext cx="1097566" cy="602075"/>
            <a:chOff x="0" y="0"/>
            <a:chExt cx="1463421" cy="802767"/>
          </a:xfrm>
        </p:grpSpPr>
        <p:sp>
          <p:nvSpPr>
            <p:cNvPr id="12" name="Freeform 12"/>
            <p:cNvSpPr/>
            <p:nvPr/>
          </p:nvSpPr>
          <p:spPr>
            <a:xfrm>
              <a:off x="0" y="0"/>
              <a:ext cx="1463421" cy="802767"/>
            </a:xfrm>
            <a:custGeom>
              <a:avLst/>
              <a:gdLst/>
              <a:ahLst/>
              <a:cxnLst/>
              <a:rect l="l" t="t" r="r" b="b"/>
              <a:pathLst>
                <a:path w="1463421" h="802767">
                  <a:moveTo>
                    <a:pt x="0" y="0"/>
                  </a:moveTo>
                  <a:lnTo>
                    <a:pt x="1463421" y="0"/>
                  </a:lnTo>
                  <a:lnTo>
                    <a:pt x="1463421" y="802767"/>
                  </a:lnTo>
                  <a:lnTo>
                    <a:pt x="0" y="802767"/>
                  </a:lnTo>
                  <a:close/>
                </a:path>
              </a:pathLst>
            </a:custGeom>
            <a:blipFill>
              <a:blip r:embed="rId4">
                <a:alphaModFix amt="0"/>
              </a:blip>
              <a:stretch>
                <a:fillRect l="-20430" r="-20430"/>
              </a:stretch>
            </a:blipFill>
          </p:spPr>
        </p:sp>
      </p:grpSp>
      <p:grpSp>
        <p:nvGrpSpPr>
          <p:cNvPr id="13" name="Group 13"/>
          <p:cNvGrpSpPr/>
          <p:nvPr/>
        </p:nvGrpSpPr>
        <p:grpSpPr>
          <a:xfrm>
            <a:off x="16830599" y="9598257"/>
            <a:ext cx="1097566" cy="616363"/>
            <a:chOff x="0" y="0"/>
            <a:chExt cx="1463421" cy="821817"/>
          </a:xfrm>
        </p:grpSpPr>
        <p:sp>
          <p:nvSpPr>
            <p:cNvPr id="14" name="Freeform 14"/>
            <p:cNvSpPr/>
            <p:nvPr/>
          </p:nvSpPr>
          <p:spPr>
            <a:xfrm>
              <a:off x="0" y="0"/>
              <a:ext cx="1463421" cy="821817"/>
            </a:xfrm>
            <a:custGeom>
              <a:avLst/>
              <a:gdLst/>
              <a:ahLst/>
              <a:cxnLst/>
              <a:rect l="l" t="t" r="r" b="b"/>
              <a:pathLst>
                <a:path w="1463421" h="821817">
                  <a:moveTo>
                    <a:pt x="0" y="0"/>
                  </a:moveTo>
                  <a:lnTo>
                    <a:pt x="1463421" y="0"/>
                  </a:lnTo>
                  <a:lnTo>
                    <a:pt x="1463421" y="821817"/>
                  </a:lnTo>
                  <a:lnTo>
                    <a:pt x="0" y="821817"/>
                  </a:lnTo>
                  <a:close/>
                </a:path>
              </a:pathLst>
            </a:custGeom>
            <a:blipFill>
              <a:blip r:embed="rId5">
                <a:alphaModFix amt="0"/>
              </a:blip>
              <a:stretch>
                <a:fillRect l="-22101" r="-22101"/>
              </a:stretch>
            </a:blipFill>
          </p:spPr>
        </p:sp>
      </p:grpSp>
      <p:grpSp>
        <p:nvGrpSpPr>
          <p:cNvPr id="15" name="Group 15"/>
          <p:cNvGrpSpPr/>
          <p:nvPr/>
        </p:nvGrpSpPr>
        <p:grpSpPr>
          <a:xfrm>
            <a:off x="16830599" y="9583969"/>
            <a:ext cx="1097566" cy="630650"/>
            <a:chOff x="0" y="0"/>
            <a:chExt cx="1463421" cy="840867"/>
          </a:xfrm>
        </p:grpSpPr>
        <p:sp>
          <p:nvSpPr>
            <p:cNvPr id="16" name="Freeform 16"/>
            <p:cNvSpPr/>
            <p:nvPr/>
          </p:nvSpPr>
          <p:spPr>
            <a:xfrm>
              <a:off x="0" y="0"/>
              <a:ext cx="1463421" cy="840867"/>
            </a:xfrm>
            <a:custGeom>
              <a:avLst/>
              <a:gdLst/>
              <a:ahLst/>
              <a:cxnLst/>
              <a:rect l="l" t="t" r="r" b="b"/>
              <a:pathLst>
                <a:path w="1463421" h="840867">
                  <a:moveTo>
                    <a:pt x="0" y="0"/>
                  </a:moveTo>
                  <a:lnTo>
                    <a:pt x="1463421" y="0"/>
                  </a:lnTo>
                  <a:lnTo>
                    <a:pt x="1463421" y="840867"/>
                  </a:lnTo>
                  <a:lnTo>
                    <a:pt x="0" y="840867"/>
                  </a:lnTo>
                  <a:close/>
                </a:path>
              </a:pathLst>
            </a:custGeom>
            <a:blipFill>
              <a:blip r:embed="rId6">
                <a:alphaModFix amt="0"/>
              </a:blip>
              <a:stretch>
                <a:fillRect l="-23773" r="-23773"/>
              </a:stretch>
            </a:blipFill>
          </p:spPr>
        </p:sp>
      </p:grpSp>
      <p:grpSp>
        <p:nvGrpSpPr>
          <p:cNvPr id="17" name="Group 17"/>
          <p:cNvGrpSpPr/>
          <p:nvPr/>
        </p:nvGrpSpPr>
        <p:grpSpPr>
          <a:xfrm>
            <a:off x="16830599" y="9569682"/>
            <a:ext cx="1097547" cy="644966"/>
            <a:chOff x="0" y="0"/>
            <a:chExt cx="1463396" cy="859955"/>
          </a:xfrm>
        </p:grpSpPr>
        <p:sp>
          <p:nvSpPr>
            <p:cNvPr id="18" name="Freeform 18"/>
            <p:cNvSpPr/>
            <p:nvPr/>
          </p:nvSpPr>
          <p:spPr>
            <a:xfrm>
              <a:off x="0" y="0"/>
              <a:ext cx="1463421" cy="859917"/>
            </a:xfrm>
            <a:custGeom>
              <a:avLst/>
              <a:gdLst/>
              <a:ahLst/>
              <a:cxnLst/>
              <a:rect l="l" t="t" r="r" b="b"/>
              <a:pathLst>
                <a:path w="1463421" h="859917">
                  <a:moveTo>
                    <a:pt x="0" y="0"/>
                  </a:moveTo>
                  <a:lnTo>
                    <a:pt x="1463421" y="0"/>
                  </a:lnTo>
                  <a:lnTo>
                    <a:pt x="1463421" y="859917"/>
                  </a:lnTo>
                  <a:lnTo>
                    <a:pt x="0" y="859917"/>
                  </a:lnTo>
                  <a:close/>
                </a:path>
              </a:pathLst>
            </a:custGeom>
            <a:blipFill>
              <a:blip r:embed="rId7">
                <a:alphaModFix amt="0"/>
              </a:blip>
              <a:stretch>
                <a:fillRect l="-25449" r="-25446" b="-4"/>
              </a:stretch>
            </a:blipFill>
          </p:spPr>
        </p:sp>
      </p:grpSp>
      <p:grpSp>
        <p:nvGrpSpPr>
          <p:cNvPr id="19" name="Group 19"/>
          <p:cNvGrpSpPr/>
          <p:nvPr/>
        </p:nvGrpSpPr>
        <p:grpSpPr>
          <a:xfrm>
            <a:off x="16830599" y="9555394"/>
            <a:ext cx="1097547" cy="659254"/>
            <a:chOff x="0" y="0"/>
            <a:chExt cx="1463396" cy="879005"/>
          </a:xfrm>
        </p:grpSpPr>
        <p:sp>
          <p:nvSpPr>
            <p:cNvPr id="20" name="Freeform 20"/>
            <p:cNvSpPr/>
            <p:nvPr/>
          </p:nvSpPr>
          <p:spPr>
            <a:xfrm>
              <a:off x="0" y="0"/>
              <a:ext cx="1463396" cy="879005"/>
            </a:xfrm>
            <a:custGeom>
              <a:avLst/>
              <a:gdLst/>
              <a:ahLst/>
              <a:cxnLst/>
              <a:rect l="l" t="t" r="r" b="b"/>
              <a:pathLst>
                <a:path w="1463396" h="879005">
                  <a:moveTo>
                    <a:pt x="0" y="0"/>
                  </a:moveTo>
                  <a:lnTo>
                    <a:pt x="1463396" y="0"/>
                  </a:lnTo>
                  <a:lnTo>
                    <a:pt x="1463396" y="879005"/>
                  </a:lnTo>
                  <a:lnTo>
                    <a:pt x="0" y="879005"/>
                  </a:lnTo>
                  <a:close/>
                </a:path>
              </a:pathLst>
            </a:custGeom>
            <a:blipFill>
              <a:blip r:embed="rId8">
                <a:alphaModFix amt="0"/>
              </a:blip>
              <a:stretch>
                <a:fillRect l="-27066" r="-27066"/>
              </a:stretch>
            </a:blipFill>
          </p:spPr>
        </p:sp>
        <p:sp>
          <p:nvSpPr>
            <p:cNvPr id="21" name="TextBox 21"/>
            <p:cNvSpPr txBox="1"/>
            <p:nvPr/>
          </p:nvSpPr>
          <p:spPr>
            <a:xfrm>
              <a:off x="0" y="-19050"/>
              <a:ext cx="1463396" cy="898055"/>
            </a:xfrm>
            <a:prstGeom prst="rect">
              <a:avLst/>
            </a:prstGeom>
          </p:spPr>
          <p:txBody>
            <a:bodyPr lIns="0" tIns="0" rIns="0" bIns="0" rtlCol="0" anchor="ctr"/>
            <a:lstStyle/>
            <a:p>
              <a:pPr algn="r">
                <a:lnSpc>
                  <a:spcPts val="2160"/>
                </a:lnSpc>
              </a:pPr>
              <a:r>
                <a:rPr lang="en-US" sz="1800">
                  <a:solidFill>
                    <a:srgbClr val="FFFFFF"/>
                  </a:solidFill>
                  <a:latin typeface="Arial"/>
                  <a:ea typeface="Arial"/>
                  <a:cs typeface="Arial"/>
                  <a:sym typeface="Arial"/>
                </a:rPr>
                <a:t>2</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65" y="-43167"/>
            <a:ext cx="18345198" cy="450009"/>
            <a:chOff x="0" y="0"/>
            <a:chExt cx="24460264" cy="600012"/>
          </a:xfrm>
        </p:grpSpPr>
        <p:sp>
          <p:nvSpPr>
            <p:cNvPr id="3" name="Freeform 3"/>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grpSp>
        <p:nvGrpSpPr>
          <p:cNvPr id="4" name="Group 4"/>
          <p:cNvGrpSpPr/>
          <p:nvPr/>
        </p:nvGrpSpPr>
        <p:grpSpPr>
          <a:xfrm>
            <a:off x="-28565" y="9894760"/>
            <a:ext cx="18345198" cy="450009"/>
            <a:chOff x="0" y="0"/>
            <a:chExt cx="24460264" cy="600012"/>
          </a:xfrm>
        </p:grpSpPr>
        <p:sp>
          <p:nvSpPr>
            <p:cNvPr id="5" name="Freeform 5"/>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sp>
        <p:nvSpPr>
          <p:cNvPr id="6" name="Freeform 6"/>
          <p:cNvSpPr/>
          <p:nvPr/>
        </p:nvSpPr>
        <p:spPr>
          <a:xfrm>
            <a:off x="-12583" y="9568444"/>
            <a:ext cx="18313003" cy="555165"/>
          </a:xfrm>
          <a:custGeom>
            <a:avLst/>
            <a:gdLst/>
            <a:ahLst/>
            <a:cxnLst/>
            <a:rect l="l" t="t" r="r" b="b"/>
            <a:pathLst>
              <a:path w="18313003" h="555165">
                <a:moveTo>
                  <a:pt x="0" y="0"/>
                </a:moveTo>
                <a:lnTo>
                  <a:pt x="18313004" y="0"/>
                </a:lnTo>
                <a:lnTo>
                  <a:pt x="18313004" y="555164"/>
                </a:lnTo>
                <a:lnTo>
                  <a:pt x="0" y="555164"/>
                </a:lnTo>
                <a:lnTo>
                  <a:pt x="0" y="0"/>
                </a:lnTo>
                <a:close/>
              </a:path>
            </a:pathLst>
          </a:custGeom>
          <a:blipFill>
            <a:blip>
              <a:extLst>
                <a:ext uri="{96DAC541-7B7A-43D3-8B79-37D633B846F1}">
                  <asvg:svgBlip xmlns:asvg="http://schemas.microsoft.com/office/drawing/2016/SVG/main" r:embed="rId3"/>
                </a:ext>
              </a:extLst>
            </a:blip>
            <a:stretch>
              <a:fillRect t="-603" b="-602"/>
            </a:stretch>
          </a:blipFill>
        </p:spPr>
      </p:sp>
      <p:sp>
        <p:nvSpPr>
          <p:cNvPr id="7" name="TextBox 7"/>
          <p:cNvSpPr txBox="1"/>
          <p:nvPr/>
        </p:nvSpPr>
        <p:spPr>
          <a:xfrm rot="-462600">
            <a:off x="13326065" y="9600938"/>
            <a:ext cx="2554043" cy="511435"/>
          </a:xfrm>
          <a:prstGeom prst="rect">
            <a:avLst/>
          </a:prstGeom>
        </p:spPr>
        <p:txBody>
          <a:bodyPr lIns="0" tIns="0" rIns="0" bIns="0" rtlCol="0" anchor="t">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id="8" name="TextBox 8"/>
          <p:cNvSpPr txBox="1"/>
          <p:nvPr/>
        </p:nvSpPr>
        <p:spPr>
          <a:xfrm rot="1440">
            <a:off x="9193218" y="9716433"/>
            <a:ext cx="4176751" cy="465077"/>
          </a:xfrm>
          <a:prstGeom prst="rect">
            <a:avLst/>
          </a:prstGeom>
        </p:spPr>
        <p:txBody>
          <a:bodyPr lIns="0" tIns="0" rIns="0" bIns="0" rtlCol="0" anchor="t">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id="9" name="Group 9"/>
          <p:cNvGrpSpPr/>
          <p:nvPr/>
        </p:nvGrpSpPr>
        <p:grpSpPr>
          <a:xfrm>
            <a:off x="12210374" y="3204601"/>
            <a:ext cx="5977033" cy="5953316"/>
            <a:chOff x="0" y="0"/>
            <a:chExt cx="7969377" cy="7937754"/>
          </a:xfrm>
        </p:grpSpPr>
        <p:sp>
          <p:nvSpPr>
            <p:cNvPr id="10" name="Freeform 10"/>
            <p:cNvSpPr/>
            <p:nvPr/>
          </p:nvSpPr>
          <p:spPr>
            <a:xfrm>
              <a:off x="0" y="0"/>
              <a:ext cx="7969377" cy="7937754"/>
            </a:xfrm>
            <a:custGeom>
              <a:avLst/>
              <a:gdLst/>
              <a:ahLst/>
              <a:cxnLst/>
              <a:rect l="l" t="t" r="r" b="b"/>
              <a:pathLst>
                <a:path w="7969377" h="7937754">
                  <a:moveTo>
                    <a:pt x="0" y="0"/>
                  </a:moveTo>
                  <a:lnTo>
                    <a:pt x="7969377" y="0"/>
                  </a:lnTo>
                  <a:lnTo>
                    <a:pt x="7969377" y="7937754"/>
                  </a:lnTo>
                  <a:lnTo>
                    <a:pt x="0" y="7937754"/>
                  </a:lnTo>
                  <a:lnTo>
                    <a:pt x="0" y="0"/>
                  </a:lnTo>
                  <a:close/>
                </a:path>
              </a:pathLst>
            </a:custGeom>
            <a:blipFill>
              <a:blip r:embed="rId4">
                <a:alphaModFix amt="3000"/>
              </a:blip>
              <a:stretch>
                <a:fillRect/>
              </a:stretch>
            </a:blipFill>
          </p:spPr>
        </p:sp>
      </p:grpSp>
      <p:sp>
        <p:nvSpPr>
          <p:cNvPr id="11" name="TextBox 11"/>
          <p:cNvSpPr txBox="1"/>
          <p:nvPr/>
        </p:nvSpPr>
        <p:spPr>
          <a:xfrm>
            <a:off x="745303" y="830980"/>
            <a:ext cx="2050037" cy="781431"/>
          </a:xfrm>
          <a:prstGeom prst="rect">
            <a:avLst/>
          </a:prstGeom>
        </p:spPr>
        <p:txBody>
          <a:bodyPr lIns="0" tIns="0" rIns="0" bIns="0" rtlCol="0" anchor="t">
            <a:spAutoFit/>
          </a:bodyPr>
          <a:lstStyle/>
          <a:p>
            <a:pPr algn="l">
              <a:lnSpc>
                <a:spcPts val="5757"/>
              </a:lnSpc>
            </a:pPr>
            <a:r>
              <a:rPr lang="en-US" sz="4800" b="1" spc="-21">
                <a:solidFill>
                  <a:srgbClr val="0000FF"/>
                </a:solidFill>
                <a:latin typeface="Times New Roman Bold"/>
                <a:ea typeface="Times New Roman Bold"/>
                <a:cs typeface="Times New Roman Bold"/>
                <a:sym typeface="Times New Roman Bold"/>
              </a:rPr>
              <a:t>Domain</a:t>
            </a:r>
          </a:p>
        </p:txBody>
      </p:sp>
      <p:sp>
        <p:nvSpPr>
          <p:cNvPr id="12" name="TextBox 12"/>
          <p:cNvSpPr txBox="1"/>
          <p:nvPr/>
        </p:nvSpPr>
        <p:spPr>
          <a:xfrm>
            <a:off x="745303" y="1849269"/>
            <a:ext cx="15896958" cy="7000999"/>
          </a:xfrm>
          <a:prstGeom prst="rect">
            <a:avLst/>
          </a:prstGeom>
        </p:spPr>
        <p:txBody>
          <a:bodyPr lIns="0" tIns="0" rIns="0" bIns="0" rtlCol="0" anchor="t">
            <a:spAutoFit/>
          </a:bodyPr>
          <a:lstStyle/>
          <a:p>
            <a:pPr marL="1371600" lvl="5" indent="-228600" algn="just">
              <a:lnSpc>
                <a:spcPts val="4320"/>
              </a:lnSpc>
              <a:buFont typeface="Arial"/>
              <a:buChar char="⚬"/>
            </a:pPr>
            <a:r>
              <a:rPr lang="en-US" sz="3600" b="1" spc="-29">
                <a:solidFill>
                  <a:srgbClr val="000000"/>
                </a:solidFill>
                <a:latin typeface="Times New Roman Bold"/>
                <a:ea typeface="Times New Roman Bold"/>
                <a:cs typeface="Times New Roman Bold"/>
                <a:sym typeface="Times New Roman Bold"/>
              </a:rPr>
              <a:t>Domain: Finance &amp; FinTech</a:t>
            </a:r>
          </a:p>
          <a:p>
            <a:pPr marL="1214119" lvl="6" indent="-173446" algn="just">
              <a:lnSpc>
                <a:spcPts val="2878"/>
              </a:lnSpc>
              <a:buFont typeface="Arial"/>
              <a:buChar char="￭"/>
            </a:pPr>
            <a:r>
              <a:rPr lang="en-US" sz="2400" spc="-19">
                <a:solidFill>
                  <a:srgbClr val="000000"/>
                </a:solidFill>
                <a:latin typeface="Times New Roman"/>
                <a:ea typeface="Times New Roman"/>
                <a:cs typeface="Times New Roman"/>
                <a:sym typeface="Times New Roman"/>
              </a:rPr>
              <a:t>Application of Temporal Graph Neural Networks to detect money laundering patterns in cryptocurrency transaction networks using time-aware deep learning.</a:t>
            </a:r>
          </a:p>
          <a:p>
            <a:pPr marL="2101671" lvl="7" indent="-262709" algn="just">
              <a:lnSpc>
                <a:spcPts val="3840"/>
              </a:lnSpc>
              <a:buFont typeface="Arial"/>
              <a:buChar char="•"/>
            </a:pPr>
            <a:r>
              <a:rPr lang="en-US" sz="3200" b="1" spc="-26">
                <a:solidFill>
                  <a:srgbClr val="000000"/>
                </a:solidFill>
                <a:latin typeface="Times New Roman Bold"/>
                <a:ea typeface="Times New Roman Bold"/>
                <a:cs typeface="Times New Roman Bold"/>
                <a:sym typeface="Times New Roman Bold"/>
              </a:rPr>
              <a:t>Sub-Domain:</a:t>
            </a:r>
          </a:p>
          <a:p>
            <a:pPr marL="2404531" lvl="8" indent="-267170" algn="just">
              <a:lnSpc>
                <a:spcPts val="2878"/>
              </a:lnSpc>
              <a:buFont typeface="Arial"/>
              <a:buChar char="￭"/>
            </a:pPr>
            <a:r>
              <a:rPr lang="en-US" sz="2400" spc="-19">
                <a:solidFill>
                  <a:srgbClr val="000000"/>
                </a:solidFill>
                <a:latin typeface="Times New Roman"/>
                <a:ea typeface="Times New Roman"/>
                <a:cs typeface="Times New Roman"/>
                <a:sym typeface="Times New Roman"/>
              </a:rPr>
              <a:t>Graph Neural Networks (GNN)</a:t>
            </a:r>
          </a:p>
          <a:p>
            <a:pPr marL="2404531" lvl="8" indent="-267170" algn="just">
              <a:lnSpc>
                <a:spcPts val="2878"/>
              </a:lnSpc>
              <a:buFont typeface="Arial"/>
              <a:buChar char="￭"/>
            </a:pPr>
            <a:r>
              <a:rPr lang="en-US" sz="2400" spc="-19">
                <a:solidFill>
                  <a:srgbClr val="000000"/>
                </a:solidFill>
                <a:latin typeface="Times New Roman"/>
                <a:ea typeface="Times New Roman"/>
                <a:cs typeface="Times New Roman"/>
                <a:sym typeface="Times New Roman"/>
              </a:rPr>
              <a:t>Temporal Graph Learning</a:t>
            </a:r>
          </a:p>
          <a:p>
            <a:pPr marL="2404531" lvl="8" indent="-267170" algn="just">
              <a:lnSpc>
                <a:spcPts val="2878"/>
              </a:lnSpc>
              <a:buFont typeface="Arial"/>
              <a:buChar char="￭"/>
            </a:pPr>
            <a:r>
              <a:rPr lang="en-US" sz="2400" spc="-19">
                <a:solidFill>
                  <a:srgbClr val="000000"/>
                </a:solidFill>
                <a:latin typeface="Times New Roman"/>
                <a:ea typeface="Times New Roman"/>
                <a:cs typeface="Times New Roman"/>
                <a:sym typeface="Times New Roman"/>
              </a:rPr>
              <a:t>Anti-Money Laundering (AML)</a:t>
            </a:r>
          </a:p>
          <a:p>
            <a:pPr marL="2404531" lvl="8" indent="-267170" algn="just">
              <a:lnSpc>
                <a:spcPts val="2878"/>
              </a:lnSpc>
              <a:buFont typeface="Arial"/>
              <a:buChar char="￭"/>
            </a:pPr>
            <a:r>
              <a:rPr lang="en-US" sz="2400" spc="-19">
                <a:solidFill>
                  <a:srgbClr val="000000"/>
                </a:solidFill>
                <a:latin typeface="Times New Roman"/>
                <a:ea typeface="Times New Roman"/>
                <a:cs typeface="Times New Roman"/>
                <a:sym typeface="Times New Roman"/>
              </a:rPr>
              <a:t>Blockchain Analytics</a:t>
            </a:r>
          </a:p>
          <a:p>
            <a:pPr marL="2404531" lvl="8" indent="-267170" algn="just">
              <a:lnSpc>
                <a:spcPts val="2878"/>
              </a:lnSpc>
              <a:buFont typeface="Arial"/>
              <a:buChar char="￭"/>
            </a:pPr>
            <a:r>
              <a:rPr lang="en-US" sz="2400" spc="-19">
                <a:solidFill>
                  <a:srgbClr val="000000"/>
                </a:solidFill>
                <a:latin typeface="Times New Roman"/>
                <a:ea typeface="Times New Roman"/>
                <a:cs typeface="Times New Roman"/>
                <a:sym typeface="Times New Roman"/>
              </a:rPr>
              <a:t>Explainable AI (XAI)</a:t>
            </a:r>
          </a:p>
          <a:p>
            <a:pPr marL="2101671" lvl="7" indent="-262709" algn="just">
              <a:lnSpc>
                <a:spcPts val="3840"/>
              </a:lnSpc>
              <a:buFont typeface="Arial"/>
              <a:buChar char="•"/>
            </a:pPr>
            <a:r>
              <a:rPr lang="en-US" sz="3200" b="1" spc="-26">
                <a:solidFill>
                  <a:srgbClr val="000000"/>
                </a:solidFill>
                <a:latin typeface="Times New Roman Bold"/>
                <a:ea typeface="Times New Roman Bold"/>
                <a:cs typeface="Times New Roman Bold"/>
                <a:sym typeface="Times New Roman Bold"/>
              </a:rPr>
              <a:t>Application:</a:t>
            </a:r>
          </a:p>
          <a:p>
            <a:pPr marL="2404531" lvl="8" indent="-267170" algn="just">
              <a:lnSpc>
                <a:spcPts val="2878"/>
              </a:lnSpc>
              <a:buFont typeface="Arial"/>
              <a:buChar char="￭"/>
            </a:pPr>
            <a:r>
              <a:rPr lang="en-US" sz="2400" spc="-19">
                <a:solidFill>
                  <a:srgbClr val="000000"/>
                </a:solidFill>
                <a:latin typeface="Times New Roman"/>
                <a:ea typeface="Times New Roman"/>
                <a:cs typeface="Times New Roman"/>
                <a:sym typeface="Times New Roman"/>
              </a:rPr>
              <a:t>Cryptocurrency Fraud Detection</a:t>
            </a:r>
          </a:p>
          <a:p>
            <a:pPr marL="2404531" lvl="8" indent="-267170" algn="just">
              <a:lnSpc>
                <a:spcPts val="2878"/>
              </a:lnSpc>
              <a:buFont typeface="Arial"/>
              <a:buChar char="￭"/>
            </a:pPr>
            <a:r>
              <a:rPr lang="en-US" sz="2400" spc="-19">
                <a:solidFill>
                  <a:srgbClr val="000000"/>
                </a:solidFill>
                <a:latin typeface="Times New Roman"/>
                <a:ea typeface="Times New Roman"/>
                <a:cs typeface="Times New Roman"/>
                <a:sym typeface="Times New Roman"/>
              </a:rPr>
              <a:t>Financial Crime Investigation</a:t>
            </a:r>
          </a:p>
          <a:p>
            <a:pPr marL="2404531" lvl="8" indent="-267170" algn="just">
              <a:lnSpc>
                <a:spcPts val="2878"/>
              </a:lnSpc>
              <a:buFont typeface="Arial"/>
              <a:buChar char="￭"/>
            </a:pPr>
            <a:r>
              <a:rPr lang="en-US" sz="2400" spc="-19">
                <a:solidFill>
                  <a:srgbClr val="000000"/>
                </a:solidFill>
                <a:latin typeface="Times New Roman"/>
                <a:ea typeface="Times New Roman"/>
                <a:cs typeface="Times New Roman"/>
                <a:sym typeface="Times New Roman"/>
              </a:rPr>
              <a:t>Suspicious Activity Report (SAR) Filing</a:t>
            </a:r>
          </a:p>
          <a:p>
            <a:pPr marL="2404531" lvl="8" indent="-267170" algn="just">
              <a:lnSpc>
                <a:spcPts val="2878"/>
              </a:lnSpc>
              <a:buFont typeface="Arial"/>
              <a:buChar char="￭"/>
            </a:pPr>
            <a:r>
              <a:rPr lang="en-US" sz="2400" spc="-19">
                <a:solidFill>
                  <a:srgbClr val="000000"/>
                </a:solidFill>
                <a:latin typeface="Times New Roman"/>
                <a:ea typeface="Times New Roman"/>
                <a:cs typeface="Times New Roman"/>
                <a:sym typeface="Times New Roman"/>
              </a:rPr>
              <a:t>Compliance Risk Management</a:t>
            </a:r>
          </a:p>
          <a:p>
            <a:pPr marL="2404531" lvl="8" indent="-267170" algn="just">
              <a:lnSpc>
                <a:spcPts val="2878"/>
              </a:lnSpc>
              <a:buFont typeface="Arial"/>
              <a:buChar char="￭"/>
            </a:pPr>
            <a:r>
              <a:rPr lang="en-US" sz="2400" spc="-19">
                <a:solidFill>
                  <a:srgbClr val="000000"/>
                </a:solidFill>
                <a:latin typeface="Times New Roman"/>
                <a:ea typeface="Times New Roman"/>
                <a:cs typeface="Times New Roman"/>
                <a:sym typeface="Times New Roman"/>
              </a:rPr>
              <a:t>Blockchain Forensics</a:t>
            </a:r>
          </a:p>
          <a:p>
            <a:pPr marL="2404531" lvl="8" indent="-267170" algn="just">
              <a:lnSpc>
                <a:spcPts val="2878"/>
              </a:lnSpc>
              <a:buFont typeface="Arial"/>
              <a:buChar char="￭"/>
            </a:pPr>
            <a:r>
              <a:rPr lang="en-US" sz="2400" spc="-19">
                <a:solidFill>
                  <a:srgbClr val="000000"/>
                </a:solidFill>
                <a:latin typeface="Times New Roman"/>
                <a:ea typeface="Times New Roman"/>
                <a:cs typeface="Times New Roman"/>
                <a:sym typeface="Times New Roman"/>
              </a:rPr>
              <a:t>RegTech and FinTech Platforms</a:t>
            </a:r>
          </a:p>
          <a:p>
            <a:pPr marL="2404531" lvl="8" indent="-267170" algn="just">
              <a:lnSpc>
                <a:spcPts val="2878"/>
              </a:lnSpc>
              <a:buFont typeface="Arial"/>
              <a:buChar char="￭"/>
            </a:pPr>
            <a:r>
              <a:rPr lang="en-US" sz="2400" spc="-19">
                <a:solidFill>
                  <a:srgbClr val="000000"/>
                </a:solidFill>
                <a:latin typeface="Times New Roman"/>
                <a:ea typeface="Times New Roman"/>
                <a:cs typeface="Times New Roman"/>
                <a:sym typeface="Times New Roman"/>
              </a:rPr>
              <a:t>Central Bank &amp; FATF Regulatory Systems</a:t>
            </a:r>
          </a:p>
          <a:p>
            <a:pPr marL="2404531" lvl="8" indent="-267170" algn="just">
              <a:lnSpc>
                <a:spcPts val="2878"/>
              </a:lnSpc>
            </a:pPr>
            <a:endParaRPr lang="en-US" sz="2400" spc="-19">
              <a:solidFill>
                <a:srgbClr val="000000"/>
              </a:solidFill>
              <a:latin typeface="Times New Roman"/>
              <a:ea typeface="Times New Roman"/>
              <a:cs typeface="Times New Roman"/>
              <a:sym typeface="Times New Roman"/>
            </a:endParaRPr>
          </a:p>
        </p:txBody>
      </p:sp>
      <p:grpSp>
        <p:nvGrpSpPr>
          <p:cNvPr id="13" name="Group 13"/>
          <p:cNvGrpSpPr/>
          <p:nvPr/>
        </p:nvGrpSpPr>
        <p:grpSpPr>
          <a:xfrm>
            <a:off x="16830599" y="9612544"/>
            <a:ext cx="1097566" cy="602075"/>
            <a:chOff x="0" y="0"/>
            <a:chExt cx="1463421" cy="802767"/>
          </a:xfrm>
        </p:grpSpPr>
        <p:sp>
          <p:nvSpPr>
            <p:cNvPr id="14" name="Freeform 14"/>
            <p:cNvSpPr/>
            <p:nvPr/>
          </p:nvSpPr>
          <p:spPr>
            <a:xfrm>
              <a:off x="0" y="0"/>
              <a:ext cx="1463421" cy="802767"/>
            </a:xfrm>
            <a:custGeom>
              <a:avLst/>
              <a:gdLst/>
              <a:ahLst/>
              <a:cxnLst/>
              <a:rect l="l" t="t" r="r" b="b"/>
              <a:pathLst>
                <a:path w="1463421" h="802767">
                  <a:moveTo>
                    <a:pt x="0" y="0"/>
                  </a:moveTo>
                  <a:lnTo>
                    <a:pt x="1463421" y="0"/>
                  </a:lnTo>
                  <a:lnTo>
                    <a:pt x="1463421" y="802767"/>
                  </a:lnTo>
                  <a:lnTo>
                    <a:pt x="0" y="802767"/>
                  </a:lnTo>
                  <a:close/>
                </a:path>
              </a:pathLst>
            </a:custGeom>
            <a:blipFill>
              <a:blip r:embed="rId5">
                <a:alphaModFix amt="0"/>
              </a:blip>
              <a:stretch>
                <a:fillRect l="-20430" r="-20430"/>
              </a:stretch>
            </a:blipFill>
          </p:spPr>
        </p:sp>
      </p:grpSp>
      <p:grpSp>
        <p:nvGrpSpPr>
          <p:cNvPr id="15" name="Group 15"/>
          <p:cNvGrpSpPr/>
          <p:nvPr/>
        </p:nvGrpSpPr>
        <p:grpSpPr>
          <a:xfrm>
            <a:off x="16830599" y="9598257"/>
            <a:ext cx="1097566" cy="616363"/>
            <a:chOff x="0" y="0"/>
            <a:chExt cx="1463421" cy="821817"/>
          </a:xfrm>
        </p:grpSpPr>
        <p:sp>
          <p:nvSpPr>
            <p:cNvPr id="16" name="Freeform 16"/>
            <p:cNvSpPr/>
            <p:nvPr/>
          </p:nvSpPr>
          <p:spPr>
            <a:xfrm>
              <a:off x="0" y="0"/>
              <a:ext cx="1463421" cy="821817"/>
            </a:xfrm>
            <a:custGeom>
              <a:avLst/>
              <a:gdLst/>
              <a:ahLst/>
              <a:cxnLst/>
              <a:rect l="l" t="t" r="r" b="b"/>
              <a:pathLst>
                <a:path w="1463421" h="821817">
                  <a:moveTo>
                    <a:pt x="0" y="0"/>
                  </a:moveTo>
                  <a:lnTo>
                    <a:pt x="1463421" y="0"/>
                  </a:lnTo>
                  <a:lnTo>
                    <a:pt x="1463421" y="821817"/>
                  </a:lnTo>
                  <a:lnTo>
                    <a:pt x="0" y="821817"/>
                  </a:lnTo>
                  <a:close/>
                </a:path>
              </a:pathLst>
            </a:custGeom>
            <a:blipFill>
              <a:blip r:embed="rId6">
                <a:alphaModFix amt="0"/>
              </a:blip>
              <a:stretch>
                <a:fillRect l="-22101" r="-22101"/>
              </a:stretch>
            </a:blipFill>
          </p:spPr>
        </p:sp>
      </p:grpSp>
      <p:grpSp>
        <p:nvGrpSpPr>
          <p:cNvPr id="17" name="Group 17"/>
          <p:cNvGrpSpPr/>
          <p:nvPr/>
        </p:nvGrpSpPr>
        <p:grpSpPr>
          <a:xfrm>
            <a:off x="16830599" y="9583969"/>
            <a:ext cx="1097566" cy="630650"/>
            <a:chOff x="0" y="0"/>
            <a:chExt cx="1463421" cy="840867"/>
          </a:xfrm>
        </p:grpSpPr>
        <p:sp>
          <p:nvSpPr>
            <p:cNvPr id="18" name="Freeform 18"/>
            <p:cNvSpPr/>
            <p:nvPr/>
          </p:nvSpPr>
          <p:spPr>
            <a:xfrm>
              <a:off x="0" y="0"/>
              <a:ext cx="1463421" cy="840867"/>
            </a:xfrm>
            <a:custGeom>
              <a:avLst/>
              <a:gdLst/>
              <a:ahLst/>
              <a:cxnLst/>
              <a:rect l="l" t="t" r="r" b="b"/>
              <a:pathLst>
                <a:path w="1463421" h="840867">
                  <a:moveTo>
                    <a:pt x="0" y="0"/>
                  </a:moveTo>
                  <a:lnTo>
                    <a:pt x="1463421" y="0"/>
                  </a:lnTo>
                  <a:lnTo>
                    <a:pt x="1463421" y="840867"/>
                  </a:lnTo>
                  <a:lnTo>
                    <a:pt x="0" y="840867"/>
                  </a:lnTo>
                  <a:close/>
                </a:path>
              </a:pathLst>
            </a:custGeom>
            <a:blipFill>
              <a:blip r:embed="rId7">
                <a:alphaModFix amt="0"/>
              </a:blip>
              <a:stretch>
                <a:fillRect l="-23773" r="-23773"/>
              </a:stretch>
            </a:blipFill>
          </p:spPr>
        </p:sp>
      </p:grpSp>
      <p:grpSp>
        <p:nvGrpSpPr>
          <p:cNvPr id="19" name="Group 19"/>
          <p:cNvGrpSpPr/>
          <p:nvPr/>
        </p:nvGrpSpPr>
        <p:grpSpPr>
          <a:xfrm>
            <a:off x="16830599" y="9569682"/>
            <a:ext cx="1097547" cy="644966"/>
            <a:chOff x="0" y="0"/>
            <a:chExt cx="1463396" cy="859955"/>
          </a:xfrm>
        </p:grpSpPr>
        <p:sp>
          <p:nvSpPr>
            <p:cNvPr id="20" name="Freeform 20"/>
            <p:cNvSpPr/>
            <p:nvPr/>
          </p:nvSpPr>
          <p:spPr>
            <a:xfrm>
              <a:off x="0" y="0"/>
              <a:ext cx="1463421" cy="859917"/>
            </a:xfrm>
            <a:custGeom>
              <a:avLst/>
              <a:gdLst/>
              <a:ahLst/>
              <a:cxnLst/>
              <a:rect l="l" t="t" r="r" b="b"/>
              <a:pathLst>
                <a:path w="1463421" h="859917">
                  <a:moveTo>
                    <a:pt x="0" y="0"/>
                  </a:moveTo>
                  <a:lnTo>
                    <a:pt x="1463421" y="0"/>
                  </a:lnTo>
                  <a:lnTo>
                    <a:pt x="1463421" y="859917"/>
                  </a:lnTo>
                  <a:lnTo>
                    <a:pt x="0" y="859917"/>
                  </a:lnTo>
                  <a:close/>
                </a:path>
              </a:pathLst>
            </a:custGeom>
            <a:blipFill>
              <a:blip r:embed="rId8">
                <a:alphaModFix amt="0"/>
              </a:blip>
              <a:stretch>
                <a:fillRect l="-25449" r="-25446" b="-4"/>
              </a:stretch>
            </a:blipFill>
          </p:spPr>
        </p:sp>
      </p:grpSp>
      <p:grpSp>
        <p:nvGrpSpPr>
          <p:cNvPr id="21" name="Group 21"/>
          <p:cNvGrpSpPr/>
          <p:nvPr/>
        </p:nvGrpSpPr>
        <p:grpSpPr>
          <a:xfrm>
            <a:off x="16830599" y="9555394"/>
            <a:ext cx="1097547" cy="659254"/>
            <a:chOff x="0" y="0"/>
            <a:chExt cx="1463396" cy="879005"/>
          </a:xfrm>
        </p:grpSpPr>
        <p:sp>
          <p:nvSpPr>
            <p:cNvPr id="22" name="Freeform 22"/>
            <p:cNvSpPr/>
            <p:nvPr/>
          </p:nvSpPr>
          <p:spPr>
            <a:xfrm>
              <a:off x="0" y="0"/>
              <a:ext cx="1463396" cy="879005"/>
            </a:xfrm>
            <a:custGeom>
              <a:avLst/>
              <a:gdLst/>
              <a:ahLst/>
              <a:cxnLst/>
              <a:rect l="l" t="t" r="r" b="b"/>
              <a:pathLst>
                <a:path w="1463396" h="879005">
                  <a:moveTo>
                    <a:pt x="0" y="0"/>
                  </a:moveTo>
                  <a:lnTo>
                    <a:pt x="1463396" y="0"/>
                  </a:lnTo>
                  <a:lnTo>
                    <a:pt x="1463396" y="879005"/>
                  </a:lnTo>
                  <a:lnTo>
                    <a:pt x="0" y="879005"/>
                  </a:lnTo>
                  <a:close/>
                </a:path>
              </a:pathLst>
            </a:custGeom>
            <a:blipFill>
              <a:blip r:embed="rId9">
                <a:alphaModFix amt="0"/>
              </a:blip>
              <a:stretch>
                <a:fillRect l="-27066" r="-27066"/>
              </a:stretch>
            </a:blipFill>
          </p:spPr>
        </p:sp>
        <p:sp>
          <p:nvSpPr>
            <p:cNvPr id="23" name="TextBox 23"/>
            <p:cNvSpPr txBox="1"/>
            <p:nvPr/>
          </p:nvSpPr>
          <p:spPr>
            <a:xfrm>
              <a:off x="0" y="-19050"/>
              <a:ext cx="1463396" cy="898055"/>
            </a:xfrm>
            <a:prstGeom prst="rect">
              <a:avLst/>
            </a:prstGeom>
          </p:spPr>
          <p:txBody>
            <a:bodyPr lIns="0" tIns="0" rIns="0" bIns="0" rtlCol="0" anchor="ctr"/>
            <a:lstStyle/>
            <a:p>
              <a:pPr algn="r">
                <a:lnSpc>
                  <a:spcPts val="2160"/>
                </a:lnSpc>
              </a:pPr>
              <a:r>
                <a:rPr lang="en-US" sz="1800">
                  <a:solidFill>
                    <a:srgbClr val="FFFFFF"/>
                  </a:solidFill>
                  <a:latin typeface="Arial"/>
                  <a:ea typeface="Arial"/>
                  <a:cs typeface="Arial"/>
                  <a:sym typeface="Arial"/>
                </a:rPr>
                <a:t>3</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65" y="-43167"/>
            <a:ext cx="18345198" cy="450009"/>
            <a:chOff x="0" y="0"/>
            <a:chExt cx="24460264" cy="600012"/>
          </a:xfrm>
        </p:grpSpPr>
        <p:sp>
          <p:nvSpPr>
            <p:cNvPr id="3" name="Freeform 3"/>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grpSp>
        <p:nvGrpSpPr>
          <p:cNvPr id="4" name="Group 4"/>
          <p:cNvGrpSpPr/>
          <p:nvPr/>
        </p:nvGrpSpPr>
        <p:grpSpPr>
          <a:xfrm>
            <a:off x="-28565" y="9894760"/>
            <a:ext cx="18345198" cy="450009"/>
            <a:chOff x="0" y="0"/>
            <a:chExt cx="24460264" cy="600012"/>
          </a:xfrm>
        </p:grpSpPr>
        <p:sp>
          <p:nvSpPr>
            <p:cNvPr id="5" name="Freeform 5"/>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sp>
        <p:nvSpPr>
          <p:cNvPr id="6" name="Freeform 6"/>
          <p:cNvSpPr/>
          <p:nvPr/>
        </p:nvSpPr>
        <p:spPr>
          <a:xfrm>
            <a:off x="-12583" y="9568444"/>
            <a:ext cx="18313003" cy="555165"/>
          </a:xfrm>
          <a:custGeom>
            <a:avLst/>
            <a:gdLst/>
            <a:ahLst/>
            <a:cxnLst/>
            <a:rect l="l" t="t" r="r" b="b"/>
            <a:pathLst>
              <a:path w="18313003" h="555165">
                <a:moveTo>
                  <a:pt x="0" y="0"/>
                </a:moveTo>
                <a:lnTo>
                  <a:pt x="18313004" y="0"/>
                </a:lnTo>
                <a:lnTo>
                  <a:pt x="18313004" y="555164"/>
                </a:lnTo>
                <a:lnTo>
                  <a:pt x="0" y="555164"/>
                </a:lnTo>
                <a:lnTo>
                  <a:pt x="0" y="0"/>
                </a:lnTo>
                <a:close/>
              </a:path>
            </a:pathLst>
          </a:custGeom>
          <a:blipFill>
            <a:blip>
              <a:extLst>
                <a:ext uri="{96DAC541-7B7A-43D3-8B79-37D633B846F1}">
                  <asvg:svgBlip xmlns:asvg="http://schemas.microsoft.com/office/drawing/2016/SVG/main" r:embed="rId3"/>
                </a:ext>
              </a:extLst>
            </a:blip>
            <a:stretch>
              <a:fillRect t="-603" b="-602"/>
            </a:stretch>
          </a:blipFill>
        </p:spPr>
      </p:sp>
      <p:sp>
        <p:nvSpPr>
          <p:cNvPr id="7" name="TextBox 7"/>
          <p:cNvSpPr txBox="1"/>
          <p:nvPr/>
        </p:nvSpPr>
        <p:spPr>
          <a:xfrm rot="-462600">
            <a:off x="13326065" y="9600938"/>
            <a:ext cx="2554043" cy="511435"/>
          </a:xfrm>
          <a:prstGeom prst="rect">
            <a:avLst/>
          </a:prstGeom>
        </p:spPr>
        <p:txBody>
          <a:bodyPr lIns="0" tIns="0" rIns="0" bIns="0" rtlCol="0" anchor="t">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id="8" name="TextBox 8"/>
          <p:cNvSpPr txBox="1"/>
          <p:nvPr/>
        </p:nvSpPr>
        <p:spPr>
          <a:xfrm rot="1440">
            <a:off x="9193218" y="9716433"/>
            <a:ext cx="4176751" cy="465077"/>
          </a:xfrm>
          <a:prstGeom prst="rect">
            <a:avLst/>
          </a:prstGeom>
        </p:spPr>
        <p:txBody>
          <a:bodyPr lIns="0" tIns="0" rIns="0" bIns="0" rtlCol="0" anchor="t">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id="9" name="Group 9"/>
          <p:cNvGrpSpPr/>
          <p:nvPr/>
        </p:nvGrpSpPr>
        <p:grpSpPr>
          <a:xfrm>
            <a:off x="12210374" y="3204601"/>
            <a:ext cx="5977033" cy="5953316"/>
            <a:chOff x="0" y="0"/>
            <a:chExt cx="7969377" cy="7937754"/>
          </a:xfrm>
        </p:grpSpPr>
        <p:sp>
          <p:nvSpPr>
            <p:cNvPr id="10" name="Freeform 10"/>
            <p:cNvSpPr/>
            <p:nvPr/>
          </p:nvSpPr>
          <p:spPr>
            <a:xfrm>
              <a:off x="0" y="0"/>
              <a:ext cx="7969377" cy="7937754"/>
            </a:xfrm>
            <a:custGeom>
              <a:avLst/>
              <a:gdLst/>
              <a:ahLst/>
              <a:cxnLst/>
              <a:rect l="l" t="t" r="r" b="b"/>
              <a:pathLst>
                <a:path w="7969377" h="7937754">
                  <a:moveTo>
                    <a:pt x="0" y="0"/>
                  </a:moveTo>
                  <a:lnTo>
                    <a:pt x="7969377" y="0"/>
                  </a:lnTo>
                  <a:lnTo>
                    <a:pt x="7969377" y="7937754"/>
                  </a:lnTo>
                  <a:lnTo>
                    <a:pt x="0" y="7937754"/>
                  </a:lnTo>
                  <a:lnTo>
                    <a:pt x="0" y="0"/>
                  </a:lnTo>
                  <a:close/>
                </a:path>
              </a:pathLst>
            </a:custGeom>
            <a:blipFill>
              <a:blip r:embed="rId4">
                <a:alphaModFix amt="3000"/>
              </a:blip>
              <a:stretch>
                <a:fillRect/>
              </a:stretch>
            </a:blipFill>
          </p:spPr>
        </p:sp>
      </p:grpSp>
      <p:sp>
        <p:nvSpPr>
          <p:cNvPr id="11" name="TextBox 11"/>
          <p:cNvSpPr txBox="1"/>
          <p:nvPr/>
        </p:nvSpPr>
        <p:spPr>
          <a:xfrm>
            <a:off x="745303" y="830980"/>
            <a:ext cx="8762371" cy="781431"/>
          </a:xfrm>
          <a:prstGeom prst="rect">
            <a:avLst/>
          </a:prstGeom>
        </p:spPr>
        <p:txBody>
          <a:bodyPr lIns="0" tIns="0" rIns="0" bIns="0" rtlCol="0" anchor="t">
            <a:spAutoFit/>
          </a:bodyPr>
          <a:lstStyle/>
          <a:p>
            <a:pPr algn="l">
              <a:lnSpc>
                <a:spcPts val="5757"/>
              </a:lnSpc>
            </a:pPr>
            <a:r>
              <a:rPr lang="en-US" sz="4800" b="1" spc="-21">
                <a:solidFill>
                  <a:srgbClr val="0000FF"/>
                </a:solidFill>
                <a:latin typeface="Times New Roman Bold"/>
                <a:ea typeface="Times New Roman Bold"/>
                <a:cs typeface="Times New Roman Bold"/>
                <a:sym typeface="Times New Roman Bold"/>
              </a:rPr>
              <a:t>Introduction</a:t>
            </a:r>
          </a:p>
        </p:txBody>
      </p:sp>
      <p:sp>
        <p:nvSpPr>
          <p:cNvPr id="12" name="TextBox 12"/>
          <p:cNvSpPr txBox="1"/>
          <p:nvPr/>
        </p:nvSpPr>
        <p:spPr>
          <a:xfrm>
            <a:off x="745312" y="1957140"/>
            <a:ext cx="17182852" cy="7582252"/>
          </a:xfrm>
          <a:prstGeom prst="rect">
            <a:avLst/>
          </a:prstGeom>
        </p:spPr>
        <p:txBody>
          <a:bodyPr lIns="0" tIns="0" rIns="0" bIns="0" rtlCol="0" anchor="t">
            <a:spAutoFit/>
          </a:bodyPr>
          <a:lstStyle/>
          <a:p>
            <a:pPr algn="just">
              <a:lnSpc>
                <a:spcPts val="3356"/>
              </a:lnSpc>
            </a:pPr>
            <a:r>
              <a:rPr lang="en-US" sz="2799" spc="-10">
                <a:solidFill>
                  <a:srgbClr val="000000"/>
                </a:solidFill>
                <a:latin typeface="Times New Roman"/>
                <a:ea typeface="Times New Roman"/>
                <a:cs typeface="Times New Roman"/>
                <a:sym typeface="Times New Roman"/>
              </a:rPr>
              <a:t>1. What is Cryptocurrency?</a:t>
            </a:r>
          </a:p>
          <a:p>
            <a:pPr marL="639851" lvl="2" indent="-213284" algn="l">
              <a:lnSpc>
                <a:spcPts val="3356"/>
              </a:lnSpc>
              <a:buFont typeface="Arial"/>
              <a:buChar char="⚬"/>
            </a:pPr>
            <a:r>
              <a:rPr lang="en-US" sz="2799" spc="-10">
                <a:solidFill>
                  <a:srgbClr val="000000"/>
                </a:solidFill>
                <a:latin typeface="Times New Roman"/>
                <a:ea typeface="Times New Roman"/>
                <a:cs typeface="Times New Roman"/>
                <a:sym typeface="Times New Roman"/>
              </a:rPr>
              <a:t>Decentralized, peer-to-peer digital monetary medium operating on immutable distributed ledgers (Blockchains)  without central bank intermediaries.</a:t>
            </a:r>
          </a:p>
          <a:p>
            <a:pPr marL="639851" lvl="2" indent="-213284" algn="just">
              <a:lnSpc>
                <a:spcPts val="3356"/>
              </a:lnSpc>
            </a:pPr>
            <a:r>
              <a:rPr lang="en-US" sz="2799" spc="-10">
                <a:solidFill>
                  <a:srgbClr val="000000"/>
                </a:solidFill>
                <a:latin typeface="Times New Roman"/>
                <a:ea typeface="Times New Roman"/>
                <a:cs typeface="Times New Roman"/>
                <a:sym typeface="Times New Roman"/>
              </a:rPr>
              <a:t>2. What is Bitcoin?</a:t>
            </a:r>
          </a:p>
          <a:p>
            <a:pPr marL="639851" lvl="2" indent="-213284" algn="l">
              <a:lnSpc>
                <a:spcPts val="3356"/>
              </a:lnSpc>
              <a:buFont typeface="Arial"/>
              <a:buChar char="⚬"/>
            </a:pPr>
            <a:r>
              <a:rPr lang="en-US" sz="2799" spc="-10">
                <a:solidFill>
                  <a:srgbClr val="000000"/>
                </a:solidFill>
                <a:latin typeface="Times New Roman"/>
                <a:ea typeface="Times New Roman"/>
                <a:cs typeface="Times New Roman"/>
                <a:sym typeface="Times New Roman"/>
              </a:rPr>
              <a:t>Bitcoin is the first and most popular cryptocurrency, invented in 2009 by an anonymous person called Satoshi Nakamoto.</a:t>
            </a:r>
          </a:p>
          <a:p>
            <a:pPr marL="639851" lvl="2" indent="-213284" algn="l">
              <a:lnSpc>
                <a:spcPts val="3356"/>
              </a:lnSpc>
              <a:buFont typeface="Arial"/>
              <a:buChar char="⚬"/>
            </a:pPr>
            <a:r>
              <a:rPr lang="en-US" sz="2799" spc="-10">
                <a:solidFill>
                  <a:srgbClr val="000000"/>
                </a:solidFill>
                <a:latin typeface="Times New Roman"/>
                <a:ea typeface="Times New Roman"/>
                <a:cs typeface="Times New Roman"/>
                <a:sym typeface="Times New Roman"/>
              </a:rPr>
              <a:t>Every Bitcoin transaction is permanently recorded on a public database called the blockchain</a:t>
            </a:r>
          </a:p>
          <a:p>
            <a:pPr marL="639851" lvl="2" indent="-213284" algn="just">
              <a:lnSpc>
                <a:spcPts val="3356"/>
              </a:lnSpc>
            </a:pPr>
            <a:r>
              <a:rPr lang="en-US" sz="2799" spc="-10">
                <a:solidFill>
                  <a:srgbClr val="000000"/>
                </a:solidFill>
                <a:latin typeface="Times New Roman"/>
                <a:ea typeface="Times New Roman"/>
                <a:cs typeface="Times New Roman"/>
                <a:sym typeface="Times New Roman"/>
              </a:rPr>
              <a:t>3. What is a Digital Signature?</a:t>
            </a:r>
          </a:p>
          <a:p>
            <a:pPr marL="639851" lvl="2" indent="-213284" algn="l">
              <a:lnSpc>
                <a:spcPts val="3356"/>
              </a:lnSpc>
              <a:buFont typeface="Arial"/>
              <a:buChar char="⚬"/>
            </a:pPr>
            <a:r>
              <a:rPr lang="en-US" sz="2799" spc="-10">
                <a:solidFill>
                  <a:srgbClr val="000000"/>
                </a:solidFill>
                <a:latin typeface="Times New Roman"/>
                <a:ea typeface="Times New Roman"/>
                <a:cs typeface="Times New Roman"/>
                <a:sym typeface="Times New Roman"/>
              </a:rPr>
              <a:t>A digital signature is a mathematical proof that a transaction was authorised by the real owner of a wallet-without revealing their identity.</a:t>
            </a:r>
          </a:p>
          <a:p>
            <a:pPr marL="639851" lvl="2" indent="-213284" algn="just">
              <a:lnSpc>
                <a:spcPts val="3356"/>
              </a:lnSpc>
            </a:pPr>
            <a:r>
              <a:rPr lang="en-US" sz="2799" spc="-10">
                <a:solidFill>
                  <a:srgbClr val="000000"/>
                </a:solidFill>
                <a:latin typeface="Times New Roman"/>
                <a:ea typeface="Times New Roman"/>
                <a:cs typeface="Times New Roman"/>
                <a:sym typeface="Times New Roman"/>
              </a:rPr>
              <a:t>4. Money Laundering:</a:t>
            </a:r>
          </a:p>
          <a:p>
            <a:pPr marL="639851" lvl="2" indent="-213284" algn="l">
              <a:lnSpc>
                <a:spcPts val="3356"/>
              </a:lnSpc>
              <a:buFont typeface="Arial"/>
              <a:buChar char="⚬"/>
            </a:pPr>
            <a:r>
              <a:rPr lang="en-US" sz="2799" spc="-10">
                <a:solidFill>
                  <a:srgbClr val="000000"/>
                </a:solidFill>
                <a:latin typeface="Times New Roman"/>
                <a:ea typeface="Times New Roman"/>
                <a:cs typeface="Times New Roman"/>
                <a:sym typeface="Times New Roman"/>
              </a:rPr>
              <a:t>The process of disguising the criminal origins of illicit proceeds ($800B to $2 Trillion annually, 2–5% of global GDP).</a:t>
            </a:r>
          </a:p>
          <a:p>
            <a:pPr marL="639851" lvl="2" indent="-213284" algn="just">
              <a:lnSpc>
                <a:spcPts val="3356"/>
              </a:lnSpc>
            </a:pPr>
            <a:endParaRPr lang="en-US" sz="2799" spc="-10">
              <a:solidFill>
                <a:srgbClr val="000000"/>
              </a:solidFill>
              <a:latin typeface="Times New Roman"/>
              <a:ea typeface="Times New Roman"/>
              <a:cs typeface="Times New Roman"/>
              <a:sym typeface="Times New Roman"/>
            </a:endParaRPr>
          </a:p>
          <a:p>
            <a:pPr marL="639851" lvl="2" indent="-213284" algn="just">
              <a:lnSpc>
                <a:spcPts val="3356"/>
              </a:lnSpc>
            </a:pPr>
            <a:endParaRPr lang="en-US" sz="2799" spc="-10">
              <a:solidFill>
                <a:srgbClr val="000000"/>
              </a:solidFill>
              <a:latin typeface="Times New Roman"/>
              <a:ea typeface="Times New Roman"/>
              <a:cs typeface="Times New Roman"/>
              <a:sym typeface="Times New Roman"/>
            </a:endParaRPr>
          </a:p>
          <a:p>
            <a:pPr marL="639851" lvl="2" indent="-213284" algn="just">
              <a:lnSpc>
                <a:spcPts val="3356"/>
              </a:lnSpc>
            </a:pPr>
            <a:endParaRPr lang="en-US" sz="2799" spc="-10">
              <a:solidFill>
                <a:srgbClr val="000000"/>
              </a:solidFill>
              <a:latin typeface="Times New Roman"/>
              <a:ea typeface="Times New Roman"/>
              <a:cs typeface="Times New Roman"/>
              <a:sym typeface="Times New Roman"/>
            </a:endParaRPr>
          </a:p>
          <a:p>
            <a:pPr marL="639851" lvl="2" indent="-213284" algn="just">
              <a:lnSpc>
                <a:spcPts val="3357"/>
              </a:lnSpc>
            </a:pPr>
            <a:endParaRPr lang="en-US" sz="2799" spc="-10">
              <a:solidFill>
                <a:srgbClr val="000000"/>
              </a:solidFill>
              <a:latin typeface="Times New Roman"/>
              <a:ea typeface="Times New Roman"/>
              <a:cs typeface="Times New Roman"/>
              <a:sym typeface="Times New Roman"/>
            </a:endParaRPr>
          </a:p>
          <a:p>
            <a:pPr marL="639851" lvl="2" indent="-213284" algn="just">
              <a:lnSpc>
                <a:spcPts val="3356"/>
              </a:lnSpc>
            </a:pPr>
            <a:endParaRPr lang="en-US" sz="2799" spc="-10">
              <a:solidFill>
                <a:srgbClr val="000000"/>
              </a:solidFill>
              <a:latin typeface="Times New Roman"/>
              <a:ea typeface="Times New Roman"/>
              <a:cs typeface="Times New Roman"/>
              <a:sym typeface="Times New Roman"/>
            </a:endParaRPr>
          </a:p>
        </p:txBody>
      </p:sp>
      <p:grpSp>
        <p:nvGrpSpPr>
          <p:cNvPr id="13" name="Group 13"/>
          <p:cNvGrpSpPr/>
          <p:nvPr/>
        </p:nvGrpSpPr>
        <p:grpSpPr>
          <a:xfrm>
            <a:off x="16830599" y="9612544"/>
            <a:ext cx="1097566" cy="602075"/>
            <a:chOff x="0" y="0"/>
            <a:chExt cx="1463421" cy="802767"/>
          </a:xfrm>
        </p:grpSpPr>
        <p:sp>
          <p:nvSpPr>
            <p:cNvPr id="14" name="Freeform 14"/>
            <p:cNvSpPr/>
            <p:nvPr/>
          </p:nvSpPr>
          <p:spPr>
            <a:xfrm>
              <a:off x="0" y="0"/>
              <a:ext cx="1463421" cy="802767"/>
            </a:xfrm>
            <a:custGeom>
              <a:avLst/>
              <a:gdLst/>
              <a:ahLst/>
              <a:cxnLst/>
              <a:rect l="l" t="t" r="r" b="b"/>
              <a:pathLst>
                <a:path w="1463421" h="802767">
                  <a:moveTo>
                    <a:pt x="0" y="0"/>
                  </a:moveTo>
                  <a:lnTo>
                    <a:pt x="1463421" y="0"/>
                  </a:lnTo>
                  <a:lnTo>
                    <a:pt x="1463421" y="802767"/>
                  </a:lnTo>
                  <a:lnTo>
                    <a:pt x="0" y="802767"/>
                  </a:lnTo>
                  <a:close/>
                </a:path>
              </a:pathLst>
            </a:custGeom>
            <a:blipFill>
              <a:blip r:embed="rId5">
                <a:alphaModFix amt="0"/>
              </a:blip>
              <a:stretch>
                <a:fillRect l="-20430" r="-20430"/>
              </a:stretch>
            </a:blipFill>
          </p:spPr>
        </p:sp>
      </p:grpSp>
      <p:grpSp>
        <p:nvGrpSpPr>
          <p:cNvPr id="15" name="Group 15"/>
          <p:cNvGrpSpPr/>
          <p:nvPr/>
        </p:nvGrpSpPr>
        <p:grpSpPr>
          <a:xfrm>
            <a:off x="16830599" y="9598257"/>
            <a:ext cx="1097566" cy="616363"/>
            <a:chOff x="0" y="0"/>
            <a:chExt cx="1463421" cy="821817"/>
          </a:xfrm>
        </p:grpSpPr>
        <p:sp>
          <p:nvSpPr>
            <p:cNvPr id="16" name="Freeform 16"/>
            <p:cNvSpPr/>
            <p:nvPr/>
          </p:nvSpPr>
          <p:spPr>
            <a:xfrm>
              <a:off x="0" y="0"/>
              <a:ext cx="1463421" cy="821817"/>
            </a:xfrm>
            <a:custGeom>
              <a:avLst/>
              <a:gdLst/>
              <a:ahLst/>
              <a:cxnLst/>
              <a:rect l="l" t="t" r="r" b="b"/>
              <a:pathLst>
                <a:path w="1463421" h="821817">
                  <a:moveTo>
                    <a:pt x="0" y="0"/>
                  </a:moveTo>
                  <a:lnTo>
                    <a:pt x="1463421" y="0"/>
                  </a:lnTo>
                  <a:lnTo>
                    <a:pt x="1463421" y="821817"/>
                  </a:lnTo>
                  <a:lnTo>
                    <a:pt x="0" y="821817"/>
                  </a:lnTo>
                  <a:close/>
                </a:path>
              </a:pathLst>
            </a:custGeom>
            <a:blipFill>
              <a:blip r:embed="rId6">
                <a:alphaModFix amt="0"/>
              </a:blip>
              <a:stretch>
                <a:fillRect l="-22101" r="-22101"/>
              </a:stretch>
            </a:blipFill>
          </p:spPr>
        </p:sp>
      </p:grpSp>
      <p:grpSp>
        <p:nvGrpSpPr>
          <p:cNvPr id="17" name="Group 17"/>
          <p:cNvGrpSpPr/>
          <p:nvPr/>
        </p:nvGrpSpPr>
        <p:grpSpPr>
          <a:xfrm>
            <a:off x="16830599" y="9583969"/>
            <a:ext cx="1097566" cy="630650"/>
            <a:chOff x="0" y="0"/>
            <a:chExt cx="1463421" cy="840867"/>
          </a:xfrm>
        </p:grpSpPr>
        <p:sp>
          <p:nvSpPr>
            <p:cNvPr id="18" name="Freeform 18"/>
            <p:cNvSpPr/>
            <p:nvPr/>
          </p:nvSpPr>
          <p:spPr>
            <a:xfrm>
              <a:off x="0" y="0"/>
              <a:ext cx="1463421" cy="840867"/>
            </a:xfrm>
            <a:custGeom>
              <a:avLst/>
              <a:gdLst/>
              <a:ahLst/>
              <a:cxnLst/>
              <a:rect l="l" t="t" r="r" b="b"/>
              <a:pathLst>
                <a:path w="1463421" h="840867">
                  <a:moveTo>
                    <a:pt x="0" y="0"/>
                  </a:moveTo>
                  <a:lnTo>
                    <a:pt x="1463421" y="0"/>
                  </a:lnTo>
                  <a:lnTo>
                    <a:pt x="1463421" y="840867"/>
                  </a:lnTo>
                  <a:lnTo>
                    <a:pt x="0" y="840867"/>
                  </a:lnTo>
                  <a:close/>
                </a:path>
              </a:pathLst>
            </a:custGeom>
            <a:blipFill>
              <a:blip r:embed="rId7">
                <a:alphaModFix amt="0"/>
              </a:blip>
              <a:stretch>
                <a:fillRect l="-23773" r="-23773"/>
              </a:stretch>
            </a:blipFill>
          </p:spPr>
        </p:sp>
      </p:grpSp>
      <p:grpSp>
        <p:nvGrpSpPr>
          <p:cNvPr id="19" name="Group 19"/>
          <p:cNvGrpSpPr/>
          <p:nvPr/>
        </p:nvGrpSpPr>
        <p:grpSpPr>
          <a:xfrm>
            <a:off x="16830599" y="9569682"/>
            <a:ext cx="1097547" cy="644966"/>
            <a:chOff x="0" y="0"/>
            <a:chExt cx="1463396" cy="859955"/>
          </a:xfrm>
        </p:grpSpPr>
        <p:sp>
          <p:nvSpPr>
            <p:cNvPr id="20" name="Freeform 20"/>
            <p:cNvSpPr/>
            <p:nvPr/>
          </p:nvSpPr>
          <p:spPr>
            <a:xfrm>
              <a:off x="0" y="0"/>
              <a:ext cx="1463421" cy="859917"/>
            </a:xfrm>
            <a:custGeom>
              <a:avLst/>
              <a:gdLst/>
              <a:ahLst/>
              <a:cxnLst/>
              <a:rect l="l" t="t" r="r" b="b"/>
              <a:pathLst>
                <a:path w="1463421" h="859917">
                  <a:moveTo>
                    <a:pt x="0" y="0"/>
                  </a:moveTo>
                  <a:lnTo>
                    <a:pt x="1463421" y="0"/>
                  </a:lnTo>
                  <a:lnTo>
                    <a:pt x="1463421" y="859917"/>
                  </a:lnTo>
                  <a:lnTo>
                    <a:pt x="0" y="859917"/>
                  </a:lnTo>
                  <a:close/>
                </a:path>
              </a:pathLst>
            </a:custGeom>
            <a:blipFill>
              <a:blip r:embed="rId8">
                <a:alphaModFix amt="0"/>
              </a:blip>
              <a:stretch>
                <a:fillRect l="-25449" r="-25446" b="-4"/>
              </a:stretch>
            </a:blipFill>
          </p:spPr>
        </p:sp>
      </p:grpSp>
      <p:grpSp>
        <p:nvGrpSpPr>
          <p:cNvPr id="21" name="Group 21"/>
          <p:cNvGrpSpPr/>
          <p:nvPr/>
        </p:nvGrpSpPr>
        <p:grpSpPr>
          <a:xfrm>
            <a:off x="16830599" y="9555394"/>
            <a:ext cx="1097547" cy="659254"/>
            <a:chOff x="0" y="0"/>
            <a:chExt cx="1463396" cy="879005"/>
          </a:xfrm>
        </p:grpSpPr>
        <p:sp>
          <p:nvSpPr>
            <p:cNvPr id="22" name="Freeform 22"/>
            <p:cNvSpPr/>
            <p:nvPr/>
          </p:nvSpPr>
          <p:spPr>
            <a:xfrm>
              <a:off x="0" y="0"/>
              <a:ext cx="1463396" cy="879005"/>
            </a:xfrm>
            <a:custGeom>
              <a:avLst/>
              <a:gdLst/>
              <a:ahLst/>
              <a:cxnLst/>
              <a:rect l="l" t="t" r="r" b="b"/>
              <a:pathLst>
                <a:path w="1463396" h="879005">
                  <a:moveTo>
                    <a:pt x="0" y="0"/>
                  </a:moveTo>
                  <a:lnTo>
                    <a:pt x="1463396" y="0"/>
                  </a:lnTo>
                  <a:lnTo>
                    <a:pt x="1463396" y="879005"/>
                  </a:lnTo>
                  <a:lnTo>
                    <a:pt x="0" y="879005"/>
                  </a:lnTo>
                  <a:close/>
                </a:path>
              </a:pathLst>
            </a:custGeom>
            <a:blipFill>
              <a:blip r:embed="rId9">
                <a:alphaModFix amt="0"/>
              </a:blip>
              <a:stretch>
                <a:fillRect l="-27066" r="-27066"/>
              </a:stretch>
            </a:blipFill>
          </p:spPr>
        </p:sp>
        <p:sp>
          <p:nvSpPr>
            <p:cNvPr id="23" name="TextBox 23"/>
            <p:cNvSpPr txBox="1"/>
            <p:nvPr/>
          </p:nvSpPr>
          <p:spPr>
            <a:xfrm>
              <a:off x="0" y="-19050"/>
              <a:ext cx="1463396" cy="898055"/>
            </a:xfrm>
            <a:prstGeom prst="rect">
              <a:avLst/>
            </a:prstGeom>
          </p:spPr>
          <p:txBody>
            <a:bodyPr lIns="0" tIns="0" rIns="0" bIns="0" rtlCol="0" anchor="ctr"/>
            <a:lstStyle/>
            <a:p>
              <a:pPr algn="r">
                <a:lnSpc>
                  <a:spcPts val="2160"/>
                </a:lnSpc>
              </a:pPr>
              <a:r>
                <a:rPr lang="en-US" sz="1800">
                  <a:solidFill>
                    <a:srgbClr val="FFFFFF"/>
                  </a:solidFill>
                  <a:latin typeface="Arial"/>
                  <a:ea typeface="Arial"/>
                  <a:cs typeface="Arial"/>
                  <a:sym typeface="Arial"/>
                </a:rPr>
                <a:t>4</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65" y="-43167"/>
            <a:ext cx="18345198" cy="450009"/>
            <a:chOff x="0" y="0"/>
            <a:chExt cx="24460264" cy="600012"/>
          </a:xfrm>
        </p:grpSpPr>
        <p:sp>
          <p:nvSpPr>
            <p:cNvPr id="3" name="Freeform 3"/>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grpSp>
        <p:nvGrpSpPr>
          <p:cNvPr id="4" name="Group 4"/>
          <p:cNvGrpSpPr/>
          <p:nvPr/>
        </p:nvGrpSpPr>
        <p:grpSpPr>
          <a:xfrm>
            <a:off x="-28565" y="9894760"/>
            <a:ext cx="18345198" cy="450009"/>
            <a:chOff x="0" y="0"/>
            <a:chExt cx="24460264" cy="600012"/>
          </a:xfrm>
        </p:grpSpPr>
        <p:sp>
          <p:nvSpPr>
            <p:cNvPr id="5" name="Freeform 5"/>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sp>
        <p:nvSpPr>
          <p:cNvPr id="6" name="Freeform 6"/>
          <p:cNvSpPr/>
          <p:nvPr/>
        </p:nvSpPr>
        <p:spPr>
          <a:xfrm>
            <a:off x="-12583" y="9568444"/>
            <a:ext cx="18313003" cy="555165"/>
          </a:xfrm>
          <a:custGeom>
            <a:avLst/>
            <a:gdLst/>
            <a:ahLst/>
            <a:cxnLst/>
            <a:rect l="l" t="t" r="r" b="b"/>
            <a:pathLst>
              <a:path w="18313003" h="555165">
                <a:moveTo>
                  <a:pt x="0" y="0"/>
                </a:moveTo>
                <a:lnTo>
                  <a:pt x="18313004" y="0"/>
                </a:lnTo>
                <a:lnTo>
                  <a:pt x="18313004" y="555164"/>
                </a:lnTo>
                <a:lnTo>
                  <a:pt x="0" y="555164"/>
                </a:lnTo>
                <a:lnTo>
                  <a:pt x="0" y="0"/>
                </a:lnTo>
                <a:close/>
              </a:path>
            </a:pathLst>
          </a:custGeom>
          <a:blipFill>
            <a:blip>
              <a:extLst>
                <a:ext uri="{96DAC541-7B7A-43D3-8B79-37D633B846F1}">
                  <asvg:svgBlip xmlns:asvg="http://schemas.microsoft.com/office/drawing/2016/SVG/main" r:embed="rId3"/>
                </a:ext>
              </a:extLst>
            </a:blip>
            <a:stretch>
              <a:fillRect t="-603" b="-602"/>
            </a:stretch>
          </a:blipFill>
        </p:spPr>
      </p:sp>
      <p:sp>
        <p:nvSpPr>
          <p:cNvPr id="7" name="TextBox 7"/>
          <p:cNvSpPr txBox="1"/>
          <p:nvPr/>
        </p:nvSpPr>
        <p:spPr>
          <a:xfrm rot="-462600">
            <a:off x="13326065" y="9600938"/>
            <a:ext cx="2554043" cy="511435"/>
          </a:xfrm>
          <a:prstGeom prst="rect">
            <a:avLst/>
          </a:prstGeom>
        </p:spPr>
        <p:txBody>
          <a:bodyPr lIns="0" tIns="0" rIns="0" bIns="0" rtlCol="0" anchor="t">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id="8" name="TextBox 8"/>
          <p:cNvSpPr txBox="1"/>
          <p:nvPr/>
        </p:nvSpPr>
        <p:spPr>
          <a:xfrm rot="1440">
            <a:off x="9193218" y="9716433"/>
            <a:ext cx="4176751" cy="465077"/>
          </a:xfrm>
          <a:prstGeom prst="rect">
            <a:avLst/>
          </a:prstGeom>
        </p:spPr>
        <p:txBody>
          <a:bodyPr lIns="0" tIns="0" rIns="0" bIns="0" rtlCol="0" anchor="t">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id="9" name="Group 9"/>
          <p:cNvGrpSpPr/>
          <p:nvPr/>
        </p:nvGrpSpPr>
        <p:grpSpPr>
          <a:xfrm>
            <a:off x="12210374" y="3204601"/>
            <a:ext cx="5977033" cy="5953316"/>
            <a:chOff x="0" y="0"/>
            <a:chExt cx="7969377" cy="7937754"/>
          </a:xfrm>
        </p:grpSpPr>
        <p:sp>
          <p:nvSpPr>
            <p:cNvPr id="10" name="Freeform 10"/>
            <p:cNvSpPr/>
            <p:nvPr/>
          </p:nvSpPr>
          <p:spPr>
            <a:xfrm>
              <a:off x="0" y="0"/>
              <a:ext cx="7969377" cy="7937754"/>
            </a:xfrm>
            <a:custGeom>
              <a:avLst/>
              <a:gdLst/>
              <a:ahLst/>
              <a:cxnLst/>
              <a:rect l="l" t="t" r="r" b="b"/>
              <a:pathLst>
                <a:path w="7969377" h="7937754">
                  <a:moveTo>
                    <a:pt x="0" y="0"/>
                  </a:moveTo>
                  <a:lnTo>
                    <a:pt x="7969377" y="0"/>
                  </a:lnTo>
                  <a:lnTo>
                    <a:pt x="7969377" y="7937754"/>
                  </a:lnTo>
                  <a:lnTo>
                    <a:pt x="0" y="7937754"/>
                  </a:lnTo>
                  <a:lnTo>
                    <a:pt x="0" y="0"/>
                  </a:lnTo>
                  <a:close/>
                </a:path>
              </a:pathLst>
            </a:custGeom>
            <a:blipFill>
              <a:blip r:embed="rId4">
                <a:alphaModFix amt="3000"/>
              </a:blip>
              <a:stretch>
                <a:fillRect/>
              </a:stretch>
            </a:blipFill>
          </p:spPr>
        </p:sp>
      </p:grpSp>
      <p:sp>
        <p:nvSpPr>
          <p:cNvPr id="11" name="TextBox 11"/>
          <p:cNvSpPr txBox="1"/>
          <p:nvPr/>
        </p:nvSpPr>
        <p:spPr>
          <a:xfrm>
            <a:off x="745303" y="830980"/>
            <a:ext cx="8762371" cy="781431"/>
          </a:xfrm>
          <a:prstGeom prst="rect">
            <a:avLst/>
          </a:prstGeom>
        </p:spPr>
        <p:txBody>
          <a:bodyPr lIns="0" tIns="0" rIns="0" bIns="0" rtlCol="0" anchor="t">
            <a:spAutoFit/>
          </a:bodyPr>
          <a:lstStyle/>
          <a:p>
            <a:pPr algn="l">
              <a:lnSpc>
                <a:spcPts val="5757"/>
              </a:lnSpc>
            </a:pPr>
            <a:r>
              <a:rPr lang="en-US" sz="4800" b="1" spc="-21">
                <a:solidFill>
                  <a:srgbClr val="0000FF"/>
                </a:solidFill>
                <a:latin typeface="Times New Roman Bold"/>
                <a:ea typeface="Times New Roman Bold"/>
                <a:cs typeface="Times New Roman Bold"/>
                <a:sym typeface="Times New Roman Bold"/>
              </a:rPr>
              <a:t>Introduction</a:t>
            </a:r>
          </a:p>
        </p:txBody>
      </p:sp>
      <p:sp>
        <p:nvSpPr>
          <p:cNvPr id="12" name="TextBox 12"/>
          <p:cNvSpPr txBox="1"/>
          <p:nvPr/>
        </p:nvSpPr>
        <p:spPr>
          <a:xfrm>
            <a:off x="745303" y="1653778"/>
            <a:ext cx="15734614" cy="5905852"/>
          </a:xfrm>
          <a:prstGeom prst="rect">
            <a:avLst/>
          </a:prstGeom>
        </p:spPr>
        <p:txBody>
          <a:bodyPr lIns="0" tIns="0" rIns="0" bIns="0" rtlCol="0" anchor="t">
            <a:spAutoFit/>
          </a:bodyPr>
          <a:lstStyle/>
          <a:p>
            <a:pPr algn="just">
              <a:lnSpc>
                <a:spcPts val="3356"/>
              </a:lnSpc>
            </a:pPr>
            <a:endParaRPr/>
          </a:p>
          <a:p>
            <a:pPr algn="just">
              <a:lnSpc>
                <a:spcPts val="3356"/>
              </a:lnSpc>
            </a:pPr>
            <a:r>
              <a:rPr lang="en-US" sz="2799" spc="-10">
                <a:solidFill>
                  <a:srgbClr val="000000"/>
                </a:solidFill>
                <a:latin typeface="Times New Roman"/>
                <a:ea typeface="Times New Roman"/>
                <a:cs typeface="Times New Roman"/>
                <a:sym typeface="Times New Roman"/>
              </a:rPr>
              <a:t>5. Money Laundering Typologies in Crypto Graphs:</a:t>
            </a:r>
          </a:p>
          <a:p>
            <a:pPr marL="639851" lvl="2" indent="-213284" algn="just">
              <a:lnSpc>
                <a:spcPts val="3356"/>
              </a:lnSpc>
              <a:buFont typeface="Arial"/>
              <a:buChar char="⚬"/>
            </a:pPr>
            <a:r>
              <a:rPr lang="en-US" sz="2799" spc="-10">
                <a:solidFill>
                  <a:srgbClr val="000000"/>
                </a:solidFill>
                <a:latin typeface="Times New Roman"/>
                <a:ea typeface="Times New Roman"/>
                <a:cs typeface="Times New Roman"/>
                <a:sym typeface="Times New Roman"/>
              </a:rPr>
              <a:t>Criminals bypass compliance filters using 3 distinct structural graph patterns:</a:t>
            </a:r>
          </a:p>
          <a:p>
            <a:pPr marL="639851" lvl="2" indent="-213284" algn="just">
              <a:lnSpc>
                <a:spcPts val="3356"/>
              </a:lnSpc>
              <a:buFont typeface="Arial"/>
              <a:buChar char="⚬"/>
            </a:pPr>
            <a:r>
              <a:rPr lang="en-US" sz="2799" spc="-10">
                <a:solidFill>
                  <a:srgbClr val="000000"/>
                </a:solidFill>
                <a:latin typeface="Times New Roman"/>
                <a:ea typeface="Times New Roman"/>
                <a:cs typeface="Times New Roman"/>
                <a:sym typeface="Times New Roman"/>
              </a:rPr>
              <a:t>Circular Transfers: Directed closed loops ($A \to B \to C \to A$) for wash-trading, spoofing volumes, and inducing infinite loops in audit software.</a:t>
            </a:r>
          </a:p>
          <a:p>
            <a:pPr marL="639851" lvl="2" indent="-213284" algn="just">
              <a:lnSpc>
                <a:spcPts val="3356"/>
              </a:lnSpc>
              <a:buFont typeface="Arial"/>
              <a:buChar char="⚬"/>
            </a:pPr>
            <a:r>
              <a:rPr lang="en-US" sz="2799" spc="-10">
                <a:solidFill>
                  <a:srgbClr val="000000"/>
                </a:solidFill>
                <a:latin typeface="Times New Roman"/>
                <a:ea typeface="Times New Roman"/>
                <a:cs typeface="Times New Roman"/>
                <a:sym typeface="Times New Roman"/>
              </a:rPr>
              <a:t>Layering Chains: Rapid sequential multi-hop transfers across consecutive timestamps to distance dirty funds from origin crimes.</a:t>
            </a:r>
          </a:p>
          <a:p>
            <a:pPr marL="639851" lvl="2" indent="-213284" algn="just">
              <a:lnSpc>
                <a:spcPts val="3356"/>
              </a:lnSpc>
              <a:buFont typeface="Arial"/>
              <a:buChar char="⚬"/>
            </a:pPr>
            <a:r>
              <a:rPr lang="en-US" sz="2799" spc="-10">
                <a:solidFill>
                  <a:srgbClr val="000000"/>
                </a:solidFill>
                <a:latin typeface="Times New Roman"/>
                <a:ea typeface="Times New Roman"/>
                <a:cs typeface="Times New Roman"/>
                <a:sym typeface="Times New Roman"/>
              </a:rPr>
              <a:t>Smurfing (Structuring): Splitting large criminal proceeds into micro-transactions below mandatory regulatory reporting thresholds ($10,000 limit) and aggregating at exit hubs.</a:t>
            </a:r>
          </a:p>
          <a:p>
            <a:pPr marL="639851" lvl="2" indent="-213284" algn="just">
              <a:lnSpc>
                <a:spcPts val="3356"/>
              </a:lnSpc>
            </a:pPr>
            <a:r>
              <a:rPr lang="en-US" sz="2799" spc="-10">
                <a:solidFill>
                  <a:srgbClr val="000000"/>
                </a:solidFill>
                <a:latin typeface="Times New Roman"/>
                <a:ea typeface="Times New Roman"/>
                <a:cs typeface="Times New Roman"/>
                <a:sym typeface="Times New Roman"/>
              </a:rPr>
              <a:t>6. Proposed Solution (TemporalAML):</a:t>
            </a:r>
          </a:p>
          <a:p>
            <a:pPr marL="639851" lvl="2" indent="-213284" algn="just">
              <a:lnSpc>
                <a:spcPts val="3357"/>
              </a:lnSpc>
              <a:buFont typeface="Arial"/>
              <a:buChar char="⚬"/>
            </a:pPr>
            <a:r>
              <a:rPr lang="en-US" sz="2799" spc="-12">
                <a:solidFill>
                  <a:srgbClr val="000000"/>
                </a:solidFill>
                <a:latin typeface="Times New Roman"/>
                <a:ea typeface="Times New Roman"/>
                <a:cs typeface="Times New Roman"/>
                <a:sym typeface="Times New Roman"/>
              </a:rPr>
              <a:t>A continuous-time Temporal Graph Attention Network (TGAT) with Learnable Fourier Time Encoding that simultaneously identifies all 3 typologies from shared embeddings and generates auditable causal subgraph evidence.</a:t>
            </a:r>
          </a:p>
          <a:p>
            <a:pPr marL="639851" lvl="2" indent="-213284" algn="just">
              <a:lnSpc>
                <a:spcPts val="3356"/>
              </a:lnSpc>
            </a:pPr>
            <a:endParaRPr lang="en-US" sz="2799" spc="-12">
              <a:solidFill>
                <a:srgbClr val="000000"/>
              </a:solidFill>
              <a:latin typeface="Times New Roman"/>
              <a:ea typeface="Times New Roman"/>
              <a:cs typeface="Times New Roman"/>
              <a:sym typeface="Times New Roman"/>
            </a:endParaRPr>
          </a:p>
        </p:txBody>
      </p:sp>
      <p:grpSp>
        <p:nvGrpSpPr>
          <p:cNvPr id="13" name="Group 13"/>
          <p:cNvGrpSpPr/>
          <p:nvPr/>
        </p:nvGrpSpPr>
        <p:grpSpPr>
          <a:xfrm>
            <a:off x="16830599" y="9612544"/>
            <a:ext cx="1097566" cy="602075"/>
            <a:chOff x="0" y="0"/>
            <a:chExt cx="1463421" cy="802767"/>
          </a:xfrm>
        </p:grpSpPr>
        <p:sp>
          <p:nvSpPr>
            <p:cNvPr id="14" name="Freeform 14"/>
            <p:cNvSpPr/>
            <p:nvPr/>
          </p:nvSpPr>
          <p:spPr>
            <a:xfrm>
              <a:off x="0" y="0"/>
              <a:ext cx="1463421" cy="802767"/>
            </a:xfrm>
            <a:custGeom>
              <a:avLst/>
              <a:gdLst/>
              <a:ahLst/>
              <a:cxnLst/>
              <a:rect l="l" t="t" r="r" b="b"/>
              <a:pathLst>
                <a:path w="1463421" h="802767">
                  <a:moveTo>
                    <a:pt x="0" y="0"/>
                  </a:moveTo>
                  <a:lnTo>
                    <a:pt x="1463421" y="0"/>
                  </a:lnTo>
                  <a:lnTo>
                    <a:pt x="1463421" y="802767"/>
                  </a:lnTo>
                  <a:lnTo>
                    <a:pt x="0" y="802767"/>
                  </a:lnTo>
                  <a:close/>
                </a:path>
              </a:pathLst>
            </a:custGeom>
            <a:blipFill>
              <a:blip r:embed="rId5">
                <a:alphaModFix amt="0"/>
              </a:blip>
              <a:stretch>
                <a:fillRect l="-20430" r="-20430"/>
              </a:stretch>
            </a:blipFill>
          </p:spPr>
        </p:sp>
      </p:grpSp>
      <p:grpSp>
        <p:nvGrpSpPr>
          <p:cNvPr id="15" name="Group 15"/>
          <p:cNvGrpSpPr/>
          <p:nvPr/>
        </p:nvGrpSpPr>
        <p:grpSpPr>
          <a:xfrm>
            <a:off x="16830599" y="9598257"/>
            <a:ext cx="1097566" cy="616363"/>
            <a:chOff x="0" y="0"/>
            <a:chExt cx="1463421" cy="821817"/>
          </a:xfrm>
        </p:grpSpPr>
        <p:sp>
          <p:nvSpPr>
            <p:cNvPr id="16" name="Freeform 16"/>
            <p:cNvSpPr/>
            <p:nvPr/>
          </p:nvSpPr>
          <p:spPr>
            <a:xfrm>
              <a:off x="0" y="0"/>
              <a:ext cx="1463421" cy="821817"/>
            </a:xfrm>
            <a:custGeom>
              <a:avLst/>
              <a:gdLst/>
              <a:ahLst/>
              <a:cxnLst/>
              <a:rect l="l" t="t" r="r" b="b"/>
              <a:pathLst>
                <a:path w="1463421" h="821817">
                  <a:moveTo>
                    <a:pt x="0" y="0"/>
                  </a:moveTo>
                  <a:lnTo>
                    <a:pt x="1463421" y="0"/>
                  </a:lnTo>
                  <a:lnTo>
                    <a:pt x="1463421" y="821817"/>
                  </a:lnTo>
                  <a:lnTo>
                    <a:pt x="0" y="821817"/>
                  </a:lnTo>
                  <a:close/>
                </a:path>
              </a:pathLst>
            </a:custGeom>
            <a:blipFill>
              <a:blip r:embed="rId6">
                <a:alphaModFix amt="0"/>
              </a:blip>
              <a:stretch>
                <a:fillRect l="-22101" r="-22101"/>
              </a:stretch>
            </a:blipFill>
          </p:spPr>
        </p:sp>
      </p:grpSp>
      <p:grpSp>
        <p:nvGrpSpPr>
          <p:cNvPr id="17" name="Group 17"/>
          <p:cNvGrpSpPr/>
          <p:nvPr/>
        </p:nvGrpSpPr>
        <p:grpSpPr>
          <a:xfrm>
            <a:off x="16830599" y="9583969"/>
            <a:ext cx="1097566" cy="630650"/>
            <a:chOff x="0" y="0"/>
            <a:chExt cx="1463421" cy="840867"/>
          </a:xfrm>
        </p:grpSpPr>
        <p:sp>
          <p:nvSpPr>
            <p:cNvPr id="18" name="Freeform 18"/>
            <p:cNvSpPr/>
            <p:nvPr/>
          </p:nvSpPr>
          <p:spPr>
            <a:xfrm>
              <a:off x="0" y="0"/>
              <a:ext cx="1463421" cy="840867"/>
            </a:xfrm>
            <a:custGeom>
              <a:avLst/>
              <a:gdLst/>
              <a:ahLst/>
              <a:cxnLst/>
              <a:rect l="l" t="t" r="r" b="b"/>
              <a:pathLst>
                <a:path w="1463421" h="840867">
                  <a:moveTo>
                    <a:pt x="0" y="0"/>
                  </a:moveTo>
                  <a:lnTo>
                    <a:pt x="1463421" y="0"/>
                  </a:lnTo>
                  <a:lnTo>
                    <a:pt x="1463421" y="840867"/>
                  </a:lnTo>
                  <a:lnTo>
                    <a:pt x="0" y="840867"/>
                  </a:lnTo>
                  <a:close/>
                </a:path>
              </a:pathLst>
            </a:custGeom>
            <a:blipFill>
              <a:blip r:embed="rId7">
                <a:alphaModFix amt="0"/>
              </a:blip>
              <a:stretch>
                <a:fillRect l="-23773" r="-23773"/>
              </a:stretch>
            </a:blipFill>
          </p:spPr>
        </p:sp>
      </p:grpSp>
      <p:grpSp>
        <p:nvGrpSpPr>
          <p:cNvPr id="19" name="Group 19"/>
          <p:cNvGrpSpPr/>
          <p:nvPr/>
        </p:nvGrpSpPr>
        <p:grpSpPr>
          <a:xfrm>
            <a:off x="16830599" y="9569682"/>
            <a:ext cx="1097547" cy="644966"/>
            <a:chOff x="0" y="0"/>
            <a:chExt cx="1463396" cy="859955"/>
          </a:xfrm>
        </p:grpSpPr>
        <p:sp>
          <p:nvSpPr>
            <p:cNvPr id="20" name="Freeform 20"/>
            <p:cNvSpPr/>
            <p:nvPr/>
          </p:nvSpPr>
          <p:spPr>
            <a:xfrm>
              <a:off x="0" y="0"/>
              <a:ext cx="1463421" cy="859917"/>
            </a:xfrm>
            <a:custGeom>
              <a:avLst/>
              <a:gdLst/>
              <a:ahLst/>
              <a:cxnLst/>
              <a:rect l="l" t="t" r="r" b="b"/>
              <a:pathLst>
                <a:path w="1463421" h="859917">
                  <a:moveTo>
                    <a:pt x="0" y="0"/>
                  </a:moveTo>
                  <a:lnTo>
                    <a:pt x="1463421" y="0"/>
                  </a:lnTo>
                  <a:lnTo>
                    <a:pt x="1463421" y="859917"/>
                  </a:lnTo>
                  <a:lnTo>
                    <a:pt x="0" y="859917"/>
                  </a:lnTo>
                  <a:close/>
                </a:path>
              </a:pathLst>
            </a:custGeom>
            <a:blipFill>
              <a:blip r:embed="rId8">
                <a:alphaModFix amt="0"/>
              </a:blip>
              <a:stretch>
                <a:fillRect l="-25449" r="-25446" b="-4"/>
              </a:stretch>
            </a:blipFill>
          </p:spPr>
        </p:sp>
      </p:grpSp>
      <p:grpSp>
        <p:nvGrpSpPr>
          <p:cNvPr id="21" name="Group 21"/>
          <p:cNvGrpSpPr/>
          <p:nvPr/>
        </p:nvGrpSpPr>
        <p:grpSpPr>
          <a:xfrm>
            <a:off x="16830599" y="9555394"/>
            <a:ext cx="1097547" cy="659254"/>
            <a:chOff x="0" y="0"/>
            <a:chExt cx="1463396" cy="879005"/>
          </a:xfrm>
        </p:grpSpPr>
        <p:sp>
          <p:nvSpPr>
            <p:cNvPr id="22" name="Freeform 22"/>
            <p:cNvSpPr/>
            <p:nvPr/>
          </p:nvSpPr>
          <p:spPr>
            <a:xfrm>
              <a:off x="0" y="0"/>
              <a:ext cx="1463396" cy="879005"/>
            </a:xfrm>
            <a:custGeom>
              <a:avLst/>
              <a:gdLst/>
              <a:ahLst/>
              <a:cxnLst/>
              <a:rect l="l" t="t" r="r" b="b"/>
              <a:pathLst>
                <a:path w="1463396" h="879005">
                  <a:moveTo>
                    <a:pt x="0" y="0"/>
                  </a:moveTo>
                  <a:lnTo>
                    <a:pt x="1463396" y="0"/>
                  </a:lnTo>
                  <a:lnTo>
                    <a:pt x="1463396" y="879005"/>
                  </a:lnTo>
                  <a:lnTo>
                    <a:pt x="0" y="879005"/>
                  </a:lnTo>
                  <a:close/>
                </a:path>
              </a:pathLst>
            </a:custGeom>
            <a:blipFill>
              <a:blip r:embed="rId9">
                <a:alphaModFix amt="0"/>
              </a:blip>
              <a:stretch>
                <a:fillRect l="-27066" r="-27066"/>
              </a:stretch>
            </a:blipFill>
          </p:spPr>
        </p:sp>
        <p:sp>
          <p:nvSpPr>
            <p:cNvPr id="23" name="TextBox 23"/>
            <p:cNvSpPr txBox="1"/>
            <p:nvPr/>
          </p:nvSpPr>
          <p:spPr>
            <a:xfrm>
              <a:off x="0" y="-19050"/>
              <a:ext cx="1463396" cy="898055"/>
            </a:xfrm>
            <a:prstGeom prst="rect">
              <a:avLst/>
            </a:prstGeom>
          </p:spPr>
          <p:txBody>
            <a:bodyPr lIns="0" tIns="0" rIns="0" bIns="0" rtlCol="0" anchor="ctr"/>
            <a:lstStyle/>
            <a:p>
              <a:pPr algn="r">
                <a:lnSpc>
                  <a:spcPts val="2160"/>
                </a:lnSpc>
              </a:pPr>
              <a:r>
                <a:rPr lang="en-US" sz="1800">
                  <a:solidFill>
                    <a:srgbClr val="FFFFFF"/>
                  </a:solidFill>
                  <a:latin typeface="Arial"/>
                  <a:ea typeface="Arial"/>
                  <a:cs typeface="Arial"/>
                  <a:sym typeface="Arial"/>
                </a:rPr>
                <a:t>4</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65" y="-43167"/>
            <a:ext cx="18345198" cy="450009"/>
            <a:chOff x="0" y="0"/>
            <a:chExt cx="24460264" cy="600012"/>
          </a:xfrm>
        </p:grpSpPr>
        <p:sp>
          <p:nvSpPr>
            <p:cNvPr id="3" name="Freeform 3"/>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grpSp>
        <p:nvGrpSpPr>
          <p:cNvPr id="4" name="Group 4"/>
          <p:cNvGrpSpPr/>
          <p:nvPr/>
        </p:nvGrpSpPr>
        <p:grpSpPr>
          <a:xfrm>
            <a:off x="-28565" y="9894760"/>
            <a:ext cx="18345198" cy="450009"/>
            <a:chOff x="0" y="0"/>
            <a:chExt cx="24460264" cy="600012"/>
          </a:xfrm>
        </p:grpSpPr>
        <p:sp>
          <p:nvSpPr>
            <p:cNvPr id="5" name="Freeform 5"/>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sp>
        <p:nvSpPr>
          <p:cNvPr id="6" name="Freeform 6"/>
          <p:cNvSpPr/>
          <p:nvPr/>
        </p:nvSpPr>
        <p:spPr>
          <a:xfrm>
            <a:off x="-12583" y="9568444"/>
            <a:ext cx="18313003" cy="555165"/>
          </a:xfrm>
          <a:custGeom>
            <a:avLst/>
            <a:gdLst/>
            <a:ahLst/>
            <a:cxnLst/>
            <a:rect l="l" t="t" r="r" b="b"/>
            <a:pathLst>
              <a:path w="18313003" h="555165">
                <a:moveTo>
                  <a:pt x="0" y="0"/>
                </a:moveTo>
                <a:lnTo>
                  <a:pt x="18313004" y="0"/>
                </a:lnTo>
                <a:lnTo>
                  <a:pt x="18313004" y="555164"/>
                </a:lnTo>
                <a:lnTo>
                  <a:pt x="0" y="555164"/>
                </a:lnTo>
                <a:lnTo>
                  <a:pt x="0" y="0"/>
                </a:lnTo>
                <a:close/>
              </a:path>
            </a:pathLst>
          </a:custGeom>
          <a:blipFill>
            <a:blip>
              <a:extLst>
                <a:ext uri="{96DAC541-7B7A-43D3-8B79-37D633B846F1}">
                  <asvg:svgBlip xmlns:asvg="http://schemas.microsoft.com/office/drawing/2016/SVG/main" r:embed="rId3"/>
                </a:ext>
              </a:extLst>
            </a:blip>
            <a:stretch>
              <a:fillRect t="-603" b="-602"/>
            </a:stretch>
          </a:blipFill>
        </p:spPr>
      </p:sp>
      <p:sp>
        <p:nvSpPr>
          <p:cNvPr id="7" name="TextBox 7"/>
          <p:cNvSpPr txBox="1"/>
          <p:nvPr/>
        </p:nvSpPr>
        <p:spPr>
          <a:xfrm rot="-462600">
            <a:off x="13326065" y="9600938"/>
            <a:ext cx="2554043" cy="511435"/>
          </a:xfrm>
          <a:prstGeom prst="rect">
            <a:avLst/>
          </a:prstGeom>
        </p:spPr>
        <p:txBody>
          <a:bodyPr lIns="0" tIns="0" rIns="0" bIns="0" rtlCol="0" anchor="t">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id="8" name="TextBox 8"/>
          <p:cNvSpPr txBox="1"/>
          <p:nvPr/>
        </p:nvSpPr>
        <p:spPr>
          <a:xfrm rot="1440">
            <a:off x="9193218" y="9716433"/>
            <a:ext cx="4176751" cy="465077"/>
          </a:xfrm>
          <a:prstGeom prst="rect">
            <a:avLst/>
          </a:prstGeom>
        </p:spPr>
        <p:txBody>
          <a:bodyPr lIns="0" tIns="0" rIns="0" bIns="0" rtlCol="0" anchor="t">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id="9" name="Group 9"/>
          <p:cNvGrpSpPr/>
          <p:nvPr/>
        </p:nvGrpSpPr>
        <p:grpSpPr>
          <a:xfrm>
            <a:off x="12210374" y="3204601"/>
            <a:ext cx="5977033" cy="5953316"/>
            <a:chOff x="0" y="0"/>
            <a:chExt cx="7969377" cy="7937754"/>
          </a:xfrm>
        </p:grpSpPr>
        <p:sp>
          <p:nvSpPr>
            <p:cNvPr id="10" name="Freeform 10"/>
            <p:cNvSpPr/>
            <p:nvPr/>
          </p:nvSpPr>
          <p:spPr>
            <a:xfrm>
              <a:off x="0" y="0"/>
              <a:ext cx="7969377" cy="7937754"/>
            </a:xfrm>
            <a:custGeom>
              <a:avLst/>
              <a:gdLst/>
              <a:ahLst/>
              <a:cxnLst/>
              <a:rect l="l" t="t" r="r" b="b"/>
              <a:pathLst>
                <a:path w="7969377" h="7937754">
                  <a:moveTo>
                    <a:pt x="0" y="0"/>
                  </a:moveTo>
                  <a:lnTo>
                    <a:pt x="7969377" y="0"/>
                  </a:lnTo>
                  <a:lnTo>
                    <a:pt x="7969377" y="7937754"/>
                  </a:lnTo>
                  <a:lnTo>
                    <a:pt x="0" y="7937754"/>
                  </a:lnTo>
                  <a:lnTo>
                    <a:pt x="0" y="0"/>
                  </a:lnTo>
                  <a:close/>
                </a:path>
              </a:pathLst>
            </a:custGeom>
            <a:blipFill>
              <a:blip r:embed="rId4">
                <a:alphaModFix amt="3000"/>
              </a:blip>
              <a:stretch>
                <a:fillRect/>
              </a:stretch>
            </a:blipFill>
          </p:spPr>
        </p:sp>
      </p:grpSp>
      <p:sp>
        <p:nvSpPr>
          <p:cNvPr id="11" name="TextBox 11"/>
          <p:cNvSpPr txBox="1"/>
          <p:nvPr/>
        </p:nvSpPr>
        <p:spPr>
          <a:xfrm>
            <a:off x="745303" y="830980"/>
            <a:ext cx="10788834" cy="781431"/>
          </a:xfrm>
          <a:prstGeom prst="rect">
            <a:avLst/>
          </a:prstGeom>
        </p:spPr>
        <p:txBody>
          <a:bodyPr lIns="0" tIns="0" rIns="0" bIns="0" rtlCol="0" anchor="t">
            <a:spAutoFit/>
          </a:bodyPr>
          <a:lstStyle/>
          <a:p>
            <a:pPr algn="l">
              <a:lnSpc>
                <a:spcPts val="5757"/>
              </a:lnSpc>
            </a:pPr>
            <a:r>
              <a:rPr lang="en-US" sz="4800" b="1" spc="-21">
                <a:solidFill>
                  <a:srgbClr val="0000FF"/>
                </a:solidFill>
                <a:latin typeface="Times New Roman Bold"/>
                <a:ea typeface="Times New Roman Bold"/>
                <a:cs typeface="Times New Roman Bold"/>
                <a:sym typeface="Times New Roman Bold"/>
              </a:rPr>
              <a:t>Problem Statement</a:t>
            </a:r>
          </a:p>
        </p:txBody>
      </p:sp>
      <p:sp>
        <p:nvSpPr>
          <p:cNvPr id="12" name="TextBox 12"/>
          <p:cNvSpPr txBox="1"/>
          <p:nvPr/>
        </p:nvSpPr>
        <p:spPr>
          <a:xfrm>
            <a:off x="745303" y="2692918"/>
            <a:ext cx="16812854" cy="5536054"/>
          </a:xfrm>
          <a:prstGeom prst="rect">
            <a:avLst/>
          </a:prstGeom>
        </p:spPr>
        <p:txBody>
          <a:bodyPr lIns="0" tIns="0" rIns="0" bIns="0" rtlCol="0" anchor="t">
            <a:spAutoFit/>
          </a:bodyPr>
          <a:lstStyle/>
          <a:p>
            <a:pPr algn="just">
              <a:lnSpc>
                <a:spcPts val="3359"/>
              </a:lnSpc>
            </a:pPr>
            <a:endParaRPr/>
          </a:p>
          <a:p>
            <a:pPr marL="603251" lvl="4" indent="-120650" algn="just">
              <a:lnSpc>
                <a:spcPts val="3359"/>
              </a:lnSpc>
              <a:buFont typeface="Arial"/>
              <a:buChar char="•"/>
            </a:pPr>
            <a:r>
              <a:rPr lang="en-US" sz="2000" spc="-20">
                <a:solidFill>
                  <a:srgbClr val="000000"/>
                </a:solidFill>
                <a:latin typeface="Times New Roman"/>
                <a:ea typeface="Times New Roman"/>
                <a:cs typeface="Times New Roman"/>
                <a:sym typeface="Times New Roman"/>
              </a:rPr>
              <a:t>Hybrid GNN-LSTM approaches process graph structure and time information in two separate disconnected modules — the graph attention mechanism itself remains time-unaware and cannot understand when neighbours transacted or how long ago.</a:t>
            </a:r>
          </a:p>
          <a:p>
            <a:pPr marL="603251" lvl="4" indent="-120650" algn="just">
              <a:lnSpc>
                <a:spcPts val="3359"/>
              </a:lnSpc>
              <a:buFont typeface="Arial"/>
              <a:buChar char="•"/>
            </a:pPr>
            <a:r>
              <a:rPr lang="en-US" sz="2000" spc="-20">
                <a:solidFill>
                  <a:srgbClr val="000000"/>
                </a:solidFill>
                <a:latin typeface="Times New Roman"/>
                <a:ea typeface="Times New Roman"/>
                <a:cs typeface="Times New Roman"/>
                <a:sym typeface="Times New Roman"/>
              </a:rPr>
              <a:t>Wavelet-based temporal encodings (Lin et al., 2026) apply fixed, predetermined frequency bands that cannot adapt to discover the intrinsic timescales at which circular transfers, layering chains, and smurfing actually operate in Bitcoin transaction data.</a:t>
            </a:r>
          </a:p>
          <a:p>
            <a:pPr marL="603251" lvl="4" indent="-120650" algn="just">
              <a:lnSpc>
                <a:spcPts val="3359"/>
              </a:lnSpc>
              <a:buFont typeface="Arial"/>
              <a:buChar char="•"/>
            </a:pPr>
            <a:r>
              <a:rPr lang="en-US" sz="2000" spc="-20">
                <a:solidFill>
                  <a:srgbClr val="000000"/>
                </a:solidFill>
                <a:latin typeface="Times New Roman"/>
                <a:ea typeface="Times New Roman"/>
                <a:cs typeface="Times New Roman"/>
                <a:sym typeface="Times New Roman"/>
              </a:rPr>
              <a:t>Every existing AML paper outputs a binary illicit or licit label — no system identifies which specific pattern type (circular transfer, layering chain, or smurfing) triggered the alert, making outputs non-actionable for compliance investigation and SAR filing.</a:t>
            </a:r>
          </a:p>
          <a:p>
            <a:pPr marL="603251" lvl="4" indent="-120650" algn="just">
              <a:lnSpc>
                <a:spcPts val="3359"/>
              </a:lnSpc>
              <a:buFont typeface="Arial"/>
              <a:buChar char="•"/>
            </a:pPr>
            <a:r>
              <a:rPr lang="en-US" sz="2000" spc="-20">
                <a:solidFill>
                  <a:srgbClr val="000000"/>
                </a:solidFill>
                <a:latin typeface="Times New Roman"/>
                <a:ea typeface="Times New Roman"/>
                <a:cs typeface="Times New Roman"/>
                <a:sym typeface="Times New Roman"/>
              </a:rPr>
              <a:t>Existing explainability approaches use attention weights as a proxy — they do not produce the specific transaction subgraph evidence, do not show time ordering of that evidence, and do not connect the explanation to a specific laundering pattern type.</a:t>
            </a:r>
          </a:p>
          <a:p>
            <a:pPr marL="603251" lvl="4" indent="-120650" algn="just">
              <a:lnSpc>
                <a:spcPts val="3359"/>
              </a:lnSpc>
              <a:buFont typeface="Arial"/>
              <a:buChar char="•"/>
            </a:pPr>
            <a:r>
              <a:rPr lang="en-US" sz="2000" spc="-20">
                <a:solidFill>
                  <a:srgbClr val="000000"/>
                </a:solidFill>
                <a:latin typeface="Times New Roman"/>
                <a:ea typeface="Times New Roman"/>
                <a:cs typeface="Times New Roman"/>
                <a:sym typeface="Times New Roman"/>
              </a:rPr>
              <a:t>Class imbalance in the Elliptic dataset (only ~2% illicit transactions) is addressed uniformly across all time steps — no existing paper recognises or corrects for temporal drift in illicit transaction ratios across the 49 available time snapshots.</a:t>
            </a:r>
          </a:p>
          <a:p>
            <a:pPr marL="603251" lvl="4" indent="-120650" algn="just">
              <a:lnSpc>
                <a:spcPts val="3359"/>
              </a:lnSpc>
              <a:buFont typeface="Arial"/>
              <a:buChar char="•"/>
            </a:pPr>
            <a:r>
              <a:rPr lang="en-US" sz="2000" spc="-20">
                <a:solidFill>
                  <a:srgbClr val="000000"/>
                </a:solidFill>
                <a:latin typeface="Times New Roman"/>
                <a:ea typeface="Times New Roman"/>
                <a:cs typeface="Times New Roman"/>
                <a:sym typeface="Times New Roman"/>
              </a:rPr>
              <a:t>There is a critical and unaddressed need for an AML detection framework that natively integrates learnable temporal encoding inside graph attention, simultaneously detects all three laundering pattern types, and produces per-pattern time-ordered subgraph evidence for compliance-ready output.</a:t>
            </a:r>
          </a:p>
        </p:txBody>
      </p:sp>
      <p:grpSp>
        <p:nvGrpSpPr>
          <p:cNvPr id="13" name="Group 13"/>
          <p:cNvGrpSpPr/>
          <p:nvPr/>
        </p:nvGrpSpPr>
        <p:grpSpPr>
          <a:xfrm>
            <a:off x="16830599" y="9612544"/>
            <a:ext cx="1097566" cy="602075"/>
            <a:chOff x="0" y="0"/>
            <a:chExt cx="1463421" cy="802767"/>
          </a:xfrm>
        </p:grpSpPr>
        <p:sp>
          <p:nvSpPr>
            <p:cNvPr id="14" name="Freeform 14"/>
            <p:cNvSpPr/>
            <p:nvPr/>
          </p:nvSpPr>
          <p:spPr>
            <a:xfrm>
              <a:off x="0" y="0"/>
              <a:ext cx="1463421" cy="802767"/>
            </a:xfrm>
            <a:custGeom>
              <a:avLst/>
              <a:gdLst/>
              <a:ahLst/>
              <a:cxnLst/>
              <a:rect l="l" t="t" r="r" b="b"/>
              <a:pathLst>
                <a:path w="1463421" h="802767">
                  <a:moveTo>
                    <a:pt x="0" y="0"/>
                  </a:moveTo>
                  <a:lnTo>
                    <a:pt x="1463421" y="0"/>
                  </a:lnTo>
                  <a:lnTo>
                    <a:pt x="1463421" y="802767"/>
                  </a:lnTo>
                  <a:lnTo>
                    <a:pt x="0" y="802767"/>
                  </a:lnTo>
                  <a:close/>
                </a:path>
              </a:pathLst>
            </a:custGeom>
            <a:blipFill>
              <a:blip r:embed="rId5">
                <a:alphaModFix amt="0"/>
              </a:blip>
              <a:stretch>
                <a:fillRect l="-20430" r="-20430"/>
              </a:stretch>
            </a:blipFill>
          </p:spPr>
        </p:sp>
      </p:grpSp>
      <p:grpSp>
        <p:nvGrpSpPr>
          <p:cNvPr id="15" name="Group 15"/>
          <p:cNvGrpSpPr/>
          <p:nvPr/>
        </p:nvGrpSpPr>
        <p:grpSpPr>
          <a:xfrm>
            <a:off x="16830599" y="9598257"/>
            <a:ext cx="1097566" cy="616363"/>
            <a:chOff x="0" y="0"/>
            <a:chExt cx="1463421" cy="821817"/>
          </a:xfrm>
        </p:grpSpPr>
        <p:sp>
          <p:nvSpPr>
            <p:cNvPr id="16" name="Freeform 16"/>
            <p:cNvSpPr/>
            <p:nvPr/>
          </p:nvSpPr>
          <p:spPr>
            <a:xfrm>
              <a:off x="0" y="0"/>
              <a:ext cx="1463421" cy="821817"/>
            </a:xfrm>
            <a:custGeom>
              <a:avLst/>
              <a:gdLst/>
              <a:ahLst/>
              <a:cxnLst/>
              <a:rect l="l" t="t" r="r" b="b"/>
              <a:pathLst>
                <a:path w="1463421" h="821817">
                  <a:moveTo>
                    <a:pt x="0" y="0"/>
                  </a:moveTo>
                  <a:lnTo>
                    <a:pt x="1463421" y="0"/>
                  </a:lnTo>
                  <a:lnTo>
                    <a:pt x="1463421" y="821817"/>
                  </a:lnTo>
                  <a:lnTo>
                    <a:pt x="0" y="821817"/>
                  </a:lnTo>
                  <a:close/>
                </a:path>
              </a:pathLst>
            </a:custGeom>
            <a:blipFill>
              <a:blip r:embed="rId6">
                <a:alphaModFix amt="0"/>
              </a:blip>
              <a:stretch>
                <a:fillRect l="-22101" r="-22101"/>
              </a:stretch>
            </a:blipFill>
          </p:spPr>
        </p:sp>
      </p:grpSp>
      <p:grpSp>
        <p:nvGrpSpPr>
          <p:cNvPr id="17" name="Group 17"/>
          <p:cNvGrpSpPr/>
          <p:nvPr/>
        </p:nvGrpSpPr>
        <p:grpSpPr>
          <a:xfrm>
            <a:off x="16830599" y="9583969"/>
            <a:ext cx="1097566" cy="630650"/>
            <a:chOff x="0" y="0"/>
            <a:chExt cx="1463421" cy="840867"/>
          </a:xfrm>
        </p:grpSpPr>
        <p:sp>
          <p:nvSpPr>
            <p:cNvPr id="18" name="Freeform 18"/>
            <p:cNvSpPr/>
            <p:nvPr/>
          </p:nvSpPr>
          <p:spPr>
            <a:xfrm>
              <a:off x="0" y="0"/>
              <a:ext cx="1463421" cy="840867"/>
            </a:xfrm>
            <a:custGeom>
              <a:avLst/>
              <a:gdLst/>
              <a:ahLst/>
              <a:cxnLst/>
              <a:rect l="l" t="t" r="r" b="b"/>
              <a:pathLst>
                <a:path w="1463421" h="840867">
                  <a:moveTo>
                    <a:pt x="0" y="0"/>
                  </a:moveTo>
                  <a:lnTo>
                    <a:pt x="1463421" y="0"/>
                  </a:lnTo>
                  <a:lnTo>
                    <a:pt x="1463421" y="840867"/>
                  </a:lnTo>
                  <a:lnTo>
                    <a:pt x="0" y="840867"/>
                  </a:lnTo>
                  <a:close/>
                </a:path>
              </a:pathLst>
            </a:custGeom>
            <a:blipFill>
              <a:blip r:embed="rId7">
                <a:alphaModFix amt="0"/>
              </a:blip>
              <a:stretch>
                <a:fillRect l="-23773" r="-23773"/>
              </a:stretch>
            </a:blipFill>
          </p:spPr>
        </p:sp>
      </p:grpSp>
      <p:grpSp>
        <p:nvGrpSpPr>
          <p:cNvPr id="19" name="Group 19"/>
          <p:cNvGrpSpPr/>
          <p:nvPr/>
        </p:nvGrpSpPr>
        <p:grpSpPr>
          <a:xfrm>
            <a:off x="16830599" y="9569682"/>
            <a:ext cx="1097547" cy="644966"/>
            <a:chOff x="0" y="0"/>
            <a:chExt cx="1463396" cy="859955"/>
          </a:xfrm>
        </p:grpSpPr>
        <p:sp>
          <p:nvSpPr>
            <p:cNvPr id="20" name="Freeform 20"/>
            <p:cNvSpPr/>
            <p:nvPr/>
          </p:nvSpPr>
          <p:spPr>
            <a:xfrm>
              <a:off x="0" y="0"/>
              <a:ext cx="1463421" cy="859917"/>
            </a:xfrm>
            <a:custGeom>
              <a:avLst/>
              <a:gdLst/>
              <a:ahLst/>
              <a:cxnLst/>
              <a:rect l="l" t="t" r="r" b="b"/>
              <a:pathLst>
                <a:path w="1463421" h="859917">
                  <a:moveTo>
                    <a:pt x="0" y="0"/>
                  </a:moveTo>
                  <a:lnTo>
                    <a:pt x="1463421" y="0"/>
                  </a:lnTo>
                  <a:lnTo>
                    <a:pt x="1463421" y="859917"/>
                  </a:lnTo>
                  <a:lnTo>
                    <a:pt x="0" y="859917"/>
                  </a:lnTo>
                  <a:close/>
                </a:path>
              </a:pathLst>
            </a:custGeom>
            <a:blipFill>
              <a:blip r:embed="rId8">
                <a:alphaModFix amt="0"/>
              </a:blip>
              <a:stretch>
                <a:fillRect l="-25449" r="-25446" b="-4"/>
              </a:stretch>
            </a:blipFill>
          </p:spPr>
        </p:sp>
      </p:grpSp>
      <p:grpSp>
        <p:nvGrpSpPr>
          <p:cNvPr id="21" name="Group 21"/>
          <p:cNvGrpSpPr/>
          <p:nvPr/>
        </p:nvGrpSpPr>
        <p:grpSpPr>
          <a:xfrm>
            <a:off x="16830599" y="9555394"/>
            <a:ext cx="1097547" cy="659254"/>
            <a:chOff x="0" y="0"/>
            <a:chExt cx="1463396" cy="879005"/>
          </a:xfrm>
        </p:grpSpPr>
        <p:sp>
          <p:nvSpPr>
            <p:cNvPr id="22" name="Freeform 22"/>
            <p:cNvSpPr/>
            <p:nvPr/>
          </p:nvSpPr>
          <p:spPr>
            <a:xfrm>
              <a:off x="0" y="0"/>
              <a:ext cx="1463396" cy="879005"/>
            </a:xfrm>
            <a:custGeom>
              <a:avLst/>
              <a:gdLst/>
              <a:ahLst/>
              <a:cxnLst/>
              <a:rect l="l" t="t" r="r" b="b"/>
              <a:pathLst>
                <a:path w="1463396" h="879005">
                  <a:moveTo>
                    <a:pt x="0" y="0"/>
                  </a:moveTo>
                  <a:lnTo>
                    <a:pt x="1463396" y="0"/>
                  </a:lnTo>
                  <a:lnTo>
                    <a:pt x="1463396" y="879005"/>
                  </a:lnTo>
                  <a:lnTo>
                    <a:pt x="0" y="879005"/>
                  </a:lnTo>
                  <a:close/>
                </a:path>
              </a:pathLst>
            </a:custGeom>
            <a:blipFill>
              <a:blip r:embed="rId9">
                <a:alphaModFix amt="0"/>
              </a:blip>
              <a:stretch>
                <a:fillRect l="-27066" r="-27066"/>
              </a:stretch>
            </a:blipFill>
          </p:spPr>
        </p:sp>
        <p:sp>
          <p:nvSpPr>
            <p:cNvPr id="23" name="TextBox 23"/>
            <p:cNvSpPr txBox="1"/>
            <p:nvPr/>
          </p:nvSpPr>
          <p:spPr>
            <a:xfrm>
              <a:off x="0" y="-19050"/>
              <a:ext cx="1463396" cy="898055"/>
            </a:xfrm>
            <a:prstGeom prst="rect">
              <a:avLst/>
            </a:prstGeom>
          </p:spPr>
          <p:txBody>
            <a:bodyPr lIns="0" tIns="0" rIns="0" bIns="0" rtlCol="0" anchor="ctr"/>
            <a:lstStyle/>
            <a:p>
              <a:pPr algn="r">
                <a:lnSpc>
                  <a:spcPts val="2160"/>
                </a:lnSpc>
              </a:pPr>
              <a:r>
                <a:rPr lang="en-US" sz="1800">
                  <a:solidFill>
                    <a:srgbClr val="FFFFFF"/>
                  </a:solidFill>
                  <a:latin typeface="Arial"/>
                  <a:ea typeface="Arial"/>
                  <a:cs typeface="Arial"/>
                  <a:sym typeface="Arial"/>
                </a:rPr>
                <a:t>5</a:t>
              </a:r>
            </a:p>
          </p:txBody>
        </p:sp>
      </p:grpSp>
      <p:sp>
        <p:nvSpPr>
          <p:cNvPr id="24" name="TextBox 24"/>
          <p:cNvSpPr txBox="1"/>
          <p:nvPr/>
        </p:nvSpPr>
        <p:spPr>
          <a:xfrm>
            <a:off x="833647" y="1914354"/>
            <a:ext cx="16609695" cy="1105157"/>
          </a:xfrm>
          <a:prstGeom prst="rect">
            <a:avLst/>
          </a:prstGeom>
        </p:spPr>
        <p:txBody>
          <a:bodyPr lIns="0" tIns="0" rIns="0" bIns="0" rtlCol="0" anchor="t">
            <a:spAutoFit/>
          </a:bodyPr>
          <a:lstStyle/>
          <a:p>
            <a:pPr algn="l">
              <a:lnSpc>
                <a:spcPts val="2878"/>
              </a:lnSpc>
            </a:pPr>
            <a:r>
              <a:rPr lang="en-US" sz="2400" b="1" spc="-10">
                <a:solidFill>
                  <a:srgbClr val="000000"/>
                </a:solidFill>
                <a:latin typeface="Times New Roman Bold"/>
                <a:ea typeface="Times New Roman Bold"/>
                <a:cs typeface="Times New Roman Bold"/>
                <a:sym typeface="Times New Roman Bold"/>
              </a:rPr>
              <a:t>"Existing AML systems model cryptocurrency transactions as static graph snapshots, capturing structural connectivity between wallets while discarding temporal ordering, transaction velocity, and time-evolving behavioural patterns that are the primary diagnostic signatures of money laundering."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65" y="-43167"/>
            <a:ext cx="18345198" cy="450009"/>
            <a:chOff x="0" y="0"/>
            <a:chExt cx="24460264" cy="600012"/>
          </a:xfrm>
        </p:grpSpPr>
        <p:sp>
          <p:nvSpPr>
            <p:cNvPr id="3" name="Freeform 3"/>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grpSp>
        <p:nvGrpSpPr>
          <p:cNvPr id="4" name="Group 4"/>
          <p:cNvGrpSpPr/>
          <p:nvPr/>
        </p:nvGrpSpPr>
        <p:grpSpPr>
          <a:xfrm>
            <a:off x="-28565" y="9894760"/>
            <a:ext cx="18345198" cy="450009"/>
            <a:chOff x="0" y="0"/>
            <a:chExt cx="24460264" cy="600012"/>
          </a:xfrm>
        </p:grpSpPr>
        <p:sp>
          <p:nvSpPr>
            <p:cNvPr id="5" name="Freeform 5"/>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sp>
        <p:nvSpPr>
          <p:cNvPr id="6" name="Freeform 6"/>
          <p:cNvSpPr/>
          <p:nvPr/>
        </p:nvSpPr>
        <p:spPr>
          <a:xfrm>
            <a:off x="-12583" y="9568444"/>
            <a:ext cx="18313003" cy="555165"/>
          </a:xfrm>
          <a:custGeom>
            <a:avLst/>
            <a:gdLst/>
            <a:ahLst/>
            <a:cxnLst/>
            <a:rect l="l" t="t" r="r" b="b"/>
            <a:pathLst>
              <a:path w="18313003" h="555165">
                <a:moveTo>
                  <a:pt x="0" y="0"/>
                </a:moveTo>
                <a:lnTo>
                  <a:pt x="18313004" y="0"/>
                </a:lnTo>
                <a:lnTo>
                  <a:pt x="18313004" y="555164"/>
                </a:lnTo>
                <a:lnTo>
                  <a:pt x="0" y="555164"/>
                </a:lnTo>
                <a:lnTo>
                  <a:pt x="0" y="0"/>
                </a:lnTo>
                <a:close/>
              </a:path>
            </a:pathLst>
          </a:custGeom>
          <a:blipFill>
            <a:blip>
              <a:extLst>
                <a:ext uri="{96DAC541-7B7A-43D3-8B79-37D633B846F1}">
                  <asvg:svgBlip xmlns:asvg="http://schemas.microsoft.com/office/drawing/2016/SVG/main" r:embed="rId3"/>
                </a:ext>
              </a:extLst>
            </a:blip>
            <a:stretch>
              <a:fillRect t="-603" b="-602"/>
            </a:stretch>
          </a:blipFill>
        </p:spPr>
      </p:sp>
      <p:sp>
        <p:nvSpPr>
          <p:cNvPr id="7" name="TextBox 7"/>
          <p:cNvSpPr txBox="1"/>
          <p:nvPr/>
        </p:nvSpPr>
        <p:spPr>
          <a:xfrm rot="-462600">
            <a:off x="13326065" y="9600938"/>
            <a:ext cx="2554043" cy="511435"/>
          </a:xfrm>
          <a:prstGeom prst="rect">
            <a:avLst/>
          </a:prstGeom>
        </p:spPr>
        <p:txBody>
          <a:bodyPr lIns="0" tIns="0" rIns="0" bIns="0" rtlCol="0" anchor="t">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id="8" name="TextBox 8"/>
          <p:cNvSpPr txBox="1"/>
          <p:nvPr/>
        </p:nvSpPr>
        <p:spPr>
          <a:xfrm rot="1440">
            <a:off x="9193218" y="9716433"/>
            <a:ext cx="4176751" cy="465077"/>
          </a:xfrm>
          <a:prstGeom prst="rect">
            <a:avLst/>
          </a:prstGeom>
        </p:spPr>
        <p:txBody>
          <a:bodyPr lIns="0" tIns="0" rIns="0" bIns="0" rtlCol="0" anchor="t">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id="9" name="Group 9"/>
          <p:cNvGrpSpPr/>
          <p:nvPr/>
        </p:nvGrpSpPr>
        <p:grpSpPr>
          <a:xfrm>
            <a:off x="12210374" y="3204601"/>
            <a:ext cx="5977033" cy="5953316"/>
            <a:chOff x="0" y="0"/>
            <a:chExt cx="7969377" cy="7937754"/>
          </a:xfrm>
        </p:grpSpPr>
        <p:sp>
          <p:nvSpPr>
            <p:cNvPr id="10" name="Freeform 10"/>
            <p:cNvSpPr/>
            <p:nvPr/>
          </p:nvSpPr>
          <p:spPr>
            <a:xfrm>
              <a:off x="0" y="0"/>
              <a:ext cx="7969377" cy="7937754"/>
            </a:xfrm>
            <a:custGeom>
              <a:avLst/>
              <a:gdLst/>
              <a:ahLst/>
              <a:cxnLst/>
              <a:rect l="l" t="t" r="r" b="b"/>
              <a:pathLst>
                <a:path w="7969377" h="7937754">
                  <a:moveTo>
                    <a:pt x="0" y="0"/>
                  </a:moveTo>
                  <a:lnTo>
                    <a:pt x="7969377" y="0"/>
                  </a:lnTo>
                  <a:lnTo>
                    <a:pt x="7969377" y="7937754"/>
                  </a:lnTo>
                  <a:lnTo>
                    <a:pt x="0" y="7937754"/>
                  </a:lnTo>
                  <a:lnTo>
                    <a:pt x="0" y="0"/>
                  </a:lnTo>
                  <a:close/>
                </a:path>
              </a:pathLst>
            </a:custGeom>
            <a:blipFill>
              <a:blip r:embed="rId4">
                <a:alphaModFix amt="3000"/>
              </a:blip>
              <a:stretch>
                <a:fillRect/>
              </a:stretch>
            </a:blipFill>
          </p:spPr>
        </p:sp>
      </p:grpSp>
      <p:sp>
        <p:nvSpPr>
          <p:cNvPr id="11" name="TextBox 11"/>
          <p:cNvSpPr txBox="1"/>
          <p:nvPr/>
        </p:nvSpPr>
        <p:spPr>
          <a:xfrm>
            <a:off x="745303" y="830980"/>
            <a:ext cx="6859819" cy="781431"/>
          </a:xfrm>
          <a:prstGeom prst="rect">
            <a:avLst/>
          </a:prstGeom>
        </p:spPr>
        <p:txBody>
          <a:bodyPr lIns="0" tIns="0" rIns="0" bIns="0" rtlCol="0" anchor="t">
            <a:spAutoFit/>
          </a:bodyPr>
          <a:lstStyle/>
          <a:p>
            <a:pPr algn="l">
              <a:lnSpc>
                <a:spcPts val="5757"/>
              </a:lnSpc>
            </a:pPr>
            <a:r>
              <a:rPr lang="en-US" sz="4800" b="1" spc="-21">
                <a:solidFill>
                  <a:srgbClr val="0000FF"/>
                </a:solidFill>
                <a:latin typeface="Times New Roman Bold"/>
                <a:ea typeface="Times New Roman Bold"/>
                <a:cs typeface="Times New Roman Bold"/>
                <a:sym typeface="Times New Roman Bold"/>
              </a:rPr>
              <a:t>Motivation</a:t>
            </a:r>
          </a:p>
        </p:txBody>
      </p:sp>
      <p:sp>
        <p:nvSpPr>
          <p:cNvPr id="12" name="TextBox 12"/>
          <p:cNvSpPr txBox="1"/>
          <p:nvPr/>
        </p:nvSpPr>
        <p:spPr>
          <a:xfrm>
            <a:off x="745303" y="2114607"/>
            <a:ext cx="15731080" cy="3314700"/>
          </a:xfrm>
          <a:prstGeom prst="rect">
            <a:avLst/>
          </a:prstGeom>
        </p:spPr>
        <p:txBody>
          <a:bodyPr lIns="0" tIns="0" rIns="0" bIns="0" rtlCol="0" anchor="t">
            <a:spAutoFit/>
          </a:bodyPr>
          <a:lstStyle/>
          <a:p>
            <a:pPr algn="just">
              <a:lnSpc>
                <a:spcPts val="4320"/>
              </a:lnSpc>
            </a:pPr>
            <a:r>
              <a:rPr lang="en-US" sz="3600" spc="-29">
                <a:solidFill>
                  <a:srgbClr val="000000"/>
                </a:solidFill>
                <a:latin typeface="Times New Roman"/>
                <a:ea typeface="Times New Roman"/>
                <a:cs typeface="Times New Roman"/>
                <a:sym typeface="Times New Roman"/>
              </a:rPr>
              <a:t>Need for</a:t>
            </a:r>
          </a:p>
          <a:p>
            <a:pPr marL="1371600" lvl="5" indent="-228600" algn="l">
              <a:lnSpc>
                <a:spcPts val="4320"/>
              </a:lnSpc>
              <a:buFont typeface="Arial"/>
              <a:buChar char="⚬"/>
            </a:pPr>
            <a:r>
              <a:rPr lang="en-US" sz="3600" spc="-29">
                <a:solidFill>
                  <a:srgbClr val="000000"/>
                </a:solidFill>
                <a:latin typeface="Times New Roman"/>
                <a:ea typeface="Times New Roman"/>
                <a:cs typeface="Times New Roman"/>
                <a:sym typeface="Times New Roman"/>
              </a:rPr>
              <a:t>Temporal-aware AML detection beyond static snapshots</a:t>
            </a:r>
          </a:p>
          <a:p>
            <a:pPr marL="1371600" lvl="5" indent="-228600" algn="l">
              <a:lnSpc>
                <a:spcPts val="4320"/>
              </a:lnSpc>
              <a:buFont typeface="Arial"/>
              <a:buChar char="⚬"/>
            </a:pPr>
            <a:r>
              <a:rPr lang="en-US" sz="3600" spc="-29">
                <a:solidFill>
                  <a:srgbClr val="000000"/>
                </a:solidFill>
                <a:latin typeface="Times New Roman"/>
                <a:ea typeface="Times New Roman"/>
                <a:cs typeface="Times New Roman"/>
                <a:sym typeface="Times New Roman"/>
              </a:rPr>
              <a:t>Learnable time encoding that adapts to laundering timescales</a:t>
            </a:r>
          </a:p>
          <a:p>
            <a:pPr marL="1371600" lvl="5" indent="-228600" algn="l">
              <a:lnSpc>
                <a:spcPts val="4320"/>
              </a:lnSpc>
              <a:buFont typeface="Arial"/>
              <a:buChar char="⚬"/>
            </a:pPr>
            <a:r>
              <a:rPr lang="en-US" sz="3600" spc="-29">
                <a:solidFill>
                  <a:srgbClr val="000000"/>
                </a:solidFill>
                <a:latin typeface="Times New Roman"/>
                <a:ea typeface="Times New Roman"/>
                <a:cs typeface="Times New Roman"/>
                <a:sym typeface="Times New Roman"/>
              </a:rPr>
              <a:t>Unified multi-pattern detection — circular, layering, smurfing</a:t>
            </a:r>
          </a:p>
          <a:p>
            <a:pPr marL="1371600" lvl="5" indent="-228600" algn="l">
              <a:lnSpc>
                <a:spcPts val="4320"/>
              </a:lnSpc>
              <a:buFont typeface="Arial"/>
              <a:buChar char="⚬"/>
            </a:pPr>
            <a:r>
              <a:rPr lang="en-US" sz="3600" spc="-29">
                <a:solidFill>
                  <a:srgbClr val="000000"/>
                </a:solidFill>
                <a:latin typeface="Times New Roman"/>
                <a:ea typeface="Times New Roman"/>
                <a:cs typeface="Times New Roman"/>
                <a:sym typeface="Times New Roman"/>
              </a:rPr>
              <a:t>Explainable per-pattern subgraph evidence for compliance</a:t>
            </a:r>
          </a:p>
          <a:p>
            <a:pPr marL="1371600" lvl="5" indent="-228600" algn="l">
              <a:lnSpc>
                <a:spcPts val="4320"/>
              </a:lnSpc>
              <a:buFont typeface="Arial"/>
              <a:buChar char="⚬"/>
            </a:pPr>
            <a:r>
              <a:rPr lang="en-US" sz="3600" spc="-29">
                <a:solidFill>
                  <a:srgbClr val="000000"/>
                </a:solidFill>
                <a:latin typeface="Times New Roman"/>
                <a:ea typeface="Times New Roman"/>
                <a:cs typeface="Times New Roman"/>
                <a:sym typeface="Times New Roman"/>
              </a:rPr>
              <a:t>Causal temporal constraint for production-grade deployment</a:t>
            </a:r>
          </a:p>
        </p:txBody>
      </p:sp>
      <p:grpSp>
        <p:nvGrpSpPr>
          <p:cNvPr id="13" name="Group 13"/>
          <p:cNvGrpSpPr/>
          <p:nvPr/>
        </p:nvGrpSpPr>
        <p:grpSpPr>
          <a:xfrm>
            <a:off x="16830599" y="9612544"/>
            <a:ext cx="1097566" cy="602075"/>
            <a:chOff x="0" y="0"/>
            <a:chExt cx="1463421" cy="802767"/>
          </a:xfrm>
        </p:grpSpPr>
        <p:sp>
          <p:nvSpPr>
            <p:cNvPr id="14" name="Freeform 14"/>
            <p:cNvSpPr/>
            <p:nvPr/>
          </p:nvSpPr>
          <p:spPr>
            <a:xfrm>
              <a:off x="0" y="0"/>
              <a:ext cx="1463421" cy="802767"/>
            </a:xfrm>
            <a:custGeom>
              <a:avLst/>
              <a:gdLst/>
              <a:ahLst/>
              <a:cxnLst/>
              <a:rect l="l" t="t" r="r" b="b"/>
              <a:pathLst>
                <a:path w="1463421" h="802767">
                  <a:moveTo>
                    <a:pt x="0" y="0"/>
                  </a:moveTo>
                  <a:lnTo>
                    <a:pt x="1463421" y="0"/>
                  </a:lnTo>
                  <a:lnTo>
                    <a:pt x="1463421" y="802767"/>
                  </a:lnTo>
                  <a:lnTo>
                    <a:pt x="0" y="802767"/>
                  </a:lnTo>
                  <a:close/>
                </a:path>
              </a:pathLst>
            </a:custGeom>
            <a:blipFill>
              <a:blip r:embed="rId5">
                <a:alphaModFix amt="0"/>
              </a:blip>
              <a:stretch>
                <a:fillRect l="-20430" r="-20430"/>
              </a:stretch>
            </a:blipFill>
          </p:spPr>
        </p:sp>
      </p:grpSp>
      <p:grpSp>
        <p:nvGrpSpPr>
          <p:cNvPr id="15" name="Group 15"/>
          <p:cNvGrpSpPr/>
          <p:nvPr/>
        </p:nvGrpSpPr>
        <p:grpSpPr>
          <a:xfrm>
            <a:off x="16830599" y="9598257"/>
            <a:ext cx="1097566" cy="616363"/>
            <a:chOff x="0" y="0"/>
            <a:chExt cx="1463421" cy="821817"/>
          </a:xfrm>
        </p:grpSpPr>
        <p:sp>
          <p:nvSpPr>
            <p:cNvPr id="16" name="Freeform 16"/>
            <p:cNvSpPr/>
            <p:nvPr/>
          </p:nvSpPr>
          <p:spPr>
            <a:xfrm>
              <a:off x="0" y="0"/>
              <a:ext cx="1463421" cy="821817"/>
            </a:xfrm>
            <a:custGeom>
              <a:avLst/>
              <a:gdLst/>
              <a:ahLst/>
              <a:cxnLst/>
              <a:rect l="l" t="t" r="r" b="b"/>
              <a:pathLst>
                <a:path w="1463421" h="821817">
                  <a:moveTo>
                    <a:pt x="0" y="0"/>
                  </a:moveTo>
                  <a:lnTo>
                    <a:pt x="1463421" y="0"/>
                  </a:lnTo>
                  <a:lnTo>
                    <a:pt x="1463421" y="821817"/>
                  </a:lnTo>
                  <a:lnTo>
                    <a:pt x="0" y="821817"/>
                  </a:lnTo>
                  <a:close/>
                </a:path>
              </a:pathLst>
            </a:custGeom>
            <a:blipFill>
              <a:blip r:embed="rId6">
                <a:alphaModFix amt="0"/>
              </a:blip>
              <a:stretch>
                <a:fillRect l="-22101" r="-22101"/>
              </a:stretch>
            </a:blipFill>
          </p:spPr>
        </p:sp>
      </p:grpSp>
      <p:grpSp>
        <p:nvGrpSpPr>
          <p:cNvPr id="17" name="Group 17"/>
          <p:cNvGrpSpPr/>
          <p:nvPr/>
        </p:nvGrpSpPr>
        <p:grpSpPr>
          <a:xfrm>
            <a:off x="16830599" y="9583969"/>
            <a:ext cx="1097566" cy="630650"/>
            <a:chOff x="0" y="0"/>
            <a:chExt cx="1463421" cy="840867"/>
          </a:xfrm>
        </p:grpSpPr>
        <p:sp>
          <p:nvSpPr>
            <p:cNvPr id="18" name="Freeform 18"/>
            <p:cNvSpPr/>
            <p:nvPr/>
          </p:nvSpPr>
          <p:spPr>
            <a:xfrm>
              <a:off x="0" y="0"/>
              <a:ext cx="1463421" cy="840867"/>
            </a:xfrm>
            <a:custGeom>
              <a:avLst/>
              <a:gdLst/>
              <a:ahLst/>
              <a:cxnLst/>
              <a:rect l="l" t="t" r="r" b="b"/>
              <a:pathLst>
                <a:path w="1463421" h="840867">
                  <a:moveTo>
                    <a:pt x="0" y="0"/>
                  </a:moveTo>
                  <a:lnTo>
                    <a:pt x="1463421" y="0"/>
                  </a:lnTo>
                  <a:lnTo>
                    <a:pt x="1463421" y="840867"/>
                  </a:lnTo>
                  <a:lnTo>
                    <a:pt x="0" y="840867"/>
                  </a:lnTo>
                  <a:close/>
                </a:path>
              </a:pathLst>
            </a:custGeom>
            <a:blipFill>
              <a:blip r:embed="rId7">
                <a:alphaModFix amt="0"/>
              </a:blip>
              <a:stretch>
                <a:fillRect l="-23773" r="-23773"/>
              </a:stretch>
            </a:blipFill>
          </p:spPr>
        </p:sp>
      </p:grpSp>
      <p:grpSp>
        <p:nvGrpSpPr>
          <p:cNvPr id="19" name="Group 19"/>
          <p:cNvGrpSpPr/>
          <p:nvPr/>
        </p:nvGrpSpPr>
        <p:grpSpPr>
          <a:xfrm>
            <a:off x="16830599" y="9569682"/>
            <a:ext cx="1097547" cy="644966"/>
            <a:chOff x="0" y="0"/>
            <a:chExt cx="1463396" cy="859955"/>
          </a:xfrm>
        </p:grpSpPr>
        <p:sp>
          <p:nvSpPr>
            <p:cNvPr id="20" name="Freeform 20"/>
            <p:cNvSpPr/>
            <p:nvPr/>
          </p:nvSpPr>
          <p:spPr>
            <a:xfrm>
              <a:off x="0" y="0"/>
              <a:ext cx="1463421" cy="859917"/>
            </a:xfrm>
            <a:custGeom>
              <a:avLst/>
              <a:gdLst/>
              <a:ahLst/>
              <a:cxnLst/>
              <a:rect l="l" t="t" r="r" b="b"/>
              <a:pathLst>
                <a:path w="1463421" h="859917">
                  <a:moveTo>
                    <a:pt x="0" y="0"/>
                  </a:moveTo>
                  <a:lnTo>
                    <a:pt x="1463421" y="0"/>
                  </a:lnTo>
                  <a:lnTo>
                    <a:pt x="1463421" y="859917"/>
                  </a:lnTo>
                  <a:lnTo>
                    <a:pt x="0" y="859917"/>
                  </a:lnTo>
                  <a:close/>
                </a:path>
              </a:pathLst>
            </a:custGeom>
            <a:blipFill>
              <a:blip r:embed="rId8">
                <a:alphaModFix amt="0"/>
              </a:blip>
              <a:stretch>
                <a:fillRect l="-25449" r="-25446" b="-4"/>
              </a:stretch>
            </a:blipFill>
          </p:spPr>
        </p:sp>
      </p:grpSp>
      <p:grpSp>
        <p:nvGrpSpPr>
          <p:cNvPr id="21" name="Group 21"/>
          <p:cNvGrpSpPr/>
          <p:nvPr/>
        </p:nvGrpSpPr>
        <p:grpSpPr>
          <a:xfrm>
            <a:off x="16830599" y="9555394"/>
            <a:ext cx="1097547" cy="659254"/>
            <a:chOff x="0" y="0"/>
            <a:chExt cx="1463396" cy="879005"/>
          </a:xfrm>
        </p:grpSpPr>
        <p:sp>
          <p:nvSpPr>
            <p:cNvPr id="22" name="Freeform 22"/>
            <p:cNvSpPr/>
            <p:nvPr/>
          </p:nvSpPr>
          <p:spPr>
            <a:xfrm>
              <a:off x="0" y="0"/>
              <a:ext cx="1463396" cy="879005"/>
            </a:xfrm>
            <a:custGeom>
              <a:avLst/>
              <a:gdLst/>
              <a:ahLst/>
              <a:cxnLst/>
              <a:rect l="l" t="t" r="r" b="b"/>
              <a:pathLst>
                <a:path w="1463396" h="879005">
                  <a:moveTo>
                    <a:pt x="0" y="0"/>
                  </a:moveTo>
                  <a:lnTo>
                    <a:pt x="1463396" y="0"/>
                  </a:lnTo>
                  <a:lnTo>
                    <a:pt x="1463396" y="879005"/>
                  </a:lnTo>
                  <a:lnTo>
                    <a:pt x="0" y="879005"/>
                  </a:lnTo>
                  <a:close/>
                </a:path>
              </a:pathLst>
            </a:custGeom>
            <a:blipFill>
              <a:blip r:embed="rId9">
                <a:alphaModFix amt="0"/>
              </a:blip>
              <a:stretch>
                <a:fillRect l="-27066" r="-27066"/>
              </a:stretch>
            </a:blipFill>
          </p:spPr>
        </p:sp>
        <p:sp>
          <p:nvSpPr>
            <p:cNvPr id="23" name="TextBox 23"/>
            <p:cNvSpPr txBox="1"/>
            <p:nvPr/>
          </p:nvSpPr>
          <p:spPr>
            <a:xfrm>
              <a:off x="0" y="-19050"/>
              <a:ext cx="1463396" cy="898055"/>
            </a:xfrm>
            <a:prstGeom prst="rect">
              <a:avLst/>
            </a:prstGeom>
          </p:spPr>
          <p:txBody>
            <a:bodyPr lIns="0" tIns="0" rIns="0" bIns="0" rtlCol="0" anchor="ctr"/>
            <a:lstStyle/>
            <a:p>
              <a:pPr algn="r">
                <a:lnSpc>
                  <a:spcPts val="2160"/>
                </a:lnSpc>
              </a:pPr>
              <a:r>
                <a:rPr lang="en-US" sz="1800">
                  <a:solidFill>
                    <a:srgbClr val="FFFFFF"/>
                  </a:solidFill>
                  <a:latin typeface="Arial"/>
                  <a:ea typeface="Arial"/>
                  <a:cs typeface="Arial"/>
                  <a:sym typeface="Arial"/>
                </a:rPr>
                <a:t>6</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65" y="-43167"/>
            <a:ext cx="18345198" cy="450009"/>
            <a:chOff x="0" y="0"/>
            <a:chExt cx="24460264" cy="600012"/>
          </a:xfrm>
        </p:grpSpPr>
        <p:sp>
          <p:nvSpPr>
            <p:cNvPr id="3" name="Freeform 3"/>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grpSp>
        <p:nvGrpSpPr>
          <p:cNvPr id="4" name="Group 4"/>
          <p:cNvGrpSpPr/>
          <p:nvPr/>
        </p:nvGrpSpPr>
        <p:grpSpPr>
          <a:xfrm>
            <a:off x="-28565" y="9894760"/>
            <a:ext cx="18345198" cy="450009"/>
            <a:chOff x="0" y="0"/>
            <a:chExt cx="24460264" cy="600012"/>
          </a:xfrm>
        </p:grpSpPr>
        <p:sp>
          <p:nvSpPr>
            <p:cNvPr id="5" name="Freeform 5"/>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sp>
        <p:nvSpPr>
          <p:cNvPr id="6" name="Freeform 6"/>
          <p:cNvSpPr/>
          <p:nvPr/>
        </p:nvSpPr>
        <p:spPr>
          <a:xfrm>
            <a:off x="-12583" y="9568444"/>
            <a:ext cx="18313003" cy="555165"/>
          </a:xfrm>
          <a:custGeom>
            <a:avLst/>
            <a:gdLst/>
            <a:ahLst/>
            <a:cxnLst/>
            <a:rect l="l" t="t" r="r" b="b"/>
            <a:pathLst>
              <a:path w="18313003" h="555165">
                <a:moveTo>
                  <a:pt x="0" y="0"/>
                </a:moveTo>
                <a:lnTo>
                  <a:pt x="18313004" y="0"/>
                </a:lnTo>
                <a:lnTo>
                  <a:pt x="18313004" y="555164"/>
                </a:lnTo>
                <a:lnTo>
                  <a:pt x="0" y="555164"/>
                </a:lnTo>
                <a:lnTo>
                  <a:pt x="0" y="0"/>
                </a:lnTo>
                <a:close/>
              </a:path>
            </a:pathLst>
          </a:custGeom>
          <a:blipFill>
            <a:blip>
              <a:extLst>
                <a:ext uri="{96DAC541-7B7A-43D3-8B79-37D633B846F1}">
                  <asvg:svgBlip xmlns:asvg="http://schemas.microsoft.com/office/drawing/2016/SVG/main" r:embed="rId3"/>
                </a:ext>
              </a:extLst>
            </a:blip>
            <a:stretch>
              <a:fillRect t="-603" b="-602"/>
            </a:stretch>
          </a:blipFill>
        </p:spPr>
      </p:sp>
      <p:grpSp>
        <p:nvGrpSpPr>
          <p:cNvPr id="7" name="Group 7"/>
          <p:cNvGrpSpPr/>
          <p:nvPr/>
        </p:nvGrpSpPr>
        <p:grpSpPr>
          <a:xfrm>
            <a:off x="12210374" y="3204601"/>
            <a:ext cx="5977033" cy="5953316"/>
            <a:chOff x="0" y="0"/>
            <a:chExt cx="7969377" cy="7937754"/>
          </a:xfrm>
        </p:grpSpPr>
        <p:sp>
          <p:nvSpPr>
            <p:cNvPr id="8" name="Freeform 8"/>
            <p:cNvSpPr/>
            <p:nvPr/>
          </p:nvSpPr>
          <p:spPr>
            <a:xfrm>
              <a:off x="0" y="0"/>
              <a:ext cx="7969377" cy="7937754"/>
            </a:xfrm>
            <a:custGeom>
              <a:avLst/>
              <a:gdLst/>
              <a:ahLst/>
              <a:cxnLst/>
              <a:rect l="l" t="t" r="r" b="b"/>
              <a:pathLst>
                <a:path w="7969377" h="7937754">
                  <a:moveTo>
                    <a:pt x="0" y="0"/>
                  </a:moveTo>
                  <a:lnTo>
                    <a:pt x="7969377" y="0"/>
                  </a:lnTo>
                  <a:lnTo>
                    <a:pt x="7969377" y="7937754"/>
                  </a:lnTo>
                  <a:lnTo>
                    <a:pt x="0" y="7937754"/>
                  </a:lnTo>
                  <a:lnTo>
                    <a:pt x="0" y="0"/>
                  </a:lnTo>
                  <a:close/>
                </a:path>
              </a:pathLst>
            </a:custGeom>
            <a:blipFill>
              <a:blip r:embed="rId4">
                <a:alphaModFix amt="3000"/>
              </a:blip>
              <a:stretch>
                <a:fillRect/>
              </a:stretch>
            </a:blipFill>
          </p:spPr>
        </p:sp>
      </p:grpSp>
      <p:grpSp>
        <p:nvGrpSpPr>
          <p:cNvPr id="9" name="Group 9"/>
          <p:cNvGrpSpPr/>
          <p:nvPr/>
        </p:nvGrpSpPr>
        <p:grpSpPr>
          <a:xfrm>
            <a:off x="16830599" y="9598257"/>
            <a:ext cx="1097566" cy="616363"/>
            <a:chOff x="0" y="0"/>
            <a:chExt cx="1463421" cy="821817"/>
          </a:xfrm>
        </p:grpSpPr>
        <p:sp>
          <p:nvSpPr>
            <p:cNvPr id="10" name="Freeform 10"/>
            <p:cNvSpPr/>
            <p:nvPr/>
          </p:nvSpPr>
          <p:spPr>
            <a:xfrm>
              <a:off x="0" y="0"/>
              <a:ext cx="1463421" cy="821817"/>
            </a:xfrm>
            <a:custGeom>
              <a:avLst/>
              <a:gdLst/>
              <a:ahLst/>
              <a:cxnLst/>
              <a:rect l="l" t="t" r="r" b="b"/>
              <a:pathLst>
                <a:path w="1463421" h="821817">
                  <a:moveTo>
                    <a:pt x="0" y="0"/>
                  </a:moveTo>
                  <a:lnTo>
                    <a:pt x="1463421" y="0"/>
                  </a:lnTo>
                  <a:lnTo>
                    <a:pt x="1463421" y="821817"/>
                  </a:lnTo>
                  <a:lnTo>
                    <a:pt x="0" y="821817"/>
                  </a:lnTo>
                  <a:close/>
                </a:path>
              </a:pathLst>
            </a:custGeom>
            <a:blipFill>
              <a:blip r:embed="rId5">
                <a:alphaModFix amt="0"/>
              </a:blip>
              <a:stretch>
                <a:fillRect l="-22101" r="-22101"/>
              </a:stretch>
            </a:blipFill>
          </p:spPr>
        </p:sp>
      </p:grpSp>
      <p:grpSp>
        <p:nvGrpSpPr>
          <p:cNvPr id="11" name="Group 11"/>
          <p:cNvGrpSpPr/>
          <p:nvPr/>
        </p:nvGrpSpPr>
        <p:grpSpPr>
          <a:xfrm>
            <a:off x="16830599" y="9583969"/>
            <a:ext cx="1097566" cy="630650"/>
            <a:chOff x="0" y="0"/>
            <a:chExt cx="1463421" cy="840867"/>
          </a:xfrm>
        </p:grpSpPr>
        <p:sp>
          <p:nvSpPr>
            <p:cNvPr id="12" name="Freeform 12"/>
            <p:cNvSpPr/>
            <p:nvPr/>
          </p:nvSpPr>
          <p:spPr>
            <a:xfrm>
              <a:off x="0" y="0"/>
              <a:ext cx="1463421" cy="840867"/>
            </a:xfrm>
            <a:custGeom>
              <a:avLst/>
              <a:gdLst/>
              <a:ahLst/>
              <a:cxnLst/>
              <a:rect l="l" t="t" r="r" b="b"/>
              <a:pathLst>
                <a:path w="1463421" h="840867">
                  <a:moveTo>
                    <a:pt x="0" y="0"/>
                  </a:moveTo>
                  <a:lnTo>
                    <a:pt x="1463421" y="0"/>
                  </a:lnTo>
                  <a:lnTo>
                    <a:pt x="1463421" y="840867"/>
                  </a:lnTo>
                  <a:lnTo>
                    <a:pt x="0" y="840867"/>
                  </a:lnTo>
                  <a:close/>
                </a:path>
              </a:pathLst>
            </a:custGeom>
            <a:blipFill>
              <a:blip r:embed="rId6">
                <a:alphaModFix amt="0"/>
              </a:blip>
              <a:stretch>
                <a:fillRect l="-23773" r="-23773"/>
              </a:stretch>
            </a:blipFill>
          </p:spPr>
        </p:sp>
      </p:grpSp>
      <p:grpSp>
        <p:nvGrpSpPr>
          <p:cNvPr id="13" name="Group 13"/>
          <p:cNvGrpSpPr/>
          <p:nvPr/>
        </p:nvGrpSpPr>
        <p:grpSpPr>
          <a:xfrm>
            <a:off x="16830599" y="9569682"/>
            <a:ext cx="1097547" cy="644966"/>
            <a:chOff x="0" y="0"/>
            <a:chExt cx="1463396" cy="859955"/>
          </a:xfrm>
        </p:grpSpPr>
        <p:sp>
          <p:nvSpPr>
            <p:cNvPr id="14" name="Freeform 14"/>
            <p:cNvSpPr/>
            <p:nvPr/>
          </p:nvSpPr>
          <p:spPr>
            <a:xfrm>
              <a:off x="0" y="0"/>
              <a:ext cx="1463421" cy="859917"/>
            </a:xfrm>
            <a:custGeom>
              <a:avLst/>
              <a:gdLst/>
              <a:ahLst/>
              <a:cxnLst/>
              <a:rect l="l" t="t" r="r" b="b"/>
              <a:pathLst>
                <a:path w="1463421" h="859917">
                  <a:moveTo>
                    <a:pt x="0" y="0"/>
                  </a:moveTo>
                  <a:lnTo>
                    <a:pt x="1463421" y="0"/>
                  </a:lnTo>
                  <a:lnTo>
                    <a:pt x="1463421" y="859917"/>
                  </a:lnTo>
                  <a:lnTo>
                    <a:pt x="0" y="859917"/>
                  </a:lnTo>
                  <a:close/>
                </a:path>
              </a:pathLst>
            </a:custGeom>
            <a:blipFill>
              <a:blip r:embed="rId7">
                <a:alphaModFix amt="0"/>
              </a:blip>
              <a:stretch>
                <a:fillRect l="-25449" r="-25446" b="-4"/>
              </a:stretch>
            </a:blipFill>
          </p:spPr>
        </p:sp>
      </p:grpSp>
      <p:grpSp>
        <p:nvGrpSpPr>
          <p:cNvPr id="15" name="Group 15"/>
          <p:cNvGrpSpPr/>
          <p:nvPr/>
        </p:nvGrpSpPr>
        <p:grpSpPr>
          <a:xfrm>
            <a:off x="16830599" y="9555394"/>
            <a:ext cx="1097547" cy="659254"/>
            <a:chOff x="0" y="0"/>
            <a:chExt cx="1463396" cy="879005"/>
          </a:xfrm>
        </p:grpSpPr>
        <p:sp>
          <p:nvSpPr>
            <p:cNvPr id="16" name="Freeform 16"/>
            <p:cNvSpPr/>
            <p:nvPr/>
          </p:nvSpPr>
          <p:spPr>
            <a:xfrm>
              <a:off x="0" y="0"/>
              <a:ext cx="1463396" cy="879005"/>
            </a:xfrm>
            <a:custGeom>
              <a:avLst/>
              <a:gdLst/>
              <a:ahLst/>
              <a:cxnLst/>
              <a:rect l="l" t="t" r="r" b="b"/>
              <a:pathLst>
                <a:path w="1463396" h="879005">
                  <a:moveTo>
                    <a:pt x="0" y="0"/>
                  </a:moveTo>
                  <a:lnTo>
                    <a:pt x="1463396" y="0"/>
                  </a:lnTo>
                  <a:lnTo>
                    <a:pt x="1463396" y="879005"/>
                  </a:lnTo>
                  <a:lnTo>
                    <a:pt x="0" y="879005"/>
                  </a:lnTo>
                  <a:close/>
                </a:path>
              </a:pathLst>
            </a:custGeom>
            <a:blipFill>
              <a:blip r:embed="rId8">
                <a:alphaModFix amt="0"/>
              </a:blip>
              <a:stretch>
                <a:fillRect l="-27066" r="-27066"/>
              </a:stretch>
            </a:blipFill>
          </p:spPr>
        </p:sp>
        <p:sp>
          <p:nvSpPr>
            <p:cNvPr id="17" name="TextBox 17"/>
            <p:cNvSpPr txBox="1"/>
            <p:nvPr/>
          </p:nvSpPr>
          <p:spPr>
            <a:xfrm>
              <a:off x="0" y="-19050"/>
              <a:ext cx="1463396" cy="898055"/>
            </a:xfrm>
            <a:prstGeom prst="rect">
              <a:avLst/>
            </a:prstGeom>
          </p:spPr>
          <p:txBody>
            <a:bodyPr lIns="0" tIns="0" rIns="0" bIns="0" rtlCol="0" anchor="ctr"/>
            <a:lstStyle/>
            <a:p>
              <a:pPr algn="r">
                <a:lnSpc>
                  <a:spcPts val="2160"/>
                </a:lnSpc>
              </a:pPr>
              <a:r>
                <a:rPr lang="en-US" sz="1800">
                  <a:solidFill>
                    <a:srgbClr val="FFFFFF"/>
                  </a:solidFill>
                  <a:latin typeface="Arial"/>
                  <a:ea typeface="Arial"/>
                  <a:cs typeface="Arial"/>
                  <a:sym typeface="Arial"/>
                </a:rPr>
                <a:t>7</a:t>
              </a:r>
            </a:p>
          </p:txBody>
        </p:sp>
      </p:grpSp>
      <p:grpSp>
        <p:nvGrpSpPr>
          <p:cNvPr id="18" name="Group 18"/>
          <p:cNvGrpSpPr/>
          <p:nvPr/>
        </p:nvGrpSpPr>
        <p:grpSpPr>
          <a:xfrm>
            <a:off x="16830599" y="9612544"/>
            <a:ext cx="1097566" cy="602075"/>
            <a:chOff x="0" y="0"/>
            <a:chExt cx="1463421" cy="802767"/>
          </a:xfrm>
        </p:grpSpPr>
        <p:sp>
          <p:nvSpPr>
            <p:cNvPr id="19" name="Freeform 19"/>
            <p:cNvSpPr/>
            <p:nvPr/>
          </p:nvSpPr>
          <p:spPr>
            <a:xfrm>
              <a:off x="0" y="0"/>
              <a:ext cx="1463421" cy="802767"/>
            </a:xfrm>
            <a:custGeom>
              <a:avLst/>
              <a:gdLst/>
              <a:ahLst/>
              <a:cxnLst/>
              <a:rect l="l" t="t" r="r" b="b"/>
              <a:pathLst>
                <a:path w="1463421" h="802767">
                  <a:moveTo>
                    <a:pt x="0" y="0"/>
                  </a:moveTo>
                  <a:lnTo>
                    <a:pt x="1463421" y="0"/>
                  </a:lnTo>
                  <a:lnTo>
                    <a:pt x="1463421" y="802767"/>
                  </a:lnTo>
                  <a:lnTo>
                    <a:pt x="0" y="802767"/>
                  </a:lnTo>
                  <a:close/>
                </a:path>
              </a:pathLst>
            </a:custGeom>
            <a:blipFill>
              <a:blip r:embed="rId9">
                <a:alphaModFix amt="0"/>
              </a:blip>
              <a:stretch>
                <a:fillRect l="-20430" r="-20430"/>
              </a:stretch>
            </a:blipFill>
          </p:spPr>
        </p:sp>
      </p:grpSp>
      <p:sp>
        <p:nvSpPr>
          <p:cNvPr id="20" name="TextBox 20"/>
          <p:cNvSpPr txBox="1"/>
          <p:nvPr/>
        </p:nvSpPr>
        <p:spPr>
          <a:xfrm rot="-462600">
            <a:off x="13326065" y="9600938"/>
            <a:ext cx="2554043" cy="511435"/>
          </a:xfrm>
          <a:prstGeom prst="rect">
            <a:avLst/>
          </a:prstGeom>
        </p:spPr>
        <p:txBody>
          <a:bodyPr lIns="0" tIns="0" rIns="0" bIns="0" rtlCol="0" anchor="t">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id="21" name="TextBox 21"/>
          <p:cNvSpPr txBox="1"/>
          <p:nvPr/>
        </p:nvSpPr>
        <p:spPr>
          <a:xfrm rot="1440">
            <a:off x="9193218" y="9716433"/>
            <a:ext cx="4176751" cy="465077"/>
          </a:xfrm>
          <a:prstGeom prst="rect">
            <a:avLst/>
          </a:prstGeom>
        </p:spPr>
        <p:txBody>
          <a:bodyPr lIns="0" tIns="0" rIns="0" bIns="0" rtlCol="0" anchor="t">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id="22" name="TextBox 22"/>
          <p:cNvSpPr txBox="1"/>
          <p:nvPr/>
        </p:nvSpPr>
        <p:spPr>
          <a:xfrm>
            <a:off x="745303" y="907180"/>
            <a:ext cx="16797252" cy="676008"/>
          </a:xfrm>
          <a:prstGeom prst="rect">
            <a:avLst/>
          </a:prstGeom>
        </p:spPr>
        <p:txBody>
          <a:bodyPr lIns="0" tIns="0" rIns="0" bIns="0" rtlCol="0" anchor="t">
            <a:spAutoFit/>
          </a:bodyPr>
          <a:lstStyle/>
          <a:p>
            <a:pPr algn="l">
              <a:lnSpc>
                <a:spcPts val="5757"/>
              </a:lnSpc>
            </a:pPr>
            <a:r>
              <a:rPr lang="en-US" sz="4800" b="1" spc="-18">
                <a:solidFill>
                  <a:srgbClr val="0000FF"/>
                </a:solidFill>
                <a:latin typeface="IBM Plex Sans Bold"/>
                <a:ea typeface="IBM Plex Sans Bold"/>
                <a:cs typeface="IBM Plex Sans Bold"/>
                <a:sym typeface="IBM Plex Sans Bold"/>
              </a:rPr>
              <a:t>Literature Review</a:t>
            </a:r>
          </a:p>
        </p:txBody>
      </p:sp>
      <p:graphicFrame>
        <p:nvGraphicFramePr>
          <p:cNvPr id="23" name="Table 23"/>
          <p:cNvGraphicFramePr>
            <a:graphicFrameLocks noGrp="1"/>
          </p:cNvGraphicFramePr>
          <p:nvPr/>
        </p:nvGraphicFramePr>
        <p:xfrm>
          <a:off x="745301" y="1849680"/>
          <a:ext cx="16560801" cy="7939250"/>
        </p:xfrm>
        <a:graphic>
          <a:graphicData uri="http://schemas.openxmlformats.org/drawingml/2006/table">
            <a:tbl>
              <a:tblPr/>
              <a:tblGrid>
                <a:gridCol w="1289885">
                  <a:extLst>
                    <a:ext uri="{9D8B030D-6E8A-4147-A177-3AD203B41FA5}">
                      <a16:colId xmlns:a16="http://schemas.microsoft.com/office/drawing/2014/main" val="20000"/>
                    </a:ext>
                  </a:extLst>
                </a:gridCol>
                <a:gridCol w="5084126">
                  <a:extLst>
                    <a:ext uri="{9D8B030D-6E8A-4147-A177-3AD203B41FA5}">
                      <a16:colId xmlns:a16="http://schemas.microsoft.com/office/drawing/2014/main" val="20001"/>
                    </a:ext>
                  </a:extLst>
                </a:gridCol>
                <a:gridCol w="3466502">
                  <a:extLst>
                    <a:ext uri="{9D8B030D-6E8A-4147-A177-3AD203B41FA5}">
                      <a16:colId xmlns:a16="http://schemas.microsoft.com/office/drawing/2014/main" val="20002"/>
                    </a:ext>
                  </a:extLst>
                </a:gridCol>
                <a:gridCol w="3440116">
                  <a:extLst>
                    <a:ext uri="{9D8B030D-6E8A-4147-A177-3AD203B41FA5}">
                      <a16:colId xmlns:a16="http://schemas.microsoft.com/office/drawing/2014/main" val="20003"/>
                    </a:ext>
                  </a:extLst>
                </a:gridCol>
                <a:gridCol w="3280172">
                  <a:extLst>
                    <a:ext uri="{9D8B030D-6E8A-4147-A177-3AD203B41FA5}">
                      <a16:colId xmlns:a16="http://schemas.microsoft.com/office/drawing/2014/main" val="20004"/>
                    </a:ext>
                  </a:extLst>
                </a:gridCol>
              </a:tblGrid>
              <a:tr h="681509">
                <a:tc>
                  <a:txBody>
                    <a:bodyPr/>
                    <a:lstStyle/>
                    <a:p>
                      <a:pPr algn="ctr">
                        <a:lnSpc>
                          <a:spcPts val="2160"/>
                        </a:lnSpc>
                        <a:defRPr/>
                      </a:pPr>
                      <a:r>
                        <a:rPr lang="en-US" sz="1800" b="1" spc="-7">
                          <a:solidFill>
                            <a:srgbClr val="FFFFFF"/>
                          </a:solidFill>
                          <a:latin typeface="TT Ramillas Bold"/>
                          <a:ea typeface="TT Ramillas Bold"/>
                          <a:cs typeface="TT Ramillas Bold"/>
                          <a:sym typeface="TT Ramillas Bold"/>
                        </a:rPr>
                        <a:t>S.No</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tc>
                  <a:txBody>
                    <a:bodyPr/>
                    <a:lstStyle/>
                    <a:p>
                      <a:pPr algn="ctr">
                        <a:lnSpc>
                          <a:spcPts val="2160"/>
                        </a:lnSpc>
                        <a:defRPr/>
                      </a:pPr>
                      <a:r>
                        <a:rPr lang="en-US" sz="1800" b="1" spc="-7">
                          <a:solidFill>
                            <a:srgbClr val="FFFFFF"/>
                          </a:solidFill>
                          <a:latin typeface="TT Ramillas Bold"/>
                          <a:ea typeface="TT Ramillas Bold"/>
                          <a:cs typeface="TT Ramillas Bold"/>
                          <a:sym typeface="TT Ramillas Bold"/>
                        </a:rPr>
                        <a:t>Paper Title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tc>
                  <a:txBody>
                    <a:bodyPr/>
                    <a:lstStyle/>
                    <a:p>
                      <a:pPr algn="ctr">
                        <a:lnSpc>
                          <a:spcPts val="2160"/>
                        </a:lnSpc>
                        <a:defRPr/>
                      </a:pPr>
                      <a:r>
                        <a:rPr lang="en-US" sz="1800" b="1" spc="-7">
                          <a:solidFill>
                            <a:srgbClr val="FFFFFF"/>
                          </a:solidFill>
                          <a:latin typeface="TT Ramillas Bold"/>
                          <a:ea typeface="TT Ramillas Bold"/>
                          <a:cs typeface="TT Ramillas Bold"/>
                          <a:sym typeface="TT Ramillas Bold"/>
                        </a:rPr>
                        <a:t>Authors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tc>
                  <a:txBody>
                    <a:bodyPr/>
                    <a:lstStyle/>
                    <a:p>
                      <a:pPr algn="ctr">
                        <a:lnSpc>
                          <a:spcPts val="2160"/>
                        </a:lnSpc>
                        <a:defRPr/>
                      </a:pPr>
                      <a:r>
                        <a:rPr lang="en-US" sz="1800" b="1" spc="-7">
                          <a:solidFill>
                            <a:srgbClr val="FFFFFF"/>
                          </a:solidFill>
                          <a:latin typeface="TT Ramillas Bold"/>
                          <a:ea typeface="TT Ramillas Bold"/>
                          <a:cs typeface="TT Ramillas Bold"/>
                          <a:sym typeface="TT Ramillas Bold"/>
                        </a:rPr>
                        <a:t>Methodology</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tc>
                  <a:txBody>
                    <a:bodyPr/>
                    <a:lstStyle/>
                    <a:p>
                      <a:pPr algn="ctr">
                        <a:lnSpc>
                          <a:spcPts val="2160"/>
                        </a:lnSpc>
                        <a:defRPr/>
                      </a:pPr>
                      <a:r>
                        <a:rPr lang="en-US" sz="1800" b="1" spc="-7">
                          <a:solidFill>
                            <a:srgbClr val="FFFFFF"/>
                          </a:solidFill>
                          <a:latin typeface="TT Ramillas Bold"/>
                          <a:ea typeface="TT Ramillas Bold"/>
                          <a:cs typeface="TT Ramillas Bold"/>
                          <a:sym typeface="TT Ramillas Bold"/>
                        </a:rPr>
                        <a:t>Research Gaps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extLst>
                  <a:ext uri="{0D108BD9-81ED-4DB2-BD59-A6C34878D82A}">
                    <a16:rowId xmlns:a16="http://schemas.microsoft.com/office/drawing/2014/main" val="10000"/>
                  </a:ext>
                </a:extLst>
              </a:tr>
              <a:tr h="1508705">
                <a:tc>
                  <a:txBody>
                    <a:bodyPr/>
                    <a:lstStyle/>
                    <a:p>
                      <a:pPr algn="ctr">
                        <a:lnSpc>
                          <a:spcPts val="2160"/>
                        </a:lnSpc>
                        <a:defRPr/>
                      </a:pPr>
                      <a:r>
                        <a:rPr lang="en-US" sz="1800" b="1" spc="-7">
                          <a:solidFill>
                            <a:srgbClr val="000000"/>
                          </a:solidFill>
                          <a:latin typeface="TT Ramillas Bold"/>
                          <a:ea typeface="TT Ramillas Bold"/>
                          <a:cs typeface="TT Ramillas Bold"/>
                          <a:sym typeface="TT Ramillas Bold"/>
                        </a:rPr>
                        <a:t>1 </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Anti-Money Laundering in Bitcoin: Experimenting with Graph Convolutional Networks for Financial Forensics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Weber, Domeniconi, Chen et al. (2019)</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GCN applied on Elliptic Bitcoin Dataset for illicit transaction classification — foundational AML-GNN paper</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Static graph only; no temporal awareness; binary classification with no pattern typology</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extLst>
                  <a:ext uri="{0D108BD9-81ED-4DB2-BD59-A6C34878D82A}">
                    <a16:rowId xmlns:a16="http://schemas.microsoft.com/office/drawing/2014/main" val="10001"/>
                  </a:ext>
                </a:extLst>
              </a:tr>
              <a:tr h="1268547">
                <a:tc>
                  <a:txBody>
                    <a:bodyPr/>
                    <a:lstStyle/>
                    <a:p>
                      <a:pPr algn="ctr">
                        <a:lnSpc>
                          <a:spcPts val="2160"/>
                        </a:lnSpc>
                        <a:defRPr/>
                      </a:pPr>
                      <a:r>
                        <a:rPr lang="en-US" sz="1800" b="1" spc="-7">
                          <a:solidFill>
                            <a:srgbClr val="000000"/>
                          </a:solidFill>
                          <a:latin typeface="TT Ramillas Bold"/>
                          <a:ea typeface="TT Ramillas Bold"/>
                          <a:cs typeface="TT Ramillas Bold"/>
                          <a:sym typeface="TT Ramillas Bold"/>
                        </a:rPr>
                        <a:t>2</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Graph-based LSTM for Anti-Money Laundering: Experimenting Temporal Graph Convolutional Network with Bitcoin Data</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Alarab &amp; Prakoonwit (2023)</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Hybrid GNN-LSTM model combining graph structure with sequential temporal learning on Elliptic dataset</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Graph and time processed in separate modules; attention is not time-aware; no explainability</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extLst>
                  <a:ext uri="{0D108BD9-81ED-4DB2-BD59-A6C34878D82A}">
                    <a16:rowId xmlns:a16="http://schemas.microsoft.com/office/drawing/2014/main" val="10002"/>
                  </a:ext>
                </a:extLst>
              </a:tr>
              <a:tr h="1308572">
                <a:tc>
                  <a:txBody>
                    <a:bodyPr/>
                    <a:lstStyle/>
                    <a:p>
                      <a:pPr algn="ctr">
                        <a:lnSpc>
                          <a:spcPts val="2160"/>
                        </a:lnSpc>
                        <a:defRPr/>
                      </a:pPr>
                      <a:r>
                        <a:rPr lang="en-US" sz="1800" b="1" spc="-7">
                          <a:solidFill>
                            <a:srgbClr val="000000"/>
                          </a:solidFill>
                          <a:latin typeface="TT Ramillas Bold"/>
                          <a:ea typeface="TT Ramillas Bold"/>
                          <a:cs typeface="TT Ramillas Bold"/>
                          <a:sym typeface="TT Ramillas Bold"/>
                        </a:rPr>
                        <a:t>3</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Detecting Illicit Transactions in Bitcoin: A Wavelet-Temporal Graph Transformer Approach for AML</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Lin, Luo, Wu, Shen et al. (2026)</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Wavelet-based frequency decomposition combined with temporal graph transformer for Bitcoin AML</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Fixed wavelet frequencies cannot adapt to Bitcoin-specific laundering timescales; no multi-pattern detection</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extLst>
                  <a:ext uri="{0D108BD9-81ED-4DB2-BD59-A6C34878D82A}">
                    <a16:rowId xmlns:a16="http://schemas.microsoft.com/office/drawing/2014/main" val="10003"/>
                  </a:ext>
                </a:extLst>
              </a:tr>
              <a:tr h="1308572">
                <a:tc>
                  <a:txBody>
                    <a:bodyPr/>
                    <a:lstStyle/>
                    <a:p>
                      <a:pPr algn="ctr">
                        <a:lnSpc>
                          <a:spcPts val="2160"/>
                        </a:lnSpc>
                        <a:defRPr/>
                      </a:pPr>
                      <a:r>
                        <a:rPr lang="en-US" sz="1800" b="1" spc="-7">
                          <a:solidFill>
                            <a:srgbClr val="000000"/>
                          </a:solidFill>
                          <a:latin typeface="TT Ramillas Bold"/>
                          <a:ea typeface="TT Ramillas Bold"/>
                          <a:cs typeface="TT Ramillas Bold"/>
                          <a:sym typeface="TT Ramillas Bold"/>
                        </a:rPr>
                        <a:t>4</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An Explainable Graph Neural Network Framework for AML in Cryptocurrency using the Elliptic Dataset</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Lawal, Okolie &amp; Obunadike (2025)</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GAT-based GNN with attention weights used as proxy for explainability on the Elliptic dataset</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Attention weights are not reliable explainability; no temporal modelling; no pattern-specific subgraph evidence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extLst>
                  <a:ext uri="{0D108BD9-81ED-4DB2-BD59-A6C34878D82A}">
                    <a16:rowId xmlns:a16="http://schemas.microsoft.com/office/drawing/2014/main" val="10004"/>
                  </a:ext>
                </a:extLst>
              </a:tr>
              <a:tr h="1188496">
                <a:tc>
                  <a:txBody>
                    <a:bodyPr/>
                    <a:lstStyle/>
                    <a:p>
                      <a:pPr algn="ctr">
                        <a:lnSpc>
                          <a:spcPts val="2160"/>
                        </a:lnSpc>
                        <a:defRPr/>
                      </a:pPr>
                      <a:r>
                        <a:rPr lang="en-US" sz="1800" b="1" spc="-7">
                          <a:solidFill>
                            <a:srgbClr val="000000"/>
                          </a:solidFill>
                          <a:latin typeface="TT Ramillas Bold"/>
                          <a:ea typeface="TT Ramillas Bold"/>
                          <a:cs typeface="TT Ramillas Bold"/>
                          <a:sym typeface="TT Ramillas Bold"/>
                        </a:rPr>
                        <a:t>5</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Anti-Money Laundering in Cryptocurrencies through Graph Neural Networks: A Comparative Study</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Marasi &amp; Ferretti (2024)</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Systematic comparison of GCN, GAT, and GraphSAGE for cryptocurrency AML on Bitcoin transaction data</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All models are static; no temporal encoding; no explainability; binary classification only</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65" y="-43167"/>
            <a:ext cx="18345198" cy="450009"/>
            <a:chOff x="0" y="0"/>
            <a:chExt cx="24460264" cy="600012"/>
          </a:xfrm>
        </p:grpSpPr>
        <p:sp>
          <p:nvSpPr>
            <p:cNvPr id="3" name="Freeform 3"/>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grpSp>
        <p:nvGrpSpPr>
          <p:cNvPr id="4" name="Group 4"/>
          <p:cNvGrpSpPr/>
          <p:nvPr/>
        </p:nvGrpSpPr>
        <p:grpSpPr>
          <a:xfrm>
            <a:off x="-28565" y="9894760"/>
            <a:ext cx="18345198" cy="450009"/>
            <a:chOff x="0" y="0"/>
            <a:chExt cx="24460264" cy="600012"/>
          </a:xfrm>
        </p:grpSpPr>
        <p:sp>
          <p:nvSpPr>
            <p:cNvPr id="5" name="Freeform 5"/>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sp>
        <p:nvSpPr>
          <p:cNvPr id="6" name="Freeform 6"/>
          <p:cNvSpPr/>
          <p:nvPr/>
        </p:nvSpPr>
        <p:spPr>
          <a:xfrm>
            <a:off x="-12583" y="9568444"/>
            <a:ext cx="18313003" cy="555165"/>
          </a:xfrm>
          <a:custGeom>
            <a:avLst/>
            <a:gdLst/>
            <a:ahLst/>
            <a:cxnLst/>
            <a:rect l="l" t="t" r="r" b="b"/>
            <a:pathLst>
              <a:path w="18313003" h="555165">
                <a:moveTo>
                  <a:pt x="0" y="0"/>
                </a:moveTo>
                <a:lnTo>
                  <a:pt x="18313004" y="0"/>
                </a:lnTo>
                <a:lnTo>
                  <a:pt x="18313004" y="555164"/>
                </a:lnTo>
                <a:lnTo>
                  <a:pt x="0" y="555164"/>
                </a:lnTo>
                <a:lnTo>
                  <a:pt x="0" y="0"/>
                </a:lnTo>
                <a:close/>
              </a:path>
            </a:pathLst>
          </a:custGeom>
          <a:blipFill>
            <a:blip>
              <a:extLst>
                <a:ext uri="{96DAC541-7B7A-43D3-8B79-37D633B846F1}">
                  <asvg:svgBlip xmlns:asvg="http://schemas.microsoft.com/office/drawing/2016/SVG/main" r:embed="rId3"/>
                </a:ext>
              </a:extLst>
            </a:blip>
            <a:stretch>
              <a:fillRect t="-603" b="-602"/>
            </a:stretch>
          </a:blipFill>
        </p:spPr>
      </p:sp>
      <p:grpSp>
        <p:nvGrpSpPr>
          <p:cNvPr id="7" name="Group 7"/>
          <p:cNvGrpSpPr/>
          <p:nvPr/>
        </p:nvGrpSpPr>
        <p:grpSpPr>
          <a:xfrm>
            <a:off x="12210374" y="3204601"/>
            <a:ext cx="5977033" cy="5953316"/>
            <a:chOff x="0" y="0"/>
            <a:chExt cx="7969377" cy="7937754"/>
          </a:xfrm>
        </p:grpSpPr>
        <p:sp>
          <p:nvSpPr>
            <p:cNvPr id="8" name="Freeform 8"/>
            <p:cNvSpPr/>
            <p:nvPr/>
          </p:nvSpPr>
          <p:spPr>
            <a:xfrm>
              <a:off x="0" y="0"/>
              <a:ext cx="7969377" cy="7937754"/>
            </a:xfrm>
            <a:custGeom>
              <a:avLst/>
              <a:gdLst/>
              <a:ahLst/>
              <a:cxnLst/>
              <a:rect l="l" t="t" r="r" b="b"/>
              <a:pathLst>
                <a:path w="7969377" h="7937754">
                  <a:moveTo>
                    <a:pt x="0" y="0"/>
                  </a:moveTo>
                  <a:lnTo>
                    <a:pt x="7969377" y="0"/>
                  </a:lnTo>
                  <a:lnTo>
                    <a:pt x="7969377" y="7937754"/>
                  </a:lnTo>
                  <a:lnTo>
                    <a:pt x="0" y="7937754"/>
                  </a:lnTo>
                  <a:lnTo>
                    <a:pt x="0" y="0"/>
                  </a:lnTo>
                  <a:close/>
                </a:path>
              </a:pathLst>
            </a:custGeom>
            <a:blipFill>
              <a:blip r:embed="rId4">
                <a:alphaModFix amt="3000"/>
              </a:blip>
              <a:stretch>
                <a:fillRect/>
              </a:stretch>
            </a:blipFill>
          </p:spPr>
        </p:sp>
      </p:grpSp>
      <p:grpSp>
        <p:nvGrpSpPr>
          <p:cNvPr id="9" name="Group 9"/>
          <p:cNvGrpSpPr/>
          <p:nvPr/>
        </p:nvGrpSpPr>
        <p:grpSpPr>
          <a:xfrm>
            <a:off x="16830599" y="9598257"/>
            <a:ext cx="1097566" cy="616363"/>
            <a:chOff x="0" y="0"/>
            <a:chExt cx="1463421" cy="821817"/>
          </a:xfrm>
        </p:grpSpPr>
        <p:sp>
          <p:nvSpPr>
            <p:cNvPr id="10" name="Freeform 10"/>
            <p:cNvSpPr/>
            <p:nvPr/>
          </p:nvSpPr>
          <p:spPr>
            <a:xfrm>
              <a:off x="0" y="0"/>
              <a:ext cx="1463421" cy="821817"/>
            </a:xfrm>
            <a:custGeom>
              <a:avLst/>
              <a:gdLst/>
              <a:ahLst/>
              <a:cxnLst/>
              <a:rect l="l" t="t" r="r" b="b"/>
              <a:pathLst>
                <a:path w="1463421" h="821817">
                  <a:moveTo>
                    <a:pt x="0" y="0"/>
                  </a:moveTo>
                  <a:lnTo>
                    <a:pt x="1463421" y="0"/>
                  </a:lnTo>
                  <a:lnTo>
                    <a:pt x="1463421" y="821817"/>
                  </a:lnTo>
                  <a:lnTo>
                    <a:pt x="0" y="821817"/>
                  </a:lnTo>
                  <a:close/>
                </a:path>
              </a:pathLst>
            </a:custGeom>
            <a:blipFill>
              <a:blip r:embed="rId5">
                <a:alphaModFix amt="0"/>
              </a:blip>
              <a:stretch>
                <a:fillRect l="-22101" r="-22101"/>
              </a:stretch>
            </a:blipFill>
          </p:spPr>
        </p:sp>
      </p:grpSp>
      <p:grpSp>
        <p:nvGrpSpPr>
          <p:cNvPr id="11" name="Group 11"/>
          <p:cNvGrpSpPr/>
          <p:nvPr/>
        </p:nvGrpSpPr>
        <p:grpSpPr>
          <a:xfrm>
            <a:off x="16830599" y="9583969"/>
            <a:ext cx="1097566" cy="630650"/>
            <a:chOff x="0" y="0"/>
            <a:chExt cx="1463421" cy="840867"/>
          </a:xfrm>
        </p:grpSpPr>
        <p:sp>
          <p:nvSpPr>
            <p:cNvPr id="12" name="Freeform 12"/>
            <p:cNvSpPr/>
            <p:nvPr/>
          </p:nvSpPr>
          <p:spPr>
            <a:xfrm>
              <a:off x="0" y="0"/>
              <a:ext cx="1463421" cy="840867"/>
            </a:xfrm>
            <a:custGeom>
              <a:avLst/>
              <a:gdLst/>
              <a:ahLst/>
              <a:cxnLst/>
              <a:rect l="l" t="t" r="r" b="b"/>
              <a:pathLst>
                <a:path w="1463421" h="840867">
                  <a:moveTo>
                    <a:pt x="0" y="0"/>
                  </a:moveTo>
                  <a:lnTo>
                    <a:pt x="1463421" y="0"/>
                  </a:lnTo>
                  <a:lnTo>
                    <a:pt x="1463421" y="840867"/>
                  </a:lnTo>
                  <a:lnTo>
                    <a:pt x="0" y="840867"/>
                  </a:lnTo>
                  <a:close/>
                </a:path>
              </a:pathLst>
            </a:custGeom>
            <a:blipFill>
              <a:blip r:embed="rId6">
                <a:alphaModFix amt="0"/>
              </a:blip>
              <a:stretch>
                <a:fillRect l="-23773" r="-23773"/>
              </a:stretch>
            </a:blipFill>
          </p:spPr>
        </p:sp>
      </p:grpSp>
      <p:grpSp>
        <p:nvGrpSpPr>
          <p:cNvPr id="13" name="Group 13"/>
          <p:cNvGrpSpPr/>
          <p:nvPr/>
        </p:nvGrpSpPr>
        <p:grpSpPr>
          <a:xfrm>
            <a:off x="16830599" y="9569682"/>
            <a:ext cx="1097547" cy="644966"/>
            <a:chOff x="0" y="0"/>
            <a:chExt cx="1463396" cy="859955"/>
          </a:xfrm>
        </p:grpSpPr>
        <p:sp>
          <p:nvSpPr>
            <p:cNvPr id="14" name="Freeform 14"/>
            <p:cNvSpPr/>
            <p:nvPr/>
          </p:nvSpPr>
          <p:spPr>
            <a:xfrm>
              <a:off x="0" y="0"/>
              <a:ext cx="1463421" cy="859917"/>
            </a:xfrm>
            <a:custGeom>
              <a:avLst/>
              <a:gdLst/>
              <a:ahLst/>
              <a:cxnLst/>
              <a:rect l="l" t="t" r="r" b="b"/>
              <a:pathLst>
                <a:path w="1463421" h="859917">
                  <a:moveTo>
                    <a:pt x="0" y="0"/>
                  </a:moveTo>
                  <a:lnTo>
                    <a:pt x="1463421" y="0"/>
                  </a:lnTo>
                  <a:lnTo>
                    <a:pt x="1463421" y="859917"/>
                  </a:lnTo>
                  <a:lnTo>
                    <a:pt x="0" y="859917"/>
                  </a:lnTo>
                  <a:close/>
                </a:path>
              </a:pathLst>
            </a:custGeom>
            <a:blipFill>
              <a:blip r:embed="rId7">
                <a:alphaModFix amt="0"/>
              </a:blip>
              <a:stretch>
                <a:fillRect l="-25449" r="-25446" b="-4"/>
              </a:stretch>
            </a:blipFill>
          </p:spPr>
        </p:sp>
      </p:grpSp>
      <p:grpSp>
        <p:nvGrpSpPr>
          <p:cNvPr id="15" name="Group 15"/>
          <p:cNvGrpSpPr/>
          <p:nvPr/>
        </p:nvGrpSpPr>
        <p:grpSpPr>
          <a:xfrm>
            <a:off x="16830599" y="9555394"/>
            <a:ext cx="1097547" cy="659254"/>
            <a:chOff x="0" y="0"/>
            <a:chExt cx="1463396" cy="879005"/>
          </a:xfrm>
        </p:grpSpPr>
        <p:sp>
          <p:nvSpPr>
            <p:cNvPr id="16" name="Freeform 16"/>
            <p:cNvSpPr/>
            <p:nvPr/>
          </p:nvSpPr>
          <p:spPr>
            <a:xfrm>
              <a:off x="0" y="0"/>
              <a:ext cx="1463396" cy="879005"/>
            </a:xfrm>
            <a:custGeom>
              <a:avLst/>
              <a:gdLst/>
              <a:ahLst/>
              <a:cxnLst/>
              <a:rect l="l" t="t" r="r" b="b"/>
              <a:pathLst>
                <a:path w="1463396" h="879005">
                  <a:moveTo>
                    <a:pt x="0" y="0"/>
                  </a:moveTo>
                  <a:lnTo>
                    <a:pt x="1463396" y="0"/>
                  </a:lnTo>
                  <a:lnTo>
                    <a:pt x="1463396" y="879005"/>
                  </a:lnTo>
                  <a:lnTo>
                    <a:pt x="0" y="879005"/>
                  </a:lnTo>
                  <a:close/>
                </a:path>
              </a:pathLst>
            </a:custGeom>
            <a:blipFill>
              <a:blip r:embed="rId8">
                <a:alphaModFix amt="0"/>
              </a:blip>
              <a:stretch>
                <a:fillRect l="-27066" r="-27066"/>
              </a:stretch>
            </a:blipFill>
          </p:spPr>
        </p:sp>
        <p:sp>
          <p:nvSpPr>
            <p:cNvPr id="17" name="TextBox 17"/>
            <p:cNvSpPr txBox="1"/>
            <p:nvPr/>
          </p:nvSpPr>
          <p:spPr>
            <a:xfrm>
              <a:off x="0" y="-19050"/>
              <a:ext cx="1463396" cy="898055"/>
            </a:xfrm>
            <a:prstGeom prst="rect">
              <a:avLst/>
            </a:prstGeom>
          </p:spPr>
          <p:txBody>
            <a:bodyPr lIns="0" tIns="0" rIns="0" bIns="0" rtlCol="0" anchor="ctr"/>
            <a:lstStyle/>
            <a:p>
              <a:pPr algn="r">
                <a:lnSpc>
                  <a:spcPts val="2160"/>
                </a:lnSpc>
              </a:pPr>
              <a:r>
                <a:rPr lang="en-US" sz="1800">
                  <a:solidFill>
                    <a:srgbClr val="FFFFFF"/>
                  </a:solidFill>
                  <a:latin typeface="Arial"/>
                  <a:ea typeface="Arial"/>
                  <a:cs typeface="Arial"/>
                  <a:sym typeface="Arial"/>
                </a:rPr>
                <a:t>8</a:t>
              </a:r>
            </a:p>
          </p:txBody>
        </p:sp>
      </p:grpSp>
      <p:grpSp>
        <p:nvGrpSpPr>
          <p:cNvPr id="18" name="Group 18"/>
          <p:cNvGrpSpPr/>
          <p:nvPr/>
        </p:nvGrpSpPr>
        <p:grpSpPr>
          <a:xfrm>
            <a:off x="16830599" y="9612544"/>
            <a:ext cx="1097566" cy="602075"/>
            <a:chOff x="0" y="0"/>
            <a:chExt cx="1463421" cy="802767"/>
          </a:xfrm>
        </p:grpSpPr>
        <p:sp>
          <p:nvSpPr>
            <p:cNvPr id="19" name="Freeform 19"/>
            <p:cNvSpPr/>
            <p:nvPr/>
          </p:nvSpPr>
          <p:spPr>
            <a:xfrm>
              <a:off x="0" y="0"/>
              <a:ext cx="1463421" cy="802767"/>
            </a:xfrm>
            <a:custGeom>
              <a:avLst/>
              <a:gdLst/>
              <a:ahLst/>
              <a:cxnLst/>
              <a:rect l="l" t="t" r="r" b="b"/>
              <a:pathLst>
                <a:path w="1463421" h="802767">
                  <a:moveTo>
                    <a:pt x="0" y="0"/>
                  </a:moveTo>
                  <a:lnTo>
                    <a:pt x="1463421" y="0"/>
                  </a:lnTo>
                  <a:lnTo>
                    <a:pt x="1463421" y="802767"/>
                  </a:lnTo>
                  <a:lnTo>
                    <a:pt x="0" y="802767"/>
                  </a:lnTo>
                  <a:close/>
                </a:path>
              </a:pathLst>
            </a:custGeom>
            <a:blipFill>
              <a:blip r:embed="rId9">
                <a:alphaModFix amt="0"/>
              </a:blip>
              <a:stretch>
                <a:fillRect l="-20430" r="-20430"/>
              </a:stretch>
            </a:blipFill>
          </p:spPr>
        </p:sp>
      </p:grpSp>
      <p:sp>
        <p:nvSpPr>
          <p:cNvPr id="20" name="TextBox 20"/>
          <p:cNvSpPr txBox="1"/>
          <p:nvPr/>
        </p:nvSpPr>
        <p:spPr>
          <a:xfrm rot="-462600">
            <a:off x="13326065" y="9600938"/>
            <a:ext cx="2554043" cy="511435"/>
          </a:xfrm>
          <a:prstGeom prst="rect">
            <a:avLst/>
          </a:prstGeom>
        </p:spPr>
        <p:txBody>
          <a:bodyPr lIns="0" tIns="0" rIns="0" bIns="0" rtlCol="0" anchor="t">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id="21" name="TextBox 21"/>
          <p:cNvSpPr txBox="1"/>
          <p:nvPr/>
        </p:nvSpPr>
        <p:spPr>
          <a:xfrm rot="1440">
            <a:off x="9193218" y="9716433"/>
            <a:ext cx="4176751" cy="465077"/>
          </a:xfrm>
          <a:prstGeom prst="rect">
            <a:avLst/>
          </a:prstGeom>
        </p:spPr>
        <p:txBody>
          <a:bodyPr lIns="0" tIns="0" rIns="0" bIns="0" rtlCol="0" anchor="t">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id="22" name="TextBox 22"/>
          <p:cNvSpPr txBox="1"/>
          <p:nvPr/>
        </p:nvSpPr>
        <p:spPr>
          <a:xfrm>
            <a:off x="745303" y="907180"/>
            <a:ext cx="16797252" cy="676008"/>
          </a:xfrm>
          <a:prstGeom prst="rect">
            <a:avLst/>
          </a:prstGeom>
        </p:spPr>
        <p:txBody>
          <a:bodyPr lIns="0" tIns="0" rIns="0" bIns="0" rtlCol="0" anchor="t">
            <a:spAutoFit/>
          </a:bodyPr>
          <a:lstStyle/>
          <a:p>
            <a:pPr algn="l">
              <a:lnSpc>
                <a:spcPts val="5757"/>
              </a:lnSpc>
            </a:pPr>
            <a:r>
              <a:rPr lang="en-US" sz="4800" b="1" spc="-18">
                <a:solidFill>
                  <a:srgbClr val="0000FF"/>
                </a:solidFill>
                <a:latin typeface="IBM Plex Sans Bold"/>
                <a:ea typeface="IBM Plex Sans Bold"/>
                <a:cs typeface="IBM Plex Sans Bold"/>
                <a:sym typeface="IBM Plex Sans Bold"/>
              </a:rPr>
              <a:t>Cont..</a:t>
            </a:r>
          </a:p>
        </p:txBody>
      </p:sp>
      <p:graphicFrame>
        <p:nvGraphicFramePr>
          <p:cNvPr id="23" name="Table 23"/>
          <p:cNvGraphicFramePr>
            <a:graphicFrameLocks noGrp="1"/>
          </p:cNvGraphicFramePr>
          <p:nvPr/>
        </p:nvGraphicFramePr>
        <p:xfrm>
          <a:off x="745301" y="2040180"/>
          <a:ext cx="15963900" cy="7584376"/>
        </p:xfrm>
        <a:graphic>
          <a:graphicData uri="http://schemas.openxmlformats.org/drawingml/2006/table">
            <a:tbl>
              <a:tblPr/>
              <a:tblGrid>
                <a:gridCol w="1243994">
                  <a:extLst>
                    <a:ext uri="{9D8B030D-6E8A-4147-A177-3AD203B41FA5}">
                      <a16:colId xmlns:a16="http://schemas.microsoft.com/office/drawing/2014/main" val="20000"/>
                    </a:ext>
                  </a:extLst>
                </a:gridCol>
                <a:gridCol w="4900353">
                  <a:extLst>
                    <a:ext uri="{9D8B030D-6E8A-4147-A177-3AD203B41FA5}">
                      <a16:colId xmlns:a16="http://schemas.microsoft.com/office/drawing/2014/main" val="20001"/>
                    </a:ext>
                  </a:extLst>
                </a:gridCol>
                <a:gridCol w="3341513">
                  <a:extLst>
                    <a:ext uri="{9D8B030D-6E8A-4147-A177-3AD203B41FA5}">
                      <a16:colId xmlns:a16="http://schemas.microsoft.com/office/drawing/2014/main" val="20002"/>
                    </a:ext>
                  </a:extLst>
                </a:gridCol>
                <a:gridCol w="3316085">
                  <a:extLst>
                    <a:ext uri="{9D8B030D-6E8A-4147-A177-3AD203B41FA5}">
                      <a16:colId xmlns:a16="http://schemas.microsoft.com/office/drawing/2014/main" val="20003"/>
                    </a:ext>
                  </a:extLst>
                </a:gridCol>
                <a:gridCol w="3161955">
                  <a:extLst>
                    <a:ext uri="{9D8B030D-6E8A-4147-A177-3AD203B41FA5}">
                      <a16:colId xmlns:a16="http://schemas.microsoft.com/office/drawing/2014/main" val="20004"/>
                    </a:ext>
                  </a:extLst>
                </a:gridCol>
              </a:tblGrid>
              <a:tr h="726577">
                <a:tc>
                  <a:txBody>
                    <a:bodyPr/>
                    <a:lstStyle/>
                    <a:p>
                      <a:pPr algn="ctr">
                        <a:lnSpc>
                          <a:spcPts val="2160"/>
                        </a:lnSpc>
                        <a:defRPr/>
                      </a:pPr>
                      <a:r>
                        <a:rPr lang="en-US" sz="1800" b="1" spc="-7">
                          <a:solidFill>
                            <a:srgbClr val="FFFFFF"/>
                          </a:solidFill>
                          <a:latin typeface="TT Ramillas Bold"/>
                          <a:ea typeface="TT Ramillas Bold"/>
                          <a:cs typeface="TT Ramillas Bold"/>
                          <a:sym typeface="TT Ramillas Bold"/>
                        </a:rPr>
                        <a:t>S.No</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tc>
                  <a:txBody>
                    <a:bodyPr/>
                    <a:lstStyle/>
                    <a:p>
                      <a:pPr algn="ctr">
                        <a:lnSpc>
                          <a:spcPts val="2160"/>
                        </a:lnSpc>
                        <a:defRPr/>
                      </a:pPr>
                      <a:r>
                        <a:rPr lang="en-US" sz="1800" b="1" spc="-7">
                          <a:solidFill>
                            <a:srgbClr val="FFFFFF"/>
                          </a:solidFill>
                          <a:latin typeface="TT Ramillas Bold"/>
                          <a:ea typeface="TT Ramillas Bold"/>
                          <a:cs typeface="TT Ramillas Bold"/>
                          <a:sym typeface="TT Ramillas Bold"/>
                        </a:rPr>
                        <a:t>Paper Title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tc>
                  <a:txBody>
                    <a:bodyPr/>
                    <a:lstStyle/>
                    <a:p>
                      <a:pPr algn="ctr">
                        <a:lnSpc>
                          <a:spcPts val="2160"/>
                        </a:lnSpc>
                        <a:defRPr/>
                      </a:pPr>
                      <a:r>
                        <a:rPr lang="en-US" sz="1800" b="1" spc="-7">
                          <a:solidFill>
                            <a:srgbClr val="FFFFFF"/>
                          </a:solidFill>
                          <a:latin typeface="TT Ramillas Bold"/>
                          <a:ea typeface="TT Ramillas Bold"/>
                          <a:cs typeface="TT Ramillas Bold"/>
                          <a:sym typeface="TT Ramillas Bold"/>
                        </a:rPr>
                        <a:t>Authors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tc>
                  <a:txBody>
                    <a:bodyPr/>
                    <a:lstStyle/>
                    <a:p>
                      <a:pPr algn="ctr">
                        <a:lnSpc>
                          <a:spcPts val="2160"/>
                        </a:lnSpc>
                        <a:defRPr/>
                      </a:pPr>
                      <a:r>
                        <a:rPr lang="en-US" sz="1800" b="1" spc="-7">
                          <a:solidFill>
                            <a:srgbClr val="FFFFFF"/>
                          </a:solidFill>
                          <a:latin typeface="TT Ramillas Bold"/>
                          <a:ea typeface="TT Ramillas Bold"/>
                          <a:cs typeface="TT Ramillas Bold"/>
                          <a:sym typeface="TT Ramillas Bold"/>
                        </a:rPr>
                        <a:t>Methodology</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tc>
                  <a:txBody>
                    <a:bodyPr/>
                    <a:lstStyle/>
                    <a:p>
                      <a:pPr algn="ctr">
                        <a:lnSpc>
                          <a:spcPts val="2160"/>
                        </a:lnSpc>
                        <a:defRPr/>
                      </a:pPr>
                      <a:r>
                        <a:rPr lang="en-US" sz="1800" b="1" spc="-7">
                          <a:solidFill>
                            <a:srgbClr val="FFFFFF"/>
                          </a:solidFill>
                          <a:latin typeface="TT Ramillas Bold"/>
                          <a:ea typeface="TT Ramillas Bold"/>
                          <a:cs typeface="TT Ramillas Bold"/>
                          <a:sym typeface="TT Ramillas Bold"/>
                        </a:rPr>
                        <a:t>Research Gaps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extLst>
                  <a:ext uri="{0D108BD9-81ED-4DB2-BD59-A6C34878D82A}">
                    <a16:rowId xmlns:a16="http://schemas.microsoft.com/office/drawing/2014/main" val="10000"/>
                  </a:ext>
                </a:extLst>
              </a:tr>
              <a:tr h="1607247">
                <a:tc>
                  <a:txBody>
                    <a:bodyPr/>
                    <a:lstStyle/>
                    <a:p>
                      <a:pPr algn="ctr">
                        <a:lnSpc>
                          <a:spcPts val="2160"/>
                        </a:lnSpc>
                        <a:defRPr/>
                      </a:pPr>
                      <a:r>
                        <a:rPr lang="en-US" sz="1800" b="1" spc="-7">
                          <a:solidFill>
                            <a:srgbClr val="000000"/>
                          </a:solidFill>
                          <a:latin typeface="TT Ramillas Bold"/>
                          <a:ea typeface="TT Ramillas Bold"/>
                          <a:cs typeface="TT Ramillas Bold"/>
                          <a:sym typeface="TT Ramillas Bold"/>
                        </a:rPr>
                        <a:t>6</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Enhancing Anti-Money Laundering Frameworks: An Application of Graph Neural Networks in Cryptocurrency Transaction Classification</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Ferretti, D'Angelo &amp; Ghini (2025)</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GATv2 and Chebyshev GCN tested on Elliptic dataset — IEEE Access open-access benchmark paper</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Static models only; no temporal encoding; binary classification; no explainability component</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extLst>
                  <a:ext uri="{0D108BD9-81ED-4DB2-BD59-A6C34878D82A}">
                    <a16:rowId xmlns:a16="http://schemas.microsoft.com/office/drawing/2014/main" val="10001"/>
                  </a:ext>
                </a:extLst>
              </a:tr>
              <a:tr h="1357875">
                <a:tc>
                  <a:txBody>
                    <a:bodyPr/>
                    <a:lstStyle/>
                    <a:p>
                      <a:pPr algn="ctr">
                        <a:lnSpc>
                          <a:spcPts val="2160"/>
                        </a:lnSpc>
                        <a:defRPr/>
                      </a:pPr>
                      <a:r>
                        <a:rPr lang="en-US" sz="1800" b="1" spc="-7">
                          <a:solidFill>
                            <a:srgbClr val="000000"/>
                          </a:solidFill>
                          <a:latin typeface="TT Ramillas Bold"/>
                          <a:ea typeface="TT Ramillas Bold"/>
                          <a:cs typeface="TT Ramillas Bold"/>
                          <a:sym typeface="TT Ramillas Bold"/>
                        </a:rPr>
                        <a:t>7</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Anti-Money Laundering by Group-Aware Deep Graph Learning</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Cheng, Ye, Xiang, Ma, Zhang &amp; Jiang (2023)</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Group-aware deep graph learning for AML — IEEE Transactions on Knowledge and Data Engineering</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Group structure used but no temporal modelling; no multi-pattern detection heads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extLst>
                  <a:ext uri="{0D108BD9-81ED-4DB2-BD59-A6C34878D82A}">
                    <a16:rowId xmlns:a16="http://schemas.microsoft.com/office/drawing/2014/main" val="10002"/>
                  </a:ext>
                </a:extLst>
              </a:tr>
              <a:tr h="1108503">
                <a:tc>
                  <a:txBody>
                    <a:bodyPr/>
                    <a:lstStyle/>
                    <a:p>
                      <a:pPr algn="ctr">
                        <a:lnSpc>
                          <a:spcPts val="2160"/>
                        </a:lnSpc>
                        <a:defRPr/>
                      </a:pPr>
                      <a:r>
                        <a:rPr lang="en-US" sz="1800" b="1" spc="-7">
                          <a:solidFill>
                            <a:srgbClr val="000000"/>
                          </a:solidFill>
                          <a:latin typeface="TT Ramillas Bold"/>
                          <a:ea typeface="TT Ramillas Bold"/>
                          <a:cs typeface="TT Ramillas Bold"/>
                          <a:sym typeface="TT Ramillas Bold"/>
                        </a:rPr>
                        <a:t>8</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A Spatio-Temporal Attention-Based GCN for Anti-Money Laundering Transaction Detection</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Huang, Wang, Zhang &amp; Zhao (2023)</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Spatio-temporal graph convolutional network combining spatial GCN and temporal attention for AML</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Spatial and temporal modules are separate; no learnable Fourier encoding; binary output only</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extLst>
                  <a:ext uri="{0D108BD9-81ED-4DB2-BD59-A6C34878D82A}">
                    <a16:rowId xmlns:a16="http://schemas.microsoft.com/office/drawing/2014/main" val="10003"/>
                  </a:ext>
                </a:extLst>
              </a:tr>
              <a:tr h="1033515">
                <a:tc>
                  <a:txBody>
                    <a:bodyPr/>
                    <a:lstStyle/>
                    <a:p>
                      <a:pPr algn="ctr">
                        <a:lnSpc>
                          <a:spcPts val="2160"/>
                        </a:lnSpc>
                        <a:defRPr/>
                      </a:pPr>
                      <a:r>
                        <a:rPr lang="en-US" sz="1800" b="1" spc="-7">
                          <a:solidFill>
                            <a:srgbClr val="000000"/>
                          </a:solidFill>
                          <a:latin typeface="TT Ramillas Bold"/>
                          <a:ea typeface="TT Ramillas Bold"/>
                          <a:cs typeface="TT Ramillas Bold"/>
                          <a:sym typeface="TT Ramillas Bold"/>
                        </a:rPr>
                        <a:t>9</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Global-Local Graph Attention with Cyclic Pseudo-Labels for Bitcoin AML Detection</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Li, Jia &amp; Su (2025)</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Global-local GAT with cyclic pseudo-labels targeting circular patterns — Scientific Reports Nature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Targets only circular patterns; no learnable time encoding; no layering or smurfing detection</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extLst>
                  <a:ext uri="{0D108BD9-81ED-4DB2-BD59-A6C34878D82A}">
                    <a16:rowId xmlns:a16="http://schemas.microsoft.com/office/drawing/2014/main" val="10004"/>
                  </a:ext>
                </a:extLst>
              </a:tr>
              <a:tr h="1265582">
                <a:tc>
                  <a:txBody>
                    <a:bodyPr/>
                    <a:lstStyle/>
                    <a:p>
                      <a:pPr algn="ctr">
                        <a:lnSpc>
                          <a:spcPts val="2160"/>
                        </a:lnSpc>
                        <a:defRPr/>
                      </a:pPr>
                      <a:r>
                        <a:rPr lang="en-US" sz="1800" b="1" spc="-7">
                          <a:solidFill>
                            <a:srgbClr val="000000"/>
                          </a:solidFill>
                          <a:latin typeface="TT Ramillas Bold"/>
                          <a:ea typeface="TT Ramillas Bold"/>
                          <a:cs typeface="TT Ramillas Bold"/>
                          <a:sym typeface="TT Ramillas Bold"/>
                        </a:rPr>
                        <a:t>10</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Inductive Representation Learning on Temporal Graphs (TGAT)</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Xu, Ruan, Korpeoglu, Kumar &amp; Achan (2020)</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TGAT with Fourier time encoding for temporal graph learning — foundational architecture of our model</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General-purpose temporal GNN; not applied to AML; no pattern-specific detection or explainability</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65" y="-43167"/>
            <a:ext cx="18345198" cy="450009"/>
            <a:chOff x="0" y="0"/>
            <a:chExt cx="24460264" cy="600012"/>
          </a:xfrm>
        </p:grpSpPr>
        <p:sp>
          <p:nvSpPr>
            <p:cNvPr id="3" name="Freeform 3"/>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grpSp>
        <p:nvGrpSpPr>
          <p:cNvPr id="4" name="Group 4"/>
          <p:cNvGrpSpPr/>
          <p:nvPr/>
        </p:nvGrpSpPr>
        <p:grpSpPr>
          <a:xfrm>
            <a:off x="-28565" y="9894760"/>
            <a:ext cx="18345198" cy="450009"/>
            <a:chOff x="0" y="0"/>
            <a:chExt cx="24460264" cy="600012"/>
          </a:xfrm>
        </p:grpSpPr>
        <p:sp>
          <p:nvSpPr>
            <p:cNvPr id="5" name="Freeform 5"/>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sp>
        <p:nvSpPr>
          <p:cNvPr id="6" name="Freeform 6"/>
          <p:cNvSpPr/>
          <p:nvPr/>
        </p:nvSpPr>
        <p:spPr>
          <a:xfrm>
            <a:off x="-12583" y="9568444"/>
            <a:ext cx="18313003" cy="555165"/>
          </a:xfrm>
          <a:custGeom>
            <a:avLst/>
            <a:gdLst/>
            <a:ahLst/>
            <a:cxnLst/>
            <a:rect l="l" t="t" r="r" b="b"/>
            <a:pathLst>
              <a:path w="18313003" h="555165">
                <a:moveTo>
                  <a:pt x="0" y="0"/>
                </a:moveTo>
                <a:lnTo>
                  <a:pt x="18313004" y="0"/>
                </a:lnTo>
                <a:lnTo>
                  <a:pt x="18313004" y="555164"/>
                </a:lnTo>
                <a:lnTo>
                  <a:pt x="0" y="555164"/>
                </a:lnTo>
                <a:lnTo>
                  <a:pt x="0" y="0"/>
                </a:lnTo>
                <a:close/>
              </a:path>
            </a:pathLst>
          </a:custGeom>
          <a:blipFill>
            <a:blip>
              <a:extLst>
                <a:ext uri="{96DAC541-7B7A-43D3-8B79-37D633B846F1}">
                  <asvg:svgBlip xmlns:asvg="http://schemas.microsoft.com/office/drawing/2016/SVG/main" r:embed="rId3"/>
                </a:ext>
              </a:extLst>
            </a:blip>
            <a:stretch>
              <a:fillRect t="-603" b="-602"/>
            </a:stretch>
          </a:blipFill>
        </p:spPr>
      </p:sp>
      <p:grpSp>
        <p:nvGrpSpPr>
          <p:cNvPr id="7" name="Group 7"/>
          <p:cNvGrpSpPr/>
          <p:nvPr/>
        </p:nvGrpSpPr>
        <p:grpSpPr>
          <a:xfrm>
            <a:off x="12210374" y="3204601"/>
            <a:ext cx="5977033" cy="5953316"/>
            <a:chOff x="0" y="0"/>
            <a:chExt cx="7969377" cy="7937754"/>
          </a:xfrm>
        </p:grpSpPr>
        <p:sp>
          <p:nvSpPr>
            <p:cNvPr id="8" name="Freeform 8"/>
            <p:cNvSpPr/>
            <p:nvPr/>
          </p:nvSpPr>
          <p:spPr>
            <a:xfrm>
              <a:off x="0" y="0"/>
              <a:ext cx="7969377" cy="7937754"/>
            </a:xfrm>
            <a:custGeom>
              <a:avLst/>
              <a:gdLst/>
              <a:ahLst/>
              <a:cxnLst/>
              <a:rect l="l" t="t" r="r" b="b"/>
              <a:pathLst>
                <a:path w="7969377" h="7937754">
                  <a:moveTo>
                    <a:pt x="0" y="0"/>
                  </a:moveTo>
                  <a:lnTo>
                    <a:pt x="7969377" y="0"/>
                  </a:lnTo>
                  <a:lnTo>
                    <a:pt x="7969377" y="7937754"/>
                  </a:lnTo>
                  <a:lnTo>
                    <a:pt x="0" y="7937754"/>
                  </a:lnTo>
                  <a:lnTo>
                    <a:pt x="0" y="0"/>
                  </a:lnTo>
                  <a:close/>
                </a:path>
              </a:pathLst>
            </a:custGeom>
            <a:blipFill>
              <a:blip r:embed="rId4">
                <a:alphaModFix amt="3000"/>
              </a:blip>
              <a:stretch>
                <a:fillRect/>
              </a:stretch>
            </a:blipFill>
          </p:spPr>
        </p:sp>
      </p:grpSp>
      <p:grpSp>
        <p:nvGrpSpPr>
          <p:cNvPr id="9" name="Group 9"/>
          <p:cNvGrpSpPr/>
          <p:nvPr/>
        </p:nvGrpSpPr>
        <p:grpSpPr>
          <a:xfrm>
            <a:off x="16830599" y="9598257"/>
            <a:ext cx="1097566" cy="616363"/>
            <a:chOff x="0" y="0"/>
            <a:chExt cx="1463421" cy="821817"/>
          </a:xfrm>
        </p:grpSpPr>
        <p:sp>
          <p:nvSpPr>
            <p:cNvPr id="10" name="Freeform 10"/>
            <p:cNvSpPr/>
            <p:nvPr/>
          </p:nvSpPr>
          <p:spPr>
            <a:xfrm>
              <a:off x="0" y="0"/>
              <a:ext cx="1463421" cy="821817"/>
            </a:xfrm>
            <a:custGeom>
              <a:avLst/>
              <a:gdLst/>
              <a:ahLst/>
              <a:cxnLst/>
              <a:rect l="l" t="t" r="r" b="b"/>
              <a:pathLst>
                <a:path w="1463421" h="821817">
                  <a:moveTo>
                    <a:pt x="0" y="0"/>
                  </a:moveTo>
                  <a:lnTo>
                    <a:pt x="1463421" y="0"/>
                  </a:lnTo>
                  <a:lnTo>
                    <a:pt x="1463421" y="821817"/>
                  </a:lnTo>
                  <a:lnTo>
                    <a:pt x="0" y="821817"/>
                  </a:lnTo>
                  <a:close/>
                </a:path>
              </a:pathLst>
            </a:custGeom>
            <a:blipFill>
              <a:blip r:embed="rId5">
                <a:alphaModFix amt="0"/>
              </a:blip>
              <a:stretch>
                <a:fillRect l="-22101" r="-22101"/>
              </a:stretch>
            </a:blipFill>
          </p:spPr>
        </p:sp>
      </p:grpSp>
      <p:grpSp>
        <p:nvGrpSpPr>
          <p:cNvPr id="11" name="Group 11"/>
          <p:cNvGrpSpPr/>
          <p:nvPr/>
        </p:nvGrpSpPr>
        <p:grpSpPr>
          <a:xfrm>
            <a:off x="16830599" y="9583969"/>
            <a:ext cx="1097566" cy="630650"/>
            <a:chOff x="0" y="0"/>
            <a:chExt cx="1463421" cy="840867"/>
          </a:xfrm>
        </p:grpSpPr>
        <p:sp>
          <p:nvSpPr>
            <p:cNvPr id="12" name="Freeform 12"/>
            <p:cNvSpPr/>
            <p:nvPr/>
          </p:nvSpPr>
          <p:spPr>
            <a:xfrm>
              <a:off x="0" y="0"/>
              <a:ext cx="1463421" cy="840867"/>
            </a:xfrm>
            <a:custGeom>
              <a:avLst/>
              <a:gdLst/>
              <a:ahLst/>
              <a:cxnLst/>
              <a:rect l="l" t="t" r="r" b="b"/>
              <a:pathLst>
                <a:path w="1463421" h="840867">
                  <a:moveTo>
                    <a:pt x="0" y="0"/>
                  </a:moveTo>
                  <a:lnTo>
                    <a:pt x="1463421" y="0"/>
                  </a:lnTo>
                  <a:lnTo>
                    <a:pt x="1463421" y="840867"/>
                  </a:lnTo>
                  <a:lnTo>
                    <a:pt x="0" y="840867"/>
                  </a:lnTo>
                  <a:close/>
                </a:path>
              </a:pathLst>
            </a:custGeom>
            <a:blipFill>
              <a:blip r:embed="rId6">
                <a:alphaModFix amt="0"/>
              </a:blip>
              <a:stretch>
                <a:fillRect l="-23773" r="-23773"/>
              </a:stretch>
            </a:blipFill>
          </p:spPr>
        </p:sp>
      </p:grpSp>
      <p:grpSp>
        <p:nvGrpSpPr>
          <p:cNvPr id="13" name="Group 13"/>
          <p:cNvGrpSpPr/>
          <p:nvPr/>
        </p:nvGrpSpPr>
        <p:grpSpPr>
          <a:xfrm>
            <a:off x="16830599" y="9569682"/>
            <a:ext cx="1097547" cy="644966"/>
            <a:chOff x="0" y="0"/>
            <a:chExt cx="1463396" cy="859955"/>
          </a:xfrm>
        </p:grpSpPr>
        <p:sp>
          <p:nvSpPr>
            <p:cNvPr id="14" name="Freeform 14"/>
            <p:cNvSpPr/>
            <p:nvPr/>
          </p:nvSpPr>
          <p:spPr>
            <a:xfrm>
              <a:off x="0" y="0"/>
              <a:ext cx="1463421" cy="859917"/>
            </a:xfrm>
            <a:custGeom>
              <a:avLst/>
              <a:gdLst/>
              <a:ahLst/>
              <a:cxnLst/>
              <a:rect l="l" t="t" r="r" b="b"/>
              <a:pathLst>
                <a:path w="1463421" h="859917">
                  <a:moveTo>
                    <a:pt x="0" y="0"/>
                  </a:moveTo>
                  <a:lnTo>
                    <a:pt x="1463421" y="0"/>
                  </a:lnTo>
                  <a:lnTo>
                    <a:pt x="1463421" y="859917"/>
                  </a:lnTo>
                  <a:lnTo>
                    <a:pt x="0" y="859917"/>
                  </a:lnTo>
                  <a:close/>
                </a:path>
              </a:pathLst>
            </a:custGeom>
            <a:blipFill>
              <a:blip r:embed="rId7">
                <a:alphaModFix amt="0"/>
              </a:blip>
              <a:stretch>
                <a:fillRect l="-25449" r="-25446" b="-4"/>
              </a:stretch>
            </a:blipFill>
          </p:spPr>
        </p:sp>
      </p:grpSp>
      <p:grpSp>
        <p:nvGrpSpPr>
          <p:cNvPr id="15" name="Group 15"/>
          <p:cNvGrpSpPr/>
          <p:nvPr/>
        </p:nvGrpSpPr>
        <p:grpSpPr>
          <a:xfrm>
            <a:off x="16830599" y="9555394"/>
            <a:ext cx="1097547" cy="659254"/>
            <a:chOff x="0" y="0"/>
            <a:chExt cx="1463396" cy="879005"/>
          </a:xfrm>
        </p:grpSpPr>
        <p:sp>
          <p:nvSpPr>
            <p:cNvPr id="16" name="Freeform 16"/>
            <p:cNvSpPr/>
            <p:nvPr/>
          </p:nvSpPr>
          <p:spPr>
            <a:xfrm>
              <a:off x="0" y="0"/>
              <a:ext cx="1463396" cy="879005"/>
            </a:xfrm>
            <a:custGeom>
              <a:avLst/>
              <a:gdLst/>
              <a:ahLst/>
              <a:cxnLst/>
              <a:rect l="l" t="t" r="r" b="b"/>
              <a:pathLst>
                <a:path w="1463396" h="879005">
                  <a:moveTo>
                    <a:pt x="0" y="0"/>
                  </a:moveTo>
                  <a:lnTo>
                    <a:pt x="1463396" y="0"/>
                  </a:lnTo>
                  <a:lnTo>
                    <a:pt x="1463396" y="879005"/>
                  </a:lnTo>
                  <a:lnTo>
                    <a:pt x="0" y="879005"/>
                  </a:lnTo>
                  <a:close/>
                </a:path>
              </a:pathLst>
            </a:custGeom>
            <a:blipFill>
              <a:blip r:embed="rId8">
                <a:alphaModFix amt="0"/>
              </a:blip>
              <a:stretch>
                <a:fillRect l="-27066" r="-27066"/>
              </a:stretch>
            </a:blipFill>
          </p:spPr>
        </p:sp>
        <p:sp>
          <p:nvSpPr>
            <p:cNvPr id="17" name="TextBox 17"/>
            <p:cNvSpPr txBox="1"/>
            <p:nvPr/>
          </p:nvSpPr>
          <p:spPr>
            <a:xfrm>
              <a:off x="0" y="-19050"/>
              <a:ext cx="1463396" cy="898055"/>
            </a:xfrm>
            <a:prstGeom prst="rect">
              <a:avLst/>
            </a:prstGeom>
          </p:spPr>
          <p:txBody>
            <a:bodyPr lIns="0" tIns="0" rIns="0" bIns="0" rtlCol="0" anchor="ctr"/>
            <a:lstStyle/>
            <a:p>
              <a:pPr algn="r">
                <a:lnSpc>
                  <a:spcPts val="2160"/>
                </a:lnSpc>
              </a:pPr>
              <a:r>
                <a:rPr lang="en-US" sz="1800">
                  <a:solidFill>
                    <a:srgbClr val="FFFFFF"/>
                  </a:solidFill>
                  <a:latin typeface="Arial"/>
                  <a:ea typeface="Arial"/>
                  <a:cs typeface="Arial"/>
                  <a:sym typeface="Arial"/>
                </a:rPr>
                <a:t>9</a:t>
              </a:r>
            </a:p>
          </p:txBody>
        </p:sp>
      </p:grpSp>
      <p:grpSp>
        <p:nvGrpSpPr>
          <p:cNvPr id="18" name="Group 18"/>
          <p:cNvGrpSpPr/>
          <p:nvPr/>
        </p:nvGrpSpPr>
        <p:grpSpPr>
          <a:xfrm>
            <a:off x="16830599" y="9612544"/>
            <a:ext cx="1097566" cy="602075"/>
            <a:chOff x="0" y="0"/>
            <a:chExt cx="1463421" cy="802767"/>
          </a:xfrm>
        </p:grpSpPr>
        <p:sp>
          <p:nvSpPr>
            <p:cNvPr id="19" name="Freeform 19"/>
            <p:cNvSpPr/>
            <p:nvPr/>
          </p:nvSpPr>
          <p:spPr>
            <a:xfrm>
              <a:off x="0" y="0"/>
              <a:ext cx="1463421" cy="802767"/>
            </a:xfrm>
            <a:custGeom>
              <a:avLst/>
              <a:gdLst/>
              <a:ahLst/>
              <a:cxnLst/>
              <a:rect l="l" t="t" r="r" b="b"/>
              <a:pathLst>
                <a:path w="1463421" h="802767">
                  <a:moveTo>
                    <a:pt x="0" y="0"/>
                  </a:moveTo>
                  <a:lnTo>
                    <a:pt x="1463421" y="0"/>
                  </a:lnTo>
                  <a:lnTo>
                    <a:pt x="1463421" y="802767"/>
                  </a:lnTo>
                  <a:lnTo>
                    <a:pt x="0" y="802767"/>
                  </a:lnTo>
                  <a:close/>
                </a:path>
              </a:pathLst>
            </a:custGeom>
            <a:blipFill>
              <a:blip r:embed="rId9">
                <a:alphaModFix amt="0"/>
              </a:blip>
              <a:stretch>
                <a:fillRect l="-20430" r="-20430"/>
              </a:stretch>
            </a:blipFill>
          </p:spPr>
        </p:sp>
      </p:grpSp>
      <p:sp>
        <p:nvSpPr>
          <p:cNvPr id="20" name="TextBox 20"/>
          <p:cNvSpPr txBox="1"/>
          <p:nvPr/>
        </p:nvSpPr>
        <p:spPr>
          <a:xfrm rot="-462600">
            <a:off x="13326065" y="9600938"/>
            <a:ext cx="2554043" cy="511435"/>
          </a:xfrm>
          <a:prstGeom prst="rect">
            <a:avLst/>
          </a:prstGeom>
        </p:spPr>
        <p:txBody>
          <a:bodyPr lIns="0" tIns="0" rIns="0" bIns="0" rtlCol="0" anchor="t">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id="21" name="TextBox 21"/>
          <p:cNvSpPr txBox="1"/>
          <p:nvPr/>
        </p:nvSpPr>
        <p:spPr>
          <a:xfrm rot="1440">
            <a:off x="9193218" y="9716433"/>
            <a:ext cx="4176751" cy="465077"/>
          </a:xfrm>
          <a:prstGeom prst="rect">
            <a:avLst/>
          </a:prstGeom>
        </p:spPr>
        <p:txBody>
          <a:bodyPr lIns="0" tIns="0" rIns="0" bIns="0" rtlCol="0" anchor="t">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id="22" name="TextBox 22"/>
          <p:cNvSpPr txBox="1"/>
          <p:nvPr/>
        </p:nvSpPr>
        <p:spPr>
          <a:xfrm>
            <a:off x="745303" y="907180"/>
            <a:ext cx="16797252" cy="676008"/>
          </a:xfrm>
          <a:prstGeom prst="rect">
            <a:avLst/>
          </a:prstGeom>
        </p:spPr>
        <p:txBody>
          <a:bodyPr lIns="0" tIns="0" rIns="0" bIns="0" rtlCol="0" anchor="t">
            <a:spAutoFit/>
          </a:bodyPr>
          <a:lstStyle/>
          <a:p>
            <a:pPr algn="l">
              <a:lnSpc>
                <a:spcPts val="5757"/>
              </a:lnSpc>
            </a:pPr>
            <a:r>
              <a:rPr lang="en-US" sz="4800" b="1" spc="-18">
                <a:solidFill>
                  <a:srgbClr val="0000FF"/>
                </a:solidFill>
                <a:latin typeface="IBM Plex Sans Bold"/>
                <a:ea typeface="IBM Plex Sans Bold"/>
                <a:cs typeface="IBM Plex Sans Bold"/>
                <a:sym typeface="IBM Plex Sans Bold"/>
              </a:rPr>
              <a:t>Cont..</a:t>
            </a:r>
          </a:p>
        </p:txBody>
      </p:sp>
      <p:graphicFrame>
        <p:nvGraphicFramePr>
          <p:cNvPr id="23" name="Table 23"/>
          <p:cNvGraphicFramePr>
            <a:graphicFrameLocks noGrp="1"/>
          </p:cNvGraphicFramePr>
          <p:nvPr/>
        </p:nvGraphicFramePr>
        <p:xfrm>
          <a:off x="745301" y="2040180"/>
          <a:ext cx="15963900" cy="7584376"/>
        </p:xfrm>
        <a:graphic>
          <a:graphicData uri="http://schemas.openxmlformats.org/drawingml/2006/table">
            <a:tbl>
              <a:tblPr/>
              <a:tblGrid>
                <a:gridCol w="1243993">
                  <a:extLst>
                    <a:ext uri="{9D8B030D-6E8A-4147-A177-3AD203B41FA5}">
                      <a16:colId xmlns:a16="http://schemas.microsoft.com/office/drawing/2014/main" val="20000"/>
                    </a:ext>
                  </a:extLst>
                </a:gridCol>
                <a:gridCol w="4900354">
                  <a:extLst>
                    <a:ext uri="{9D8B030D-6E8A-4147-A177-3AD203B41FA5}">
                      <a16:colId xmlns:a16="http://schemas.microsoft.com/office/drawing/2014/main" val="20001"/>
                    </a:ext>
                  </a:extLst>
                </a:gridCol>
                <a:gridCol w="3341513">
                  <a:extLst>
                    <a:ext uri="{9D8B030D-6E8A-4147-A177-3AD203B41FA5}">
                      <a16:colId xmlns:a16="http://schemas.microsoft.com/office/drawing/2014/main" val="20002"/>
                    </a:ext>
                  </a:extLst>
                </a:gridCol>
                <a:gridCol w="3316085">
                  <a:extLst>
                    <a:ext uri="{9D8B030D-6E8A-4147-A177-3AD203B41FA5}">
                      <a16:colId xmlns:a16="http://schemas.microsoft.com/office/drawing/2014/main" val="20003"/>
                    </a:ext>
                  </a:extLst>
                </a:gridCol>
                <a:gridCol w="3161955">
                  <a:extLst>
                    <a:ext uri="{9D8B030D-6E8A-4147-A177-3AD203B41FA5}">
                      <a16:colId xmlns:a16="http://schemas.microsoft.com/office/drawing/2014/main" val="20004"/>
                    </a:ext>
                  </a:extLst>
                </a:gridCol>
              </a:tblGrid>
              <a:tr h="726577">
                <a:tc>
                  <a:txBody>
                    <a:bodyPr/>
                    <a:lstStyle/>
                    <a:p>
                      <a:pPr algn="ctr">
                        <a:lnSpc>
                          <a:spcPts val="2160"/>
                        </a:lnSpc>
                        <a:defRPr/>
                      </a:pPr>
                      <a:r>
                        <a:rPr lang="en-US" sz="1800" b="1" spc="-7">
                          <a:solidFill>
                            <a:srgbClr val="FFFFFF"/>
                          </a:solidFill>
                          <a:latin typeface="TT Ramillas Bold"/>
                          <a:ea typeface="TT Ramillas Bold"/>
                          <a:cs typeface="TT Ramillas Bold"/>
                          <a:sym typeface="TT Ramillas Bold"/>
                        </a:rPr>
                        <a:t>S.No</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tc>
                  <a:txBody>
                    <a:bodyPr/>
                    <a:lstStyle/>
                    <a:p>
                      <a:pPr algn="ctr">
                        <a:lnSpc>
                          <a:spcPts val="2160"/>
                        </a:lnSpc>
                        <a:defRPr/>
                      </a:pPr>
                      <a:r>
                        <a:rPr lang="en-US" sz="1800" b="1" spc="-7">
                          <a:solidFill>
                            <a:srgbClr val="FFFFFF"/>
                          </a:solidFill>
                          <a:latin typeface="TT Ramillas Bold"/>
                          <a:ea typeface="TT Ramillas Bold"/>
                          <a:cs typeface="TT Ramillas Bold"/>
                          <a:sym typeface="TT Ramillas Bold"/>
                        </a:rPr>
                        <a:t>Paper Title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tc>
                  <a:txBody>
                    <a:bodyPr/>
                    <a:lstStyle/>
                    <a:p>
                      <a:pPr algn="ctr">
                        <a:lnSpc>
                          <a:spcPts val="2160"/>
                        </a:lnSpc>
                        <a:defRPr/>
                      </a:pPr>
                      <a:r>
                        <a:rPr lang="en-US" sz="1800" b="1" spc="-7">
                          <a:solidFill>
                            <a:srgbClr val="FFFFFF"/>
                          </a:solidFill>
                          <a:latin typeface="TT Ramillas Bold"/>
                          <a:ea typeface="TT Ramillas Bold"/>
                          <a:cs typeface="TT Ramillas Bold"/>
                          <a:sym typeface="TT Ramillas Bold"/>
                        </a:rPr>
                        <a:t>Authors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tc>
                  <a:txBody>
                    <a:bodyPr/>
                    <a:lstStyle/>
                    <a:p>
                      <a:pPr algn="ctr">
                        <a:lnSpc>
                          <a:spcPts val="2160"/>
                        </a:lnSpc>
                        <a:defRPr/>
                      </a:pPr>
                      <a:r>
                        <a:rPr lang="en-US" sz="1800" b="1" spc="-7">
                          <a:solidFill>
                            <a:srgbClr val="FFFFFF"/>
                          </a:solidFill>
                          <a:latin typeface="TT Ramillas Bold"/>
                          <a:ea typeface="TT Ramillas Bold"/>
                          <a:cs typeface="TT Ramillas Bold"/>
                          <a:sym typeface="TT Ramillas Bold"/>
                        </a:rPr>
                        <a:t>Methodology</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tc>
                  <a:txBody>
                    <a:bodyPr/>
                    <a:lstStyle/>
                    <a:p>
                      <a:pPr algn="ctr">
                        <a:lnSpc>
                          <a:spcPts val="2160"/>
                        </a:lnSpc>
                        <a:defRPr/>
                      </a:pPr>
                      <a:r>
                        <a:rPr lang="en-US" sz="1800" b="1" spc="-7">
                          <a:solidFill>
                            <a:srgbClr val="FFFFFF"/>
                          </a:solidFill>
                          <a:latin typeface="TT Ramillas Bold"/>
                          <a:ea typeface="TT Ramillas Bold"/>
                          <a:cs typeface="TT Ramillas Bold"/>
                          <a:sym typeface="TT Ramillas Bold"/>
                        </a:rPr>
                        <a:t>Research Gaps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extLst>
                  <a:ext uri="{0D108BD9-81ED-4DB2-BD59-A6C34878D82A}">
                    <a16:rowId xmlns:a16="http://schemas.microsoft.com/office/drawing/2014/main" val="10000"/>
                  </a:ext>
                </a:extLst>
              </a:tr>
              <a:tr h="1607247">
                <a:tc>
                  <a:txBody>
                    <a:bodyPr/>
                    <a:lstStyle/>
                    <a:p>
                      <a:pPr algn="ctr">
                        <a:lnSpc>
                          <a:spcPts val="2160"/>
                        </a:lnSpc>
                        <a:defRPr/>
                      </a:pPr>
                      <a:r>
                        <a:rPr lang="en-US" sz="1800" b="1" spc="-7">
                          <a:solidFill>
                            <a:srgbClr val="000000"/>
                          </a:solidFill>
                          <a:latin typeface="TT Ramillas Bold"/>
                          <a:ea typeface="TT Ramillas Bold"/>
                          <a:cs typeface="TT Ramillas Bold"/>
                          <a:sym typeface="TT Ramillas Bold"/>
                        </a:rPr>
                        <a:t>11</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GNNExplainer: Generating Explanations for Graph Neural Networks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Ying, Bourgeois, You, Zitnik &amp; Leskovec (2019)</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Minimal subgraph mask learning using mutual information maximisation for GNN explainability</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General-purpose; not applied to AML; no temporal subgraph ordering; no pattern-type labelling</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extLst>
                  <a:ext uri="{0D108BD9-81ED-4DB2-BD59-A6C34878D82A}">
                    <a16:rowId xmlns:a16="http://schemas.microsoft.com/office/drawing/2014/main" val="10001"/>
                  </a:ext>
                </a:extLst>
              </a:tr>
              <a:tr h="1357875">
                <a:tc>
                  <a:txBody>
                    <a:bodyPr/>
                    <a:lstStyle/>
                    <a:p>
                      <a:pPr algn="ctr">
                        <a:lnSpc>
                          <a:spcPts val="2160"/>
                        </a:lnSpc>
                        <a:defRPr/>
                      </a:pPr>
                      <a:r>
                        <a:rPr lang="en-US" sz="1800" b="1" spc="-7">
                          <a:solidFill>
                            <a:srgbClr val="000000"/>
                          </a:solidFill>
                          <a:latin typeface="TT Ramillas Bold"/>
                          <a:ea typeface="TT Ramillas Bold"/>
                          <a:cs typeface="TT Ramillas Bold"/>
                          <a:sym typeface="TT Ramillas Bold"/>
                        </a:rPr>
                        <a:t>12</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Semi-Supervised Classification with Graph Convolutional Networks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Kipf &amp; Welling (2017)</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Graph Convolutional Network using spectral convolution — foundational GNN paper and our first baseline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Static graph only; no temporal awareness; neighbourhood aggregation ignores time completely</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extLst>
                  <a:ext uri="{0D108BD9-81ED-4DB2-BD59-A6C34878D82A}">
                    <a16:rowId xmlns:a16="http://schemas.microsoft.com/office/drawing/2014/main" val="10002"/>
                  </a:ext>
                </a:extLst>
              </a:tr>
              <a:tr h="1108503">
                <a:tc>
                  <a:txBody>
                    <a:bodyPr/>
                    <a:lstStyle/>
                    <a:p>
                      <a:pPr algn="ctr">
                        <a:lnSpc>
                          <a:spcPts val="2160"/>
                        </a:lnSpc>
                        <a:defRPr/>
                      </a:pPr>
                      <a:r>
                        <a:rPr lang="en-US" sz="1800" b="1" spc="-7">
                          <a:solidFill>
                            <a:srgbClr val="000000"/>
                          </a:solidFill>
                          <a:latin typeface="TT Ramillas Bold"/>
                          <a:ea typeface="TT Ramillas Bold"/>
                          <a:cs typeface="TT Ramillas Bold"/>
                          <a:sym typeface="TT Ramillas Bold"/>
                        </a:rPr>
                        <a:t>13</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Graph Attention Networks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Veličković, Cucurull, Casanova et al. (2018)</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Attention-weighted neighbourhood aggregation in GNN — direct predecessor architecture of TGAT</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No temporal component; static attention only; no laundering pattern awareness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extLst>
                  <a:ext uri="{0D108BD9-81ED-4DB2-BD59-A6C34878D82A}">
                    <a16:rowId xmlns:a16="http://schemas.microsoft.com/office/drawing/2014/main" val="10003"/>
                  </a:ext>
                </a:extLst>
              </a:tr>
              <a:tr h="1033515">
                <a:tc>
                  <a:txBody>
                    <a:bodyPr/>
                    <a:lstStyle/>
                    <a:p>
                      <a:pPr algn="ctr">
                        <a:lnSpc>
                          <a:spcPts val="2160"/>
                        </a:lnSpc>
                        <a:defRPr/>
                      </a:pPr>
                      <a:r>
                        <a:rPr lang="en-US" sz="1800" b="1" spc="-7">
                          <a:solidFill>
                            <a:srgbClr val="000000"/>
                          </a:solidFill>
                          <a:latin typeface="TT Ramillas Bold"/>
                          <a:ea typeface="TT Ramillas Bold"/>
                          <a:cs typeface="TT Ramillas Bold"/>
                          <a:sym typeface="TT Ramillas Bold"/>
                        </a:rPr>
                        <a:t>14</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Temporal Graph Networks for Deep Learning on Dynamic Graphs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Rossi, Chamberlain, Frasca et al. (2020)</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TGN framework for dynamic graphs with memory modules and temporal neighbourhood aggregation</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General temporal GNN; not applied to AML or crypto; no laundering pattern heads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extLst>
                  <a:ext uri="{0D108BD9-81ED-4DB2-BD59-A6C34878D82A}">
                    <a16:rowId xmlns:a16="http://schemas.microsoft.com/office/drawing/2014/main" val="10004"/>
                  </a:ext>
                </a:extLst>
              </a:tr>
              <a:tr h="1265582">
                <a:tc>
                  <a:txBody>
                    <a:bodyPr/>
                    <a:lstStyle/>
                    <a:p>
                      <a:pPr algn="ctr">
                        <a:lnSpc>
                          <a:spcPts val="2160"/>
                        </a:lnSpc>
                        <a:defRPr/>
                      </a:pPr>
                      <a:r>
                        <a:rPr lang="en-US" sz="1800" b="1" spc="-7">
                          <a:solidFill>
                            <a:srgbClr val="000000"/>
                          </a:solidFill>
                          <a:latin typeface="TT Ramillas Bold"/>
                          <a:ea typeface="TT Ramillas Bold"/>
                          <a:cs typeface="TT Ramillas Bold"/>
                          <a:sym typeface="TT Ramillas Bold"/>
                        </a:rPr>
                        <a:t>15</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A Dynamic Graph Convolutional Network for Anti-Money Laundering</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Wei, Zeng, Guo, Guo, Tu &amp; Xu (2023)</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Dynamic GAT (DynGAT) capturing temporal information within the graph attention mechanism for AML</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Temporal attention not inside Fourier encoding; no multi-pattern detection; no explainability</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65" y="-43167"/>
            <a:ext cx="18345198" cy="450009"/>
            <a:chOff x="0" y="0"/>
            <a:chExt cx="24460264" cy="600012"/>
          </a:xfrm>
        </p:grpSpPr>
        <p:sp>
          <p:nvSpPr>
            <p:cNvPr id="3" name="Freeform 3"/>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grpSp>
        <p:nvGrpSpPr>
          <p:cNvPr id="4" name="Group 4"/>
          <p:cNvGrpSpPr/>
          <p:nvPr/>
        </p:nvGrpSpPr>
        <p:grpSpPr>
          <a:xfrm>
            <a:off x="-28565" y="9894760"/>
            <a:ext cx="18345198" cy="450009"/>
            <a:chOff x="0" y="0"/>
            <a:chExt cx="24460264" cy="600012"/>
          </a:xfrm>
        </p:grpSpPr>
        <p:sp>
          <p:nvSpPr>
            <p:cNvPr id="5" name="Freeform 5"/>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sp>
        <p:nvSpPr>
          <p:cNvPr id="6" name="Freeform 6"/>
          <p:cNvSpPr/>
          <p:nvPr/>
        </p:nvSpPr>
        <p:spPr>
          <a:xfrm>
            <a:off x="-12583" y="9568444"/>
            <a:ext cx="18313003" cy="555165"/>
          </a:xfrm>
          <a:custGeom>
            <a:avLst/>
            <a:gdLst/>
            <a:ahLst/>
            <a:cxnLst/>
            <a:rect l="l" t="t" r="r" b="b"/>
            <a:pathLst>
              <a:path w="18313003" h="555165">
                <a:moveTo>
                  <a:pt x="0" y="0"/>
                </a:moveTo>
                <a:lnTo>
                  <a:pt x="18313004" y="0"/>
                </a:lnTo>
                <a:lnTo>
                  <a:pt x="18313004" y="555164"/>
                </a:lnTo>
                <a:lnTo>
                  <a:pt x="0" y="555164"/>
                </a:lnTo>
                <a:lnTo>
                  <a:pt x="0" y="0"/>
                </a:lnTo>
                <a:close/>
              </a:path>
            </a:pathLst>
          </a:custGeom>
          <a:blipFill>
            <a:blip>
              <a:extLst>
                <a:ext uri="{96DAC541-7B7A-43D3-8B79-37D633B846F1}">
                  <asvg:svgBlip xmlns:asvg="http://schemas.microsoft.com/office/drawing/2016/SVG/main" r:embed="rId2"/>
                </a:ext>
              </a:extLst>
            </a:blip>
            <a:stretch>
              <a:fillRect t="-603" b="-602"/>
            </a:stretch>
          </a:blipFill>
        </p:spPr>
      </p:sp>
      <p:grpSp>
        <p:nvGrpSpPr>
          <p:cNvPr id="7" name="Group 7"/>
          <p:cNvGrpSpPr/>
          <p:nvPr/>
        </p:nvGrpSpPr>
        <p:grpSpPr>
          <a:xfrm>
            <a:off x="12210374" y="3204601"/>
            <a:ext cx="5977033" cy="5953316"/>
            <a:chOff x="0" y="0"/>
            <a:chExt cx="7969377" cy="7937754"/>
          </a:xfrm>
        </p:grpSpPr>
        <p:sp>
          <p:nvSpPr>
            <p:cNvPr id="8" name="Freeform 8"/>
            <p:cNvSpPr/>
            <p:nvPr/>
          </p:nvSpPr>
          <p:spPr>
            <a:xfrm>
              <a:off x="0" y="0"/>
              <a:ext cx="7969377" cy="7937754"/>
            </a:xfrm>
            <a:custGeom>
              <a:avLst/>
              <a:gdLst/>
              <a:ahLst/>
              <a:cxnLst/>
              <a:rect l="l" t="t" r="r" b="b"/>
              <a:pathLst>
                <a:path w="7969377" h="7937754">
                  <a:moveTo>
                    <a:pt x="0" y="0"/>
                  </a:moveTo>
                  <a:lnTo>
                    <a:pt x="7969377" y="0"/>
                  </a:lnTo>
                  <a:lnTo>
                    <a:pt x="7969377" y="7937754"/>
                  </a:lnTo>
                  <a:lnTo>
                    <a:pt x="0" y="7937754"/>
                  </a:lnTo>
                  <a:lnTo>
                    <a:pt x="0" y="0"/>
                  </a:lnTo>
                  <a:close/>
                </a:path>
              </a:pathLst>
            </a:custGeom>
            <a:blipFill>
              <a:blip r:embed="rId3">
                <a:alphaModFix amt="3000"/>
              </a:blip>
              <a:stretch>
                <a:fillRect/>
              </a:stretch>
            </a:blipFill>
          </p:spPr>
        </p:sp>
      </p:grpSp>
      <p:grpSp>
        <p:nvGrpSpPr>
          <p:cNvPr id="9" name="Group 9"/>
          <p:cNvGrpSpPr/>
          <p:nvPr/>
        </p:nvGrpSpPr>
        <p:grpSpPr>
          <a:xfrm>
            <a:off x="16830599" y="9598257"/>
            <a:ext cx="1097566" cy="616363"/>
            <a:chOff x="0" y="0"/>
            <a:chExt cx="1463421" cy="821817"/>
          </a:xfrm>
        </p:grpSpPr>
        <p:sp>
          <p:nvSpPr>
            <p:cNvPr id="10" name="Freeform 10"/>
            <p:cNvSpPr/>
            <p:nvPr/>
          </p:nvSpPr>
          <p:spPr>
            <a:xfrm>
              <a:off x="0" y="0"/>
              <a:ext cx="1463421" cy="821817"/>
            </a:xfrm>
            <a:custGeom>
              <a:avLst/>
              <a:gdLst/>
              <a:ahLst/>
              <a:cxnLst/>
              <a:rect l="l" t="t" r="r" b="b"/>
              <a:pathLst>
                <a:path w="1463421" h="821817">
                  <a:moveTo>
                    <a:pt x="0" y="0"/>
                  </a:moveTo>
                  <a:lnTo>
                    <a:pt x="1463421" y="0"/>
                  </a:lnTo>
                  <a:lnTo>
                    <a:pt x="1463421" y="821817"/>
                  </a:lnTo>
                  <a:lnTo>
                    <a:pt x="0" y="821817"/>
                  </a:lnTo>
                  <a:close/>
                </a:path>
              </a:pathLst>
            </a:custGeom>
            <a:blipFill>
              <a:blip r:embed="rId4">
                <a:alphaModFix amt="0"/>
              </a:blip>
              <a:stretch>
                <a:fillRect l="-22101" r="-22101"/>
              </a:stretch>
            </a:blipFill>
          </p:spPr>
        </p:sp>
      </p:grpSp>
      <p:grpSp>
        <p:nvGrpSpPr>
          <p:cNvPr id="11" name="Group 11"/>
          <p:cNvGrpSpPr/>
          <p:nvPr/>
        </p:nvGrpSpPr>
        <p:grpSpPr>
          <a:xfrm>
            <a:off x="16830599" y="9583969"/>
            <a:ext cx="1097566" cy="630650"/>
            <a:chOff x="0" y="0"/>
            <a:chExt cx="1463421" cy="840867"/>
          </a:xfrm>
        </p:grpSpPr>
        <p:sp>
          <p:nvSpPr>
            <p:cNvPr id="12" name="Freeform 12"/>
            <p:cNvSpPr/>
            <p:nvPr/>
          </p:nvSpPr>
          <p:spPr>
            <a:xfrm>
              <a:off x="0" y="0"/>
              <a:ext cx="1463421" cy="840867"/>
            </a:xfrm>
            <a:custGeom>
              <a:avLst/>
              <a:gdLst/>
              <a:ahLst/>
              <a:cxnLst/>
              <a:rect l="l" t="t" r="r" b="b"/>
              <a:pathLst>
                <a:path w="1463421" h="840867">
                  <a:moveTo>
                    <a:pt x="0" y="0"/>
                  </a:moveTo>
                  <a:lnTo>
                    <a:pt x="1463421" y="0"/>
                  </a:lnTo>
                  <a:lnTo>
                    <a:pt x="1463421" y="840867"/>
                  </a:lnTo>
                  <a:lnTo>
                    <a:pt x="0" y="840867"/>
                  </a:lnTo>
                  <a:close/>
                </a:path>
              </a:pathLst>
            </a:custGeom>
            <a:blipFill>
              <a:blip r:embed="rId5">
                <a:alphaModFix amt="0"/>
              </a:blip>
              <a:stretch>
                <a:fillRect l="-23773" r="-23773"/>
              </a:stretch>
            </a:blipFill>
          </p:spPr>
        </p:sp>
      </p:grpSp>
      <p:grpSp>
        <p:nvGrpSpPr>
          <p:cNvPr id="13" name="Group 13"/>
          <p:cNvGrpSpPr/>
          <p:nvPr/>
        </p:nvGrpSpPr>
        <p:grpSpPr>
          <a:xfrm>
            <a:off x="16830599" y="9569682"/>
            <a:ext cx="1097547" cy="644966"/>
            <a:chOff x="0" y="0"/>
            <a:chExt cx="1463396" cy="859955"/>
          </a:xfrm>
        </p:grpSpPr>
        <p:sp>
          <p:nvSpPr>
            <p:cNvPr id="14" name="Freeform 14"/>
            <p:cNvSpPr/>
            <p:nvPr/>
          </p:nvSpPr>
          <p:spPr>
            <a:xfrm>
              <a:off x="0" y="0"/>
              <a:ext cx="1463421" cy="859917"/>
            </a:xfrm>
            <a:custGeom>
              <a:avLst/>
              <a:gdLst/>
              <a:ahLst/>
              <a:cxnLst/>
              <a:rect l="l" t="t" r="r" b="b"/>
              <a:pathLst>
                <a:path w="1463421" h="859917">
                  <a:moveTo>
                    <a:pt x="0" y="0"/>
                  </a:moveTo>
                  <a:lnTo>
                    <a:pt x="1463421" y="0"/>
                  </a:lnTo>
                  <a:lnTo>
                    <a:pt x="1463421" y="859917"/>
                  </a:lnTo>
                  <a:lnTo>
                    <a:pt x="0" y="859917"/>
                  </a:lnTo>
                  <a:close/>
                </a:path>
              </a:pathLst>
            </a:custGeom>
            <a:blipFill>
              <a:blip r:embed="rId6">
                <a:alphaModFix amt="0"/>
              </a:blip>
              <a:stretch>
                <a:fillRect l="-25449" r="-25446" b="-4"/>
              </a:stretch>
            </a:blipFill>
          </p:spPr>
        </p:sp>
      </p:grpSp>
      <p:grpSp>
        <p:nvGrpSpPr>
          <p:cNvPr id="15" name="Group 15"/>
          <p:cNvGrpSpPr/>
          <p:nvPr/>
        </p:nvGrpSpPr>
        <p:grpSpPr>
          <a:xfrm>
            <a:off x="16830599" y="9555394"/>
            <a:ext cx="1097547" cy="659254"/>
            <a:chOff x="0" y="0"/>
            <a:chExt cx="1463396" cy="879005"/>
          </a:xfrm>
        </p:grpSpPr>
        <p:sp>
          <p:nvSpPr>
            <p:cNvPr id="16" name="Freeform 16"/>
            <p:cNvSpPr/>
            <p:nvPr/>
          </p:nvSpPr>
          <p:spPr>
            <a:xfrm>
              <a:off x="0" y="0"/>
              <a:ext cx="1463396" cy="879005"/>
            </a:xfrm>
            <a:custGeom>
              <a:avLst/>
              <a:gdLst/>
              <a:ahLst/>
              <a:cxnLst/>
              <a:rect l="l" t="t" r="r" b="b"/>
              <a:pathLst>
                <a:path w="1463396" h="879005">
                  <a:moveTo>
                    <a:pt x="0" y="0"/>
                  </a:moveTo>
                  <a:lnTo>
                    <a:pt x="1463396" y="0"/>
                  </a:lnTo>
                  <a:lnTo>
                    <a:pt x="1463396" y="879005"/>
                  </a:lnTo>
                  <a:lnTo>
                    <a:pt x="0" y="879005"/>
                  </a:lnTo>
                  <a:close/>
                </a:path>
              </a:pathLst>
            </a:custGeom>
            <a:blipFill>
              <a:blip r:embed="rId7">
                <a:alphaModFix amt="0"/>
              </a:blip>
              <a:stretch>
                <a:fillRect l="-27066" r="-27066"/>
              </a:stretch>
            </a:blipFill>
          </p:spPr>
        </p:sp>
        <p:sp>
          <p:nvSpPr>
            <p:cNvPr id="17" name="TextBox 17"/>
            <p:cNvSpPr txBox="1"/>
            <p:nvPr/>
          </p:nvSpPr>
          <p:spPr>
            <a:xfrm>
              <a:off x="0" y="-19050"/>
              <a:ext cx="1463396" cy="898055"/>
            </a:xfrm>
            <a:prstGeom prst="rect">
              <a:avLst/>
            </a:prstGeom>
          </p:spPr>
          <p:txBody>
            <a:bodyPr lIns="0" tIns="0" rIns="0" bIns="0" rtlCol="0" anchor="ctr"/>
            <a:lstStyle/>
            <a:p>
              <a:pPr algn="r">
                <a:lnSpc>
                  <a:spcPts val="2160"/>
                </a:lnSpc>
              </a:pPr>
              <a:r>
                <a:rPr lang="en-US" sz="1800">
                  <a:solidFill>
                    <a:srgbClr val="FFFFFF"/>
                  </a:solidFill>
                  <a:latin typeface="Arial"/>
                  <a:ea typeface="Arial"/>
                  <a:cs typeface="Arial"/>
                  <a:sym typeface="Arial"/>
                </a:rPr>
                <a:t>10</a:t>
              </a:r>
            </a:p>
          </p:txBody>
        </p:sp>
      </p:grpSp>
      <p:grpSp>
        <p:nvGrpSpPr>
          <p:cNvPr id="18" name="Group 18"/>
          <p:cNvGrpSpPr/>
          <p:nvPr/>
        </p:nvGrpSpPr>
        <p:grpSpPr>
          <a:xfrm>
            <a:off x="16830599" y="9612544"/>
            <a:ext cx="1097566" cy="602075"/>
            <a:chOff x="0" y="0"/>
            <a:chExt cx="1463421" cy="802767"/>
          </a:xfrm>
        </p:grpSpPr>
        <p:sp>
          <p:nvSpPr>
            <p:cNvPr id="19" name="Freeform 19"/>
            <p:cNvSpPr/>
            <p:nvPr/>
          </p:nvSpPr>
          <p:spPr>
            <a:xfrm>
              <a:off x="0" y="0"/>
              <a:ext cx="1463421" cy="802767"/>
            </a:xfrm>
            <a:custGeom>
              <a:avLst/>
              <a:gdLst/>
              <a:ahLst/>
              <a:cxnLst/>
              <a:rect l="l" t="t" r="r" b="b"/>
              <a:pathLst>
                <a:path w="1463421" h="802767">
                  <a:moveTo>
                    <a:pt x="0" y="0"/>
                  </a:moveTo>
                  <a:lnTo>
                    <a:pt x="1463421" y="0"/>
                  </a:lnTo>
                  <a:lnTo>
                    <a:pt x="1463421" y="802767"/>
                  </a:lnTo>
                  <a:lnTo>
                    <a:pt x="0" y="802767"/>
                  </a:lnTo>
                  <a:close/>
                </a:path>
              </a:pathLst>
            </a:custGeom>
            <a:blipFill>
              <a:blip r:embed="rId8">
                <a:alphaModFix amt="0"/>
              </a:blip>
              <a:stretch>
                <a:fillRect l="-20430" r="-20430"/>
              </a:stretch>
            </a:blipFill>
          </p:spPr>
        </p:sp>
      </p:grpSp>
      <p:sp>
        <p:nvSpPr>
          <p:cNvPr id="20" name="TextBox 20"/>
          <p:cNvSpPr txBox="1"/>
          <p:nvPr/>
        </p:nvSpPr>
        <p:spPr>
          <a:xfrm rot="-462600">
            <a:off x="13326065" y="9600938"/>
            <a:ext cx="2554043" cy="511435"/>
          </a:xfrm>
          <a:prstGeom prst="rect">
            <a:avLst/>
          </a:prstGeom>
        </p:spPr>
        <p:txBody>
          <a:bodyPr lIns="0" tIns="0" rIns="0" bIns="0" rtlCol="0" anchor="t">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id="21" name="TextBox 21"/>
          <p:cNvSpPr txBox="1"/>
          <p:nvPr/>
        </p:nvSpPr>
        <p:spPr>
          <a:xfrm rot="1440">
            <a:off x="9193218" y="9716433"/>
            <a:ext cx="4176751" cy="465077"/>
          </a:xfrm>
          <a:prstGeom prst="rect">
            <a:avLst/>
          </a:prstGeom>
        </p:spPr>
        <p:txBody>
          <a:bodyPr lIns="0" tIns="0" rIns="0" bIns="0" rtlCol="0" anchor="t">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id="22" name="TextBox 22"/>
          <p:cNvSpPr txBox="1"/>
          <p:nvPr/>
        </p:nvSpPr>
        <p:spPr>
          <a:xfrm>
            <a:off x="745303" y="546591"/>
            <a:ext cx="16797252" cy="676008"/>
          </a:xfrm>
          <a:prstGeom prst="rect">
            <a:avLst/>
          </a:prstGeom>
        </p:spPr>
        <p:txBody>
          <a:bodyPr lIns="0" tIns="0" rIns="0" bIns="0" rtlCol="0" anchor="t">
            <a:spAutoFit/>
          </a:bodyPr>
          <a:lstStyle/>
          <a:p>
            <a:pPr algn="l">
              <a:lnSpc>
                <a:spcPts val="5757"/>
              </a:lnSpc>
            </a:pPr>
            <a:r>
              <a:rPr lang="en-US" sz="4800" b="1" spc="-18">
                <a:solidFill>
                  <a:srgbClr val="0000FF"/>
                </a:solidFill>
                <a:latin typeface="IBM Plex Sans Bold"/>
                <a:ea typeface="IBM Plex Sans Bold"/>
                <a:cs typeface="IBM Plex Sans Bold"/>
                <a:sym typeface="IBM Plex Sans Bold"/>
              </a:rPr>
              <a:t>Cont..</a:t>
            </a:r>
          </a:p>
        </p:txBody>
      </p:sp>
      <p:graphicFrame>
        <p:nvGraphicFramePr>
          <p:cNvPr id="23" name="Table 23"/>
          <p:cNvGraphicFramePr>
            <a:graphicFrameLocks noGrp="1"/>
          </p:cNvGraphicFramePr>
          <p:nvPr>
            <p:extLst>
              <p:ext uri="{D42A27DB-BD31-4B8C-83A1-F6EECF244321}">
                <p14:modId xmlns:p14="http://schemas.microsoft.com/office/powerpoint/2010/main" val="951616359"/>
              </p:ext>
            </p:extLst>
          </p:nvPr>
        </p:nvGraphicFramePr>
        <p:xfrm>
          <a:off x="745301" y="1223751"/>
          <a:ext cx="15963900" cy="8362260"/>
        </p:xfrm>
        <a:graphic>
          <a:graphicData uri="http://schemas.openxmlformats.org/drawingml/2006/table">
            <a:tbl>
              <a:tblPr/>
              <a:tblGrid>
                <a:gridCol w="1243993">
                  <a:extLst>
                    <a:ext uri="{9D8B030D-6E8A-4147-A177-3AD203B41FA5}">
                      <a16:colId xmlns:a16="http://schemas.microsoft.com/office/drawing/2014/main" val="20000"/>
                    </a:ext>
                  </a:extLst>
                </a:gridCol>
                <a:gridCol w="4900354">
                  <a:extLst>
                    <a:ext uri="{9D8B030D-6E8A-4147-A177-3AD203B41FA5}">
                      <a16:colId xmlns:a16="http://schemas.microsoft.com/office/drawing/2014/main" val="20001"/>
                    </a:ext>
                  </a:extLst>
                </a:gridCol>
                <a:gridCol w="3341513">
                  <a:extLst>
                    <a:ext uri="{9D8B030D-6E8A-4147-A177-3AD203B41FA5}">
                      <a16:colId xmlns:a16="http://schemas.microsoft.com/office/drawing/2014/main" val="20002"/>
                    </a:ext>
                  </a:extLst>
                </a:gridCol>
                <a:gridCol w="3316085">
                  <a:extLst>
                    <a:ext uri="{9D8B030D-6E8A-4147-A177-3AD203B41FA5}">
                      <a16:colId xmlns:a16="http://schemas.microsoft.com/office/drawing/2014/main" val="20003"/>
                    </a:ext>
                  </a:extLst>
                </a:gridCol>
                <a:gridCol w="3161955">
                  <a:extLst>
                    <a:ext uri="{9D8B030D-6E8A-4147-A177-3AD203B41FA5}">
                      <a16:colId xmlns:a16="http://schemas.microsoft.com/office/drawing/2014/main" val="20004"/>
                    </a:ext>
                  </a:extLst>
                </a:gridCol>
              </a:tblGrid>
              <a:tr h="726577">
                <a:tc>
                  <a:txBody>
                    <a:bodyPr/>
                    <a:lstStyle/>
                    <a:p>
                      <a:pPr algn="ctr">
                        <a:lnSpc>
                          <a:spcPts val="2160"/>
                        </a:lnSpc>
                        <a:defRPr/>
                      </a:pPr>
                      <a:r>
                        <a:rPr lang="en-US" sz="1800" b="1" spc="-7">
                          <a:solidFill>
                            <a:srgbClr val="FFFFFF"/>
                          </a:solidFill>
                          <a:latin typeface="TT Ramillas Bold"/>
                          <a:ea typeface="TT Ramillas Bold"/>
                          <a:cs typeface="TT Ramillas Bold"/>
                          <a:sym typeface="TT Ramillas Bold"/>
                        </a:rPr>
                        <a:t>S.No</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tc>
                  <a:txBody>
                    <a:bodyPr/>
                    <a:lstStyle/>
                    <a:p>
                      <a:pPr algn="ctr">
                        <a:lnSpc>
                          <a:spcPts val="2160"/>
                        </a:lnSpc>
                        <a:defRPr/>
                      </a:pPr>
                      <a:r>
                        <a:rPr lang="en-US" sz="1800" b="1" spc="-7">
                          <a:solidFill>
                            <a:srgbClr val="FFFFFF"/>
                          </a:solidFill>
                          <a:latin typeface="TT Ramillas Bold"/>
                          <a:ea typeface="TT Ramillas Bold"/>
                          <a:cs typeface="TT Ramillas Bold"/>
                          <a:sym typeface="TT Ramillas Bold"/>
                        </a:rPr>
                        <a:t>Paper Title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tc>
                  <a:txBody>
                    <a:bodyPr/>
                    <a:lstStyle/>
                    <a:p>
                      <a:pPr algn="ctr">
                        <a:lnSpc>
                          <a:spcPts val="2160"/>
                        </a:lnSpc>
                        <a:defRPr/>
                      </a:pPr>
                      <a:r>
                        <a:rPr lang="en-US" sz="1800" b="1" spc="-7">
                          <a:solidFill>
                            <a:srgbClr val="FFFFFF"/>
                          </a:solidFill>
                          <a:latin typeface="TT Ramillas Bold"/>
                          <a:ea typeface="TT Ramillas Bold"/>
                          <a:cs typeface="TT Ramillas Bold"/>
                          <a:sym typeface="TT Ramillas Bold"/>
                        </a:rPr>
                        <a:t>Authors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tc>
                  <a:txBody>
                    <a:bodyPr/>
                    <a:lstStyle/>
                    <a:p>
                      <a:pPr algn="ctr">
                        <a:lnSpc>
                          <a:spcPts val="2160"/>
                        </a:lnSpc>
                        <a:defRPr/>
                      </a:pPr>
                      <a:r>
                        <a:rPr lang="en-US" sz="1800" b="1" spc="-7">
                          <a:solidFill>
                            <a:srgbClr val="FFFFFF"/>
                          </a:solidFill>
                          <a:latin typeface="TT Ramillas Bold"/>
                          <a:ea typeface="TT Ramillas Bold"/>
                          <a:cs typeface="TT Ramillas Bold"/>
                          <a:sym typeface="TT Ramillas Bold"/>
                        </a:rPr>
                        <a:t>Methodology</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tc>
                  <a:txBody>
                    <a:bodyPr/>
                    <a:lstStyle/>
                    <a:p>
                      <a:pPr algn="ctr">
                        <a:lnSpc>
                          <a:spcPts val="2160"/>
                        </a:lnSpc>
                        <a:defRPr/>
                      </a:pPr>
                      <a:r>
                        <a:rPr lang="en-US" sz="1800" b="1" spc="-7">
                          <a:solidFill>
                            <a:srgbClr val="FFFFFF"/>
                          </a:solidFill>
                          <a:latin typeface="TT Ramillas Bold"/>
                          <a:ea typeface="TT Ramillas Bold"/>
                          <a:cs typeface="TT Ramillas Bold"/>
                          <a:sym typeface="TT Ramillas Bold"/>
                        </a:rPr>
                        <a:t>Research Gaps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F81BD"/>
                    </a:solidFill>
                  </a:tcPr>
                </a:tc>
                <a:extLst>
                  <a:ext uri="{0D108BD9-81ED-4DB2-BD59-A6C34878D82A}">
                    <a16:rowId xmlns:a16="http://schemas.microsoft.com/office/drawing/2014/main" val="10000"/>
                  </a:ext>
                </a:extLst>
              </a:tr>
              <a:tr h="1607247">
                <a:tc>
                  <a:txBody>
                    <a:bodyPr/>
                    <a:lstStyle/>
                    <a:p>
                      <a:pPr algn="ctr">
                        <a:lnSpc>
                          <a:spcPts val="2160"/>
                        </a:lnSpc>
                        <a:defRPr/>
                      </a:pPr>
                      <a:r>
                        <a:rPr lang="en-US" sz="1800" b="1" spc="-7">
                          <a:solidFill>
                            <a:srgbClr val="000000"/>
                          </a:solidFill>
                          <a:latin typeface="TT Ramillas Bold"/>
                          <a:ea typeface="TT Ramillas Bold"/>
                          <a:cs typeface="TT Ramillas Bold"/>
                          <a:sym typeface="TT Ramillas Bold"/>
                        </a:rPr>
                        <a:t>16</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A Spatio-Temporal Graph Neural Network for Detecting Money Laundering in Cryptocurrency Transactions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Al-Harbi, H. (2025)</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Spatial-temporal GNN combining spatial GCN and temporal sequence learning for blockchain anomaly detection — IEEE 2025</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Spatial and temporal streams are separate; no learnable Fourier encoding; binary classification only; no explainability</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extLst>
                  <a:ext uri="{0D108BD9-81ED-4DB2-BD59-A6C34878D82A}">
                    <a16:rowId xmlns:a16="http://schemas.microsoft.com/office/drawing/2014/main" val="10001"/>
                  </a:ext>
                </a:extLst>
              </a:tr>
              <a:tr h="1357875">
                <a:tc>
                  <a:txBody>
                    <a:bodyPr/>
                    <a:lstStyle/>
                    <a:p>
                      <a:pPr algn="ctr">
                        <a:lnSpc>
                          <a:spcPts val="2160"/>
                        </a:lnSpc>
                        <a:defRPr/>
                      </a:pPr>
                      <a:r>
                        <a:rPr lang="en-US" sz="1800" b="1" spc="-7">
                          <a:solidFill>
                            <a:srgbClr val="000000"/>
                          </a:solidFill>
                          <a:latin typeface="TT Ramillas Bold"/>
                          <a:ea typeface="TT Ramillas Bold"/>
                          <a:cs typeface="TT Ramillas Bold"/>
                          <a:sym typeface="TT Ramillas Bold"/>
                        </a:rPr>
                        <a:t>17</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Anti-Money Laundering in Cryptocurrencies through Graph Neural Networks: A Comparative Study</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Marasi &amp; Ferretti (2024)</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Systematic benchmark comparing GCN, GAT, and GraphSAGE for cryptocurrency AML — IEEE CCNC 2024</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All static models; no temporal encoding; binary output; no multi-pattern detection; used as baseline in our work</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extLst>
                  <a:ext uri="{0D108BD9-81ED-4DB2-BD59-A6C34878D82A}">
                    <a16:rowId xmlns:a16="http://schemas.microsoft.com/office/drawing/2014/main" val="10002"/>
                  </a:ext>
                </a:extLst>
              </a:tr>
              <a:tr h="1108503">
                <a:tc>
                  <a:txBody>
                    <a:bodyPr/>
                    <a:lstStyle/>
                    <a:p>
                      <a:pPr algn="ctr">
                        <a:lnSpc>
                          <a:spcPts val="2160"/>
                        </a:lnSpc>
                        <a:defRPr/>
                      </a:pPr>
                      <a:r>
                        <a:rPr lang="en-US" sz="1800" b="1" spc="-7">
                          <a:solidFill>
                            <a:srgbClr val="000000"/>
                          </a:solidFill>
                          <a:latin typeface="TT Ramillas Bold"/>
                          <a:ea typeface="TT Ramillas Bold"/>
                          <a:cs typeface="TT Ramillas Bold"/>
                          <a:sym typeface="TT Ramillas Bold"/>
                        </a:rPr>
                        <a:t>18</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EvolveGCN: Evolving Graph Convolutional Networks for Dynamic Graphs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Pareja, Domeniconi, Chen et al. (2020)</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GCN with RNN-based weight evolution across dynamic graph snapshots — AAAI 2020</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Evolves weights per snapshot but no within-snapshot temporal attention; no AML application; no explainability</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extLst>
                  <a:ext uri="{0D108BD9-81ED-4DB2-BD59-A6C34878D82A}">
                    <a16:rowId xmlns:a16="http://schemas.microsoft.com/office/drawing/2014/main" val="10003"/>
                  </a:ext>
                </a:extLst>
              </a:tr>
              <a:tr h="1033515">
                <a:tc>
                  <a:txBody>
                    <a:bodyPr/>
                    <a:lstStyle/>
                    <a:p>
                      <a:pPr algn="ctr">
                        <a:lnSpc>
                          <a:spcPts val="2160"/>
                        </a:lnSpc>
                        <a:defRPr/>
                      </a:pPr>
                      <a:r>
                        <a:rPr lang="en-US" sz="1800" b="1" spc="-7">
                          <a:solidFill>
                            <a:srgbClr val="000000"/>
                          </a:solidFill>
                          <a:latin typeface="TT Ramillas Bold"/>
                          <a:ea typeface="TT Ramillas Bold"/>
                          <a:cs typeface="TT Ramillas Bold"/>
                          <a:sym typeface="TT Ramillas Bold"/>
                        </a:rPr>
                        <a:t>19</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Scalable Semi-Supervised Graph Learning Techniques for Anti-Money Laundering</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Karim, Hermsen, Chala &amp; De Perthuis (2024)</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Semi-supervised graph learning on large AML transaction graphs addressing class imbalance — IEEE 2024</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Semi-supervised approach; static graph; uniform class weighting ignores temporal drift; no Fourier encoding</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extLst>
                  <a:ext uri="{0D108BD9-81ED-4DB2-BD59-A6C34878D82A}">
                    <a16:rowId xmlns:a16="http://schemas.microsoft.com/office/drawing/2014/main" val="10004"/>
                  </a:ext>
                </a:extLst>
              </a:tr>
              <a:tr h="1265582">
                <a:tc>
                  <a:txBody>
                    <a:bodyPr/>
                    <a:lstStyle/>
                    <a:p>
                      <a:pPr algn="ctr">
                        <a:lnSpc>
                          <a:spcPts val="2160"/>
                        </a:lnSpc>
                        <a:defRPr/>
                      </a:pPr>
                      <a:r>
                        <a:rPr lang="en-US" sz="1800" b="1" spc="-7">
                          <a:solidFill>
                            <a:srgbClr val="000000"/>
                          </a:solidFill>
                          <a:latin typeface="TT Ramillas Bold"/>
                          <a:ea typeface="TT Ramillas Bold"/>
                          <a:cs typeface="TT Ramillas Bold"/>
                          <a:sym typeface="TT Ramillas Bold"/>
                        </a:rPr>
                        <a:t>20</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Graph Diffusion Arithmetic Feature Interaction Transformer with Temporal Information for Bitcoin AML</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Li, Jia, Ma &amp; Su (2026)</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Graph diffusion combined with temporal arithmetic feature interaction transformer — Springer Applied Intelligence 2026</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spc="-7">
                          <a:solidFill>
                            <a:srgbClr val="000000"/>
                          </a:solidFill>
                          <a:latin typeface="TT Ramillas"/>
                          <a:ea typeface="TT Ramillas"/>
                          <a:cs typeface="TT Ramillas"/>
                          <a:sym typeface="TT Ramillas"/>
                        </a:rPr>
                        <a:t>No learnable frequency encoding; no unified multi-pattern detection; no per-pattern explainability module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65" y="-43167"/>
            <a:ext cx="18345198" cy="450009"/>
            <a:chOff x="0" y="0"/>
            <a:chExt cx="24460264" cy="600012"/>
          </a:xfrm>
        </p:grpSpPr>
        <p:sp>
          <p:nvSpPr>
            <p:cNvPr id="3" name="Freeform 3"/>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grpSp>
        <p:nvGrpSpPr>
          <p:cNvPr id="4" name="Group 4"/>
          <p:cNvGrpSpPr/>
          <p:nvPr/>
        </p:nvGrpSpPr>
        <p:grpSpPr>
          <a:xfrm>
            <a:off x="-28565" y="9894760"/>
            <a:ext cx="18345198" cy="450009"/>
            <a:chOff x="0" y="0"/>
            <a:chExt cx="24460264" cy="600012"/>
          </a:xfrm>
        </p:grpSpPr>
        <p:sp>
          <p:nvSpPr>
            <p:cNvPr id="5" name="Freeform 5"/>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sp>
        <p:nvSpPr>
          <p:cNvPr id="6" name="Freeform 6"/>
          <p:cNvSpPr/>
          <p:nvPr/>
        </p:nvSpPr>
        <p:spPr>
          <a:xfrm>
            <a:off x="-12583" y="9568444"/>
            <a:ext cx="18313003" cy="555165"/>
          </a:xfrm>
          <a:custGeom>
            <a:avLst/>
            <a:gdLst/>
            <a:ahLst/>
            <a:cxnLst/>
            <a:rect l="l" t="t" r="r" b="b"/>
            <a:pathLst>
              <a:path w="18313003" h="555165">
                <a:moveTo>
                  <a:pt x="0" y="0"/>
                </a:moveTo>
                <a:lnTo>
                  <a:pt x="18313004" y="0"/>
                </a:lnTo>
                <a:lnTo>
                  <a:pt x="18313004" y="555164"/>
                </a:lnTo>
                <a:lnTo>
                  <a:pt x="0" y="555164"/>
                </a:lnTo>
                <a:lnTo>
                  <a:pt x="0" y="0"/>
                </a:lnTo>
                <a:close/>
              </a:path>
            </a:pathLst>
          </a:custGeom>
          <a:blipFill>
            <a:blip>
              <a:extLst>
                <a:ext uri="{96DAC541-7B7A-43D3-8B79-37D633B846F1}">
                  <asvg:svgBlip xmlns:asvg="http://schemas.microsoft.com/office/drawing/2016/SVG/main" r:embed="rId2"/>
                </a:ext>
              </a:extLst>
            </a:blip>
            <a:stretch>
              <a:fillRect t="-603" b="-602"/>
            </a:stretch>
          </a:blipFill>
        </p:spPr>
      </p:sp>
      <p:sp>
        <p:nvSpPr>
          <p:cNvPr id="7" name="TextBox 7"/>
          <p:cNvSpPr txBox="1"/>
          <p:nvPr/>
        </p:nvSpPr>
        <p:spPr>
          <a:xfrm rot="-462600">
            <a:off x="13326065" y="9600938"/>
            <a:ext cx="2554043" cy="511435"/>
          </a:xfrm>
          <a:prstGeom prst="rect">
            <a:avLst/>
          </a:prstGeom>
        </p:spPr>
        <p:txBody>
          <a:bodyPr lIns="0" tIns="0" rIns="0" bIns="0" rtlCol="0" anchor="t">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id="8" name="TextBox 8"/>
          <p:cNvSpPr txBox="1"/>
          <p:nvPr/>
        </p:nvSpPr>
        <p:spPr>
          <a:xfrm rot="1440">
            <a:off x="9193218" y="9716433"/>
            <a:ext cx="4176751" cy="465077"/>
          </a:xfrm>
          <a:prstGeom prst="rect">
            <a:avLst/>
          </a:prstGeom>
        </p:spPr>
        <p:txBody>
          <a:bodyPr lIns="0" tIns="0" rIns="0" bIns="0" rtlCol="0" anchor="t">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id="9" name="Group 9"/>
          <p:cNvGrpSpPr/>
          <p:nvPr/>
        </p:nvGrpSpPr>
        <p:grpSpPr>
          <a:xfrm>
            <a:off x="12210374" y="3204601"/>
            <a:ext cx="5977033" cy="5953316"/>
            <a:chOff x="0" y="0"/>
            <a:chExt cx="7969377" cy="7937754"/>
          </a:xfrm>
        </p:grpSpPr>
        <p:sp>
          <p:nvSpPr>
            <p:cNvPr id="10" name="Freeform 10"/>
            <p:cNvSpPr/>
            <p:nvPr/>
          </p:nvSpPr>
          <p:spPr>
            <a:xfrm>
              <a:off x="0" y="0"/>
              <a:ext cx="7969377" cy="7937754"/>
            </a:xfrm>
            <a:custGeom>
              <a:avLst/>
              <a:gdLst/>
              <a:ahLst/>
              <a:cxnLst/>
              <a:rect l="l" t="t" r="r" b="b"/>
              <a:pathLst>
                <a:path w="7969377" h="7937754">
                  <a:moveTo>
                    <a:pt x="0" y="0"/>
                  </a:moveTo>
                  <a:lnTo>
                    <a:pt x="7969377" y="0"/>
                  </a:lnTo>
                  <a:lnTo>
                    <a:pt x="7969377" y="7937754"/>
                  </a:lnTo>
                  <a:lnTo>
                    <a:pt x="0" y="7937754"/>
                  </a:lnTo>
                  <a:lnTo>
                    <a:pt x="0" y="0"/>
                  </a:lnTo>
                  <a:close/>
                </a:path>
              </a:pathLst>
            </a:custGeom>
            <a:blipFill>
              <a:blip r:embed="rId3">
                <a:alphaModFix amt="3000"/>
              </a:blip>
              <a:stretch>
                <a:fillRect/>
              </a:stretch>
            </a:blipFill>
          </p:spPr>
        </p:sp>
      </p:grpSp>
      <p:sp>
        <p:nvSpPr>
          <p:cNvPr id="11" name="TextBox 11"/>
          <p:cNvSpPr txBox="1"/>
          <p:nvPr/>
        </p:nvSpPr>
        <p:spPr>
          <a:xfrm>
            <a:off x="745303" y="907180"/>
            <a:ext cx="16797252" cy="676275"/>
          </a:xfrm>
          <a:prstGeom prst="rect">
            <a:avLst/>
          </a:prstGeom>
        </p:spPr>
        <p:txBody>
          <a:bodyPr lIns="0" tIns="0" rIns="0" bIns="0" rtlCol="0" anchor="t">
            <a:spAutoFit/>
          </a:bodyPr>
          <a:lstStyle/>
          <a:p>
            <a:pPr algn="l">
              <a:lnSpc>
                <a:spcPts val="5757"/>
              </a:lnSpc>
            </a:pPr>
            <a:r>
              <a:rPr lang="en-US" sz="4800" b="1" spc="-21">
                <a:solidFill>
                  <a:srgbClr val="0000FF"/>
                </a:solidFill>
                <a:latin typeface="IBM Plex Sans Bold"/>
                <a:ea typeface="IBM Plex Sans Bold"/>
                <a:cs typeface="IBM Plex Sans Bold"/>
                <a:sym typeface="IBM Plex Sans Bold"/>
              </a:rPr>
              <a:t>Gap Analysis</a:t>
            </a:r>
          </a:p>
        </p:txBody>
      </p:sp>
      <p:sp>
        <p:nvSpPr>
          <p:cNvPr id="12" name="TextBox 12"/>
          <p:cNvSpPr txBox="1"/>
          <p:nvPr/>
        </p:nvSpPr>
        <p:spPr>
          <a:xfrm>
            <a:off x="745303" y="2114607"/>
            <a:ext cx="15731080" cy="6591300"/>
          </a:xfrm>
          <a:prstGeom prst="rect">
            <a:avLst/>
          </a:prstGeom>
        </p:spPr>
        <p:txBody>
          <a:bodyPr lIns="0" tIns="0" rIns="0" bIns="0" rtlCol="0" anchor="t">
            <a:spAutoFit/>
          </a:bodyPr>
          <a:lstStyle/>
          <a:p>
            <a:pPr algn="just">
              <a:lnSpc>
                <a:spcPts val="3718"/>
              </a:lnSpc>
            </a:pPr>
            <a:r>
              <a:rPr lang="en-US" sz="3099" spc="-23">
                <a:solidFill>
                  <a:srgbClr val="000000"/>
                </a:solidFill>
                <a:latin typeface="Times New Roman"/>
                <a:ea typeface="Times New Roman"/>
                <a:cs typeface="Times New Roman"/>
                <a:sym typeface="Times New Roman"/>
              </a:rPr>
              <a:t>Research Gaps Identified from Literature Review</a:t>
            </a:r>
          </a:p>
          <a:p>
            <a:pPr marL="1180979" lvl="5" indent="-196830" algn="l">
              <a:lnSpc>
                <a:spcPts val="3718"/>
              </a:lnSpc>
              <a:buFont typeface="Arial"/>
              <a:buChar char="⚬"/>
            </a:pPr>
            <a:r>
              <a:rPr lang="en-US" sz="3099" b="1" spc="-23">
                <a:solidFill>
                  <a:srgbClr val="000000"/>
                </a:solidFill>
                <a:latin typeface="Times New Roman Bold"/>
                <a:ea typeface="Times New Roman Bold"/>
                <a:cs typeface="Times New Roman Bold"/>
                <a:sym typeface="Times New Roman Bold"/>
              </a:rPr>
              <a:t>Structural Gap: </a:t>
            </a:r>
            <a:r>
              <a:rPr lang="en-US" sz="3099" spc="-23">
                <a:solidFill>
                  <a:srgbClr val="000000"/>
                </a:solidFill>
                <a:latin typeface="Times New Roman"/>
                <a:ea typeface="Times New Roman"/>
                <a:cs typeface="Times New Roman"/>
                <a:sym typeface="Times New Roman"/>
              </a:rPr>
              <a:t>Static and disconnected temporal GNN models (Weber 2019, Alarab 2023, Lin 2026) fail to capture the time-evolving nature of laundering patterns — either ignoring time entirely or encoding it with fixed, non-adaptive frequencies that cannot learn Bitcoin-specific laundering timescales.</a:t>
            </a:r>
          </a:p>
          <a:p>
            <a:pPr marL="1180979" lvl="5" indent="-196830" algn="l">
              <a:lnSpc>
                <a:spcPts val="3718"/>
              </a:lnSpc>
              <a:buFont typeface="Arial"/>
              <a:buChar char="⚬"/>
            </a:pPr>
            <a:r>
              <a:rPr lang="en-US" sz="3099" b="1" spc="-23">
                <a:solidFill>
                  <a:srgbClr val="000000"/>
                </a:solidFill>
                <a:latin typeface="Times New Roman Bold"/>
                <a:ea typeface="Times New Roman Bold"/>
                <a:cs typeface="Times New Roman Bold"/>
                <a:sym typeface="Times New Roman Bold"/>
              </a:rPr>
              <a:t>Detection Gap:</a:t>
            </a:r>
            <a:r>
              <a:rPr lang="en-US" sz="3099" spc="-23">
                <a:solidFill>
                  <a:srgbClr val="000000"/>
                </a:solidFill>
                <a:latin typeface="Times New Roman"/>
                <a:ea typeface="Times New Roman"/>
                <a:cs typeface="Times New Roman"/>
                <a:sym typeface="Times New Roman"/>
              </a:rPr>
              <a:t> No existing system performs multi-pattern detection. All papers produce a binary illicit/licit output without identifying whether the crime is a circular transfer, layering chain, or smurfing — leaving compliance officers without the pattern context needed for SAR investigation.</a:t>
            </a:r>
          </a:p>
          <a:p>
            <a:pPr marL="1180979" lvl="5" indent="-196830" algn="l">
              <a:lnSpc>
                <a:spcPts val="3718"/>
              </a:lnSpc>
              <a:buFont typeface="Arial"/>
              <a:buChar char="⚬"/>
            </a:pPr>
            <a:r>
              <a:rPr lang="en-US" sz="3099" b="1" spc="-23">
                <a:solidFill>
                  <a:srgbClr val="000000"/>
                </a:solidFill>
                <a:latin typeface="Times New Roman Bold"/>
                <a:ea typeface="Times New Roman Bold"/>
                <a:cs typeface="Times New Roman Bold"/>
                <a:sym typeface="Times New Roman Bold"/>
              </a:rPr>
              <a:t>Explainability Gap: </a:t>
            </a:r>
            <a:r>
              <a:rPr lang="en-US" sz="3099" spc="-23">
                <a:solidFill>
                  <a:srgbClr val="000000"/>
                </a:solidFill>
                <a:latin typeface="Times New Roman"/>
                <a:ea typeface="Times New Roman"/>
                <a:cs typeface="Times New Roman"/>
                <a:sym typeface="Times New Roman"/>
              </a:rPr>
              <a:t>Current explainability approaches use attention weights (Lawal 2025) rather than evidence subgraphs — producing neither time-ordered transaction trails nor pattern-specific forensic evidence, making existing models unsuitable for real-world regulatory deployment.</a:t>
            </a:r>
          </a:p>
          <a:p>
            <a:pPr marL="1180979" lvl="5" indent="-196830" algn="l">
              <a:lnSpc>
                <a:spcPts val="3718"/>
              </a:lnSpc>
            </a:pPr>
            <a:endParaRPr lang="en-US" sz="3099" spc="-23">
              <a:solidFill>
                <a:srgbClr val="000000"/>
              </a:solidFill>
              <a:latin typeface="Times New Roman"/>
              <a:ea typeface="Times New Roman"/>
              <a:cs typeface="Times New Roman"/>
              <a:sym typeface="Times New Roman"/>
            </a:endParaRPr>
          </a:p>
        </p:txBody>
      </p:sp>
      <p:grpSp>
        <p:nvGrpSpPr>
          <p:cNvPr id="13" name="Group 13"/>
          <p:cNvGrpSpPr/>
          <p:nvPr/>
        </p:nvGrpSpPr>
        <p:grpSpPr>
          <a:xfrm>
            <a:off x="16830599" y="9612544"/>
            <a:ext cx="1097566" cy="602075"/>
            <a:chOff x="0" y="0"/>
            <a:chExt cx="1463421" cy="802767"/>
          </a:xfrm>
        </p:grpSpPr>
        <p:sp>
          <p:nvSpPr>
            <p:cNvPr id="14" name="Freeform 14"/>
            <p:cNvSpPr/>
            <p:nvPr/>
          </p:nvSpPr>
          <p:spPr>
            <a:xfrm>
              <a:off x="0" y="0"/>
              <a:ext cx="1463421" cy="802767"/>
            </a:xfrm>
            <a:custGeom>
              <a:avLst/>
              <a:gdLst/>
              <a:ahLst/>
              <a:cxnLst/>
              <a:rect l="l" t="t" r="r" b="b"/>
              <a:pathLst>
                <a:path w="1463421" h="802767">
                  <a:moveTo>
                    <a:pt x="0" y="0"/>
                  </a:moveTo>
                  <a:lnTo>
                    <a:pt x="1463421" y="0"/>
                  </a:lnTo>
                  <a:lnTo>
                    <a:pt x="1463421" y="802767"/>
                  </a:lnTo>
                  <a:lnTo>
                    <a:pt x="0" y="802767"/>
                  </a:lnTo>
                  <a:close/>
                </a:path>
              </a:pathLst>
            </a:custGeom>
            <a:blipFill>
              <a:blip r:embed="rId4">
                <a:alphaModFix amt="0"/>
              </a:blip>
              <a:stretch>
                <a:fillRect l="-20430" r="-20430"/>
              </a:stretch>
            </a:blipFill>
          </p:spPr>
        </p:sp>
      </p:grpSp>
      <p:grpSp>
        <p:nvGrpSpPr>
          <p:cNvPr id="15" name="Group 15"/>
          <p:cNvGrpSpPr/>
          <p:nvPr/>
        </p:nvGrpSpPr>
        <p:grpSpPr>
          <a:xfrm>
            <a:off x="16830599" y="9598257"/>
            <a:ext cx="1097566" cy="616363"/>
            <a:chOff x="0" y="0"/>
            <a:chExt cx="1463421" cy="821817"/>
          </a:xfrm>
        </p:grpSpPr>
        <p:sp>
          <p:nvSpPr>
            <p:cNvPr id="16" name="Freeform 16"/>
            <p:cNvSpPr/>
            <p:nvPr/>
          </p:nvSpPr>
          <p:spPr>
            <a:xfrm>
              <a:off x="0" y="0"/>
              <a:ext cx="1463421" cy="821817"/>
            </a:xfrm>
            <a:custGeom>
              <a:avLst/>
              <a:gdLst/>
              <a:ahLst/>
              <a:cxnLst/>
              <a:rect l="l" t="t" r="r" b="b"/>
              <a:pathLst>
                <a:path w="1463421" h="821817">
                  <a:moveTo>
                    <a:pt x="0" y="0"/>
                  </a:moveTo>
                  <a:lnTo>
                    <a:pt x="1463421" y="0"/>
                  </a:lnTo>
                  <a:lnTo>
                    <a:pt x="1463421" y="821817"/>
                  </a:lnTo>
                  <a:lnTo>
                    <a:pt x="0" y="821817"/>
                  </a:lnTo>
                  <a:close/>
                </a:path>
              </a:pathLst>
            </a:custGeom>
            <a:blipFill>
              <a:blip r:embed="rId5">
                <a:alphaModFix amt="0"/>
              </a:blip>
              <a:stretch>
                <a:fillRect l="-22101" r="-22101"/>
              </a:stretch>
            </a:blipFill>
          </p:spPr>
        </p:sp>
      </p:grpSp>
      <p:grpSp>
        <p:nvGrpSpPr>
          <p:cNvPr id="17" name="Group 17"/>
          <p:cNvGrpSpPr/>
          <p:nvPr/>
        </p:nvGrpSpPr>
        <p:grpSpPr>
          <a:xfrm>
            <a:off x="16830599" y="9583969"/>
            <a:ext cx="1097566" cy="630650"/>
            <a:chOff x="0" y="0"/>
            <a:chExt cx="1463421" cy="840867"/>
          </a:xfrm>
        </p:grpSpPr>
        <p:sp>
          <p:nvSpPr>
            <p:cNvPr id="18" name="Freeform 18"/>
            <p:cNvSpPr/>
            <p:nvPr/>
          </p:nvSpPr>
          <p:spPr>
            <a:xfrm>
              <a:off x="0" y="0"/>
              <a:ext cx="1463421" cy="840867"/>
            </a:xfrm>
            <a:custGeom>
              <a:avLst/>
              <a:gdLst/>
              <a:ahLst/>
              <a:cxnLst/>
              <a:rect l="l" t="t" r="r" b="b"/>
              <a:pathLst>
                <a:path w="1463421" h="840867">
                  <a:moveTo>
                    <a:pt x="0" y="0"/>
                  </a:moveTo>
                  <a:lnTo>
                    <a:pt x="1463421" y="0"/>
                  </a:lnTo>
                  <a:lnTo>
                    <a:pt x="1463421" y="840867"/>
                  </a:lnTo>
                  <a:lnTo>
                    <a:pt x="0" y="840867"/>
                  </a:lnTo>
                  <a:close/>
                </a:path>
              </a:pathLst>
            </a:custGeom>
            <a:blipFill>
              <a:blip r:embed="rId6">
                <a:alphaModFix amt="0"/>
              </a:blip>
              <a:stretch>
                <a:fillRect l="-23773" r="-23773"/>
              </a:stretch>
            </a:blipFill>
          </p:spPr>
        </p:sp>
      </p:grpSp>
      <p:grpSp>
        <p:nvGrpSpPr>
          <p:cNvPr id="19" name="Group 19"/>
          <p:cNvGrpSpPr/>
          <p:nvPr/>
        </p:nvGrpSpPr>
        <p:grpSpPr>
          <a:xfrm>
            <a:off x="16830599" y="9569682"/>
            <a:ext cx="1097547" cy="644966"/>
            <a:chOff x="0" y="0"/>
            <a:chExt cx="1463396" cy="859955"/>
          </a:xfrm>
        </p:grpSpPr>
        <p:sp>
          <p:nvSpPr>
            <p:cNvPr id="20" name="Freeform 20"/>
            <p:cNvSpPr/>
            <p:nvPr/>
          </p:nvSpPr>
          <p:spPr>
            <a:xfrm>
              <a:off x="0" y="0"/>
              <a:ext cx="1463421" cy="859917"/>
            </a:xfrm>
            <a:custGeom>
              <a:avLst/>
              <a:gdLst/>
              <a:ahLst/>
              <a:cxnLst/>
              <a:rect l="l" t="t" r="r" b="b"/>
              <a:pathLst>
                <a:path w="1463421" h="859917">
                  <a:moveTo>
                    <a:pt x="0" y="0"/>
                  </a:moveTo>
                  <a:lnTo>
                    <a:pt x="1463421" y="0"/>
                  </a:lnTo>
                  <a:lnTo>
                    <a:pt x="1463421" y="859917"/>
                  </a:lnTo>
                  <a:lnTo>
                    <a:pt x="0" y="859917"/>
                  </a:lnTo>
                  <a:close/>
                </a:path>
              </a:pathLst>
            </a:custGeom>
            <a:blipFill>
              <a:blip r:embed="rId7">
                <a:alphaModFix amt="0"/>
              </a:blip>
              <a:stretch>
                <a:fillRect l="-25449" r="-25446" b="-4"/>
              </a:stretch>
            </a:blipFill>
          </p:spPr>
        </p:sp>
      </p:grpSp>
      <p:grpSp>
        <p:nvGrpSpPr>
          <p:cNvPr id="21" name="Group 21"/>
          <p:cNvGrpSpPr/>
          <p:nvPr/>
        </p:nvGrpSpPr>
        <p:grpSpPr>
          <a:xfrm>
            <a:off x="16830599" y="9555394"/>
            <a:ext cx="1097547" cy="659254"/>
            <a:chOff x="0" y="0"/>
            <a:chExt cx="1463396" cy="879005"/>
          </a:xfrm>
        </p:grpSpPr>
        <p:sp>
          <p:nvSpPr>
            <p:cNvPr id="22" name="Freeform 22"/>
            <p:cNvSpPr/>
            <p:nvPr/>
          </p:nvSpPr>
          <p:spPr>
            <a:xfrm>
              <a:off x="0" y="0"/>
              <a:ext cx="1463396" cy="879005"/>
            </a:xfrm>
            <a:custGeom>
              <a:avLst/>
              <a:gdLst/>
              <a:ahLst/>
              <a:cxnLst/>
              <a:rect l="l" t="t" r="r" b="b"/>
              <a:pathLst>
                <a:path w="1463396" h="879005">
                  <a:moveTo>
                    <a:pt x="0" y="0"/>
                  </a:moveTo>
                  <a:lnTo>
                    <a:pt x="1463396" y="0"/>
                  </a:lnTo>
                  <a:lnTo>
                    <a:pt x="1463396" y="879005"/>
                  </a:lnTo>
                  <a:lnTo>
                    <a:pt x="0" y="879005"/>
                  </a:lnTo>
                  <a:close/>
                </a:path>
              </a:pathLst>
            </a:custGeom>
            <a:blipFill>
              <a:blip r:embed="rId8">
                <a:alphaModFix amt="0"/>
              </a:blip>
              <a:stretch>
                <a:fillRect l="-27066" r="-27066"/>
              </a:stretch>
            </a:blipFill>
          </p:spPr>
        </p:sp>
        <p:sp>
          <p:nvSpPr>
            <p:cNvPr id="23" name="TextBox 23"/>
            <p:cNvSpPr txBox="1"/>
            <p:nvPr/>
          </p:nvSpPr>
          <p:spPr>
            <a:xfrm>
              <a:off x="0" y="-19050"/>
              <a:ext cx="1463396" cy="898055"/>
            </a:xfrm>
            <a:prstGeom prst="rect">
              <a:avLst/>
            </a:prstGeom>
          </p:spPr>
          <p:txBody>
            <a:bodyPr lIns="0" tIns="0" rIns="0" bIns="0" rtlCol="0" anchor="ctr"/>
            <a:lstStyle/>
            <a:p>
              <a:pPr algn="r">
                <a:lnSpc>
                  <a:spcPts val="2160"/>
                </a:lnSpc>
              </a:pPr>
              <a:r>
                <a:rPr lang="en-US" sz="1800">
                  <a:solidFill>
                    <a:srgbClr val="FFFFFF"/>
                  </a:solidFill>
                  <a:latin typeface="Arial"/>
                  <a:ea typeface="Arial"/>
                  <a:cs typeface="Arial"/>
                  <a:sym typeface="Arial"/>
                </a:rPr>
                <a:t>6</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65" y="-43167"/>
            <a:ext cx="18345198" cy="450009"/>
            <a:chOff x="0" y="0"/>
            <a:chExt cx="24460264" cy="600012"/>
          </a:xfrm>
        </p:grpSpPr>
        <p:sp>
          <p:nvSpPr>
            <p:cNvPr id="3" name="Freeform 3"/>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grpSp>
        <p:nvGrpSpPr>
          <p:cNvPr id="4" name="Group 4"/>
          <p:cNvGrpSpPr/>
          <p:nvPr/>
        </p:nvGrpSpPr>
        <p:grpSpPr>
          <a:xfrm>
            <a:off x="-28565" y="9894760"/>
            <a:ext cx="18345198" cy="450009"/>
            <a:chOff x="0" y="0"/>
            <a:chExt cx="24460264" cy="600012"/>
          </a:xfrm>
        </p:grpSpPr>
        <p:sp>
          <p:nvSpPr>
            <p:cNvPr id="5" name="Freeform 5"/>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sp>
        <p:nvSpPr>
          <p:cNvPr id="6" name="Freeform 6"/>
          <p:cNvSpPr/>
          <p:nvPr/>
        </p:nvSpPr>
        <p:spPr>
          <a:xfrm>
            <a:off x="-12583" y="9568444"/>
            <a:ext cx="18313003" cy="555165"/>
          </a:xfrm>
          <a:custGeom>
            <a:avLst/>
            <a:gdLst/>
            <a:ahLst/>
            <a:cxnLst/>
            <a:rect l="l" t="t" r="r" b="b"/>
            <a:pathLst>
              <a:path w="18313003" h="555165">
                <a:moveTo>
                  <a:pt x="0" y="0"/>
                </a:moveTo>
                <a:lnTo>
                  <a:pt x="18313004" y="0"/>
                </a:lnTo>
                <a:lnTo>
                  <a:pt x="18313004" y="555164"/>
                </a:lnTo>
                <a:lnTo>
                  <a:pt x="0" y="555164"/>
                </a:lnTo>
                <a:lnTo>
                  <a:pt x="0" y="0"/>
                </a:lnTo>
                <a:close/>
              </a:path>
            </a:pathLst>
          </a:custGeom>
          <a:blipFill>
            <a:blip>
              <a:extLst>
                <a:ext uri="{96DAC541-7B7A-43D3-8B79-37D633B846F1}">
                  <asvg:svgBlip xmlns:asvg="http://schemas.microsoft.com/office/drawing/2016/SVG/main" r:embed="rId3"/>
                </a:ext>
              </a:extLst>
            </a:blip>
            <a:stretch>
              <a:fillRect t="-603" b="-602"/>
            </a:stretch>
          </a:blipFill>
        </p:spPr>
      </p:sp>
      <p:sp>
        <p:nvSpPr>
          <p:cNvPr id="7" name="TextBox 7"/>
          <p:cNvSpPr txBox="1"/>
          <p:nvPr/>
        </p:nvSpPr>
        <p:spPr>
          <a:xfrm rot="-462600">
            <a:off x="13326065" y="9600938"/>
            <a:ext cx="2554043" cy="511435"/>
          </a:xfrm>
          <a:prstGeom prst="rect">
            <a:avLst/>
          </a:prstGeom>
        </p:spPr>
        <p:txBody>
          <a:bodyPr lIns="0" tIns="0" rIns="0" bIns="0" rtlCol="0" anchor="t">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id="8" name="TextBox 8"/>
          <p:cNvSpPr txBox="1"/>
          <p:nvPr/>
        </p:nvSpPr>
        <p:spPr>
          <a:xfrm rot="1440">
            <a:off x="9193218" y="9716433"/>
            <a:ext cx="4176751" cy="465077"/>
          </a:xfrm>
          <a:prstGeom prst="rect">
            <a:avLst/>
          </a:prstGeom>
        </p:spPr>
        <p:txBody>
          <a:bodyPr lIns="0" tIns="0" rIns="0" bIns="0" rtlCol="0" anchor="t">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id="9" name="Group 9"/>
          <p:cNvGrpSpPr/>
          <p:nvPr/>
        </p:nvGrpSpPr>
        <p:grpSpPr>
          <a:xfrm>
            <a:off x="12210374" y="3204601"/>
            <a:ext cx="5977033" cy="5953316"/>
            <a:chOff x="0" y="0"/>
            <a:chExt cx="7969377" cy="7937754"/>
          </a:xfrm>
        </p:grpSpPr>
        <p:sp>
          <p:nvSpPr>
            <p:cNvPr id="10" name="Freeform 10"/>
            <p:cNvSpPr/>
            <p:nvPr/>
          </p:nvSpPr>
          <p:spPr>
            <a:xfrm>
              <a:off x="0" y="0"/>
              <a:ext cx="7969377" cy="7937754"/>
            </a:xfrm>
            <a:custGeom>
              <a:avLst/>
              <a:gdLst/>
              <a:ahLst/>
              <a:cxnLst/>
              <a:rect l="l" t="t" r="r" b="b"/>
              <a:pathLst>
                <a:path w="7969377" h="7937754">
                  <a:moveTo>
                    <a:pt x="0" y="0"/>
                  </a:moveTo>
                  <a:lnTo>
                    <a:pt x="7969377" y="0"/>
                  </a:lnTo>
                  <a:lnTo>
                    <a:pt x="7969377" y="7937754"/>
                  </a:lnTo>
                  <a:lnTo>
                    <a:pt x="0" y="7937754"/>
                  </a:lnTo>
                  <a:lnTo>
                    <a:pt x="0" y="0"/>
                  </a:lnTo>
                  <a:close/>
                </a:path>
              </a:pathLst>
            </a:custGeom>
            <a:blipFill>
              <a:blip r:embed="rId4">
                <a:alphaModFix amt="3000"/>
              </a:blip>
              <a:stretch>
                <a:fillRect/>
              </a:stretch>
            </a:blipFill>
          </p:spPr>
        </p:sp>
      </p:grpSp>
      <p:sp>
        <p:nvSpPr>
          <p:cNvPr id="11" name="TextBox 11"/>
          <p:cNvSpPr txBox="1"/>
          <p:nvPr/>
        </p:nvSpPr>
        <p:spPr>
          <a:xfrm>
            <a:off x="745303" y="830980"/>
            <a:ext cx="2715663" cy="781431"/>
          </a:xfrm>
          <a:prstGeom prst="rect">
            <a:avLst/>
          </a:prstGeom>
        </p:spPr>
        <p:txBody>
          <a:bodyPr lIns="0" tIns="0" rIns="0" bIns="0" rtlCol="0" anchor="t">
            <a:spAutoFit/>
          </a:bodyPr>
          <a:lstStyle/>
          <a:p>
            <a:pPr algn="l">
              <a:lnSpc>
                <a:spcPts val="5757"/>
              </a:lnSpc>
            </a:pPr>
            <a:r>
              <a:rPr lang="en-US" sz="4800" b="1" spc="-21">
                <a:solidFill>
                  <a:srgbClr val="0000FF"/>
                </a:solidFill>
                <a:latin typeface="Times New Roman Bold"/>
                <a:ea typeface="Times New Roman Bold"/>
                <a:cs typeface="Times New Roman Bold"/>
                <a:sym typeface="Times New Roman Bold"/>
              </a:rPr>
              <a:t>Objectives</a:t>
            </a:r>
          </a:p>
        </p:txBody>
      </p:sp>
      <p:sp>
        <p:nvSpPr>
          <p:cNvPr id="12" name="TextBox 12"/>
          <p:cNvSpPr txBox="1"/>
          <p:nvPr/>
        </p:nvSpPr>
        <p:spPr>
          <a:xfrm>
            <a:off x="745303" y="1828800"/>
            <a:ext cx="16085296" cy="5924655"/>
          </a:xfrm>
          <a:prstGeom prst="rect">
            <a:avLst/>
          </a:prstGeom>
        </p:spPr>
        <p:txBody>
          <a:bodyPr lIns="0" tIns="0" rIns="0" bIns="0" rtlCol="0" anchor="t">
            <a:spAutoFit/>
          </a:bodyPr>
          <a:lstStyle/>
          <a:p>
            <a:pPr algn="just">
              <a:lnSpc>
                <a:spcPts val="3357"/>
              </a:lnSpc>
            </a:pPr>
            <a:r>
              <a:rPr lang="en-US" sz="2799" b="1" spc="-19">
                <a:solidFill>
                  <a:srgbClr val="000000"/>
                </a:solidFill>
                <a:latin typeface="Times New Roman Bold"/>
                <a:ea typeface="Times New Roman Bold"/>
                <a:cs typeface="Times New Roman Bold"/>
                <a:sym typeface="Times New Roman Bold"/>
              </a:rPr>
              <a:t>Research Aim: </a:t>
            </a:r>
            <a:r>
              <a:rPr lang="en-US" sz="2799" spc="-19">
                <a:solidFill>
                  <a:srgbClr val="000000"/>
                </a:solidFill>
                <a:latin typeface="Times New Roman"/>
                <a:ea typeface="Times New Roman"/>
                <a:cs typeface="Times New Roman"/>
                <a:sym typeface="Times New Roman"/>
              </a:rPr>
              <a:t>To design, implement, and validate a Temporal Graph Attention Network with learnable Fourier time encoding for explainable multi-pattern Anti-Money Laundering detection in cryptocurrency transaction networks.</a:t>
            </a:r>
          </a:p>
          <a:p>
            <a:pPr algn="just">
              <a:lnSpc>
                <a:spcPts val="6717"/>
              </a:lnSpc>
            </a:pPr>
            <a:r>
              <a:rPr lang="en-US" sz="2799" b="1" spc="-19">
                <a:solidFill>
                  <a:srgbClr val="000000"/>
                </a:solidFill>
                <a:latin typeface="Times New Roman Bold"/>
                <a:ea typeface="Times New Roman Bold"/>
                <a:cs typeface="Times New Roman Bold"/>
                <a:sym typeface="Times New Roman Bold"/>
              </a:rPr>
              <a:t>O1 – Temporal Graph Construction</a:t>
            </a:r>
          </a:p>
          <a:p>
            <a:pPr algn="just">
              <a:lnSpc>
                <a:spcPts val="3357"/>
              </a:lnSpc>
            </a:pPr>
            <a:r>
              <a:rPr lang="en-US" sz="2799" spc="-19">
                <a:solidFill>
                  <a:srgbClr val="000000"/>
                </a:solidFill>
                <a:latin typeface="Times New Roman"/>
                <a:ea typeface="Times New Roman"/>
                <a:cs typeface="Times New Roman"/>
                <a:sym typeface="Times New Roman"/>
              </a:rPr>
              <a:t>Build a directed, weighted, temporal graph from the Elliptic Bitcoin Dataset — wallet addresses as nodes, Bitcoin transactions as timestamped directed edges — preserving all 49 ordered time snapshots for time-aware model training and evaluation.</a:t>
            </a:r>
          </a:p>
          <a:p>
            <a:pPr algn="just">
              <a:lnSpc>
                <a:spcPts val="6717"/>
              </a:lnSpc>
            </a:pPr>
            <a:r>
              <a:rPr lang="en-US" sz="2799" b="1" spc="-19">
                <a:solidFill>
                  <a:srgbClr val="000000"/>
                </a:solidFill>
                <a:latin typeface="Times New Roman Bold"/>
                <a:ea typeface="Times New Roman Bold"/>
                <a:cs typeface="Times New Roman Bold"/>
                <a:sym typeface="Times New Roman Bold"/>
              </a:rPr>
              <a:t>O2 – Learnable Fourier Time Encoding (Core Novelty)</a:t>
            </a:r>
          </a:p>
          <a:p>
            <a:pPr algn="just">
              <a:lnSpc>
                <a:spcPts val="3357"/>
              </a:lnSpc>
            </a:pPr>
            <a:r>
              <a:rPr lang="en-US" sz="2799" spc="-19">
                <a:solidFill>
                  <a:srgbClr val="000000"/>
                </a:solidFill>
                <a:latin typeface="Times New Roman"/>
                <a:ea typeface="Times New Roman"/>
                <a:cs typeface="Times New Roman"/>
                <a:sym typeface="Times New Roman"/>
              </a:rPr>
              <a:t>Design and implement trainable Fourier frequency parameters ω₁ through ωd inside the graph attention mechanism — enabling the model to automatically discover the characteristic timescales of circular transfers, layering chains, and smurfing from real transaction data without any human-specified frequencies.</a:t>
            </a:r>
          </a:p>
          <a:p>
            <a:pPr algn="just">
              <a:lnSpc>
                <a:spcPts val="3357"/>
              </a:lnSpc>
            </a:pPr>
            <a:endParaRPr lang="en-US" sz="2799" spc="-19">
              <a:solidFill>
                <a:srgbClr val="000000"/>
              </a:solidFill>
              <a:latin typeface="Times New Roman"/>
              <a:ea typeface="Times New Roman"/>
              <a:cs typeface="Times New Roman"/>
              <a:sym typeface="Times New Roman"/>
            </a:endParaRPr>
          </a:p>
        </p:txBody>
      </p:sp>
      <p:grpSp>
        <p:nvGrpSpPr>
          <p:cNvPr id="13" name="Group 13"/>
          <p:cNvGrpSpPr/>
          <p:nvPr/>
        </p:nvGrpSpPr>
        <p:grpSpPr>
          <a:xfrm>
            <a:off x="16830599" y="9612544"/>
            <a:ext cx="1097566" cy="602075"/>
            <a:chOff x="0" y="0"/>
            <a:chExt cx="1463421" cy="802767"/>
          </a:xfrm>
        </p:grpSpPr>
        <p:sp>
          <p:nvSpPr>
            <p:cNvPr id="14" name="Freeform 14"/>
            <p:cNvSpPr/>
            <p:nvPr/>
          </p:nvSpPr>
          <p:spPr>
            <a:xfrm>
              <a:off x="0" y="0"/>
              <a:ext cx="1463421" cy="802767"/>
            </a:xfrm>
            <a:custGeom>
              <a:avLst/>
              <a:gdLst/>
              <a:ahLst/>
              <a:cxnLst/>
              <a:rect l="l" t="t" r="r" b="b"/>
              <a:pathLst>
                <a:path w="1463421" h="802767">
                  <a:moveTo>
                    <a:pt x="0" y="0"/>
                  </a:moveTo>
                  <a:lnTo>
                    <a:pt x="1463421" y="0"/>
                  </a:lnTo>
                  <a:lnTo>
                    <a:pt x="1463421" y="802767"/>
                  </a:lnTo>
                  <a:lnTo>
                    <a:pt x="0" y="802767"/>
                  </a:lnTo>
                  <a:close/>
                </a:path>
              </a:pathLst>
            </a:custGeom>
            <a:blipFill>
              <a:blip r:embed="rId5">
                <a:alphaModFix amt="0"/>
              </a:blip>
              <a:stretch>
                <a:fillRect l="-20430" r="-20430"/>
              </a:stretch>
            </a:blipFill>
          </p:spPr>
        </p:sp>
      </p:grpSp>
      <p:grpSp>
        <p:nvGrpSpPr>
          <p:cNvPr id="15" name="Group 15"/>
          <p:cNvGrpSpPr/>
          <p:nvPr/>
        </p:nvGrpSpPr>
        <p:grpSpPr>
          <a:xfrm>
            <a:off x="16830599" y="9598257"/>
            <a:ext cx="1097566" cy="616363"/>
            <a:chOff x="0" y="0"/>
            <a:chExt cx="1463421" cy="821817"/>
          </a:xfrm>
        </p:grpSpPr>
        <p:sp>
          <p:nvSpPr>
            <p:cNvPr id="16" name="Freeform 16"/>
            <p:cNvSpPr/>
            <p:nvPr/>
          </p:nvSpPr>
          <p:spPr>
            <a:xfrm>
              <a:off x="0" y="0"/>
              <a:ext cx="1463421" cy="821817"/>
            </a:xfrm>
            <a:custGeom>
              <a:avLst/>
              <a:gdLst/>
              <a:ahLst/>
              <a:cxnLst/>
              <a:rect l="l" t="t" r="r" b="b"/>
              <a:pathLst>
                <a:path w="1463421" h="821817">
                  <a:moveTo>
                    <a:pt x="0" y="0"/>
                  </a:moveTo>
                  <a:lnTo>
                    <a:pt x="1463421" y="0"/>
                  </a:lnTo>
                  <a:lnTo>
                    <a:pt x="1463421" y="821817"/>
                  </a:lnTo>
                  <a:lnTo>
                    <a:pt x="0" y="821817"/>
                  </a:lnTo>
                  <a:close/>
                </a:path>
              </a:pathLst>
            </a:custGeom>
            <a:blipFill>
              <a:blip r:embed="rId6">
                <a:alphaModFix amt="0"/>
              </a:blip>
              <a:stretch>
                <a:fillRect l="-22101" r="-22101"/>
              </a:stretch>
            </a:blipFill>
          </p:spPr>
        </p:sp>
      </p:grpSp>
      <p:grpSp>
        <p:nvGrpSpPr>
          <p:cNvPr id="17" name="Group 17"/>
          <p:cNvGrpSpPr/>
          <p:nvPr/>
        </p:nvGrpSpPr>
        <p:grpSpPr>
          <a:xfrm>
            <a:off x="16830599" y="9583969"/>
            <a:ext cx="1097566" cy="630650"/>
            <a:chOff x="0" y="0"/>
            <a:chExt cx="1463421" cy="840867"/>
          </a:xfrm>
        </p:grpSpPr>
        <p:sp>
          <p:nvSpPr>
            <p:cNvPr id="18" name="Freeform 18"/>
            <p:cNvSpPr/>
            <p:nvPr/>
          </p:nvSpPr>
          <p:spPr>
            <a:xfrm>
              <a:off x="0" y="0"/>
              <a:ext cx="1463421" cy="840867"/>
            </a:xfrm>
            <a:custGeom>
              <a:avLst/>
              <a:gdLst/>
              <a:ahLst/>
              <a:cxnLst/>
              <a:rect l="l" t="t" r="r" b="b"/>
              <a:pathLst>
                <a:path w="1463421" h="840867">
                  <a:moveTo>
                    <a:pt x="0" y="0"/>
                  </a:moveTo>
                  <a:lnTo>
                    <a:pt x="1463421" y="0"/>
                  </a:lnTo>
                  <a:lnTo>
                    <a:pt x="1463421" y="840867"/>
                  </a:lnTo>
                  <a:lnTo>
                    <a:pt x="0" y="840867"/>
                  </a:lnTo>
                  <a:close/>
                </a:path>
              </a:pathLst>
            </a:custGeom>
            <a:blipFill>
              <a:blip r:embed="rId7">
                <a:alphaModFix amt="0"/>
              </a:blip>
              <a:stretch>
                <a:fillRect l="-23773" r="-23773"/>
              </a:stretch>
            </a:blipFill>
          </p:spPr>
        </p:sp>
      </p:grpSp>
      <p:grpSp>
        <p:nvGrpSpPr>
          <p:cNvPr id="19" name="Group 19"/>
          <p:cNvGrpSpPr/>
          <p:nvPr/>
        </p:nvGrpSpPr>
        <p:grpSpPr>
          <a:xfrm>
            <a:off x="16830599" y="9569682"/>
            <a:ext cx="1097547" cy="644966"/>
            <a:chOff x="0" y="0"/>
            <a:chExt cx="1463396" cy="859955"/>
          </a:xfrm>
        </p:grpSpPr>
        <p:sp>
          <p:nvSpPr>
            <p:cNvPr id="20" name="Freeform 20"/>
            <p:cNvSpPr/>
            <p:nvPr/>
          </p:nvSpPr>
          <p:spPr>
            <a:xfrm>
              <a:off x="0" y="0"/>
              <a:ext cx="1463421" cy="859917"/>
            </a:xfrm>
            <a:custGeom>
              <a:avLst/>
              <a:gdLst/>
              <a:ahLst/>
              <a:cxnLst/>
              <a:rect l="l" t="t" r="r" b="b"/>
              <a:pathLst>
                <a:path w="1463421" h="859917">
                  <a:moveTo>
                    <a:pt x="0" y="0"/>
                  </a:moveTo>
                  <a:lnTo>
                    <a:pt x="1463421" y="0"/>
                  </a:lnTo>
                  <a:lnTo>
                    <a:pt x="1463421" y="859917"/>
                  </a:lnTo>
                  <a:lnTo>
                    <a:pt x="0" y="859917"/>
                  </a:lnTo>
                  <a:close/>
                </a:path>
              </a:pathLst>
            </a:custGeom>
            <a:blipFill>
              <a:blip r:embed="rId8">
                <a:alphaModFix amt="0"/>
              </a:blip>
              <a:stretch>
                <a:fillRect l="-25449" r="-25446" b="-4"/>
              </a:stretch>
            </a:blipFill>
          </p:spPr>
        </p:sp>
      </p:grpSp>
      <p:grpSp>
        <p:nvGrpSpPr>
          <p:cNvPr id="21" name="Group 21"/>
          <p:cNvGrpSpPr/>
          <p:nvPr/>
        </p:nvGrpSpPr>
        <p:grpSpPr>
          <a:xfrm>
            <a:off x="16830599" y="9555394"/>
            <a:ext cx="1097547" cy="659254"/>
            <a:chOff x="0" y="0"/>
            <a:chExt cx="1463396" cy="879005"/>
          </a:xfrm>
        </p:grpSpPr>
        <p:sp>
          <p:nvSpPr>
            <p:cNvPr id="22" name="Freeform 22"/>
            <p:cNvSpPr/>
            <p:nvPr/>
          </p:nvSpPr>
          <p:spPr>
            <a:xfrm>
              <a:off x="0" y="0"/>
              <a:ext cx="1463396" cy="879005"/>
            </a:xfrm>
            <a:custGeom>
              <a:avLst/>
              <a:gdLst/>
              <a:ahLst/>
              <a:cxnLst/>
              <a:rect l="l" t="t" r="r" b="b"/>
              <a:pathLst>
                <a:path w="1463396" h="879005">
                  <a:moveTo>
                    <a:pt x="0" y="0"/>
                  </a:moveTo>
                  <a:lnTo>
                    <a:pt x="1463396" y="0"/>
                  </a:lnTo>
                  <a:lnTo>
                    <a:pt x="1463396" y="879005"/>
                  </a:lnTo>
                  <a:lnTo>
                    <a:pt x="0" y="879005"/>
                  </a:lnTo>
                  <a:close/>
                </a:path>
              </a:pathLst>
            </a:custGeom>
            <a:blipFill>
              <a:blip r:embed="rId9">
                <a:alphaModFix amt="0"/>
              </a:blip>
              <a:stretch>
                <a:fillRect l="-27066" r="-27066"/>
              </a:stretch>
            </a:blipFill>
          </p:spPr>
        </p:sp>
        <p:sp>
          <p:nvSpPr>
            <p:cNvPr id="23" name="TextBox 23"/>
            <p:cNvSpPr txBox="1"/>
            <p:nvPr/>
          </p:nvSpPr>
          <p:spPr>
            <a:xfrm>
              <a:off x="0" y="-19050"/>
              <a:ext cx="1463396" cy="898055"/>
            </a:xfrm>
            <a:prstGeom prst="rect">
              <a:avLst/>
            </a:prstGeom>
          </p:spPr>
          <p:txBody>
            <a:bodyPr lIns="0" tIns="0" rIns="0" bIns="0" rtlCol="0" anchor="ctr"/>
            <a:lstStyle/>
            <a:p>
              <a:pPr algn="r">
                <a:lnSpc>
                  <a:spcPts val="2160"/>
                </a:lnSpc>
              </a:pPr>
              <a:r>
                <a:rPr lang="en-US" sz="1800">
                  <a:solidFill>
                    <a:srgbClr val="FFFFFF"/>
                  </a:solidFill>
                  <a:latin typeface="Arial"/>
                  <a:ea typeface="Arial"/>
                  <a:cs typeface="Arial"/>
                  <a:sym typeface="Arial"/>
                </a:rPr>
                <a:t>10</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65" y="-43167"/>
            <a:ext cx="18345198" cy="450009"/>
            <a:chOff x="0" y="0"/>
            <a:chExt cx="24460264" cy="600012"/>
          </a:xfrm>
        </p:grpSpPr>
        <p:sp>
          <p:nvSpPr>
            <p:cNvPr id="3" name="Freeform 3"/>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grpSp>
        <p:nvGrpSpPr>
          <p:cNvPr id="4" name="Group 4"/>
          <p:cNvGrpSpPr/>
          <p:nvPr/>
        </p:nvGrpSpPr>
        <p:grpSpPr>
          <a:xfrm>
            <a:off x="-28565" y="9894760"/>
            <a:ext cx="18345198" cy="450009"/>
            <a:chOff x="0" y="0"/>
            <a:chExt cx="24460264" cy="600012"/>
          </a:xfrm>
        </p:grpSpPr>
        <p:sp>
          <p:nvSpPr>
            <p:cNvPr id="5" name="Freeform 5"/>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sp>
        <p:nvSpPr>
          <p:cNvPr id="6" name="Freeform 6"/>
          <p:cNvSpPr/>
          <p:nvPr/>
        </p:nvSpPr>
        <p:spPr>
          <a:xfrm>
            <a:off x="-12583" y="9568444"/>
            <a:ext cx="18313003" cy="555165"/>
          </a:xfrm>
          <a:custGeom>
            <a:avLst/>
            <a:gdLst/>
            <a:ahLst/>
            <a:cxnLst/>
            <a:rect l="l" t="t" r="r" b="b"/>
            <a:pathLst>
              <a:path w="18313003" h="555165">
                <a:moveTo>
                  <a:pt x="0" y="0"/>
                </a:moveTo>
                <a:lnTo>
                  <a:pt x="18313004" y="0"/>
                </a:lnTo>
                <a:lnTo>
                  <a:pt x="18313004" y="555164"/>
                </a:lnTo>
                <a:lnTo>
                  <a:pt x="0" y="555164"/>
                </a:lnTo>
                <a:lnTo>
                  <a:pt x="0" y="0"/>
                </a:lnTo>
                <a:close/>
              </a:path>
            </a:pathLst>
          </a:custGeom>
          <a:blipFill>
            <a:blip>
              <a:extLst>
                <a:ext uri="{96DAC541-7B7A-43D3-8B79-37D633B846F1}">
                  <asvg:svgBlip xmlns:asvg="http://schemas.microsoft.com/office/drawing/2016/SVG/main" r:embed="rId3"/>
                </a:ext>
              </a:extLst>
            </a:blip>
            <a:stretch>
              <a:fillRect t="-603" b="-602"/>
            </a:stretch>
          </a:blipFill>
        </p:spPr>
      </p:sp>
      <p:sp>
        <p:nvSpPr>
          <p:cNvPr id="7" name="TextBox 7"/>
          <p:cNvSpPr txBox="1"/>
          <p:nvPr/>
        </p:nvSpPr>
        <p:spPr>
          <a:xfrm rot="-462600">
            <a:off x="13326065" y="9600938"/>
            <a:ext cx="2554043" cy="511435"/>
          </a:xfrm>
          <a:prstGeom prst="rect">
            <a:avLst/>
          </a:prstGeom>
        </p:spPr>
        <p:txBody>
          <a:bodyPr lIns="0" tIns="0" rIns="0" bIns="0" rtlCol="0" anchor="t">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id="8" name="TextBox 8"/>
          <p:cNvSpPr txBox="1"/>
          <p:nvPr/>
        </p:nvSpPr>
        <p:spPr>
          <a:xfrm rot="1440">
            <a:off x="9193218" y="9716433"/>
            <a:ext cx="4176751" cy="465077"/>
          </a:xfrm>
          <a:prstGeom prst="rect">
            <a:avLst/>
          </a:prstGeom>
        </p:spPr>
        <p:txBody>
          <a:bodyPr lIns="0" tIns="0" rIns="0" bIns="0" rtlCol="0" anchor="t">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id="9" name="Group 9"/>
          <p:cNvGrpSpPr/>
          <p:nvPr/>
        </p:nvGrpSpPr>
        <p:grpSpPr>
          <a:xfrm>
            <a:off x="12210374" y="3204601"/>
            <a:ext cx="5977033" cy="5953316"/>
            <a:chOff x="0" y="0"/>
            <a:chExt cx="7969377" cy="7937754"/>
          </a:xfrm>
        </p:grpSpPr>
        <p:sp>
          <p:nvSpPr>
            <p:cNvPr id="10" name="Freeform 10"/>
            <p:cNvSpPr/>
            <p:nvPr/>
          </p:nvSpPr>
          <p:spPr>
            <a:xfrm>
              <a:off x="0" y="0"/>
              <a:ext cx="7969377" cy="7937754"/>
            </a:xfrm>
            <a:custGeom>
              <a:avLst/>
              <a:gdLst/>
              <a:ahLst/>
              <a:cxnLst/>
              <a:rect l="l" t="t" r="r" b="b"/>
              <a:pathLst>
                <a:path w="7969377" h="7937754">
                  <a:moveTo>
                    <a:pt x="0" y="0"/>
                  </a:moveTo>
                  <a:lnTo>
                    <a:pt x="7969377" y="0"/>
                  </a:lnTo>
                  <a:lnTo>
                    <a:pt x="7969377" y="7937754"/>
                  </a:lnTo>
                  <a:lnTo>
                    <a:pt x="0" y="7937754"/>
                  </a:lnTo>
                  <a:lnTo>
                    <a:pt x="0" y="0"/>
                  </a:lnTo>
                  <a:close/>
                </a:path>
              </a:pathLst>
            </a:custGeom>
            <a:blipFill>
              <a:blip r:embed="rId4">
                <a:alphaModFix amt="3000"/>
              </a:blip>
              <a:stretch>
                <a:fillRect/>
              </a:stretch>
            </a:blipFill>
          </p:spPr>
        </p:sp>
      </p:grpSp>
      <p:sp>
        <p:nvSpPr>
          <p:cNvPr id="11" name="TextBox 11"/>
          <p:cNvSpPr txBox="1"/>
          <p:nvPr/>
        </p:nvSpPr>
        <p:spPr>
          <a:xfrm>
            <a:off x="745303" y="907180"/>
            <a:ext cx="16797252" cy="676275"/>
          </a:xfrm>
          <a:prstGeom prst="rect">
            <a:avLst/>
          </a:prstGeom>
        </p:spPr>
        <p:txBody>
          <a:bodyPr lIns="0" tIns="0" rIns="0" bIns="0" rtlCol="0" anchor="t">
            <a:spAutoFit/>
          </a:bodyPr>
          <a:lstStyle/>
          <a:p>
            <a:pPr algn="l">
              <a:lnSpc>
                <a:spcPts val="5757"/>
              </a:lnSpc>
            </a:pPr>
            <a:r>
              <a:rPr lang="en-US" sz="4800" b="1" spc="-21">
                <a:solidFill>
                  <a:srgbClr val="0000FF"/>
                </a:solidFill>
                <a:latin typeface="IBM Plex Sans Bold"/>
                <a:ea typeface="IBM Plex Sans Bold"/>
                <a:cs typeface="IBM Plex Sans Bold"/>
                <a:sym typeface="IBM Plex Sans Bold"/>
              </a:rPr>
              <a:t>Cont..</a:t>
            </a:r>
          </a:p>
        </p:txBody>
      </p:sp>
      <p:sp>
        <p:nvSpPr>
          <p:cNvPr id="12" name="TextBox 12"/>
          <p:cNvSpPr txBox="1"/>
          <p:nvPr/>
        </p:nvSpPr>
        <p:spPr>
          <a:xfrm>
            <a:off x="745303" y="467373"/>
            <a:ext cx="15790097" cy="5930370"/>
          </a:xfrm>
          <a:prstGeom prst="rect">
            <a:avLst/>
          </a:prstGeom>
        </p:spPr>
        <p:txBody>
          <a:bodyPr lIns="0" tIns="0" rIns="0" bIns="0" rtlCol="0" anchor="t">
            <a:spAutoFit/>
          </a:bodyPr>
          <a:lstStyle/>
          <a:p>
            <a:pPr algn="just">
              <a:lnSpc>
                <a:spcPts val="6717"/>
              </a:lnSpc>
            </a:pPr>
            <a:endParaRPr/>
          </a:p>
          <a:p>
            <a:pPr algn="just">
              <a:lnSpc>
                <a:spcPts val="3357"/>
              </a:lnSpc>
            </a:pPr>
            <a:r>
              <a:rPr lang="en-US" sz="2799" b="1" spc="-19">
                <a:solidFill>
                  <a:srgbClr val="000000"/>
                </a:solidFill>
                <a:latin typeface="Times New Roman Bold"/>
                <a:ea typeface="Times New Roman Bold"/>
                <a:cs typeface="Times New Roman Bold"/>
                <a:sym typeface="Times New Roman Bold"/>
              </a:rPr>
              <a:t>O3 – Unified Multi-Pattern Detection</a:t>
            </a:r>
          </a:p>
          <a:p>
            <a:pPr algn="just">
              <a:lnSpc>
                <a:spcPts val="3357"/>
              </a:lnSpc>
            </a:pPr>
            <a:r>
              <a:rPr lang="en-US" sz="2799" spc="-19">
                <a:solidFill>
                  <a:srgbClr val="000000"/>
                </a:solidFill>
                <a:latin typeface="Times New Roman"/>
                <a:ea typeface="Times New Roman"/>
                <a:cs typeface="Times New Roman"/>
                <a:sym typeface="Times New Roman"/>
              </a:rPr>
              <a:t>Build pattern-specific detection heads on top of shared TGAT embeddings to simultaneously detect all three laundering strategies — circular transfers via subgraph motif matching, layering chains via temporal path velocity scoring, and smurfing via fan-out anomaly scoring.</a:t>
            </a:r>
          </a:p>
          <a:p>
            <a:pPr algn="just">
              <a:lnSpc>
                <a:spcPts val="3357"/>
              </a:lnSpc>
            </a:pPr>
            <a:endParaRPr lang="en-US" sz="2799" spc="-19">
              <a:solidFill>
                <a:srgbClr val="000000"/>
              </a:solidFill>
              <a:latin typeface="Times New Roman"/>
              <a:ea typeface="Times New Roman"/>
              <a:cs typeface="Times New Roman"/>
              <a:sym typeface="Times New Roman"/>
            </a:endParaRPr>
          </a:p>
          <a:p>
            <a:pPr algn="just">
              <a:lnSpc>
                <a:spcPts val="3357"/>
              </a:lnSpc>
            </a:pPr>
            <a:r>
              <a:rPr lang="en-US" sz="2799" b="1" spc="-19">
                <a:solidFill>
                  <a:srgbClr val="000000"/>
                </a:solidFill>
                <a:latin typeface="Times New Roman Bold"/>
                <a:ea typeface="Times New Roman Bold"/>
                <a:cs typeface="Times New Roman Bold"/>
                <a:sym typeface="Times New Roman Bold"/>
              </a:rPr>
              <a:t>O4 – Per-Pattern Subgraph Explainability</a:t>
            </a:r>
          </a:p>
          <a:p>
            <a:pPr algn="just">
              <a:lnSpc>
                <a:spcPts val="3357"/>
              </a:lnSpc>
            </a:pPr>
            <a:r>
              <a:rPr lang="en-US" sz="2799" spc="-19">
                <a:solidFill>
                  <a:srgbClr val="000000"/>
                </a:solidFill>
                <a:latin typeface="Times New Roman"/>
                <a:ea typeface="Times New Roman"/>
                <a:cs typeface="Times New Roman"/>
                <a:sym typeface="Times New Roman"/>
              </a:rPr>
              <a:t>Integrate GNNExplainer to produce per-alert, per-pattern time-ordered minimal subgraph evidence reports — identifying the exact transaction chains responsible for each flag and enabling compliance-ready Suspicious Activity Report generation.</a:t>
            </a:r>
          </a:p>
          <a:p>
            <a:pPr algn="just">
              <a:lnSpc>
                <a:spcPts val="3357"/>
              </a:lnSpc>
            </a:pPr>
            <a:endParaRPr lang="en-US" sz="2799" spc="-19">
              <a:solidFill>
                <a:srgbClr val="000000"/>
              </a:solidFill>
              <a:latin typeface="Times New Roman"/>
              <a:ea typeface="Times New Roman"/>
              <a:cs typeface="Times New Roman"/>
              <a:sym typeface="Times New Roman"/>
            </a:endParaRPr>
          </a:p>
          <a:p>
            <a:pPr algn="just">
              <a:lnSpc>
                <a:spcPts val="3357"/>
              </a:lnSpc>
            </a:pPr>
            <a:endParaRPr lang="en-US" sz="2799" spc="-19">
              <a:solidFill>
                <a:srgbClr val="000000"/>
              </a:solidFill>
              <a:latin typeface="Times New Roman"/>
              <a:ea typeface="Times New Roman"/>
              <a:cs typeface="Times New Roman"/>
              <a:sym typeface="Times New Roman"/>
            </a:endParaRPr>
          </a:p>
        </p:txBody>
      </p:sp>
      <p:grpSp>
        <p:nvGrpSpPr>
          <p:cNvPr id="13" name="Group 13"/>
          <p:cNvGrpSpPr/>
          <p:nvPr/>
        </p:nvGrpSpPr>
        <p:grpSpPr>
          <a:xfrm>
            <a:off x="16830599" y="9612544"/>
            <a:ext cx="1097566" cy="602075"/>
            <a:chOff x="0" y="0"/>
            <a:chExt cx="1463421" cy="802767"/>
          </a:xfrm>
        </p:grpSpPr>
        <p:sp>
          <p:nvSpPr>
            <p:cNvPr id="14" name="Freeform 14"/>
            <p:cNvSpPr/>
            <p:nvPr/>
          </p:nvSpPr>
          <p:spPr>
            <a:xfrm>
              <a:off x="0" y="0"/>
              <a:ext cx="1463421" cy="802767"/>
            </a:xfrm>
            <a:custGeom>
              <a:avLst/>
              <a:gdLst/>
              <a:ahLst/>
              <a:cxnLst/>
              <a:rect l="l" t="t" r="r" b="b"/>
              <a:pathLst>
                <a:path w="1463421" h="802767">
                  <a:moveTo>
                    <a:pt x="0" y="0"/>
                  </a:moveTo>
                  <a:lnTo>
                    <a:pt x="1463421" y="0"/>
                  </a:lnTo>
                  <a:lnTo>
                    <a:pt x="1463421" y="802767"/>
                  </a:lnTo>
                  <a:lnTo>
                    <a:pt x="0" y="802767"/>
                  </a:lnTo>
                  <a:close/>
                </a:path>
              </a:pathLst>
            </a:custGeom>
            <a:blipFill>
              <a:blip r:embed="rId5">
                <a:alphaModFix amt="0"/>
              </a:blip>
              <a:stretch>
                <a:fillRect l="-20430" r="-20430"/>
              </a:stretch>
            </a:blipFill>
          </p:spPr>
        </p:sp>
      </p:grpSp>
      <p:grpSp>
        <p:nvGrpSpPr>
          <p:cNvPr id="15" name="Group 15"/>
          <p:cNvGrpSpPr/>
          <p:nvPr/>
        </p:nvGrpSpPr>
        <p:grpSpPr>
          <a:xfrm>
            <a:off x="16830599" y="9598257"/>
            <a:ext cx="1097566" cy="616363"/>
            <a:chOff x="0" y="0"/>
            <a:chExt cx="1463421" cy="821817"/>
          </a:xfrm>
        </p:grpSpPr>
        <p:sp>
          <p:nvSpPr>
            <p:cNvPr id="16" name="Freeform 16"/>
            <p:cNvSpPr/>
            <p:nvPr/>
          </p:nvSpPr>
          <p:spPr>
            <a:xfrm>
              <a:off x="0" y="0"/>
              <a:ext cx="1463421" cy="821817"/>
            </a:xfrm>
            <a:custGeom>
              <a:avLst/>
              <a:gdLst/>
              <a:ahLst/>
              <a:cxnLst/>
              <a:rect l="l" t="t" r="r" b="b"/>
              <a:pathLst>
                <a:path w="1463421" h="821817">
                  <a:moveTo>
                    <a:pt x="0" y="0"/>
                  </a:moveTo>
                  <a:lnTo>
                    <a:pt x="1463421" y="0"/>
                  </a:lnTo>
                  <a:lnTo>
                    <a:pt x="1463421" y="821817"/>
                  </a:lnTo>
                  <a:lnTo>
                    <a:pt x="0" y="821817"/>
                  </a:lnTo>
                  <a:close/>
                </a:path>
              </a:pathLst>
            </a:custGeom>
            <a:blipFill>
              <a:blip r:embed="rId6">
                <a:alphaModFix amt="0"/>
              </a:blip>
              <a:stretch>
                <a:fillRect l="-22101" r="-22101"/>
              </a:stretch>
            </a:blipFill>
          </p:spPr>
        </p:sp>
      </p:grpSp>
      <p:grpSp>
        <p:nvGrpSpPr>
          <p:cNvPr id="17" name="Group 17"/>
          <p:cNvGrpSpPr/>
          <p:nvPr/>
        </p:nvGrpSpPr>
        <p:grpSpPr>
          <a:xfrm>
            <a:off x="16830599" y="9583969"/>
            <a:ext cx="1097566" cy="630650"/>
            <a:chOff x="0" y="0"/>
            <a:chExt cx="1463421" cy="840867"/>
          </a:xfrm>
        </p:grpSpPr>
        <p:sp>
          <p:nvSpPr>
            <p:cNvPr id="18" name="Freeform 18"/>
            <p:cNvSpPr/>
            <p:nvPr/>
          </p:nvSpPr>
          <p:spPr>
            <a:xfrm>
              <a:off x="0" y="0"/>
              <a:ext cx="1463421" cy="840867"/>
            </a:xfrm>
            <a:custGeom>
              <a:avLst/>
              <a:gdLst/>
              <a:ahLst/>
              <a:cxnLst/>
              <a:rect l="l" t="t" r="r" b="b"/>
              <a:pathLst>
                <a:path w="1463421" h="840867">
                  <a:moveTo>
                    <a:pt x="0" y="0"/>
                  </a:moveTo>
                  <a:lnTo>
                    <a:pt x="1463421" y="0"/>
                  </a:lnTo>
                  <a:lnTo>
                    <a:pt x="1463421" y="840867"/>
                  </a:lnTo>
                  <a:lnTo>
                    <a:pt x="0" y="840867"/>
                  </a:lnTo>
                  <a:close/>
                </a:path>
              </a:pathLst>
            </a:custGeom>
            <a:blipFill>
              <a:blip r:embed="rId7">
                <a:alphaModFix amt="0"/>
              </a:blip>
              <a:stretch>
                <a:fillRect l="-23773" r="-23773"/>
              </a:stretch>
            </a:blipFill>
          </p:spPr>
        </p:sp>
      </p:grpSp>
      <p:grpSp>
        <p:nvGrpSpPr>
          <p:cNvPr id="19" name="Group 19"/>
          <p:cNvGrpSpPr/>
          <p:nvPr/>
        </p:nvGrpSpPr>
        <p:grpSpPr>
          <a:xfrm>
            <a:off x="16830599" y="9569682"/>
            <a:ext cx="1097547" cy="644966"/>
            <a:chOff x="0" y="0"/>
            <a:chExt cx="1463396" cy="859955"/>
          </a:xfrm>
        </p:grpSpPr>
        <p:sp>
          <p:nvSpPr>
            <p:cNvPr id="20" name="Freeform 20"/>
            <p:cNvSpPr/>
            <p:nvPr/>
          </p:nvSpPr>
          <p:spPr>
            <a:xfrm>
              <a:off x="0" y="0"/>
              <a:ext cx="1463421" cy="859917"/>
            </a:xfrm>
            <a:custGeom>
              <a:avLst/>
              <a:gdLst/>
              <a:ahLst/>
              <a:cxnLst/>
              <a:rect l="l" t="t" r="r" b="b"/>
              <a:pathLst>
                <a:path w="1463421" h="859917">
                  <a:moveTo>
                    <a:pt x="0" y="0"/>
                  </a:moveTo>
                  <a:lnTo>
                    <a:pt x="1463421" y="0"/>
                  </a:lnTo>
                  <a:lnTo>
                    <a:pt x="1463421" y="859917"/>
                  </a:lnTo>
                  <a:lnTo>
                    <a:pt x="0" y="859917"/>
                  </a:lnTo>
                  <a:close/>
                </a:path>
              </a:pathLst>
            </a:custGeom>
            <a:blipFill>
              <a:blip r:embed="rId8">
                <a:alphaModFix amt="0"/>
              </a:blip>
              <a:stretch>
                <a:fillRect l="-25449" r="-25446" b="-4"/>
              </a:stretch>
            </a:blipFill>
          </p:spPr>
        </p:sp>
      </p:grpSp>
      <p:grpSp>
        <p:nvGrpSpPr>
          <p:cNvPr id="21" name="Group 21"/>
          <p:cNvGrpSpPr/>
          <p:nvPr/>
        </p:nvGrpSpPr>
        <p:grpSpPr>
          <a:xfrm>
            <a:off x="16830599" y="9555394"/>
            <a:ext cx="1097547" cy="659254"/>
            <a:chOff x="0" y="0"/>
            <a:chExt cx="1463396" cy="879005"/>
          </a:xfrm>
        </p:grpSpPr>
        <p:sp>
          <p:nvSpPr>
            <p:cNvPr id="22" name="Freeform 22"/>
            <p:cNvSpPr/>
            <p:nvPr/>
          </p:nvSpPr>
          <p:spPr>
            <a:xfrm>
              <a:off x="0" y="0"/>
              <a:ext cx="1463396" cy="879005"/>
            </a:xfrm>
            <a:custGeom>
              <a:avLst/>
              <a:gdLst/>
              <a:ahLst/>
              <a:cxnLst/>
              <a:rect l="l" t="t" r="r" b="b"/>
              <a:pathLst>
                <a:path w="1463396" h="879005">
                  <a:moveTo>
                    <a:pt x="0" y="0"/>
                  </a:moveTo>
                  <a:lnTo>
                    <a:pt x="1463396" y="0"/>
                  </a:lnTo>
                  <a:lnTo>
                    <a:pt x="1463396" y="879005"/>
                  </a:lnTo>
                  <a:lnTo>
                    <a:pt x="0" y="879005"/>
                  </a:lnTo>
                  <a:close/>
                </a:path>
              </a:pathLst>
            </a:custGeom>
            <a:blipFill>
              <a:blip r:embed="rId9">
                <a:alphaModFix amt="0"/>
              </a:blip>
              <a:stretch>
                <a:fillRect l="-27066" r="-27066"/>
              </a:stretch>
            </a:blipFill>
          </p:spPr>
        </p:sp>
        <p:sp>
          <p:nvSpPr>
            <p:cNvPr id="23" name="TextBox 23"/>
            <p:cNvSpPr txBox="1"/>
            <p:nvPr/>
          </p:nvSpPr>
          <p:spPr>
            <a:xfrm>
              <a:off x="0" y="-19050"/>
              <a:ext cx="1463396" cy="898055"/>
            </a:xfrm>
            <a:prstGeom prst="rect">
              <a:avLst/>
            </a:prstGeom>
          </p:spPr>
          <p:txBody>
            <a:bodyPr lIns="0" tIns="0" rIns="0" bIns="0" rtlCol="0" anchor="ctr"/>
            <a:lstStyle/>
            <a:p>
              <a:pPr algn="r">
                <a:lnSpc>
                  <a:spcPts val="2160"/>
                </a:lnSpc>
              </a:pPr>
              <a:r>
                <a:rPr lang="en-US" sz="1800">
                  <a:solidFill>
                    <a:srgbClr val="FFFFFF"/>
                  </a:solidFill>
                  <a:latin typeface="Arial"/>
                  <a:ea typeface="Arial"/>
                  <a:cs typeface="Arial"/>
                  <a:sym typeface="Arial"/>
                </a:rPr>
                <a:t>11</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65" y="-43167"/>
            <a:ext cx="18345198" cy="450009"/>
            <a:chOff x="0" y="0"/>
            <a:chExt cx="24460264" cy="600012"/>
          </a:xfrm>
        </p:grpSpPr>
        <p:sp>
          <p:nvSpPr>
            <p:cNvPr id="3" name="Freeform 3"/>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grpSp>
        <p:nvGrpSpPr>
          <p:cNvPr id="4" name="Group 4"/>
          <p:cNvGrpSpPr/>
          <p:nvPr/>
        </p:nvGrpSpPr>
        <p:grpSpPr>
          <a:xfrm>
            <a:off x="-28565" y="9894760"/>
            <a:ext cx="18345198" cy="450009"/>
            <a:chOff x="0" y="0"/>
            <a:chExt cx="24460264" cy="600012"/>
          </a:xfrm>
        </p:grpSpPr>
        <p:sp>
          <p:nvSpPr>
            <p:cNvPr id="5" name="Freeform 5"/>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sp>
        <p:nvSpPr>
          <p:cNvPr id="6" name="Freeform 6"/>
          <p:cNvSpPr/>
          <p:nvPr/>
        </p:nvSpPr>
        <p:spPr>
          <a:xfrm>
            <a:off x="-12583" y="9568444"/>
            <a:ext cx="18313003" cy="555165"/>
          </a:xfrm>
          <a:custGeom>
            <a:avLst/>
            <a:gdLst/>
            <a:ahLst/>
            <a:cxnLst/>
            <a:rect l="l" t="t" r="r" b="b"/>
            <a:pathLst>
              <a:path w="18313003" h="555165">
                <a:moveTo>
                  <a:pt x="0" y="0"/>
                </a:moveTo>
                <a:lnTo>
                  <a:pt x="18313004" y="0"/>
                </a:lnTo>
                <a:lnTo>
                  <a:pt x="18313004" y="555164"/>
                </a:lnTo>
                <a:lnTo>
                  <a:pt x="0" y="555164"/>
                </a:lnTo>
                <a:lnTo>
                  <a:pt x="0" y="0"/>
                </a:lnTo>
                <a:close/>
              </a:path>
            </a:pathLst>
          </a:custGeom>
          <a:blipFill>
            <a:blip>
              <a:extLst>
                <a:ext uri="{96DAC541-7B7A-43D3-8B79-37D633B846F1}">
                  <asvg:svgBlip xmlns:asvg="http://schemas.microsoft.com/office/drawing/2016/SVG/main" r:embed="rId3"/>
                </a:ext>
              </a:extLst>
            </a:blip>
            <a:stretch>
              <a:fillRect t="-603" b="-602"/>
            </a:stretch>
          </a:blipFill>
        </p:spPr>
      </p:sp>
      <p:sp>
        <p:nvSpPr>
          <p:cNvPr id="7" name="TextBox 7"/>
          <p:cNvSpPr txBox="1"/>
          <p:nvPr/>
        </p:nvSpPr>
        <p:spPr>
          <a:xfrm rot="-462600">
            <a:off x="13326065" y="9600938"/>
            <a:ext cx="2554043" cy="511435"/>
          </a:xfrm>
          <a:prstGeom prst="rect">
            <a:avLst/>
          </a:prstGeom>
        </p:spPr>
        <p:txBody>
          <a:bodyPr lIns="0" tIns="0" rIns="0" bIns="0" rtlCol="0" anchor="t">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id="8" name="TextBox 8"/>
          <p:cNvSpPr txBox="1"/>
          <p:nvPr/>
        </p:nvSpPr>
        <p:spPr>
          <a:xfrm rot="1440">
            <a:off x="9193218" y="9716433"/>
            <a:ext cx="4176751" cy="465077"/>
          </a:xfrm>
          <a:prstGeom prst="rect">
            <a:avLst/>
          </a:prstGeom>
        </p:spPr>
        <p:txBody>
          <a:bodyPr lIns="0" tIns="0" rIns="0" bIns="0" rtlCol="0" anchor="t">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id="9" name="Group 9"/>
          <p:cNvGrpSpPr/>
          <p:nvPr/>
        </p:nvGrpSpPr>
        <p:grpSpPr>
          <a:xfrm>
            <a:off x="12210374" y="3204601"/>
            <a:ext cx="5977033" cy="5953316"/>
            <a:chOff x="0" y="0"/>
            <a:chExt cx="7969377" cy="7937754"/>
          </a:xfrm>
        </p:grpSpPr>
        <p:sp>
          <p:nvSpPr>
            <p:cNvPr id="10" name="Freeform 10"/>
            <p:cNvSpPr/>
            <p:nvPr/>
          </p:nvSpPr>
          <p:spPr>
            <a:xfrm>
              <a:off x="0" y="0"/>
              <a:ext cx="7969377" cy="7937754"/>
            </a:xfrm>
            <a:custGeom>
              <a:avLst/>
              <a:gdLst/>
              <a:ahLst/>
              <a:cxnLst/>
              <a:rect l="l" t="t" r="r" b="b"/>
              <a:pathLst>
                <a:path w="7969377" h="7937754">
                  <a:moveTo>
                    <a:pt x="0" y="0"/>
                  </a:moveTo>
                  <a:lnTo>
                    <a:pt x="7969377" y="0"/>
                  </a:lnTo>
                  <a:lnTo>
                    <a:pt x="7969377" y="7937754"/>
                  </a:lnTo>
                  <a:lnTo>
                    <a:pt x="0" y="7937754"/>
                  </a:lnTo>
                  <a:lnTo>
                    <a:pt x="0" y="0"/>
                  </a:lnTo>
                  <a:close/>
                </a:path>
              </a:pathLst>
            </a:custGeom>
            <a:blipFill>
              <a:blip r:embed="rId4">
                <a:alphaModFix amt="3000"/>
              </a:blip>
              <a:stretch>
                <a:fillRect/>
              </a:stretch>
            </a:blipFill>
          </p:spPr>
        </p:sp>
      </p:grpSp>
      <p:sp>
        <p:nvSpPr>
          <p:cNvPr id="11" name="TextBox 11"/>
          <p:cNvSpPr txBox="1"/>
          <p:nvPr/>
        </p:nvSpPr>
        <p:spPr>
          <a:xfrm>
            <a:off x="745303" y="830980"/>
            <a:ext cx="5956106" cy="781431"/>
          </a:xfrm>
          <a:prstGeom prst="rect">
            <a:avLst/>
          </a:prstGeom>
        </p:spPr>
        <p:txBody>
          <a:bodyPr lIns="0" tIns="0" rIns="0" bIns="0" rtlCol="0" anchor="t">
            <a:spAutoFit/>
          </a:bodyPr>
          <a:lstStyle/>
          <a:p>
            <a:pPr algn="l">
              <a:lnSpc>
                <a:spcPts val="5757"/>
              </a:lnSpc>
            </a:pPr>
            <a:r>
              <a:rPr lang="en-US" sz="4800" b="1" spc="-21">
                <a:solidFill>
                  <a:srgbClr val="0000FF"/>
                </a:solidFill>
                <a:latin typeface="Times New Roman Bold"/>
                <a:ea typeface="Times New Roman Bold"/>
                <a:cs typeface="Times New Roman Bold"/>
                <a:sym typeface="Times New Roman Bold"/>
              </a:rPr>
              <a:t>Proposed Contribution</a:t>
            </a:r>
          </a:p>
        </p:txBody>
      </p:sp>
      <p:sp>
        <p:nvSpPr>
          <p:cNvPr id="12" name="TextBox 12"/>
          <p:cNvSpPr txBox="1"/>
          <p:nvPr/>
        </p:nvSpPr>
        <p:spPr>
          <a:xfrm>
            <a:off x="745303" y="1610344"/>
            <a:ext cx="15731080" cy="6078703"/>
          </a:xfrm>
          <a:prstGeom prst="rect">
            <a:avLst/>
          </a:prstGeom>
        </p:spPr>
        <p:txBody>
          <a:bodyPr lIns="0" tIns="0" rIns="0" bIns="0" rtlCol="0" anchor="t">
            <a:spAutoFit/>
          </a:bodyPr>
          <a:lstStyle/>
          <a:p>
            <a:pPr algn="just">
              <a:lnSpc>
                <a:spcPts val="4320"/>
              </a:lnSpc>
            </a:pPr>
            <a:r>
              <a:rPr lang="en-US" sz="2799" spc="-23">
                <a:solidFill>
                  <a:srgbClr val="000000"/>
                </a:solidFill>
                <a:latin typeface="Times New Roman"/>
                <a:ea typeface="Times New Roman"/>
                <a:cs typeface="Times New Roman"/>
                <a:sym typeface="Times New Roman"/>
              </a:rPr>
              <a:t>This research proposes</a:t>
            </a:r>
          </a:p>
          <a:p>
            <a:pPr marL="1101053" lvl="5" indent="-183509" algn="just">
              <a:lnSpc>
                <a:spcPts val="4320"/>
              </a:lnSpc>
              <a:buFont typeface="Arial"/>
              <a:buChar char="⚬"/>
            </a:pPr>
            <a:r>
              <a:rPr lang="en-US" sz="2799" spc="-23">
                <a:solidFill>
                  <a:srgbClr val="000000"/>
                </a:solidFill>
                <a:latin typeface="Times New Roman"/>
                <a:ea typeface="Times New Roman"/>
                <a:cs typeface="Times New Roman"/>
                <a:sym typeface="Times New Roman"/>
              </a:rPr>
              <a:t>Learnable Fourier time encoding trained end-to-end inside graph attention — model discovers laundering timescales from data automatically.</a:t>
            </a:r>
          </a:p>
          <a:p>
            <a:pPr marL="1101053" lvl="5" indent="-183509" algn="just">
              <a:lnSpc>
                <a:spcPts val="4320"/>
              </a:lnSpc>
              <a:buFont typeface="Arial"/>
              <a:buChar char="⚬"/>
            </a:pPr>
            <a:r>
              <a:rPr lang="en-US" sz="2799" spc="-23">
                <a:solidFill>
                  <a:srgbClr val="000000"/>
                </a:solidFill>
                <a:latin typeface="Times New Roman"/>
                <a:ea typeface="Times New Roman"/>
                <a:cs typeface="Times New Roman"/>
                <a:sym typeface="Times New Roman"/>
              </a:rPr>
              <a:t>Unified 3-pattern detection framework — circular transfers, layering chains, and smurfing detected simultaneously from shared TGAT embeddings.</a:t>
            </a:r>
          </a:p>
          <a:p>
            <a:pPr marL="1101053" lvl="5" indent="-183509" algn="just">
              <a:lnSpc>
                <a:spcPts val="4320"/>
              </a:lnSpc>
              <a:buFont typeface="Arial"/>
              <a:buChar char="⚬"/>
            </a:pPr>
            <a:r>
              <a:rPr lang="en-US" sz="2799" spc="-23">
                <a:solidFill>
                  <a:srgbClr val="000000"/>
                </a:solidFill>
                <a:latin typeface="Times New Roman"/>
                <a:ea typeface="Times New Roman"/>
                <a:cs typeface="Times New Roman"/>
                <a:sym typeface="Times New Roman"/>
              </a:rPr>
              <a:t>Causal temporal neighbourhood constraint — only past transactions used per node, ensuring production-grade deployability.</a:t>
            </a:r>
          </a:p>
          <a:p>
            <a:pPr marL="1101053" lvl="5" indent="-183509" algn="just">
              <a:lnSpc>
                <a:spcPts val="4320"/>
              </a:lnSpc>
              <a:buFont typeface="Arial"/>
              <a:buChar char="⚬"/>
            </a:pPr>
            <a:r>
              <a:rPr lang="en-US" sz="2799" spc="-23">
                <a:solidFill>
                  <a:srgbClr val="000000"/>
                </a:solidFill>
                <a:latin typeface="Times New Roman"/>
                <a:ea typeface="Times New Roman"/>
                <a:cs typeface="Times New Roman"/>
                <a:sym typeface="Times New Roman"/>
              </a:rPr>
              <a:t>Per-pattern time-ordered subgraph explainability via GNNExplainer — compliance-ready SAR evidence for every alert.</a:t>
            </a:r>
          </a:p>
          <a:p>
            <a:pPr marL="1101053" lvl="5" indent="-183509" algn="just">
              <a:lnSpc>
                <a:spcPts val="4320"/>
              </a:lnSpc>
              <a:buFont typeface="Arial"/>
              <a:buChar char="⚬"/>
            </a:pPr>
            <a:r>
              <a:rPr lang="en-US" sz="2799" spc="-23">
                <a:solidFill>
                  <a:srgbClr val="000000"/>
                </a:solidFill>
                <a:latin typeface="Times New Roman"/>
                <a:ea typeface="Times New Roman"/>
                <a:cs typeface="Times New Roman"/>
                <a:sym typeface="Times New Roman"/>
              </a:rPr>
              <a:t>Temporal class imbalance correction — per-timestep class weighting addressing drift across 49 Elliptic time steps.</a:t>
            </a:r>
          </a:p>
        </p:txBody>
      </p:sp>
      <p:grpSp>
        <p:nvGrpSpPr>
          <p:cNvPr id="13" name="Group 13"/>
          <p:cNvGrpSpPr/>
          <p:nvPr/>
        </p:nvGrpSpPr>
        <p:grpSpPr>
          <a:xfrm>
            <a:off x="16830599" y="9612544"/>
            <a:ext cx="1097566" cy="602075"/>
            <a:chOff x="0" y="0"/>
            <a:chExt cx="1463421" cy="802767"/>
          </a:xfrm>
        </p:grpSpPr>
        <p:sp>
          <p:nvSpPr>
            <p:cNvPr id="14" name="Freeform 14"/>
            <p:cNvSpPr/>
            <p:nvPr/>
          </p:nvSpPr>
          <p:spPr>
            <a:xfrm>
              <a:off x="0" y="0"/>
              <a:ext cx="1463421" cy="802767"/>
            </a:xfrm>
            <a:custGeom>
              <a:avLst/>
              <a:gdLst/>
              <a:ahLst/>
              <a:cxnLst/>
              <a:rect l="l" t="t" r="r" b="b"/>
              <a:pathLst>
                <a:path w="1463421" h="802767">
                  <a:moveTo>
                    <a:pt x="0" y="0"/>
                  </a:moveTo>
                  <a:lnTo>
                    <a:pt x="1463421" y="0"/>
                  </a:lnTo>
                  <a:lnTo>
                    <a:pt x="1463421" y="802767"/>
                  </a:lnTo>
                  <a:lnTo>
                    <a:pt x="0" y="802767"/>
                  </a:lnTo>
                  <a:close/>
                </a:path>
              </a:pathLst>
            </a:custGeom>
            <a:blipFill>
              <a:blip r:embed="rId5">
                <a:alphaModFix amt="0"/>
              </a:blip>
              <a:stretch>
                <a:fillRect l="-20430" r="-20430"/>
              </a:stretch>
            </a:blipFill>
          </p:spPr>
        </p:sp>
      </p:grpSp>
      <p:grpSp>
        <p:nvGrpSpPr>
          <p:cNvPr id="15" name="Group 15"/>
          <p:cNvGrpSpPr/>
          <p:nvPr/>
        </p:nvGrpSpPr>
        <p:grpSpPr>
          <a:xfrm>
            <a:off x="16830599" y="9598257"/>
            <a:ext cx="1097566" cy="616363"/>
            <a:chOff x="0" y="0"/>
            <a:chExt cx="1463421" cy="821817"/>
          </a:xfrm>
        </p:grpSpPr>
        <p:sp>
          <p:nvSpPr>
            <p:cNvPr id="16" name="Freeform 16"/>
            <p:cNvSpPr/>
            <p:nvPr/>
          </p:nvSpPr>
          <p:spPr>
            <a:xfrm>
              <a:off x="0" y="0"/>
              <a:ext cx="1463421" cy="821817"/>
            </a:xfrm>
            <a:custGeom>
              <a:avLst/>
              <a:gdLst/>
              <a:ahLst/>
              <a:cxnLst/>
              <a:rect l="l" t="t" r="r" b="b"/>
              <a:pathLst>
                <a:path w="1463421" h="821817">
                  <a:moveTo>
                    <a:pt x="0" y="0"/>
                  </a:moveTo>
                  <a:lnTo>
                    <a:pt x="1463421" y="0"/>
                  </a:lnTo>
                  <a:lnTo>
                    <a:pt x="1463421" y="821817"/>
                  </a:lnTo>
                  <a:lnTo>
                    <a:pt x="0" y="821817"/>
                  </a:lnTo>
                  <a:close/>
                </a:path>
              </a:pathLst>
            </a:custGeom>
            <a:blipFill>
              <a:blip r:embed="rId6">
                <a:alphaModFix amt="0"/>
              </a:blip>
              <a:stretch>
                <a:fillRect l="-22101" r="-22101"/>
              </a:stretch>
            </a:blipFill>
          </p:spPr>
        </p:sp>
      </p:grpSp>
      <p:grpSp>
        <p:nvGrpSpPr>
          <p:cNvPr id="17" name="Group 17"/>
          <p:cNvGrpSpPr/>
          <p:nvPr/>
        </p:nvGrpSpPr>
        <p:grpSpPr>
          <a:xfrm>
            <a:off x="16830599" y="9583969"/>
            <a:ext cx="1097566" cy="630650"/>
            <a:chOff x="0" y="0"/>
            <a:chExt cx="1463421" cy="840867"/>
          </a:xfrm>
        </p:grpSpPr>
        <p:sp>
          <p:nvSpPr>
            <p:cNvPr id="18" name="Freeform 18"/>
            <p:cNvSpPr/>
            <p:nvPr/>
          </p:nvSpPr>
          <p:spPr>
            <a:xfrm>
              <a:off x="0" y="0"/>
              <a:ext cx="1463421" cy="840867"/>
            </a:xfrm>
            <a:custGeom>
              <a:avLst/>
              <a:gdLst/>
              <a:ahLst/>
              <a:cxnLst/>
              <a:rect l="l" t="t" r="r" b="b"/>
              <a:pathLst>
                <a:path w="1463421" h="840867">
                  <a:moveTo>
                    <a:pt x="0" y="0"/>
                  </a:moveTo>
                  <a:lnTo>
                    <a:pt x="1463421" y="0"/>
                  </a:lnTo>
                  <a:lnTo>
                    <a:pt x="1463421" y="840867"/>
                  </a:lnTo>
                  <a:lnTo>
                    <a:pt x="0" y="840867"/>
                  </a:lnTo>
                  <a:close/>
                </a:path>
              </a:pathLst>
            </a:custGeom>
            <a:blipFill>
              <a:blip r:embed="rId7">
                <a:alphaModFix amt="0"/>
              </a:blip>
              <a:stretch>
                <a:fillRect l="-23773" r="-23773"/>
              </a:stretch>
            </a:blipFill>
          </p:spPr>
        </p:sp>
      </p:grpSp>
      <p:grpSp>
        <p:nvGrpSpPr>
          <p:cNvPr id="19" name="Group 19"/>
          <p:cNvGrpSpPr/>
          <p:nvPr/>
        </p:nvGrpSpPr>
        <p:grpSpPr>
          <a:xfrm>
            <a:off x="16830599" y="9569682"/>
            <a:ext cx="1097547" cy="644966"/>
            <a:chOff x="0" y="0"/>
            <a:chExt cx="1463396" cy="859955"/>
          </a:xfrm>
        </p:grpSpPr>
        <p:sp>
          <p:nvSpPr>
            <p:cNvPr id="20" name="Freeform 20"/>
            <p:cNvSpPr/>
            <p:nvPr/>
          </p:nvSpPr>
          <p:spPr>
            <a:xfrm>
              <a:off x="0" y="0"/>
              <a:ext cx="1463421" cy="859917"/>
            </a:xfrm>
            <a:custGeom>
              <a:avLst/>
              <a:gdLst/>
              <a:ahLst/>
              <a:cxnLst/>
              <a:rect l="l" t="t" r="r" b="b"/>
              <a:pathLst>
                <a:path w="1463421" h="859917">
                  <a:moveTo>
                    <a:pt x="0" y="0"/>
                  </a:moveTo>
                  <a:lnTo>
                    <a:pt x="1463421" y="0"/>
                  </a:lnTo>
                  <a:lnTo>
                    <a:pt x="1463421" y="859917"/>
                  </a:lnTo>
                  <a:lnTo>
                    <a:pt x="0" y="859917"/>
                  </a:lnTo>
                  <a:close/>
                </a:path>
              </a:pathLst>
            </a:custGeom>
            <a:blipFill>
              <a:blip r:embed="rId8">
                <a:alphaModFix amt="0"/>
              </a:blip>
              <a:stretch>
                <a:fillRect l="-25449" r="-25446" b="-4"/>
              </a:stretch>
            </a:blipFill>
          </p:spPr>
        </p:sp>
      </p:grpSp>
      <p:grpSp>
        <p:nvGrpSpPr>
          <p:cNvPr id="21" name="Group 21"/>
          <p:cNvGrpSpPr/>
          <p:nvPr/>
        </p:nvGrpSpPr>
        <p:grpSpPr>
          <a:xfrm>
            <a:off x="16830599" y="9555394"/>
            <a:ext cx="1097547" cy="659254"/>
            <a:chOff x="0" y="0"/>
            <a:chExt cx="1463396" cy="879005"/>
          </a:xfrm>
        </p:grpSpPr>
        <p:sp>
          <p:nvSpPr>
            <p:cNvPr id="22" name="Freeform 22"/>
            <p:cNvSpPr/>
            <p:nvPr/>
          </p:nvSpPr>
          <p:spPr>
            <a:xfrm>
              <a:off x="0" y="0"/>
              <a:ext cx="1463396" cy="879005"/>
            </a:xfrm>
            <a:custGeom>
              <a:avLst/>
              <a:gdLst/>
              <a:ahLst/>
              <a:cxnLst/>
              <a:rect l="l" t="t" r="r" b="b"/>
              <a:pathLst>
                <a:path w="1463396" h="879005">
                  <a:moveTo>
                    <a:pt x="0" y="0"/>
                  </a:moveTo>
                  <a:lnTo>
                    <a:pt x="1463396" y="0"/>
                  </a:lnTo>
                  <a:lnTo>
                    <a:pt x="1463396" y="879005"/>
                  </a:lnTo>
                  <a:lnTo>
                    <a:pt x="0" y="879005"/>
                  </a:lnTo>
                  <a:close/>
                </a:path>
              </a:pathLst>
            </a:custGeom>
            <a:blipFill>
              <a:blip r:embed="rId9">
                <a:alphaModFix amt="0"/>
              </a:blip>
              <a:stretch>
                <a:fillRect l="-27066" r="-27066"/>
              </a:stretch>
            </a:blipFill>
          </p:spPr>
        </p:sp>
        <p:sp>
          <p:nvSpPr>
            <p:cNvPr id="23" name="TextBox 23"/>
            <p:cNvSpPr txBox="1"/>
            <p:nvPr/>
          </p:nvSpPr>
          <p:spPr>
            <a:xfrm>
              <a:off x="0" y="-19050"/>
              <a:ext cx="1463396" cy="898055"/>
            </a:xfrm>
            <a:prstGeom prst="rect">
              <a:avLst/>
            </a:prstGeom>
          </p:spPr>
          <p:txBody>
            <a:bodyPr lIns="0" tIns="0" rIns="0" bIns="0" rtlCol="0" anchor="ctr"/>
            <a:lstStyle/>
            <a:p>
              <a:pPr algn="r">
                <a:lnSpc>
                  <a:spcPts val="2160"/>
                </a:lnSpc>
              </a:pPr>
              <a:r>
                <a:rPr lang="en-US" sz="1800">
                  <a:solidFill>
                    <a:srgbClr val="FFFFFF"/>
                  </a:solidFill>
                  <a:latin typeface="Arial"/>
                  <a:ea typeface="Arial"/>
                  <a:cs typeface="Arial"/>
                  <a:sym typeface="Arial"/>
                </a:rPr>
                <a:t>12</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65" y="-43167"/>
            <a:ext cx="18345198" cy="450009"/>
            <a:chOff x="0" y="0"/>
            <a:chExt cx="24460264" cy="600012"/>
          </a:xfrm>
        </p:grpSpPr>
        <p:sp>
          <p:nvSpPr>
            <p:cNvPr id="3" name="Freeform 3"/>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grpSp>
        <p:nvGrpSpPr>
          <p:cNvPr id="4" name="Group 4"/>
          <p:cNvGrpSpPr/>
          <p:nvPr/>
        </p:nvGrpSpPr>
        <p:grpSpPr>
          <a:xfrm>
            <a:off x="-28565" y="9894760"/>
            <a:ext cx="18345198" cy="450009"/>
            <a:chOff x="0" y="0"/>
            <a:chExt cx="24460264" cy="600012"/>
          </a:xfrm>
        </p:grpSpPr>
        <p:sp>
          <p:nvSpPr>
            <p:cNvPr id="5" name="Freeform 5"/>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sp>
        <p:nvSpPr>
          <p:cNvPr id="6" name="Freeform 6"/>
          <p:cNvSpPr/>
          <p:nvPr/>
        </p:nvSpPr>
        <p:spPr>
          <a:xfrm>
            <a:off x="-12583" y="9568444"/>
            <a:ext cx="18313003" cy="555165"/>
          </a:xfrm>
          <a:custGeom>
            <a:avLst/>
            <a:gdLst/>
            <a:ahLst/>
            <a:cxnLst/>
            <a:rect l="l" t="t" r="r" b="b"/>
            <a:pathLst>
              <a:path w="18313003" h="555165">
                <a:moveTo>
                  <a:pt x="0" y="0"/>
                </a:moveTo>
                <a:lnTo>
                  <a:pt x="18313004" y="0"/>
                </a:lnTo>
                <a:lnTo>
                  <a:pt x="18313004" y="555164"/>
                </a:lnTo>
                <a:lnTo>
                  <a:pt x="0" y="555164"/>
                </a:lnTo>
                <a:lnTo>
                  <a:pt x="0" y="0"/>
                </a:lnTo>
                <a:close/>
              </a:path>
            </a:pathLst>
          </a:custGeom>
          <a:blipFill>
            <a:blip>
              <a:extLst>
                <a:ext uri="{96DAC541-7B7A-43D3-8B79-37D633B846F1}">
                  <asvg:svgBlip xmlns:asvg="http://schemas.microsoft.com/office/drawing/2016/SVG/main" r:embed="rId3"/>
                </a:ext>
              </a:extLst>
            </a:blip>
            <a:stretch>
              <a:fillRect t="-603" b="-602"/>
            </a:stretch>
          </a:blipFill>
        </p:spPr>
      </p:sp>
      <p:sp>
        <p:nvSpPr>
          <p:cNvPr id="7" name="TextBox 7"/>
          <p:cNvSpPr txBox="1"/>
          <p:nvPr/>
        </p:nvSpPr>
        <p:spPr>
          <a:xfrm rot="-462600">
            <a:off x="13326065" y="9600938"/>
            <a:ext cx="2554043" cy="511435"/>
          </a:xfrm>
          <a:prstGeom prst="rect">
            <a:avLst/>
          </a:prstGeom>
        </p:spPr>
        <p:txBody>
          <a:bodyPr lIns="0" tIns="0" rIns="0" bIns="0" rtlCol="0" anchor="t">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id="8" name="TextBox 8"/>
          <p:cNvSpPr txBox="1"/>
          <p:nvPr/>
        </p:nvSpPr>
        <p:spPr>
          <a:xfrm rot="1440">
            <a:off x="9193218" y="9716433"/>
            <a:ext cx="4176751" cy="465077"/>
          </a:xfrm>
          <a:prstGeom prst="rect">
            <a:avLst/>
          </a:prstGeom>
        </p:spPr>
        <p:txBody>
          <a:bodyPr lIns="0" tIns="0" rIns="0" bIns="0" rtlCol="0" anchor="t">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id="9" name="Group 9"/>
          <p:cNvGrpSpPr/>
          <p:nvPr/>
        </p:nvGrpSpPr>
        <p:grpSpPr>
          <a:xfrm>
            <a:off x="12210374" y="3204601"/>
            <a:ext cx="5977033" cy="5953316"/>
            <a:chOff x="0" y="0"/>
            <a:chExt cx="7969377" cy="7937754"/>
          </a:xfrm>
        </p:grpSpPr>
        <p:sp>
          <p:nvSpPr>
            <p:cNvPr id="10" name="Freeform 10"/>
            <p:cNvSpPr/>
            <p:nvPr/>
          </p:nvSpPr>
          <p:spPr>
            <a:xfrm>
              <a:off x="0" y="0"/>
              <a:ext cx="7969377" cy="7937754"/>
            </a:xfrm>
            <a:custGeom>
              <a:avLst/>
              <a:gdLst/>
              <a:ahLst/>
              <a:cxnLst/>
              <a:rect l="l" t="t" r="r" b="b"/>
              <a:pathLst>
                <a:path w="7969377" h="7937754">
                  <a:moveTo>
                    <a:pt x="0" y="0"/>
                  </a:moveTo>
                  <a:lnTo>
                    <a:pt x="7969377" y="0"/>
                  </a:lnTo>
                  <a:lnTo>
                    <a:pt x="7969377" y="7937754"/>
                  </a:lnTo>
                  <a:lnTo>
                    <a:pt x="0" y="7937754"/>
                  </a:lnTo>
                  <a:lnTo>
                    <a:pt x="0" y="0"/>
                  </a:lnTo>
                  <a:close/>
                </a:path>
              </a:pathLst>
            </a:custGeom>
            <a:blipFill>
              <a:blip r:embed="rId4">
                <a:alphaModFix amt="3000"/>
              </a:blip>
              <a:stretch>
                <a:fillRect/>
              </a:stretch>
            </a:blipFill>
          </p:spPr>
        </p:sp>
      </p:grpSp>
      <p:sp>
        <p:nvSpPr>
          <p:cNvPr id="11" name="TextBox 11"/>
          <p:cNvSpPr txBox="1"/>
          <p:nvPr/>
        </p:nvSpPr>
        <p:spPr>
          <a:xfrm>
            <a:off x="745303" y="830980"/>
            <a:ext cx="4578477" cy="781431"/>
          </a:xfrm>
          <a:prstGeom prst="rect">
            <a:avLst/>
          </a:prstGeom>
        </p:spPr>
        <p:txBody>
          <a:bodyPr lIns="0" tIns="0" rIns="0" bIns="0" rtlCol="0" anchor="t">
            <a:spAutoFit/>
          </a:bodyPr>
          <a:lstStyle/>
          <a:p>
            <a:pPr algn="l">
              <a:lnSpc>
                <a:spcPts val="5757"/>
              </a:lnSpc>
            </a:pPr>
            <a:r>
              <a:rPr lang="en-US" sz="4800" b="1" spc="-21">
                <a:solidFill>
                  <a:srgbClr val="0000FF"/>
                </a:solidFill>
                <a:latin typeface="Times New Roman Bold"/>
                <a:ea typeface="Times New Roman Bold"/>
                <a:cs typeface="Times New Roman Bold"/>
                <a:sym typeface="Times New Roman Bold"/>
              </a:rPr>
              <a:t>Dataset Overview</a:t>
            </a:r>
          </a:p>
        </p:txBody>
      </p:sp>
      <p:sp>
        <p:nvSpPr>
          <p:cNvPr id="12" name="TextBox 12"/>
          <p:cNvSpPr txBox="1"/>
          <p:nvPr/>
        </p:nvSpPr>
        <p:spPr>
          <a:xfrm>
            <a:off x="745303" y="1324594"/>
            <a:ext cx="16976131" cy="7974178"/>
          </a:xfrm>
          <a:prstGeom prst="rect">
            <a:avLst/>
          </a:prstGeom>
        </p:spPr>
        <p:txBody>
          <a:bodyPr lIns="0" tIns="0" rIns="0" bIns="0" rtlCol="0" anchor="t">
            <a:spAutoFit/>
          </a:bodyPr>
          <a:lstStyle/>
          <a:p>
            <a:pPr algn="just">
              <a:lnSpc>
                <a:spcPts val="4320"/>
              </a:lnSpc>
            </a:pPr>
            <a:r>
              <a:rPr lang="en-US" sz="2799" spc="-23">
                <a:solidFill>
                  <a:srgbClr val="000000"/>
                </a:solidFill>
                <a:latin typeface="Times New Roman"/>
                <a:ea typeface="Times New Roman"/>
                <a:cs typeface="Times New Roman"/>
                <a:sym typeface="Times New Roman"/>
              </a:rPr>
              <a:t>Dataset Overview — Elliptic Bitcoin Dataset</a:t>
            </a:r>
          </a:p>
          <a:p>
            <a:pPr algn="just">
              <a:lnSpc>
                <a:spcPts val="4320"/>
              </a:lnSpc>
            </a:pPr>
            <a:r>
              <a:rPr lang="en-US" sz="2799" b="1" spc="-23">
                <a:solidFill>
                  <a:srgbClr val="000000"/>
                </a:solidFill>
                <a:latin typeface="Times New Roman Bold"/>
                <a:ea typeface="Times New Roman Bold"/>
                <a:cs typeface="Times New Roman Bold"/>
                <a:sym typeface="Times New Roman Bold"/>
              </a:rPr>
              <a:t>Key Statistics:</a:t>
            </a:r>
          </a:p>
          <a:p>
            <a:pPr algn="just">
              <a:lnSpc>
                <a:spcPts val="4320"/>
              </a:lnSpc>
            </a:pPr>
            <a:r>
              <a:rPr lang="en-US" sz="2799" spc="-23">
                <a:solidFill>
                  <a:srgbClr val="000000"/>
                </a:solidFill>
                <a:latin typeface="Times New Roman"/>
                <a:ea typeface="Times New Roman"/>
                <a:cs typeface="Times New Roman"/>
                <a:sym typeface="Times New Roman"/>
              </a:rPr>
              <a:t>203,769 transactions (nodes) — 234,355 directed edges — 49 temporal snapshots — 166 features per transaction — approximately 2% illicit transactions</a:t>
            </a:r>
          </a:p>
          <a:p>
            <a:pPr algn="just">
              <a:lnSpc>
                <a:spcPts val="4320"/>
              </a:lnSpc>
            </a:pPr>
            <a:r>
              <a:rPr lang="en-US" sz="2799" b="1" spc="-23">
                <a:solidFill>
                  <a:srgbClr val="000000"/>
                </a:solidFill>
                <a:latin typeface="Times New Roman Bold"/>
                <a:ea typeface="Times New Roman Bold"/>
                <a:cs typeface="Times New Roman Bold"/>
                <a:sym typeface="Times New Roman Bold"/>
              </a:rPr>
              <a:t>Feature Structure:</a:t>
            </a:r>
          </a:p>
          <a:p>
            <a:pPr marL="844277" lvl="4" indent="-168855" algn="just">
              <a:lnSpc>
                <a:spcPts val="3357"/>
              </a:lnSpc>
              <a:buFont typeface="Arial"/>
              <a:buChar char="•"/>
            </a:pPr>
            <a:r>
              <a:rPr lang="en-US" sz="2799" spc="-23">
                <a:solidFill>
                  <a:srgbClr val="000000"/>
                </a:solidFill>
                <a:latin typeface="Times New Roman"/>
                <a:ea typeface="Times New Roman"/>
                <a:cs typeface="Times New Roman"/>
                <a:sym typeface="Times New Roman"/>
              </a:rPr>
              <a:t>Local Features — 94 features</a:t>
            </a:r>
          </a:p>
          <a:p>
            <a:pPr marL="844277" lvl="4" indent="-168855" algn="just">
              <a:lnSpc>
                <a:spcPts val="3357"/>
              </a:lnSpc>
            </a:pPr>
            <a:r>
              <a:rPr lang="en-US" sz="2799" spc="-23">
                <a:solidFill>
                  <a:srgbClr val="000000"/>
                </a:solidFill>
                <a:latin typeface="Times New Roman"/>
                <a:ea typeface="Times New Roman"/>
                <a:cs typeface="Times New Roman"/>
                <a:sym typeface="Times New Roman"/>
              </a:rPr>
              <a:t> Transaction fee, number of inputs, number of outputs, total BTC value, average input and output values, transaction size in bytes, and time step — all extracted directly from raw Bitcoin blockchain data.</a:t>
            </a:r>
          </a:p>
          <a:p>
            <a:pPr marL="844277" lvl="4" indent="-168855" algn="just">
              <a:lnSpc>
                <a:spcPts val="3357"/>
              </a:lnSpc>
              <a:buFont typeface="Arial"/>
              <a:buChar char="•"/>
            </a:pPr>
            <a:r>
              <a:rPr lang="en-US" sz="2799" spc="-23">
                <a:solidFill>
                  <a:srgbClr val="000000"/>
                </a:solidFill>
                <a:latin typeface="Times New Roman"/>
                <a:ea typeface="Times New Roman"/>
                <a:cs typeface="Times New Roman"/>
                <a:sym typeface="Times New Roman"/>
              </a:rPr>
              <a:t> Neighborhood Features — 72 features</a:t>
            </a:r>
          </a:p>
          <a:p>
            <a:pPr marL="844277" lvl="4" indent="-168855" algn="just">
              <a:lnSpc>
                <a:spcPts val="3357"/>
              </a:lnSpc>
            </a:pPr>
            <a:r>
              <a:rPr lang="en-US" sz="2799" spc="-23">
                <a:solidFill>
                  <a:srgbClr val="000000"/>
                </a:solidFill>
                <a:latin typeface="Times New Roman"/>
                <a:ea typeface="Times New Roman"/>
                <a:cs typeface="Times New Roman"/>
                <a:sym typeface="Times New Roman"/>
              </a:rPr>
              <a:t> Mean, median, standard deviation, maximum, and minimum values computed across all 1-hop neighboring transactions — pre-aggregated statistics that describe the local transaction environment.</a:t>
            </a:r>
          </a:p>
          <a:p>
            <a:pPr marL="844277" lvl="4" indent="-168855" algn="just">
              <a:lnSpc>
                <a:spcPts val="3357"/>
              </a:lnSpc>
            </a:pPr>
            <a:r>
              <a:rPr lang="en-US" sz="2799" b="1" spc="-23">
                <a:solidFill>
                  <a:srgbClr val="000000"/>
                </a:solidFill>
                <a:latin typeface="Times New Roman Bold"/>
                <a:ea typeface="Times New Roman Bold"/>
                <a:cs typeface="Times New Roman Bold"/>
                <a:sym typeface="Times New Roman Bold"/>
              </a:rPr>
              <a:t>Temporal Structure:</a:t>
            </a:r>
          </a:p>
          <a:p>
            <a:pPr marL="844277" lvl="4" indent="-168855" algn="just">
              <a:lnSpc>
                <a:spcPts val="3357"/>
              </a:lnSpc>
            </a:pPr>
            <a:r>
              <a:rPr lang="en-US" sz="2799" spc="-23">
                <a:solidFill>
                  <a:srgbClr val="000000"/>
                </a:solidFill>
                <a:latin typeface="Times New Roman"/>
                <a:ea typeface="Times New Roman"/>
                <a:cs typeface="Times New Roman"/>
                <a:sym typeface="Times New Roman"/>
              </a:rPr>
              <a:t> 49 ordered snapshots taken approximately every two weeks covering roughly two years of Bitcoin transactions from 2011 to 2013. Labels are illicit, licit, or unknown per node. Source is Elliptic.co — freely available on Kaggle. This is the only public AML dataset combining ground truth labels with genuine temporal structure — making it the ideal and only appropriate choice for our project.</a:t>
            </a:r>
          </a:p>
          <a:p>
            <a:pPr marL="844277" lvl="4" indent="-168855" algn="just">
              <a:lnSpc>
                <a:spcPts val="4320"/>
              </a:lnSpc>
            </a:pPr>
            <a:endParaRPr lang="en-US" sz="2799" spc="-23">
              <a:solidFill>
                <a:srgbClr val="000000"/>
              </a:solidFill>
              <a:latin typeface="Times New Roman"/>
              <a:ea typeface="Times New Roman"/>
              <a:cs typeface="Times New Roman"/>
              <a:sym typeface="Times New Roman"/>
            </a:endParaRPr>
          </a:p>
        </p:txBody>
      </p:sp>
      <p:grpSp>
        <p:nvGrpSpPr>
          <p:cNvPr id="13" name="Group 13"/>
          <p:cNvGrpSpPr/>
          <p:nvPr/>
        </p:nvGrpSpPr>
        <p:grpSpPr>
          <a:xfrm>
            <a:off x="16830599" y="9612544"/>
            <a:ext cx="1097566" cy="602075"/>
            <a:chOff x="0" y="0"/>
            <a:chExt cx="1463421" cy="802767"/>
          </a:xfrm>
        </p:grpSpPr>
        <p:sp>
          <p:nvSpPr>
            <p:cNvPr id="14" name="Freeform 14"/>
            <p:cNvSpPr/>
            <p:nvPr/>
          </p:nvSpPr>
          <p:spPr>
            <a:xfrm>
              <a:off x="0" y="0"/>
              <a:ext cx="1463421" cy="802767"/>
            </a:xfrm>
            <a:custGeom>
              <a:avLst/>
              <a:gdLst/>
              <a:ahLst/>
              <a:cxnLst/>
              <a:rect l="l" t="t" r="r" b="b"/>
              <a:pathLst>
                <a:path w="1463421" h="802767">
                  <a:moveTo>
                    <a:pt x="0" y="0"/>
                  </a:moveTo>
                  <a:lnTo>
                    <a:pt x="1463421" y="0"/>
                  </a:lnTo>
                  <a:lnTo>
                    <a:pt x="1463421" y="802767"/>
                  </a:lnTo>
                  <a:lnTo>
                    <a:pt x="0" y="802767"/>
                  </a:lnTo>
                  <a:close/>
                </a:path>
              </a:pathLst>
            </a:custGeom>
            <a:blipFill>
              <a:blip r:embed="rId5">
                <a:alphaModFix amt="0"/>
              </a:blip>
              <a:stretch>
                <a:fillRect l="-20430" r="-20430"/>
              </a:stretch>
            </a:blipFill>
          </p:spPr>
        </p:sp>
      </p:grpSp>
      <p:grpSp>
        <p:nvGrpSpPr>
          <p:cNvPr id="15" name="Group 15"/>
          <p:cNvGrpSpPr/>
          <p:nvPr/>
        </p:nvGrpSpPr>
        <p:grpSpPr>
          <a:xfrm>
            <a:off x="16830599" y="9598257"/>
            <a:ext cx="1097566" cy="616363"/>
            <a:chOff x="0" y="0"/>
            <a:chExt cx="1463421" cy="821817"/>
          </a:xfrm>
        </p:grpSpPr>
        <p:sp>
          <p:nvSpPr>
            <p:cNvPr id="16" name="Freeform 16"/>
            <p:cNvSpPr/>
            <p:nvPr/>
          </p:nvSpPr>
          <p:spPr>
            <a:xfrm>
              <a:off x="0" y="0"/>
              <a:ext cx="1463421" cy="821817"/>
            </a:xfrm>
            <a:custGeom>
              <a:avLst/>
              <a:gdLst/>
              <a:ahLst/>
              <a:cxnLst/>
              <a:rect l="l" t="t" r="r" b="b"/>
              <a:pathLst>
                <a:path w="1463421" h="821817">
                  <a:moveTo>
                    <a:pt x="0" y="0"/>
                  </a:moveTo>
                  <a:lnTo>
                    <a:pt x="1463421" y="0"/>
                  </a:lnTo>
                  <a:lnTo>
                    <a:pt x="1463421" y="821817"/>
                  </a:lnTo>
                  <a:lnTo>
                    <a:pt x="0" y="821817"/>
                  </a:lnTo>
                  <a:close/>
                </a:path>
              </a:pathLst>
            </a:custGeom>
            <a:blipFill>
              <a:blip r:embed="rId6">
                <a:alphaModFix amt="0"/>
              </a:blip>
              <a:stretch>
                <a:fillRect l="-22101" r="-22101"/>
              </a:stretch>
            </a:blipFill>
          </p:spPr>
        </p:sp>
      </p:grpSp>
      <p:grpSp>
        <p:nvGrpSpPr>
          <p:cNvPr id="17" name="Group 17"/>
          <p:cNvGrpSpPr/>
          <p:nvPr/>
        </p:nvGrpSpPr>
        <p:grpSpPr>
          <a:xfrm>
            <a:off x="16830599" y="9583969"/>
            <a:ext cx="1097566" cy="630650"/>
            <a:chOff x="0" y="0"/>
            <a:chExt cx="1463421" cy="840867"/>
          </a:xfrm>
        </p:grpSpPr>
        <p:sp>
          <p:nvSpPr>
            <p:cNvPr id="18" name="Freeform 18"/>
            <p:cNvSpPr/>
            <p:nvPr/>
          </p:nvSpPr>
          <p:spPr>
            <a:xfrm>
              <a:off x="0" y="0"/>
              <a:ext cx="1463421" cy="840867"/>
            </a:xfrm>
            <a:custGeom>
              <a:avLst/>
              <a:gdLst/>
              <a:ahLst/>
              <a:cxnLst/>
              <a:rect l="l" t="t" r="r" b="b"/>
              <a:pathLst>
                <a:path w="1463421" h="840867">
                  <a:moveTo>
                    <a:pt x="0" y="0"/>
                  </a:moveTo>
                  <a:lnTo>
                    <a:pt x="1463421" y="0"/>
                  </a:lnTo>
                  <a:lnTo>
                    <a:pt x="1463421" y="840867"/>
                  </a:lnTo>
                  <a:lnTo>
                    <a:pt x="0" y="840867"/>
                  </a:lnTo>
                  <a:close/>
                </a:path>
              </a:pathLst>
            </a:custGeom>
            <a:blipFill>
              <a:blip r:embed="rId7">
                <a:alphaModFix amt="0"/>
              </a:blip>
              <a:stretch>
                <a:fillRect l="-23773" r="-23773"/>
              </a:stretch>
            </a:blipFill>
          </p:spPr>
        </p:sp>
      </p:grpSp>
      <p:grpSp>
        <p:nvGrpSpPr>
          <p:cNvPr id="19" name="Group 19"/>
          <p:cNvGrpSpPr/>
          <p:nvPr/>
        </p:nvGrpSpPr>
        <p:grpSpPr>
          <a:xfrm>
            <a:off x="16830599" y="9569682"/>
            <a:ext cx="1097547" cy="644966"/>
            <a:chOff x="0" y="0"/>
            <a:chExt cx="1463396" cy="859955"/>
          </a:xfrm>
        </p:grpSpPr>
        <p:sp>
          <p:nvSpPr>
            <p:cNvPr id="20" name="Freeform 20"/>
            <p:cNvSpPr/>
            <p:nvPr/>
          </p:nvSpPr>
          <p:spPr>
            <a:xfrm>
              <a:off x="0" y="0"/>
              <a:ext cx="1463421" cy="859917"/>
            </a:xfrm>
            <a:custGeom>
              <a:avLst/>
              <a:gdLst/>
              <a:ahLst/>
              <a:cxnLst/>
              <a:rect l="l" t="t" r="r" b="b"/>
              <a:pathLst>
                <a:path w="1463421" h="859917">
                  <a:moveTo>
                    <a:pt x="0" y="0"/>
                  </a:moveTo>
                  <a:lnTo>
                    <a:pt x="1463421" y="0"/>
                  </a:lnTo>
                  <a:lnTo>
                    <a:pt x="1463421" y="859917"/>
                  </a:lnTo>
                  <a:lnTo>
                    <a:pt x="0" y="859917"/>
                  </a:lnTo>
                  <a:close/>
                </a:path>
              </a:pathLst>
            </a:custGeom>
            <a:blipFill>
              <a:blip r:embed="rId8">
                <a:alphaModFix amt="0"/>
              </a:blip>
              <a:stretch>
                <a:fillRect l="-25449" r="-25446" b="-4"/>
              </a:stretch>
            </a:blipFill>
          </p:spPr>
        </p:sp>
      </p:grpSp>
      <p:grpSp>
        <p:nvGrpSpPr>
          <p:cNvPr id="21" name="Group 21"/>
          <p:cNvGrpSpPr/>
          <p:nvPr/>
        </p:nvGrpSpPr>
        <p:grpSpPr>
          <a:xfrm>
            <a:off x="16830599" y="9555394"/>
            <a:ext cx="1097547" cy="659254"/>
            <a:chOff x="0" y="0"/>
            <a:chExt cx="1463396" cy="879005"/>
          </a:xfrm>
        </p:grpSpPr>
        <p:sp>
          <p:nvSpPr>
            <p:cNvPr id="22" name="Freeform 22"/>
            <p:cNvSpPr/>
            <p:nvPr/>
          </p:nvSpPr>
          <p:spPr>
            <a:xfrm>
              <a:off x="0" y="0"/>
              <a:ext cx="1463396" cy="879005"/>
            </a:xfrm>
            <a:custGeom>
              <a:avLst/>
              <a:gdLst/>
              <a:ahLst/>
              <a:cxnLst/>
              <a:rect l="l" t="t" r="r" b="b"/>
              <a:pathLst>
                <a:path w="1463396" h="879005">
                  <a:moveTo>
                    <a:pt x="0" y="0"/>
                  </a:moveTo>
                  <a:lnTo>
                    <a:pt x="1463396" y="0"/>
                  </a:lnTo>
                  <a:lnTo>
                    <a:pt x="1463396" y="879005"/>
                  </a:lnTo>
                  <a:lnTo>
                    <a:pt x="0" y="879005"/>
                  </a:lnTo>
                  <a:close/>
                </a:path>
              </a:pathLst>
            </a:custGeom>
            <a:blipFill>
              <a:blip r:embed="rId9">
                <a:alphaModFix amt="0"/>
              </a:blip>
              <a:stretch>
                <a:fillRect l="-27066" r="-27066"/>
              </a:stretch>
            </a:blipFill>
          </p:spPr>
        </p:sp>
        <p:sp>
          <p:nvSpPr>
            <p:cNvPr id="23" name="TextBox 23"/>
            <p:cNvSpPr txBox="1"/>
            <p:nvPr/>
          </p:nvSpPr>
          <p:spPr>
            <a:xfrm>
              <a:off x="0" y="-19050"/>
              <a:ext cx="1463396" cy="898055"/>
            </a:xfrm>
            <a:prstGeom prst="rect">
              <a:avLst/>
            </a:prstGeom>
          </p:spPr>
          <p:txBody>
            <a:bodyPr lIns="0" tIns="0" rIns="0" bIns="0" rtlCol="0" anchor="ctr"/>
            <a:lstStyle/>
            <a:p>
              <a:pPr algn="r">
                <a:lnSpc>
                  <a:spcPts val="2160"/>
                </a:lnSpc>
              </a:pPr>
              <a:r>
                <a:rPr lang="en-US" sz="1800">
                  <a:solidFill>
                    <a:srgbClr val="FFFFFF"/>
                  </a:solidFill>
                  <a:latin typeface="Arial"/>
                  <a:ea typeface="Arial"/>
                  <a:cs typeface="Arial"/>
                  <a:sym typeface="Arial"/>
                </a:rPr>
                <a:t>12</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65" y="-43167"/>
            <a:ext cx="18345198" cy="450009"/>
            <a:chOff x="0" y="0"/>
            <a:chExt cx="24460264" cy="600012"/>
          </a:xfrm>
        </p:grpSpPr>
        <p:sp>
          <p:nvSpPr>
            <p:cNvPr id="3" name="Freeform 3"/>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grpSp>
        <p:nvGrpSpPr>
          <p:cNvPr id="4" name="Group 4"/>
          <p:cNvGrpSpPr/>
          <p:nvPr/>
        </p:nvGrpSpPr>
        <p:grpSpPr>
          <a:xfrm>
            <a:off x="-28565" y="9894760"/>
            <a:ext cx="18345198" cy="450009"/>
            <a:chOff x="0" y="0"/>
            <a:chExt cx="24460264" cy="600012"/>
          </a:xfrm>
        </p:grpSpPr>
        <p:sp>
          <p:nvSpPr>
            <p:cNvPr id="5" name="Freeform 5"/>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sp>
        <p:nvSpPr>
          <p:cNvPr id="6" name="Freeform 6"/>
          <p:cNvSpPr/>
          <p:nvPr/>
        </p:nvSpPr>
        <p:spPr>
          <a:xfrm>
            <a:off x="-12583" y="9568444"/>
            <a:ext cx="18313003" cy="555165"/>
          </a:xfrm>
          <a:custGeom>
            <a:avLst/>
            <a:gdLst/>
            <a:ahLst/>
            <a:cxnLst/>
            <a:rect l="l" t="t" r="r" b="b"/>
            <a:pathLst>
              <a:path w="18313003" h="555165">
                <a:moveTo>
                  <a:pt x="0" y="0"/>
                </a:moveTo>
                <a:lnTo>
                  <a:pt x="18313004" y="0"/>
                </a:lnTo>
                <a:lnTo>
                  <a:pt x="18313004" y="555164"/>
                </a:lnTo>
                <a:lnTo>
                  <a:pt x="0" y="555164"/>
                </a:lnTo>
                <a:lnTo>
                  <a:pt x="0" y="0"/>
                </a:lnTo>
                <a:close/>
              </a:path>
            </a:pathLst>
          </a:custGeom>
          <a:blipFill>
            <a:blip>
              <a:extLst>
                <a:ext uri="{96DAC541-7B7A-43D3-8B79-37D633B846F1}">
                  <asvg:svgBlip xmlns:asvg="http://schemas.microsoft.com/office/drawing/2016/SVG/main" r:embed="rId3"/>
                </a:ext>
              </a:extLst>
            </a:blip>
            <a:stretch>
              <a:fillRect t="-603" b="-602"/>
            </a:stretch>
          </a:blipFill>
        </p:spPr>
      </p:sp>
      <p:grpSp>
        <p:nvGrpSpPr>
          <p:cNvPr id="7" name="Group 7"/>
          <p:cNvGrpSpPr/>
          <p:nvPr/>
        </p:nvGrpSpPr>
        <p:grpSpPr>
          <a:xfrm>
            <a:off x="12210374" y="3204601"/>
            <a:ext cx="5977033" cy="5953316"/>
            <a:chOff x="0" y="0"/>
            <a:chExt cx="7969377" cy="7937754"/>
          </a:xfrm>
        </p:grpSpPr>
        <p:sp>
          <p:nvSpPr>
            <p:cNvPr id="8" name="Freeform 8"/>
            <p:cNvSpPr/>
            <p:nvPr/>
          </p:nvSpPr>
          <p:spPr>
            <a:xfrm>
              <a:off x="0" y="0"/>
              <a:ext cx="7969377" cy="7937754"/>
            </a:xfrm>
            <a:custGeom>
              <a:avLst/>
              <a:gdLst/>
              <a:ahLst/>
              <a:cxnLst/>
              <a:rect l="l" t="t" r="r" b="b"/>
              <a:pathLst>
                <a:path w="7969377" h="7937754">
                  <a:moveTo>
                    <a:pt x="0" y="0"/>
                  </a:moveTo>
                  <a:lnTo>
                    <a:pt x="7969377" y="0"/>
                  </a:lnTo>
                  <a:lnTo>
                    <a:pt x="7969377" y="7937754"/>
                  </a:lnTo>
                  <a:lnTo>
                    <a:pt x="0" y="7937754"/>
                  </a:lnTo>
                  <a:lnTo>
                    <a:pt x="0" y="0"/>
                  </a:lnTo>
                  <a:close/>
                </a:path>
              </a:pathLst>
            </a:custGeom>
            <a:blipFill>
              <a:blip r:embed="rId4">
                <a:alphaModFix amt="3000"/>
              </a:blip>
              <a:stretch>
                <a:fillRect/>
              </a:stretch>
            </a:blipFill>
          </p:spPr>
        </p:sp>
      </p:grpSp>
      <p:grpSp>
        <p:nvGrpSpPr>
          <p:cNvPr id="9" name="Group 9"/>
          <p:cNvGrpSpPr/>
          <p:nvPr/>
        </p:nvGrpSpPr>
        <p:grpSpPr>
          <a:xfrm>
            <a:off x="16830599" y="9612544"/>
            <a:ext cx="1097566" cy="602075"/>
            <a:chOff x="0" y="0"/>
            <a:chExt cx="1463421" cy="802767"/>
          </a:xfrm>
        </p:grpSpPr>
        <p:sp>
          <p:nvSpPr>
            <p:cNvPr id="10" name="Freeform 10"/>
            <p:cNvSpPr/>
            <p:nvPr/>
          </p:nvSpPr>
          <p:spPr>
            <a:xfrm>
              <a:off x="0" y="0"/>
              <a:ext cx="1463421" cy="802767"/>
            </a:xfrm>
            <a:custGeom>
              <a:avLst/>
              <a:gdLst/>
              <a:ahLst/>
              <a:cxnLst/>
              <a:rect l="l" t="t" r="r" b="b"/>
              <a:pathLst>
                <a:path w="1463421" h="802767">
                  <a:moveTo>
                    <a:pt x="0" y="0"/>
                  </a:moveTo>
                  <a:lnTo>
                    <a:pt x="1463421" y="0"/>
                  </a:lnTo>
                  <a:lnTo>
                    <a:pt x="1463421" y="802767"/>
                  </a:lnTo>
                  <a:lnTo>
                    <a:pt x="0" y="802767"/>
                  </a:lnTo>
                  <a:close/>
                </a:path>
              </a:pathLst>
            </a:custGeom>
            <a:blipFill>
              <a:blip r:embed="rId5">
                <a:alphaModFix amt="0"/>
              </a:blip>
              <a:stretch>
                <a:fillRect l="-20430" r="-20430"/>
              </a:stretch>
            </a:blipFill>
          </p:spPr>
        </p:sp>
      </p:grpSp>
      <p:grpSp>
        <p:nvGrpSpPr>
          <p:cNvPr id="11" name="Group 11"/>
          <p:cNvGrpSpPr/>
          <p:nvPr/>
        </p:nvGrpSpPr>
        <p:grpSpPr>
          <a:xfrm>
            <a:off x="16830599" y="9598257"/>
            <a:ext cx="1097566" cy="616363"/>
            <a:chOff x="0" y="0"/>
            <a:chExt cx="1463421" cy="821817"/>
          </a:xfrm>
        </p:grpSpPr>
        <p:sp>
          <p:nvSpPr>
            <p:cNvPr id="12" name="Freeform 12"/>
            <p:cNvSpPr/>
            <p:nvPr/>
          </p:nvSpPr>
          <p:spPr>
            <a:xfrm>
              <a:off x="0" y="0"/>
              <a:ext cx="1463421" cy="821817"/>
            </a:xfrm>
            <a:custGeom>
              <a:avLst/>
              <a:gdLst/>
              <a:ahLst/>
              <a:cxnLst/>
              <a:rect l="l" t="t" r="r" b="b"/>
              <a:pathLst>
                <a:path w="1463421" h="821817">
                  <a:moveTo>
                    <a:pt x="0" y="0"/>
                  </a:moveTo>
                  <a:lnTo>
                    <a:pt x="1463421" y="0"/>
                  </a:lnTo>
                  <a:lnTo>
                    <a:pt x="1463421" y="821817"/>
                  </a:lnTo>
                  <a:lnTo>
                    <a:pt x="0" y="821817"/>
                  </a:lnTo>
                  <a:close/>
                </a:path>
              </a:pathLst>
            </a:custGeom>
            <a:blipFill>
              <a:blip r:embed="rId6">
                <a:alphaModFix amt="0"/>
              </a:blip>
              <a:stretch>
                <a:fillRect l="-22101" r="-22101"/>
              </a:stretch>
            </a:blipFill>
          </p:spPr>
        </p:sp>
      </p:grpSp>
      <p:grpSp>
        <p:nvGrpSpPr>
          <p:cNvPr id="13" name="Group 13"/>
          <p:cNvGrpSpPr/>
          <p:nvPr/>
        </p:nvGrpSpPr>
        <p:grpSpPr>
          <a:xfrm>
            <a:off x="16830599" y="9583969"/>
            <a:ext cx="1097566" cy="630650"/>
            <a:chOff x="0" y="0"/>
            <a:chExt cx="1463421" cy="840867"/>
          </a:xfrm>
        </p:grpSpPr>
        <p:sp>
          <p:nvSpPr>
            <p:cNvPr id="14" name="Freeform 14"/>
            <p:cNvSpPr/>
            <p:nvPr/>
          </p:nvSpPr>
          <p:spPr>
            <a:xfrm>
              <a:off x="0" y="0"/>
              <a:ext cx="1463421" cy="840867"/>
            </a:xfrm>
            <a:custGeom>
              <a:avLst/>
              <a:gdLst/>
              <a:ahLst/>
              <a:cxnLst/>
              <a:rect l="l" t="t" r="r" b="b"/>
              <a:pathLst>
                <a:path w="1463421" h="840867">
                  <a:moveTo>
                    <a:pt x="0" y="0"/>
                  </a:moveTo>
                  <a:lnTo>
                    <a:pt x="1463421" y="0"/>
                  </a:lnTo>
                  <a:lnTo>
                    <a:pt x="1463421" y="840867"/>
                  </a:lnTo>
                  <a:lnTo>
                    <a:pt x="0" y="840867"/>
                  </a:lnTo>
                  <a:close/>
                </a:path>
              </a:pathLst>
            </a:custGeom>
            <a:blipFill>
              <a:blip r:embed="rId7">
                <a:alphaModFix amt="0"/>
              </a:blip>
              <a:stretch>
                <a:fillRect l="-23773" r="-23773"/>
              </a:stretch>
            </a:blipFill>
          </p:spPr>
        </p:sp>
      </p:grpSp>
      <p:grpSp>
        <p:nvGrpSpPr>
          <p:cNvPr id="15" name="Group 15"/>
          <p:cNvGrpSpPr/>
          <p:nvPr/>
        </p:nvGrpSpPr>
        <p:grpSpPr>
          <a:xfrm>
            <a:off x="16830599" y="9569682"/>
            <a:ext cx="1097547" cy="644966"/>
            <a:chOff x="0" y="0"/>
            <a:chExt cx="1463396" cy="859955"/>
          </a:xfrm>
        </p:grpSpPr>
        <p:sp>
          <p:nvSpPr>
            <p:cNvPr id="16" name="Freeform 16"/>
            <p:cNvSpPr/>
            <p:nvPr/>
          </p:nvSpPr>
          <p:spPr>
            <a:xfrm>
              <a:off x="0" y="0"/>
              <a:ext cx="1463421" cy="859917"/>
            </a:xfrm>
            <a:custGeom>
              <a:avLst/>
              <a:gdLst/>
              <a:ahLst/>
              <a:cxnLst/>
              <a:rect l="l" t="t" r="r" b="b"/>
              <a:pathLst>
                <a:path w="1463421" h="859917">
                  <a:moveTo>
                    <a:pt x="0" y="0"/>
                  </a:moveTo>
                  <a:lnTo>
                    <a:pt x="1463421" y="0"/>
                  </a:lnTo>
                  <a:lnTo>
                    <a:pt x="1463421" y="859917"/>
                  </a:lnTo>
                  <a:lnTo>
                    <a:pt x="0" y="859917"/>
                  </a:lnTo>
                  <a:close/>
                </a:path>
              </a:pathLst>
            </a:custGeom>
            <a:blipFill>
              <a:blip r:embed="rId8">
                <a:alphaModFix amt="0"/>
              </a:blip>
              <a:stretch>
                <a:fillRect l="-25449" r="-25446" b="-4"/>
              </a:stretch>
            </a:blipFill>
          </p:spPr>
        </p:sp>
      </p:grpSp>
      <p:grpSp>
        <p:nvGrpSpPr>
          <p:cNvPr id="17" name="Group 17"/>
          <p:cNvGrpSpPr/>
          <p:nvPr/>
        </p:nvGrpSpPr>
        <p:grpSpPr>
          <a:xfrm>
            <a:off x="16830599" y="9555394"/>
            <a:ext cx="1097547" cy="659254"/>
            <a:chOff x="0" y="0"/>
            <a:chExt cx="1463396" cy="879005"/>
          </a:xfrm>
        </p:grpSpPr>
        <p:sp>
          <p:nvSpPr>
            <p:cNvPr id="18" name="Freeform 18"/>
            <p:cNvSpPr/>
            <p:nvPr/>
          </p:nvSpPr>
          <p:spPr>
            <a:xfrm>
              <a:off x="0" y="0"/>
              <a:ext cx="1463396" cy="879005"/>
            </a:xfrm>
            <a:custGeom>
              <a:avLst/>
              <a:gdLst/>
              <a:ahLst/>
              <a:cxnLst/>
              <a:rect l="l" t="t" r="r" b="b"/>
              <a:pathLst>
                <a:path w="1463396" h="879005">
                  <a:moveTo>
                    <a:pt x="0" y="0"/>
                  </a:moveTo>
                  <a:lnTo>
                    <a:pt x="1463396" y="0"/>
                  </a:lnTo>
                  <a:lnTo>
                    <a:pt x="1463396" y="879005"/>
                  </a:lnTo>
                  <a:lnTo>
                    <a:pt x="0" y="879005"/>
                  </a:lnTo>
                  <a:close/>
                </a:path>
              </a:pathLst>
            </a:custGeom>
            <a:blipFill>
              <a:blip r:embed="rId9">
                <a:alphaModFix amt="0"/>
              </a:blip>
              <a:stretch>
                <a:fillRect l="-27066" r="-27066"/>
              </a:stretch>
            </a:blipFill>
          </p:spPr>
        </p:sp>
        <p:sp>
          <p:nvSpPr>
            <p:cNvPr id="19" name="TextBox 19"/>
            <p:cNvSpPr txBox="1"/>
            <p:nvPr/>
          </p:nvSpPr>
          <p:spPr>
            <a:xfrm>
              <a:off x="0" y="-19050"/>
              <a:ext cx="1463396" cy="898055"/>
            </a:xfrm>
            <a:prstGeom prst="rect">
              <a:avLst/>
            </a:prstGeom>
          </p:spPr>
          <p:txBody>
            <a:bodyPr lIns="0" tIns="0" rIns="0" bIns="0" rtlCol="0" anchor="ctr"/>
            <a:lstStyle/>
            <a:p>
              <a:pPr algn="r">
                <a:lnSpc>
                  <a:spcPts val="2160"/>
                </a:lnSpc>
              </a:pPr>
              <a:r>
                <a:rPr lang="en-US" sz="1800">
                  <a:solidFill>
                    <a:srgbClr val="FFFFFF"/>
                  </a:solidFill>
                  <a:latin typeface="Arial"/>
                  <a:ea typeface="Arial"/>
                  <a:cs typeface="Arial"/>
                  <a:sym typeface="Arial"/>
                </a:rPr>
                <a:t>12</a:t>
              </a:r>
            </a:p>
          </p:txBody>
        </p:sp>
      </p:grpSp>
      <p:grpSp>
        <p:nvGrpSpPr>
          <p:cNvPr id="20" name="Group 20"/>
          <p:cNvGrpSpPr/>
          <p:nvPr/>
        </p:nvGrpSpPr>
        <p:grpSpPr>
          <a:xfrm>
            <a:off x="3071632" y="2107397"/>
            <a:ext cx="12658687" cy="6072216"/>
            <a:chOff x="0" y="0"/>
            <a:chExt cx="16878249" cy="8096288"/>
          </a:xfrm>
        </p:grpSpPr>
        <p:sp>
          <p:nvSpPr>
            <p:cNvPr id="21" name="Freeform 21"/>
            <p:cNvSpPr/>
            <p:nvPr/>
          </p:nvSpPr>
          <p:spPr>
            <a:xfrm>
              <a:off x="0" y="0"/>
              <a:ext cx="16878300" cy="8096250"/>
            </a:xfrm>
            <a:custGeom>
              <a:avLst/>
              <a:gdLst/>
              <a:ahLst/>
              <a:cxnLst/>
              <a:rect l="l" t="t" r="r" b="b"/>
              <a:pathLst>
                <a:path w="16878300" h="8096250">
                  <a:moveTo>
                    <a:pt x="0" y="0"/>
                  </a:moveTo>
                  <a:lnTo>
                    <a:pt x="16878300" y="0"/>
                  </a:lnTo>
                  <a:lnTo>
                    <a:pt x="16878300" y="8096250"/>
                  </a:lnTo>
                  <a:lnTo>
                    <a:pt x="0" y="8096250"/>
                  </a:lnTo>
                  <a:lnTo>
                    <a:pt x="0" y="0"/>
                  </a:lnTo>
                  <a:close/>
                </a:path>
              </a:pathLst>
            </a:custGeom>
            <a:blipFill>
              <a:blip r:embed="rId10"/>
              <a:stretch>
                <a:fillRect/>
              </a:stretch>
            </a:blipFill>
          </p:spPr>
        </p:sp>
      </p:grpSp>
      <p:sp>
        <p:nvSpPr>
          <p:cNvPr id="22" name="TextBox 22"/>
          <p:cNvSpPr txBox="1"/>
          <p:nvPr/>
        </p:nvSpPr>
        <p:spPr>
          <a:xfrm rot="-462600">
            <a:off x="13326065" y="9600938"/>
            <a:ext cx="2554043" cy="511435"/>
          </a:xfrm>
          <a:prstGeom prst="rect">
            <a:avLst/>
          </a:prstGeom>
        </p:spPr>
        <p:txBody>
          <a:bodyPr lIns="0" tIns="0" rIns="0" bIns="0" rtlCol="0" anchor="t">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id="23" name="TextBox 23"/>
          <p:cNvSpPr txBox="1"/>
          <p:nvPr/>
        </p:nvSpPr>
        <p:spPr>
          <a:xfrm rot="1440">
            <a:off x="9193218" y="9716433"/>
            <a:ext cx="4176751" cy="465077"/>
          </a:xfrm>
          <a:prstGeom prst="rect">
            <a:avLst/>
          </a:prstGeom>
        </p:spPr>
        <p:txBody>
          <a:bodyPr lIns="0" tIns="0" rIns="0" bIns="0" rtlCol="0" anchor="t">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id="24" name="TextBox 24"/>
          <p:cNvSpPr txBox="1"/>
          <p:nvPr/>
        </p:nvSpPr>
        <p:spPr>
          <a:xfrm>
            <a:off x="848620" y="526180"/>
            <a:ext cx="10804179" cy="810016"/>
          </a:xfrm>
          <a:prstGeom prst="rect">
            <a:avLst/>
          </a:prstGeom>
        </p:spPr>
        <p:txBody>
          <a:bodyPr lIns="0" tIns="0" rIns="0" bIns="0" rtlCol="0" anchor="t">
            <a:spAutoFit/>
          </a:bodyPr>
          <a:lstStyle/>
          <a:p>
            <a:pPr algn="l">
              <a:lnSpc>
                <a:spcPts val="5995"/>
              </a:lnSpc>
            </a:pPr>
            <a:r>
              <a:rPr lang="en-US" sz="4998" b="1" spc="-20">
                <a:solidFill>
                  <a:srgbClr val="0000FF"/>
                </a:solidFill>
                <a:latin typeface="Times New Roman Bold"/>
                <a:ea typeface="Times New Roman Bold"/>
                <a:cs typeface="Times New Roman Bold"/>
                <a:sym typeface="Times New Roman Bold"/>
              </a:rPr>
              <a:t>                                  System Architecture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65" y="-43167"/>
            <a:ext cx="18345198" cy="450009"/>
            <a:chOff x="0" y="0"/>
            <a:chExt cx="24460264" cy="600012"/>
          </a:xfrm>
        </p:grpSpPr>
        <p:sp>
          <p:nvSpPr>
            <p:cNvPr id="3" name="Freeform 3"/>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grpSp>
        <p:nvGrpSpPr>
          <p:cNvPr id="4" name="Group 4"/>
          <p:cNvGrpSpPr/>
          <p:nvPr/>
        </p:nvGrpSpPr>
        <p:grpSpPr>
          <a:xfrm>
            <a:off x="-28565" y="9894760"/>
            <a:ext cx="18345198" cy="450009"/>
            <a:chOff x="0" y="0"/>
            <a:chExt cx="24460264" cy="600012"/>
          </a:xfrm>
        </p:grpSpPr>
        <p:sp>
          <p:nvSpPr>
            <p:cNvPr id="5" name="Freeform 5"/>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sp>
        <p:nvSpPr>
          <p:cNvPr id="6" name="Freeform 6"/>
          <p:cNvSpPr/>
          <p:nvPr/>
        </p:nvSpPr>
        <p:spPr>
          <a:xfrm>
            <a:off x="-12583" y="9568444"/>
            <a:ext cx="18313003" cy="555165"/>
          </a:xfrm>
          <a:custGeom>
            <a:avLst/>
            <a:gdLst/>
            <a:ahLst/>
            <a:cxnLst/>
            <a:rect l="l" t="t" r="r" b="b"/>
            <a:pathLst>
              <a:path w="18313003" h="555165">
                <a:moveTo>
                  <a:pt x="0" y="0"/>
                </a:moveTo>
                <a:lnTo>
                  <a:pt x="18313004" y="0"/>
                </a:lnTo>
                <a:lnTo>
                  <a:pt x="18313004" y="555164"/>
                </a:lnTo>
                <a:lnTo>
                  <a:pt x="0" y="555164"/>
                </a:lnTo>
                <a:lnTo>
                  <a:pt x="0" y="0"/>
                </a:lnTo>
                <a:close/>
              </a:path>
            </a:pathLst>
          </a:custGeom>
          <a:blipFill>
            <a:blip>
              <a:extLst>
                <a:ext uri="{96DAC541-7B7A-43D3-8B79-37D633B846F1}">
                  <asvg:svgBlip xmlns:asvg="http://schemas.microsoft.com/office/drawing/2016/SVG/main" r:embed="rId3"/>
                </a:ext>
              </a:extLst>
            </a:blip>
            <a:stretch>
              <a:fillRect t="-603" b="-602"/>
            </a:stretch>
          </a:blipFill>
        </p:spPr>
      </p:sp>
      <p:grpSp>
        <p:nvGrpSpPr>
          <p:cNvPr id="7" name="Group 7"/>
          <p:cNvGrpSpPr/>
          <p:nvPr/>
        </p:nvGrpSpPr>
        <p:grpSpPr>
          <a:xfrm>
            <a:off x="12210374" y="3204601"/>
            <a:ext cx="5977033" cy="5953316"/>
            <a:chOff x="0" y="0"/>
            <a:chExt cx="7969377" cy="7937754"/>
          </a:xfrm>
        </p:grpSpPr>
        <p:sp>
          <p:nvSpPr>
            <p:cNvPr id="8" name="Freeform 8"/>
            <p:cNvSpPr/>
            <p:nvPr/>
          </p:nvSpPr>
          <p:spPr>
            <a:xfrm>
              <a:off x="0" y="0"/>
              <a:ext cx="7969377" cy="7937754"/>
            </a:xfrm>
            <a:custGeom>
              <a:avLst/>
              <a:gdLst/>
              <a:ahLst/>
              <a:cxnLst/>
              <a:rect l="l" t="t" r="r" b="b"/>
              <a:pathLst>
                <a:path w="7969377" h="7937754">
                  <a:moveTo>
                    <a:pt x="0" y="0"/>
                  </a:moveTo>
                  <a:lnTo>
                    <a:pt x="7969377" y="0"/>
                  </a:lnTo>
                  <a:lnTo>
                    <a:pt x="7969377" y="7937754"/>
                  </a:lnTo>
                  <a:lnTo>
                    <a:pt x="0" y="7937754"/>
                  </a:lnTo>
                  <a:lnTo>
                    <a:pt x="0" y="0"/>
                  </a:lnTo>
                  <a:close/>
                </a:path>
              </a:pathLst>
            </a:custGeom>
            <a:blipFill>
              <a:blip r:embed="rId4">
                <a:alphaModFix amt="3000"/>
              </a:blip>
              <a:stretch>
                <a:fillRect/>
              </a:stretch>
            </a:blipFill>
          </p:spPr>
        </p:sp>
      </p:grpSp>
      <p:grpSp>
        <p:nvGrpSpPr>
          <p:cNvPr id="9" name="Group 9"/>
          <p:cNvGrpSpPr/>
          <p:nvPr/>
        </p:nvGrpSpPr>
        <p:grpSpPr>
          <a:xfrm>
            <a:off x="16830599" y="9612544"/>
            <a:ext cx="1097566" cy="602075"/>
            <a:chOff x="0" y="0"/>
            <a:chExt cx="1463421" cy="802767"/>
          </a:xfrm>
        </p:grpSpPr>
        <p:sp>
          <p:nvSpPr>
            <p:cNvPr id="10" name="Freeform 10"/>
            <p:cNvSpPr/>
            <p:nvPr/>
          </p:nvSpPr>
          <p:spPr>
            <a:xfrm>
              <a:off x="0" y="0"/>
              <a:ext cx="1463421" cy="802767"/>
            </a:xfrm>
            <a:custGeom>
              <a:avLst/>
              <a:gdLst/>
              <a:ahLst/>
              <a:cxnLst/>
              <a:rect l="l" t="t" r="r" b="b"/>
              <a:pathLst>
                <a:path w="1463421" h="802767">
                  <a:moveTo>
                    <a:pt x="0" y="0"/>
                  </a:moveTo>
                  <a:lnTo>
                    <a:pt x="1463421" y="0"/>
                  </a:lnTo>
                  <a:lnTo>
                    <a:pt x="1463421" y="802767"/>
                  </a:lnTo>
                  <a:lnTo>
                    <a:pt x="0" y="802767"/>
                  </a:lnTo>
                  <a:close/>
                </a:path>
              </a:pathLst>
            </a:custGeom>
            <a:blipFill>
              <a:blip r:embed="rId5">
                <a:alphaModFix amt="0"/>
              </a:blip>
              <a:stretch>
                <a:fillRect l="-20430" r="-20430"/>
              </a:stretch>
            </a:blipFill>
          </p:spPr>
        </p:sp>
      </p:grpSp>
      <p:grpSp>
        <p:nvGrpSpPr>
          <p:cNvPr id="11" name="Group 11"/>
          <p:cNvGrpSpPr/>
          <p:nvPr/>
        </p:nvGrpSpPr>
        <p:grpSpPr>
          <a:xfrm>
            <a:off x="16830599" y="9598257"/>
            <a:ext cx="1097566" cy="616363"/>
            <a:chOff x="0" y="0"/>
            <a:chExt cx="1463421" cy="821817"/>
          </a:xfrm>
        </p:grpSpPr>
        <p:sp>
          <p:nvSpPr>
            <p:cNvPr id="12" name="Freeform 12"/>
            <p:cNvSpPr/>
            <p:nvPr/>
          </p:nvSpPr>
          <p:spPr>
            <a:xfrm>
              <a:off x="0" y="0"/>
              <a:ext cx="1463421" cy="821817"/>
            </a:xfrm>
            <a:custGeom>
              <a:avLst/>
              <a:gdLst/>
              <a:ahLst/>
              <a:cxnLst/>
              <a:rect l="l" t="t" r="r" b="b"/>
              <a:pathLst>
                <a:path w="1463421" h="821817">
                  <a:moveTo>
                    <a:pt x="0" y="0"/>
                  </a:moveTo>
                  <a:lnTo>
                    <a:pt x="1463421" y="0"/>
                  </a:lnTo>
                  <a:lnTo>
                    <a:pt x="1463421" y="821817"/>
                  </a:lnTo>
                  <a:lnTo>
                    <a:pt x="0" y="821817"/>
                  </a:lnTo>
                  <a:close/>
                </a:path>
              </a:pathLst>
            </a:custGeom>
            <a:blipFill>
              <a:blip r:embed="rId6">
                <a:alphaModFix amt="0"/>
              </a:blip>
              <a:stretch>
                <a:fillRect l="-22101" r="-22101"/>
              </a:stretch>
            </a:blipFill>
          </p:spPr>
        </p:sp>
      </p:grpSp>
      <p:grpSp>
        <p:nvGrpSpPr>
          <p:cNvPr id="13" name="Group 13"/>
          <p:cNvGrpSpPr/>
          <p:nvPr/>
        </p:nvGrpSpPr>
        <p:grpSpPr>
          <a:xfrm>
            <a:off x="16830599" y="9583969"/>
            <a:ext cx="1097566" cy="630650"/>
            <a:chOff x="0" y="0"/>
            <a:chExt cx="1463421" cy="840867"/>
          </a:xfrm>
        </p:grpSpPr>
        <p:sp>
          <p:nvSpPr>
            <p:cNvPr id="14" name="Freeform 14"/>
            <p:cNvSpPr/>
            <p:nvPr/>
          </p:nvSpPr>
          <p:spPr>
            <a:xfrm>
              <a:off x="0" y="0"/>
              <a:ext cx="1463421" cy="840867"/>
            </a:xfrm>
            <a:custGeom>
              <a:avLst/>
              <a:gdLst/>
              <a:ahLst/>
              <a:cxnLst/>
              <a:rect l="l" t="t" r="r" b="b"/>
              <a:pathLst>
                <a:path w="1463421" h="840867">
                  <a:moveTo>
                    <a:pt x="0" y="0"/>
                  </a:moveTo>
                  <a:lnTo>
                    <a:pt x="1463421" y="0"/>
                  </a:lnTo>
                  <a:lnTo>
                    <a:pt x="1463421" y="840867"/>
                  </a:lnTo>
                  <a:lnTo>
                    <a:pt x="0" y="840867"/>
                  </a:lnTo>
                  <a:close/>
                </a:path>
              </a:pathLst>
            </a:custGeom>
            <a:blipFill>
              <a:blip r:embed="rId7">
                <a:alphaModFix amt="0"/>
              </a:blip>
              <a:stretch>
                <a:fillRect l="-23773" r="-23773"/>
              </a:stretch>
            </a:blipFill>
          </p:spPr>
        </p:sp>
      </p:grpSp>
      <p:grpSp>
        <p:nvGrpSpPr>
          <p:cNvPr id="15" name="Group 15"/>
          <p:cNvGrpSpPr/>
          <p:nvPr/>
        </p:nvGrpSpPr>
        <p:grpSpPr>
          <a:xfrm>
            <a:off x="16830599" y="9569682"/>
            <a:ext cx="1097547" cy="644966"/>
            <a:chOff x="0" y="0"/>
            <a:chExt cx="1463396" cy="859955"/>
          </a:xfrm>
        </p:grpSpPr>
        <p:sp>
          <p:nvSpPr>
            <p:cNvPr id="16" name="Freeform 16"/>
            <p:cNvSpPr/>
            <p:nvPr/>
          </p:nvSpPr>
          <p:spPr>
            <a:xfrm>
              <a:off x="0" y="0"/>
              <a:ext cx="1463421" cy="859917"/>
            </a:xfrm>
            <a:custGeom>
              <a:avLst/>
              <a:gdLst/>
              <a:ahLst/>
              <a:cxnLst/>
              <a:rect l="l" t="t" r="r" b="b"/>
              <a:pathLst>
                <a:path w="1463421" h="859917">
                  <a:moveTo>
                    <a:pt x="0" y="0"/>
                  </a:moveTo>
                  <a:lnTo>
                    <a:pt x="1463421" y="0"/>
                  </a:lnTo>
                  <a:lnTo>
                    <a:pt x="1463421" y="859917"/>
                  </a:lnTo>
                  <a:lnTo>
                    <a:pt x="0" y="859917"/>
                  </a:lnTo>
                  <a:close/>
                </a:path>
              </a:pathLst>
            </a:custGeom>
            <a:blipFill>
              <a:blip r:embed="rId8">
                <a:alphaModFix amt="0"/>
              </a:blip>
              <a:stretch>
                <a:fillRect l="-25449" r="-25446" b="-4"/>
              </a:stretch>
            </a:blipFill>
          </p:spPr>
        </p:sp>
      </p:grpSp>
      <p:grpSp>
        <p:nvGrpSpPr>
          <p:cNvPr id="17" name="Group 17"/>
          <p:cNvGrpSpPr/>
          <p:nvPr/>
        </p:nvGrpSpPr>
        <p:grpSpPr>
          <a:xfrm>
            <a:off x="16830599" y="9555394"/>
            <a:ext cx="1097547" cy="659254"/>
            <a:chOff x="0" y="0"/>
            <a:chExt cx="1463396" cy="879005"/>
          </a:xfrm>
        </p:grpSpPr>
        <p:sp>
          <p:nvSpPr>
            <p:cNvPr id="18" name="Freeform 18"/>
            <p:cNvSpPr/>
            <p:nvPr/>
          </p:nvSpPr>
          <p:spPr>
            <a:xfrm>
              <a:off x="0" y="0"/>
              <a:ext cx="1463396" cy="879005"/>
            </a:xfrm>
            <a:custGeom>
              <a:avLst/>
              <a:gdLst/>
              <a:ahLst/>
              <a:cxnLst/>
              <a:rect l="l" t="t" r="r" b="b"/>
              <a:pathLst>
                <a:path w="1463396" h="879005">
                  <a:moveTo>
                    <a:pt x="0" y="0"/>
                  </a:moveTo>
                  <a:lnTo>
                    <a:pt x="1463396" y="0"/>
                  </a:lnTo>
                  <a:lnTo>
                    <a:pt x="1463396" y="879005"/>
                  </a:lnTo>
                  <a:lnTo>
                    <a:pt x="0" y="879005"/>
                  </a:lnTo>
                  <a:close/>
                </a:path>
              </a:pathLst>
            </a:custGeom>
            <a:blipFill>
              <a:blip r:embed="rId9">
                <a:alphaModFix amt="0"/>
              </a:blip>
              <a:stretch>
                <a:fillRect l="-27066" r="-27066"/>
              </a:stretch>
            </a:blipFill>
          </p:spPr>
        </p:sp>
        <p:sp>
          <p:nvSpPr>
            <p:cNvPr id="19" name="TextBox 19"/>
            <p:cNvSpPr txBox="1"/>
            <p:nvPr/>
          </p:nvSpPr>
          <p:spPr>
            <a:xfrm>
              <a:off x="0" y="-19050"/>
              <a:ext cx="1463396" cy="898055"/>
            </a:xfrm>
            <a:prstGeom prst="rect">
              <a:avLst/>
            </a:prstGeom>
          </p:spPr>
          <p:txBody>
            <a:bodyPr lIns="0" tIns="0" rIns="0" bIns="0" rtlCol="0" anchor="ctr"/>
            <a:lstStyle/>
            <a:p>
              <a:pPr algn="r">
                <a:lnSpc>
                  <a:spcPts val="2160"/>
                </a:lnSpc>
              </a:pPr>
              <a:r>
                <a:rPr lang="en-US" sz="1800">
                  <a:solidFill>
                    <a:srgbClr val="FFFFFF"/>
                  </a:solidFill>
                  <a:latin typeface="Arial"/>
                  <a:ea typeface="Arial"/>
                  <a:cs typeface="Arial"/>
                  <a:sym typeface="Arial"/>
                </a:rPr>
                <a:t>12</a:t>
              </a:r>
            </a:p>
          </p:txBody>
        </p:sp>
      </p:grpSp>
      <p:grpSp>
        <p:nvGrpSpPr>
          <p:cNvPr id="20" name="Group 20"/>
          <p:cNvGrpSpPr/>
          <p:nvPr/>
        </p:nvGrpSpPr>
        <p:grpSpPr>
          <a:xfrm>
            <a:off x="2635615" y="2134848"/>
            <a:ext cx="13267258" cy="5700770"/>
            <a:chOff x="0" y="0"/>
            <a:chExt cx="17689678" cy="7601026"/>
          </a:xfrm>
        </p:grpSpPr>
        <p:sp>
          <p:nvSpPr>
            <p:cNvPr id="21" name="Freeform 21"/>
            <p:cNvSpPr/>
            <p:nvPr/>
          </p:nvSpPr>
          <p:spPr>
            <a:xfrm>
              <a:off x="0" y="0"/>
              <a:ext cx="17689703" cy="7601077"/>
            </a:xfrm>
            <a:custGeom>
              <a:avLst/>
              <a:gdLst/>
              <a:ahLst/>
              <a:cxnLst/>
              <a:rect l="l" t="t" r="r" b="b"/>
              <a:pathLst>
                <a:path w="17689703" h="7601077">
                  <a:moveTo>
                    <a:pt x="0" y="0"/>
                  </a:moveTo>
                  <a:lnTo>
                    <a:pt x="17689703" y="0"/>
                  </a:lnTo>
                  <a:lnTo>
                    <a:pt x="17689703" y="7601077"/>
                  </a:lnTo>
                  <a:lnTo>
                    <a:pt x="0" y="7601077"/>
                  </a:lnTo>
                  <a:lnTo>
                    <a:pt x="0" y="0"/>
                  </a:lnTo>
                  <a:close/>
                </a:path>
              </a:pathLst>
            </a:custGeom>
            <a:blipFill>
              <a:blip r:embed="rId10"/>
              <a:stretch>
                <a:fillRect/>
              </a:stretch>
            </a:blipFill>
          </p:spPr>
        </p:sp>
      </p:grpSp>
      <p:sp>
        <p:nvSpPr>
          <p:cNvPr id="22" name="TextBox 22"/>
          <p:cNvSpPr txBox="1"/>
          <p:nvPr/>
        </p:nvSpPr>
        <p:spPr>
          <a:xfrm rot="-462600">
            <a:off x="13326065" y="9600938"/>
            <a:ext cx="2554043" cy="511435"/>
          </a:xfrm>
          <a:prstGeom prst="rect">
            <a:avLst/>
          </a:prstGeom>
        </p:spPr>
        <p:txBody>
          <a:bodyPr lIns="0" tIns="0" rIns="0" bIns="0" rtlCol="0" anchor="t">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id="23" name="TextBox 23"/>
          <p:cNvSpPr txBox="1"/>
          <p:nvPr/>
        </p:nvSpPr>
        <p:spPr>
          <a:xfrm rot="1440">
            <a:off x="9193218" y="9716433"/>
            <a:ext cx="4176751" cy="465077"/>
          </a:xfrm>
          <a:prstGeom prst="rect">
            <a:avLst/>
          </a:prstGeom>
        </p:spPr>
        <p:txBody>
          <a:bodyPr lIns="0" tIns="0" rIns="0" bIns="0" rtlCol="0" anchor="t">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id="24" name="TextBox 24"/>
          <p:cNvSpPr txBox="1"/>
          <p:nvPr/>
        </p:nvSpPr>
        <p:spPr>
          <a:xfrm>
            <a:off x="848620" y="526180"/>
            <a:ext cx="10804179" cy="810016"/>
          </a:xfrm>
          <a:prstGeom prst="rect">
            <a:avLst/>
          </a:prstGeom>
        </p:spPr>
        <p:txBody>
          <a:bodyPr lIns="0" tIns="0" rIns="0" bIns="0" rtlCol="0" anchor="t">
            <a:spAutoFit/>
          </a:bodyPr>
          <a:lstStyle/>
          <a:p>
            <a:pPr algn="l">
              <a:lnSpc>
                <a:spcPts val="5995"/>
              </a:lnSpc>
            </a:pPr>
            <a:r>
              <a:rPr lang="en-US" sz="4998" b="1" spc="-20">
                <a:solidFill>
                  <a:srgbClr val="0000FF"/>
                </a:solidFill>
                <a:latin typeface="Times New Roman Bold"/>
                <a:ea typeface="Times New Roman Bold"/>
                <a:cs typeface="Times New Roman Bold"/>
                <a:sym typeface="Times New Roman Bold"/>
              </a:rPr>
              <a:t>                                  System Architecture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65" y="-43167"/>
            <a:ext cx="18345198" cy="450009"/>
            <a:chOff x="0" y="0"/>
            <a:chExt cx="24460264" cy="600012"/>
          </a:xfrm>
        </p:grpSpPr>
        <p:sp>
          <p:nvSpPr>
            <p:cNvPr id="3" name="Freeform 3"/>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grpSp>
        <p:nvGrpSpPr>
          <p:cNvPr id="4" name="Group 4"/>
          <p:cNvGrpSpPr/>
          <p:nvPr/>
        </p:nvGrpSpPr>
        <p:grpSpPr>
          <a:xfrm>
            <a:off x="-28565" y="9894760"/>
            <a:ext cx="18345198" cy="450009"/>
            <a:chOff x="0" y="0"/>
            <a:chExt cx="24460264" cy="600012"/>
          </a:xfrm>
        </p:grpSpPr>
        <p:sp>
          <p:nvSpPr>
            <p:cNvPr id="5" name="Freeform 5"/>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sp>
        <p:nvSpPr>
          <p:cNvPr id="6" name="Freeform 6"/>
          <p:cNvSpPr/>
          <p:nvPr/>
        </p:nvSpPr>
        <p:spPr>
          <a:xfrm>
            <a:off x="-12583" y="9568444"/>
            <a:ext cx="18313003" cy="555165"/>
          </a:xfrm>
          <a:custGeom>
            <a:avLst/>
            <a:gdLst/>
            <a:ahLst/>
            <a:cxnLst/>
            <a:rect l="l" t="t" r="r" b="b"/>
            <a:pathLst>
              <a:path w="18313003" h="555165">
                <a:moveTo>
                  <a:pt x="0" y="0"/>
                </a:moveTo>
                <a:lnTo>
                  <a:pt x="18313004" y="0"/>
                </a:lnTo>
                <a:lnTo>
                  <a:pt x="18313004" y="555164"/>
                </a:lnTo>
                <a:lnTo>
                  <a:pt x="0" y="555164"/>
                </a:lnTo>
                <a:lnTo>
                  <a:pt x="0" y="0"/>
                </a:lnTo>
                <a:close/>
              </a:path>
            </a:pathLst>
          </a:custGeom>
          <a:blipFill>
            <a:blip>
              <a:extLst>
                <a:ext uri="{96DAC541-7B7A-43D3-8B79-37D633B846F1}">
                  <asvg:svgBlip xmlns:asvg="http://schemas.microsoft.com/office/drawing/2016/SVG/main" r:embed="rId3"/>
                </a:ext>
              </a:extLst>
            </a:blip>
            <a:stretch>
              <a:fillRect t="-603" b="-602"/>
            </a:stretch>
          </a:blipFill>
        </p:spPr>
      </p:sp>
      <p:grpSp>
        <p:nvGrpSpPr>
          <p:cNvPr id="7" name="Group 7"/>
          <p:cNvGrpSpPr/>
          <p:nvPr/>
        </p:nvGrpSpPr>
        <p:grpSpPr>
          <a:xfrm>
            <a:off x="12210374" y="3204601"/>
            <a:ext cx="5977033" cy="5953316"/>
            <a:chOff x="0" y="0"/>
            <a:chExt cx="7969377" cy="7937754"/>
          </a:xfrm>
        </p:grpSpPr>
        <p:sp>
          <p:nvSpPr>
            <p:cNvPr id="8" name="Freeform 8"/>
            <p:cNvSpPr/>
            <p:nvPr/>
          </p:nvSpPr>
          <p:spPr>
            <a:xfrm>
              <a:off x="0" y="0"/>
              <a:ext cx="7969377" cy="7937754"/>
            </a:xfrm>
            <a:custGeom>
              <a:avLst/>
              <a:gdLst/>
              <a:ahLst/>
              <a:cxnLst/>
              <a:rect l="l" t="t" r="r" b="b"/>
              <a:pathLst>
                <a:path w="7969377" h="7937754">
                  <a:moveTo>
                    <a:pt x="0" y="0"/>
                  </a:moveTo>
                  <a:lnTo>
                    <a:pt x="7969377" y="0"/>
                  </a:lnTo>
                  <a:lnTo>
                    <a:pt x="7969377" y="7937754"/>
                  </a:lnTo>
                  <a:lnTo>
                    <a:pt x="0" y="7937754"/>
                  </a:lnTo>
                  <a:lnTo>
                    <a:pt x="0" y="0"/>
                  </a:lnTo>
                  <a:close/>
                </a:path>
              </a:pathLst>
            </a:custGeom>
            <a:blipFill>
              <a:blip r:embed="rId4">
                <a:alphaModFix amt="3000"/>
              </a:blip>
              <a:stretch>
                <a:fillRect/>
              </a:stretch>
            </a:blipFill>
          </p:spPr>
        </p:sp>
      </p:grpSp>
      <p:grpSp>
        <p:nvGrpSpPr>
          <p:cNvPr id="9" name="Group 9"/>
          <p:cNvGrpSpPr/>
          <p:nvPr/>
        </p:nvGrpSpPr>
        <p:grpSpPr>
          <a:xfrm>
            <a:off x="16830599" y="9612544"/>
            <a:ext cx="1097566" cy="602075"/>
            <a:chOff x="0" y="0"/>
            <a:chExt cx="1463421" cy="802767"/>
          </a:xfrm>
        </p:grpSpPr>
        <p:sp>
          <p:nvSpPr>
            <p:cNvPr id="10" name="Freeform 10"/>
            <p:cNvSpPr/>
            <p:nvPr/>
          </p:nvSpPr>
          <p:spPr>
            <a:xfrm>
              <a:off x="0" y="0"/>
              <a:ext cx="1463421" cy="802767"/>
            </a:xfrm>
            <a:custGeom>
              <a:avLst/>
              <a:gdLst/>
              <a:ahLst/>
              <a:cxnLst/>
              <a:rect l="l" t="t" r="r" b="b"/>
              <a:pathLst>
                <a:path w="1463421" h="802767">
                  <a:moveTo>
                    <a:pt x="0" y="0"/>
                  </a:moveTo>
                  <a:lnTo>
                    <a:pt x="1463421" y="0"/>
                  </a:lnTo>
                  <a:lnTo>
                    <a:pt x="1463421" y="802767"/>
                  </a:lnTo>
                  <a:lnTo>
                    <a:pt x="0" y="802767"/>
                  </a:lnTo>
                  <a:close/>
                </a:path>
              </a:pathLst>
            </a:custGeom>
            <a:blipFill>
              <a:blip r:embed="rId5">
                <a:alphaModFix amt="0"/>
              </a:blip>
              <a:stretch>
                <a:fillRect l="-20430" r="-20430"/>
              </a:stretch>
            </a:blipFill>
          </p:spPr>
        </p:sp>
      </p:grpSp>
      <p:grpSp>
        <p:nvGrpSpPr>
          <p:cNvPr id="11" name="Group 11"/>
          <p:cNvGrpSpPr/>
          <p:nvPr/>
        </p:nvGrpSpPr>
        <p:grpSpPr>
          <a:xfrm>
            <a:off x="16830599" y="9598257"/>
            <a:ext cx="1097566" cy="616363"/>
            <a:chOff x="0" y="0"/>
            <a:chExt cx="1463421" cy="821817"/>
          </a:xfrm>
        </p:grpSpPr>
        <p:sp>
          <p:nvSpPr>
            <p:cNvPr id="12" name="Freeform 12"/>
            <p:cNvSpPr/>
            <p:nvPr/>
          </p:nvSpPr>
          <p:spPr>
            <a:xfrm>
              <a:off x="0" y="0"/>
              <a:ext cx="1463421" cy="821817"/>
            </a:xfrm>
            <a:custGeom>
              <a:avLst/>
              <a:gdLst/>
              <a:ahLst/>
              <a:cxnLst/>
              <a:rect l="l" t="t" r="r" b="b"/>
              <a:pathLst>
                <a:path w="1463421" h="821817">
                  <a:moveTo>
                    <a:pt x="0" y="0"/>
                  </a:moveTo>
                  <a:lnTo>
                    <a:pt x="1463421" y="0"/>
                  </a:lnTo>
                  <a:lnTo>
                    <a:pt x="1463421" y="821817"/>
                  </a:lnTo>
                  <a:lnTo>
                    <a:pt x="0" y="821817"/>
                  </a:lnTo>
                  <a:close/>
                </a:path>
              </a:pathLst>
            </a:custGeom>
            <a:blipFill>
              <a:blip r:embed="rId6">
                <a:alphaModFix amt="0"/>
              </a:blip>
              <a:stretch>
                <a:fillRect l="-22101" r="-22101"/>
              </a:stretch>
            </a:blipFill>
          </p:spPr>
        </p:sp>
      </p:grpSp>
      <p:grpSp>
        <p:nvGrpSpPr>
          <p:cNvPr id="13" name="Group 13"/>
          <p:cNvGrpSpPr/>
          <p:nvPr/>
        </p:nvGrpSpPr>
        <p:grpSpPr>
          <a:xfrm>
            <a:off x="16830599" y="9583969"/>
            <a:ext cx="1097566" cy="630650"/>
            <a:chOff x="0" y="0"/>
            <a:chExt cx="1463421" cy="840867"/>
          </a:xfrm>
        </p:grpSpPr>
        <p:sp>
          <p:nvSpPr>
            <p:cNvPr id="14" name="Freeform 14"/>
            <p:cNvSpPr/>
            <p:nvPr/>
          </p:nvSpPr>
          <p:spPr>
            <a:xfrm>
              <a:off x="0" y="0"/>
              <a:ext cx="1463421" cy="840867"/>
            </a:xfrm>
            <a:custGeom>
              <a:avLst/>
              <a:gdLst/>
              <a:ahLst/>
              <a:cxnLst/>
              <a:rect l="l" t="t" r="r" b="b"/>
              <a:pathLst>
                <a:path w="1463421" h="840867">
                  <a:moveTo>
                    <a:pt x="0" y="0"/>
                  </a:moveTo>
                  <a:lnTo>
                    <a:pt x="1463421" y="0"/>
                  </a:lnTo>
                  <a:lnTo>
                    <a:pt x="1463421" y="840867"/>
                  </a:lnTo>
                  <a:lnTo>
                    <a:pt x="0" y="840867"/>
                  </a:lnTo>
                  <a:close/>
                </a:path>
              </a:pathLst>
            </a:custGeom>
            <a:blipFill>
              <a:blip r:embed="rId7">
                <a:alphaModFix amt="0"/>
              </a:blip>
              <a:stretch>
                <a:fillRect l="-23773" r="-23773"/>
              </a:stretch>
            </a:blipFill>
          </p:spPr>
        </p:sp>
      </p:grpSp>
      <p:grpSp>
        <p:nvGrpSpPr>
          <p:cNvPr id="15" name="Group 15"/>
          <p:cNvGrpSpPr/>
          <p:nvPr/>
        </p:nvGrpSpPr>
        <p:grpSpPr>
          <a:xfrm>
            <a:off x="16830599" y="9569682"/>
            <a:ext cx="1097547" cy="644966"/>
            <a:chOff x="0" y="0"/>
            <a:chExt cx="1463396" cy="859955"/>
          </a:xfrm>
        </p:grpSpPr>
        <p:sp>
          <p:nvSpPr>
            <p:cNvPr id="16" name="Freeform 16"/>
            <p:cNvSpPr/>
            <p:nvPr/>
          </p:nvSpPr>
          <p:spPr>
            <a:xfrm>
              <a:off x="0" y="0"/>
              <a:ext cx="1463421" cy="859917"/>
            </a:xfrm>
            <a:custGeom>
              <a:avLst/>
              <a:gdLst/>
              <a:ahLst/>
              <a:cxnLst/>
              <a:rect l="l" t="t" r="r" b="b"/>
              <a:pathLst>
                <a:path w="1463421" h="859917">
                  <a:moveTo>
                    <a:pt x="0" y="0"/>
                  </a:moveTo>
                  <a:lnTo>
                    <a:pt x="1463421" y="0"/>
                  </a:lnTo>
                  <a:lnTo>
                    <a:pt x="1463421" y="859917"/>
                  </a:lnTo>
                  <a:lnTo>
                    <a:pt x="0" y="859917"/>
                  </a:lnTo>
                  <a:close/>
                </a:path>
              </a:pathLst>
            </a:custGeom>
            <a:blipFill>
              <a:blip r:embed="rId8">
                <a:alphaModFix amt="0"/>
              </a:blip>
              <a:stretch>
                <a:fillRect l="-25449" r="-25446" b="-4"/>
              </a:stretch>
            </a:blipFill>
          </p:spPr>
        </p:sp>
      </p:grpSp>
      <p:grpSp>
        <p:nvGrpSpPr>
          <p:cNvPr id="17" name="Group 17"/>
          <p:cNvGrpSpPr/>
          <p:nvPr/>
        </p:nvGrpSpPr>
        <p:grpSpPr>
          <a:xfrm>
            <a:off x="16830599" y="9555394"/>
            <a:ext cx="1097547" cy="659254"/>
            <a:chOff x="0" y="0"/>
            <a:chExt cx="1463396" cy="879005"/>
          </a:xfrm>
        </p:grpSpPr>
        <p:sp>
          <p:nvSpPr>
            <p:cNvPr id="18" name="Freeform 18"/>
            <p:cNvSpPr/>
            <p:nvPr/>
          </p:nvSpPr>
          <p:spPr>
            <a:xfrm>
              <a:off x="0" y="0"/>
              <a:ext cx="1463396" cy="879005"/>
            </a:xfrm>
            <a:custGeom>
              <a:avLst/>
              <a:gdLst/>
              <a:ahLst/>
              <a:cxnLst/>
              <a:rect l="l" t="t" r="r" b="b"/>
              <a:pathLst>
                <a:path w="1463396" h="879005">
                  <a:moveTo>
                    <a:pt x="0" y="0"/>
                  </a:moveTo>
                  <a:lnTo>
                    <a:pt x="1463396" y="0"/>
                  </a:lnTo>
                  <a:lnTo>
                    <a:pt x="1463396" y="879005"/>
                  </a:lnTo>
                  <a:lnTo>
                    <a:pt x="0" y="879005"/>
                  </a:lnTo>
                  <a:close/>
                </a:path>
              </a:pathLst>
            </a:custGeom>
            <a:blipFill>
              <a:blip r:embed="rId9">
                <a:alphaModFix amt="0"/>
              </a:blip>
              <a:stretch>
                <a:fillRect l="-27066" r="-27066"/>
              </a:stretch>
            </a:blipFill>
          </p:spPr>
        </p:sp>
        <p:sp>
          <p:nvSpPr>
            <p:cNvPr id="19" name="TextBox 19"/>
            <p:cNvSpPr txBox="1"/>
            <p:nvPr/>
          </p:nvSpPr>
          <p:spPr>
            <a:xfrm>
              <a:off x="0" y="-19050"/>
              <a:ext cx="1463396" cy="898055"/>
            </a:xfrm>
            <a:prstGeom prst="rect">
              <a:avLst/>
            </a:prstGeom>
          </p:spPr>
          <p:txBody>
            <a:bodyPr lIns="0" tIns="0" rIns="0" bIns="0" rtlCol="0" anchor="ctr"/>
            <a:lstStyle/>
            <a:p>
              <a:pPr algn="r">
                <a:lnSpc>
                  <a:spcPts val="2160"/>
                </a:lnSpc>
              </a:pPr>
              <a:r>
                <a:rPr lang="en-US" sz="1800">
                  <a:solidFill>
                    <a:srgbClr val="FFFFFF"/>
                  </a:solidFill>
                  <a:latin typeface="Arial"/>
                  <a:ea typeface="Arial"/>
                  <a:cs typeface="Arial"/>
                  <a:sym typeface="Arial"/>
                </a:rPr>
                <a:t>12</a:t>
              </a:r>
            </a:p>
          </p:txBody>
        </p:sp>
      </p:grpSp>
      <p:grpSp>
        <p:nvGrpSpPr>
          <p:cNvPr id="20" name="Group 20"/>
          <p:cNvGrpSpPr/>
          <p:nvPr/>
        </p:nvGrpSpPr>
        <p:grpSpPr>
          <a:xfrm>
            <a:off x="2878693" y="1633947"/>
            <a:ext cx="12530614" cy="7019106"/>
            <a:chOff x="0" y="0"/>
            <a:chExt cx="16707485" cy="9358808"/>
          </a:xfrm>
        </p:grpSpPr>
        <p:sp>
          <p:nvSpPr>
            <p:cNvPr id="21" name="Freeform 21"/>
            <p:cNvSpPr/>
            <p:nvPr/>
          </p:nvSpPr>
          <p:spPr>
            <a:xfrm>
              <a:off x="0" y="0"/>
              <a:ext cx="16707486" cy="9358757"/>
            </a:xfrm>
            <a:custGeom>
              <a:avLst/>
              <a:gdLst/>
              <a:ahLst/>
              <a:cxnLst/>
              <a:rect l="l" t="t" r="r" b="b"/>
              <a:pathLst>
                <a:path w="16707486" h="9358757">
                  <a:moveTo>
                    <a:pt x="0" y="0"/>
                  </a:moveTo>
                  <a:lnTo>
                    <a:pt x="16707486" y="0"/>
                  </a:lnTo>
                  <a:lnTo>
                    <a:pt x="16707486" y="9358757"/>
                  </a:lnTo>
                  <a:lnTo>
                    <a:pt x="0" y="9358757"/>
                  </a:lnTo>
                  <a:lnTo>
                    <a:pt x="0" y="0"/>
                  </a:lnTo>
                  <a:close/>
                </a:path>
              </a:pathLst>
            </a:custGeom>
            <a:blipFill>
              <a:blip r:embed="rId10"/>
              <a:stretch>
                <a:fillRect/>
              </a:stretch>
            </a:blipFill>
          </p:spPr>
        </p:sp>
      </p:grpSp>
      <p:sp>
        <p:nvSpPr>
          <p:cNvPr id="22" name="TextBox 22"/>
          <p:cNvSpPr txBox="1"/>
          <p:nvPr/>
        </p:nvSpPr>
        <p:spPr>
          <a:xfrm rot="-462600">
            <a:off x="13326065" y="9600938"/>
            <a:ext cx="2554043" cy="511435"/>
          </a:xfrm>
          <a:prstGeom prst="rect">
            <a:avLst/>
          </a:prstGeom>
        </p:spPr>
        <p:txBody>
          <a:bodyPr lIns="0" tIns="0" rIns="0" bIns="0" rtlCol="0" anchor="t">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id="23" name="TextBox 23"/>
          <p:cNvSpPr txBox="1"/>
          <p:nvPr/>
        </p:nvSpPr>
        <p:spPr>
          <a:xfrm rot="1440">
            <a:off x="9193218" y="9716433"/>
            <a:ext cx="4176751" cy="465077"/>
          </a:xfrm>
          <a:prstGeom prst="rect">
            <a:avLst/>
          </a:prstGeom>
        </p:spPr>
        <p:txBody>
          <a:bodyPr lIns="0" tIns="0" rIns="0" bIns="0" rtlCol="0" anchor="t">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id="24" name="TextBox 24"/>
          <p:cNvSpPr txBox="1"/>
          <p:nvPr/>
        </p:nvSpPr>
        <p:spPr>
          <a:xfrm>
            <a:off x="848620" y="526180"/>
            <a:ext cx="10804179" cy="810016"/>
          </a:xfrm>
          <a:prstGeom prst="rect">
            <a:avLst/>
          </a:prstGeom>
        </p:spPr>
        <p:txBody>
          <a:bodyPr lIns="0" tIns="0" rIns="0" bIns="0" rtlCol="0" anchor="t">
            <a:spAutoFit/>
          </a:bodyPr>
          <a:lstStyle/>
          <a:p>
            <a:pPr algn="l">
              <a:lnSpc>
                <a:spcPts val="5995"/>
              </a:lnSpc>
            </a:pPr>
            <a:r>
              <a:rPr lang="en-US" sz="4998" b="1" spc="-20">
                <a:solidFill>
                  <a:srgbClr val="0000FF"/>
                </a:solidFill>
                <a:latin typeface="Times New Roman Bold"/>
                <a:ea typeface="Times New Roman Bold"/>
                <a:cs typeface="Times New Roman Bold"/>
                <a:sym typeface="Times New Roman Bold"/>
              </a:rPr>
              <a:t>                                  System Architecture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65" y="-43167"/>
            <a:ext cx="18345198" cy="450009"/>
            <a:chOff x="0" y="0"/>
            <a:chExt cx="24460264" cy="600012"/>
          </a:xfrm>
        </p:grpSpPr>
        <p:sp>
          <p:nvSpPr>
            <p:cNvPr id="3" name="Freeform 3"/>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grpSp>
        <p:nvGrpSpPr>
          <p:cNvPr id="4" name="Group 4"/>
          <p:cNvGrpSpPr/>
          <p:nvPr/>
        </p:nvGrpSpPr>
        <p:grpSpPr>
          <a:xfrm>
            <a:off x="-28565" y="9894760"/>
            <a:ext cx="18345198" cy="450009"/>
            <a:chOff x="0" y="0"/>
            <a:chExt cx="24460264" cy="600012"/>
          </a:xfrm>
        </p:grpSpPr>
        <p:sp>
          <p:nvSpPr>
            <p:cNvPr id="5" name="Freeform 5"/>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sp>
        <p:nvSpPr>
          <p:cNvPr id="6" name="Freeform 6"/>
          <p:cNvSpPr/>
          <p:nvPr/>
        </p:nvSpPr>
        <p:spPr>
          <a:xfrm>
            <a:off x="-12583" y="9568444"/>
            <a:ext cx="18313003" cy="555165"/>
          </a:xfrm>
          <a:custGeom>
            <a:avLst/>
            <a:gdLst/>
            <a:ahLst/>
            <a:cxnLst/>
            <a:rect l="l" t="t" r="r" b="b"/>
            <a:pathLst>
              <a:path w="18313003" h="555165">
                <a:moveTo>
                  <a:pt x="0" y="0"/>
                </a:moveTo>
                <a:lnTo>
                  <a:pt x="18313004" y="0"/>
                </a:lnTo>
                <a:lnTo>
                  <a:pt x="18313004" y="555164"/>
                </a:lnTo>
                <a:lnTo>
                  <a:pt x="0" y="555164"/>
                </a:lnTo>
                <a:lnTo>
                  <a:pt x="0" y="0"/>
                </a:lnTo>
                <a:close/>
              </a:path>
            </a:pathLst>
          </a:custGeom>
          <a:blipFill>
            <a:blip>
              <a:extLst>
                <a:ext uri="{96DAC541-7B7A-43D3-8B79-37D633B846F1}">
                  <asvg:svgBlip xmlns:asvg="http://schemas.microsoft.com/office/drawing/2016/SVG/main" r:embed="rId3"/>
                </a:ext>
              </a:extLst>
            </a:blip>
            <a:stretch>
              <a:fillRect t="-603" b="-602"/>
            </a:stretch>
          </a:blipFill>
        </p:spPr>
      </p:sp>
      <p:grpSp>
        <p:nvGrpSpPr>
          <p:cNvPr id="7" name="Group 7"/>
          <p:cNvGrpSpPr/>
          <p:nvPr/>
        </p:nvGrpSpPr>
        <p:grpSpPr>
          <a:xfrm>
            <a:off x="12210374" y="3204601"/>
            <a:ext cx="5977033" cy="5953316"/>
            <a:chOff x="0" y="0"/>
            <a:chExt cx="7969377" cy="7937754"/>
          </a:xfrm>
        </p:grpSpPr>
        <p:sp>
          <p:nvSpPr>
            <p:cNvPr id="8" name="Freeform 8"/>
            <p:cNvSpPr/>
            <p:nvPr/>
          </p:nvSpPr>
          <p:spPr>
            <a:xfrm>
              <a:off x="0" y="0"/>
              <a:ext cx="7969377" cy="7937754"/>
            </a:xfrm>
            <a:custGeom>
              <a:avLst/>
              <a:gdLst/>
              <a:ahLst/>
              <a:cxnLst/>
              <a:rect l="l" t="t" r="r" b="b"/>
              <a:pathLst>
                <a:path w="7969377" h="7937754">
                  <a:moveTo>
                    <a:pt x="0" y="0"/>
                  </a:moveTo>
                  <a:lnTo>
                    <a:pt x="7969377" y="0"/>
                  </a:lnTo>
                  <a:lnTo>
                    <a:pt x="7969377" y="7937754"/>
                  </a:lnTo>
                  <a:lnTo>
                    <a:pt x="0" y="7937754"/>
                  </a:lnTo>
                  <a:lnTo>
                    <a:pt x="0" y="0"/>
                  </a:lnTo>
                  <a:close/>
                </a:path>
              </a:pathLst>
            </a:custGeom>
            <a:blipFill>
              <a:blip r:embed="rId4">
                <a:alphaModFix amt="3000"/>
              </a:blip>
              <a:stretch>
                <a:fillRect/>
              </a:stretch>
            </a:blipFill>
          </p:spPr>
        </p:sp>
      </p:grpSp>
      <p:grpSp>
        <p:nvGrpSpPr>
          <p:cNvPr id="9" name="Group 9"/>
          <p:cNvGrpSpPr/>
          <p:nvPr/>
        </p:nvGrpSpPr>
        <p:grpSpPr>
          <a:xfrm>
            <a:off x="16830599" y="9612544"/>
            <a:ext cx="1097566" cy="602075"/>
            <a:chOff x="0" y="0"/>
            <a:chExt cx="1463421" cy="802767"/>
          </a:xfrm>
        </p:grpSpPr>
        <p:sp>
          <p:nvSpPr>
            <p:cNvPr id="10" name="Freeform 10"/>
            <p:cNvSpPr/>
            <p:nvPr/>
          </p:nvSpPr>
          <p:spPr>
            <a:xfrm>
              <a:off x="0" y="0"/>
              <a:ext cx="1463421" cy="802767"/>
            </a:xfrm>
            <a:custGeom>
              <a:avLst/>
              <a:gdLst/>
              <a:ahLst/>
              <a:cxnLst/>
              <a:rect l="l" t="t" r="r" b="b"/>
              <a:pathLst>
                <a:path w="1463421" h="802767">
                  <a:moveTo>
                    <a:pt x="0" y="0"/>
                  </a:moveTo>
                  <a:lnTo>
                    <a:pt x="1463421" y="0"/>
                  </a:lnTo>
                  <a:lnTo>
                    <a:pt x="1463421" y="802767"/>
                  </a:lnTo>
                  <a:lnTo>
                    <a:pt x="0" y="802767"/>
                  </a:lnTo>
                  <a:close/>
                </a:path>
              </a:pathLst>
            </a:custGeom>
            <a:blipFill>
              <a:blip r:embed="rId5">
                <a:alphaModFix amt="0"/>
              </a:blip>
              <a:stretch>
                <a:fillRect l="-20430" r="-20430"/>
              </a:stretch>
            </a:blipFill>
          </p:spPr>
        </p:sp>
      </p:grpSp>
      <p:grpSp>
        <p:nvGrpSpPr>
          <p:cNvPr id="11" name="Group 11"/>
          <p:cNvGrpSpPr/>
          <p:nvPr/>
        </p:nvGrpSpPr>
        <p:grpSpPr>
          <a:xfrm>
            <a:off x="16830599" y="9598257"/>
            <a:ext cx="1097566" cy="616363"/>
            <a:chOff x="0" y="0"/>
            <a:chExt cx="1463421" cy="821817"/>
          </a:xfrm>
        </p:grpSpPr>
        <p:sp>
          <p:nvSpPr>
            <p:cNvPr id="12" name="Freeform 12"/>
            <p:cNvSpPr/>
            <p:nvPr/>
          </p:nvSpPr>
          <p:spPr>
            <a:xfrm>
              <a:off x="0" y="0"/>
              <a:ext cx="1463421" cy="821817"/>
            </a:xfrm>
            <a:custGeom>
              <a:avLst/>
              <a:gdLst/>
              <a:ahLst/>
              <a:cxnLst/>
              <a:rect l="l" t="t" r="r" b="b"/>
              <a:pathLst>
                <a:path w="1463421" h="821817">
                  <a:moveTo>
                    <a:pt x="0" y="0"/>
                  </a:moveTo>
                  <a:lnTo>
                    <a:pt x="1463421" y="0"/>
                  </a:lnTo>
                  <a:lnTo>
                    <a:pt x="1463421" y="821817"/>
                  </a:lnTo>
                  <a:lnTo>
                    <a:pt x="0" y="821817"/>
                  </a:lnTo>
                  <a:close/>
                </a:path>
              </a:pathLst>
            </a:custGeom>
            <a:blipFill>
              <a:blip r:embed="rId6">
                <a:alphaModFix amt="0"/>
              </a:blip>
              <a:stretch>
                <a:fillRect l="-22101" r="-22101"/>
              </a:stretch>
            </a:blipFill>
          </p:spPr>
        </p:sp>
      </p:grpSp>
      <p:grpSp>
        <p:nvGrpSpPr>
          <p:cNvPr id="13" name="Group 13"/>
          <p:cNvGrpSpPr/>
          <p:nvPr/>
        </p:nvGrpSpPr>
        <p:grpSpPr>
          <a:xfrm>
            <a:off x="16830599" y="9583969"/>
            <a:ext cx="1097566" cy="630650"/>
            <a:chOff x="0" y="0"/>
            <a:chExt cx="1463421" cy="840867"/>
          </a:xfrm>
        </p:grpSpPr>
        <p:sp>
          <p:nvSpPr>
            <p:cNvPr id="14" name="Freeform 14"/>
            <p:cNvSpPr/>
            <p:nvPr/>
          </p:nvSpPr>
          <p:spPr>
            <a:xfrm>
              <a:off x="0" y="0"/>
              <a:ext cx="1463421" cy="840867"/>
            </a:xfrm>
            <a:custGeom>
              <a:avLst/>
              <a:gdLst/>
              <a:ahLst/>
              <a:cxnLst/>
              <a:rect l="l" t="t" r="r" b="b"/>
              <a:pathLst>
                <a:path w="1463421" h="840867">
                  <a:moveTo>
                    <a:pt x="0" y="0"/>
                  </a:moveTo>
                  <a:lnTo>
                    <a:pt x="1463421" y="0"/>
                  </a:lnTo>
                  <a:lnTo>
                    <a:pt x="1463421" y="840867"/>
                  </a:lnTo>
                  <a:lnTo>
                    <a:pt x="0" y="840867"/>
                  </a:lnTo>
                  <a:close/>
                </a:path>
              </a:pathLst>
            </a:custGeom>
            <a:blipFill>
              <a:blip r:embed="rId7">
                <a:alphaModFix amt="0"/>
              </a:blip>
              <a:stretch>
                <a:fillRect l="-23773" r="-23773"/>
              </a:stretch>
            </a:blipFill>
          </p:spPr>
        </p:sp>
      </p:grpSp>
      <p:grpSp>
        <p:nvGrpSpPr>
          <p:cNvPr id="15" name="Group 15"/>
          <p:cNvGrpSpPr/>
          <p:nvPr/>
        </p:nvGrpSpPr>
        <p:grpSpPr>
          <a:xfrm>
            <a:off x="16830599" y="9569682"/>
            <a:ext cx="1097547" cy="644966"/>
            <a:chOff x="0" y="0"/>
            <a:chExt cx="1463396" cy="859955"/>
          </a:xfrm>
        </p:grpSpPr>
        <p:sp>
          <p:nvSpPr>
            <p:cNvPr id="16" name="Freeform 16"/>
            <p:cNvSpPr/>
            <p:nvPr/>
          </p:nvSpPr>
          <p:spPr>
            <a:xfrm>
              <a:off x="0" y="0"/>
              <a:ext cx="1463421" cy="859917"/>
            </a:xfrm>
            <a:custGeom>
              <a:avLst/>
              <a:gdLst/>
              <a:ahLst/>
              <a:cxnLst/>
              <a:rect l="l" t="t" r="r" b="b"/>
              <a:pathLst>
                <a:path w="1463421" h="859917">
                  <a:moveTo>
                    <a:pt x="0" y="0"/>
                  </a:moveTo>
                  <a:lnTo>
                    <a:pt x="1463421" y="0"/>
                  </a:lnTo>
                  <a:lnTo>
                    <a:pt x="1463421" y="859917"/>
                  </a:lnTo>
                  <a:lnTo>
                    <a:pt x="0" y="859917"/>
                  </a:lnTo>
                  <a:close/>
                </a:path>
              </a:pathLst>
            </a:custGeom>
            <a:blipFill>
              <a:blip r:embed="rId8">
                <a:alphaModFix amt="0"/>
              </a:blip>
              <a:stretch>
                <a:fillRect l="-25449" r="-25446" b="-4"/>
              </a:stretch>
            </a:blipFill>
          </p:spPr>
        </p:sp>
      </p:grpSp>
      <p:grpSp>
        <p:nvGrpSpPr>
          <p:cNvPr id="17" name="Group 17"/>
          <p:cNvGrpSpPr/>
          <p:nvPr/>
        </p:nvGrpSpPr>
        <p:grpSpPr>
          <a:xfrm>
            <a:off x="16830599" y="9555394"/>
            <a:ext cx="1097547" cy="659254"/>
            <a:chOff x="0" y="0"/>
            <a:chExt cx="1463396" cy="879005"/>
          </a:xfrm>
        </p:grpSpPr>
        <p:sp>
          <p:nvSpPr>
            <p:cNvPr id="18" name="Freeform 18"/>
            <p:cNvSpPr/>
            <p:nvPr/>
          </p:nvSpPr>
          <p:spPr>
            <a:xfrm>
              <a:off x="0" y="0"/>
              <a:ext cx="1463396" cy="879005"/>
            </a:xfrm>
            <a:custGeom>
              <a:avLst/>
              <a:gdLst/>
              <a:ahLst/>
              <a:cxnLst/>
              <a:rect l="l" t="t" r="r" b="b"/>
              <a:pathLst>
                <a:path w="1463396" h="879005">
                  <a:moveTo>
                    <a:pt x="0" y="0"/>
                  </a:moveTo>
                  <a:lnTo>
                    <a:pt x="1463396" y="0"/>
                  </a:lnTo>
                  <a:lnTo>
                    <a:pt x="1463396" y="879005"/>
                  </a:lnTo>
                  <a:lnTo>
                    <a:pt x="0" y="879005"/>
                  </a:lnTo>
                  <a:close/>
                </a:path>
              </a:pathLst>
            </a:custGeom>
            <a:blipFill>
              <a:blip r:embed="rId9">
                <a:alphaModFix amt="0"/>
              </a:blip>
              <a:stretch>
                <a:fillRect l="-27066" r="-27066"/>
              </a:stretch>
            </a:blipFill>
          </p:spPr>
        </p:sp>
        <p:sp>
          <p:nvSpPr>
            <p:cNvPr id="19" name="TextBox 19"/>
            <p:cNvSpPr txBox="1"/>
            <p:nvPr/>
          </p:nvSpPr>
          <p:spPr>
            <a:xfrm>
              <a:off x="0" y="-19050"/>
              <a:ext cx="1463396" cy="898055"/>
            </a:xfrm>
            <a:prstGeom prst="rect">
              <a:avLst/>
            </a:prstGeom>
          </p:spPr>
          <p:txBody>
            <a:bodyPr lIns="0" tIns="0" rIns="0" bIns="0" rtlCol="0" anchor="ctr"/>
            <a:lstStyle/>
            <a:p>
              <a:pPr algn="r">
                <a:lnSpc>
                  <a:spcPts val="2160"/>
                </a:lnSpc>
              </a:pPr>
              <a:r>
                <a:rPr lang="en-US" sz="1800">
                  <a:solidFill>
                    <a:srgbClr val="FFFFFF"/>
                  </a:solidFill>
                  <a:latin typeface="Arial"/>
                  <a:ea typeface="Arial"/>
                  <a:cs typeface="Arial"/>
                  <a:sym typeface="Arial"/>
                </a:rPr>
                <a:t>12</a:t>
              </a:r>
            </a:p>
          </p:txBody>
        </p:sp>
      </p:grpSp>
      <p:grpSp>
        <p:nvGrpSpPr>
          <p:cNvPr id="20" name="Group 20"/>
          <p:cNvGrpSpPr/>
          <p:nvPr/>
        </p:nvGrpSpPr>
        <p:grpSpPr>
          <a:xfrm>
            <a:off x="2878693" y="1581140"/>
            <a:ext cx="12714837" cy="7022963"/>
            <a:chOff x="0" y="0"/>
            <a:chExt cx="16953116" cy="9363951"/>
          </a:xfrm>
        </p:grpSpPr>
        <p:sp>
          <p:nvSpPr>
            <p:cNvPr id="21" name="Freeform 21"/>
            <p:cNvSpPr/>
            <p:nvPr/>
          </p:nvSpPr>
          <p:spPr>
            <a:xfrm>
              <a:off x="0" y="0"/>
              <a:ext cx="16953103" cy="9363964"/>
            </a:xfrm>
            <a:custGeom>
              <a:avLst/>
              <a:gdLst/>
              <a:ahLst/>
              <a:cxnLst/>
              <a:rect l="l" t="t" r="r" b="b"/>
              <a:pathLst>
                <a:path w="16953103" h="9363964">
                  <a:moveTo>
                    <a:pt x="0" y="0"/>
                  </a:moveTo>
                  <a:lnTo>
                    <a:pt x="16953103" y="0"/>
                  </a:lnTo>
                  <a:lnTo>
                    <a:pt x="16953103" y="9363964"/>
                  </a:lnTo>
                  <a:lnTo>
                    <a:pt x="0" y="9363964"/>
                  </a:lnTo>
                  <a:lnTo>
                    <a:pt x="0" y="0"/>
                  </a:lnTo>
                  <a:close/>
                </a:path>
              </a:pathLst>
            </a:custGeom>
            <a:blipFill>
              <a:blip r:embed="rId10"/>
              <a:stretch>
                <a:fillRect/>
              </a:stretch>
            </a:blipFill>
          </p:spPr>
        </p:sp>
      </p:grpSp>
      <p:sp>
        <p:nvSpPr>
          <p:cNvPr id="22" name="TextBox 22"/>
          <p:cNvSpPr txBox="1"/>
          <p:nvPr/>
        </p:nvSpPr>
        <p:spPr>
          <a:xfrm rot="-462600">
            <a:off x="13326065" y="9600938"/>
            <a:ext cx="2554043" cy="511435"/>
          </a:xfrm>
          <a:prstGeom prst="rect">
            <a:avLst/>
          </a:prstGeom>
        </p:spPr>
        <p:txBody>
          <a:bodyPr lIns="0" tIns="0" rIns="0" bIns="0" rtlCol="0" anchor="t">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id="23" name="TextBox 23"/>
          <p:cNvSpPr txBox="1"/>
          <p:nvPr/>
        </p:nvSpPr>
        <p:spPr>
          <a:xfrm rot="1440">
            <a:off x="9193218" y="9716433"/>
            <a:ext cx="4176751" cy="465077"/>
          </a:xfrm>
          <a:prstGeom prst="rect">
            <a:avLst/>
          </a:prstGeom>
        </p:spPr>
        <p:txBody>
          <a:bodyPr lIns="0" tIns="0" rIns="0" bIns="0" rtlCol="0" anchor="t">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id="24" name="TextBox 24"/>
          <p:cNvSpPr txBox="1"/>
          <p:nvPr/>
        </p:nvSpPr>
        <p:spPr>
          <a:xfrm>
            <a:off x="848620" y="526180"/>
            <a:ext cx="10804179" cy="810016"/>
          </a:xfrm>
          <a:prstGeom prst="rect">
            <a:avLst/>
          </a:prstGeom>
        </p:spPr>
        <p:txBody>
          <a:bodyPr lIns="0" tIns="0" rIns="0" bIns="0" rtlCol="0" anchor="t">
            <a:spAutoFit/>
          </a:bodyPr>
          <a:lstStyle/>
          <a:p>
            <a:pPr algn="l">
              <a:lnSpc>
                <a:spcPts val="5995"/>
              </a:lnSpc>
            </a:pPr>
            <a:r>
              <a:rPr lang="en-US" sz="4998" b="1" spc="-20">
                <a:solidFill>
                  <a:srgbClr val="0000FF"/>
                </a:solidFill>
                <a:latin typeface="Times New Roman Bold"/>
                <a:ea typeface="Times New Roman Bold"/>
                <a:cs typeface="Times New Roman Bold"/>
                <a:sym typeface="Times New Roman Bold"/>
              </a:rPr>
              <a:t>                                  System Architecture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65" y="-43167"/>
            <a:ext cx="18345198" cy="450009"/>
            <a:chOff x="0" y="0"/>
            <a:chExt cx="24460264" cy="600012"/>
          </a:xfrm>
        </p:grpSpPr>
        <p:sp>
          <p:nvSpPr>
            <p:cNvPr id="3" name="Freeform 3"/>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grpSp>
        <p:nvGrpSpPr>
          <p:cNvPr id="4" name="Group 4"/>
          <p:cNvGrpSpPr/>
          <p:nvPr/>
        </p:nvGrpSpPr>
        <p:grpSpPr>
          <a:xfrm>
            <a:off x="-28565" y="9894760"/>
            <a:ext cx="18345198" cy="450009"/>
            <a:chOff x="0" y="0"/>
            <a:chExt cx="24460264" cy="600012"/>
          </a:xfrm>
        </p:grpSpPr>
        <p:sp>
          <p:nvSpPr>
            <p:cNvPr id="5" name="Freeform 5"/>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sp>
        <p:nvSpPr>
          <p:cNvPr id="6" name="Freeform 6"/>
          <p:cNvSpPr/>
          <p:nvPr/>
        </p:nvSpPr>
        <p:spPr>
          <a:xfrm>
            <a:off x="-12583" y="9568444"/>
            <a:ext cx="18313003" cy="555165"/>
          </a:xfrm>
          <a:custGeom>
            <a:avLst/>
            <a:gdLst/>
            <a:ahLst/>
            <a:cxnLst/>
            <a:rect l="l" t="t" r="r" b="b"/>
            <a:pathLst>
              <a:path w="18313003" h="555165">
                <a:moveTo>
                  <a:pt x="0" y="0"/>
                </a:moveTo>
                <a:lnTo>
                  <a:pt x="18313004" y="0"/>
                </a:lnTo>
                <a:lnTo>
                  <a:pt x="18313004" y="555164"/>
                </a:lnTo>
                <a:lnTo>
                  <a:pt x="0" y="555164"/>
                </a:lnTo>
                <a:lnTo>
                  <a:pt x="0" y="0"/>
                </a:lnTo>
                <a:close/>
              </a:path>
            </a:pathLst>
          </a:custGeom>
          <a:blipFill>
            <a:blip>
              <a:extLst>
                <a:ext uri="{96DAC541-7B7A-43D3-8B79-37D633B846F1}">
                  <asvg:svgBlip xmlns:asvg="http://schemas.microsoft.com/office/drawing/2016/SVG/main" r:embed="rId3"/>
                </a:ext>
              </a:extLst>
            </a:blip>
            <a:stretch>
              <a:fillRect t="-603" b="-602"/>
            </a:stretch>
          </a:blipFill>
        </p:spPr>
      </p:sp>
      <p:grpSp>
        <p:nvGrpSpPr>
          <p:cNvPr id="7" name="Group 7"/>
          <p:cNvGrpSpPr/>
          <p:nvPr/>
        </p:nvGrpSpPr>
        <p:grpSpPr>
          <a:xfrm>
            <a:off x="16830599" y="9612544"/>
            <a:ext cx="1097566" cy="602075"/>
            <a:chOff x="0" y="0"/>
            <a:chExt cx="1463421" cy="802767"/>
          </a:xfrm>
        </p:grpSpPr>
        <p:sp>
          <p:nvSpPr>
            <p:cNvPr id="8" name="Freeform 8"/>
            <p:cNvSpPr/>
            <p:nvPr/>
          </p:nvSpPr>
          <p:spPr>
            <a:xfrm>
              <a:off x="0" y="0"/>
              <a:ext cx="1463421" cy="802767"/>
            </a:xfrm>
            <a:custGeom>
              <a:avLst/>
              <a:gdLst/>
              <a:ahLst/>
              <a:cxnLst/>
              <a:rect l="l" t="t" r="r" b="b"/>
              <a:pathLst>
                <a:path w="1463421" h="802767">
                  <a:moveTo>
                    <a:pt x="0" y="0"/>
                  </a:moveTo>
                  <a:lnTo>
                    <a:pt x="1463421" y="0"/>
                  </a:lnTo>
                  <a:lnTo>
                    <a:pt x="1463421" y="802767"/>
                  </a:lnTo>
                  <a:lnTo>
                    <a:pt x="0" y="802767"/>
                  </a:lnTo>
                  <a:close/>
                </a:path>
              </a:pathLst>
            </a:custGeom>
            <a:blipFill>
              <a:blip r:embed="rId4">
                <a:alphaModFix amt="0"/>
              </a:blip>
              <a:stretch>
                <a:fillRect l="-20430" r="-20430"/>
              </a:stretch>
            </a:blipFill>
          </p:spPr>
        </p:sp>
      </p:grpSp>
      <p:grpSp>
        <p:nvGrpSpPr>
          <p:cNvPr id="9" name="Group 9"/>
          <p:cNvGrpSpPr/>
          <p:nvPr/>
        </p:nvGrpSpPr>
        <p:grpSpPr>
          <a:xfrm>
            <a:off x="16830599" y="9598257"/>
            <a:ext cx="1097566" cy="616363"/>
            <a:chOff x="0" y="0"/>
            <a:chExt cx="1463421" cy="821817"/>
          </a:xfrm>
        </p:grpSpPr>
        <p:sp>
          <p:nvSpPr>
            <p:cNvPr id="10" name="Freeform 10"/>
            <p:cNvSpPr/>
            <p:nvPr/>
          </p:nvSpPr>
          <p:spPr>
            <a:xfrm>
              <a:off x="0" y="0"/>
              <a:ext cx="1463421" cy="821817"/>
            </a:xfrm>
            <a:custGeom>
              <a:avLst/>
              <a:gdLst/>
              <a:ahLst/>
              <a:cxnLst/>
              <a:rect l="l" t="t" r="r" b="b"/>
              <a:pathLst>
                <a:path w="1463421" h="821817">
                  <a:moveTo>
                    <a:pt x="0" y="0"/>
                  </a:moveTo>
                  <a:lnTo>
                    <a:pt x="1463421" y="0"/>
                  </a:lnTo>
                  <a:lnTo>
                    <a:pt x="1463421" y="821817"/>
                  </a:lnTo>
                  <a:lnTo>
                    <a:pt x="0" y="821817"/>
                  </a:lnTo>
                  <a:close/>
                </a:path>
              </a:pathLst>
            </a:custGeom>
            <a:blipFill>
              <a:blip r:embed="rId5">
                <a:alphaModFix amt="0"/>
              </a:blip>
              <a:stretch>
                <a:fillRect l="-22101" r="-22101"/>
              </a:stretch>
            </a:blipFill>
          </p:spPr>
        </p:sp>
      </p:grpSp>
      <p:grpSp>
        <p:nvGrpSpPr>
          <p:cNvPr id="11" name="Group 11"/>
          <p:cNvGrpSpPr/>
          <p:nvPr/>
        </p:nvGrpSpPr>
        <p:grpSpPr>
          <a:xfrm>
            <a:off x="16830599" y="9583969"/>
            <a:ext cx="1097566" cy="630650"/>
            <a:chOff x="0" y="0"/>
            <a:chExt cx="1463421" cy="840867"/>
          </a:xfrm>
        </p:grpSpPr>
        <p:sp>
          <p:nvSpPr>
            <p:cNvPr id="12" name="Freeform 12"/>
            <p:cNvSpPr/>
            <p:nvPr/>
          </p:nvSpPr>
          <p:spPr>
            <a:xfrm>
              <a:off x="0" y="0"/>
              <a:ext cx="1463421" cy="840867"/>
            </a:xfrm>
            <a:custGeom>
              <a:avLst/>
              <a:gdLst/>
              <a:ahLst/>
              <a:cxnLst/>
              <a:rect l="l" t="t" r="r" b="b"/>
              <a:pathLst>
                <a:path w="1463421" h="840867">
                  <a:moveTo>
                    <a:pt x="0" y="0"/>
                  </a:moveTo>
                  <a:lnTo>
                    <a:pt x="1463421" y="0"/>
                  </a:lnTo>
                  <a:lnTo>
                    <a:pt x="1463421" y="840867"/>
                  </a:lnTo>
                  <a:lnTo>
                    <a:pt x="0" y="840867"/>
                  </a:lnTo>
                  <a:close/>
                </a:path>
              </a:pathLst>
            </a:custGeom>
            <a:blipFill>
              <a:blip r:embed="rId6">
                <a:alphaModFix amt="0"/>
              </a:blip>
              <a:stretch>
                <a:fillRect l="-23773" r="-23773"/>
              </a:stretch>
            </a:blipFill>
          </p:spPr>
        </p:sp>
      </p:grpSp>
      <p:grpSp>
        <p:nvGrpSpPr>
          <p:cNvPr id="13" name="Group 13"/>
          <p:cNvGrpSpPr/>
          <p:nvPr/>
        </p:nvGrpSpPr>
        <p:grpSpPr>
          <a:xfrm>
            <a:off x="16830599" y="9569682"/>
            <a:ext cx="1097547" cy="644966"/>
            <a:chOff x="0" y="0"/>
            <a:chExt cx="1463396" cy="859955"/>
          </a:xfrm>
        </p:grpSpPr>
        <p:sp>
          <p:nvSpPr>
            <p:cNvPr id="14" name="Freeform 14"/>
            <p:cNvSpPr/>
            <p:nvPr/>
          </p:nvSpPr>
          <p:spPr>
            <a:xfrm>
              <a:off x="0" y="0"/>
              <a:ext cx="1463421" cy="859917"/>
            </a:xfrm>
            <a:custGeom>
              <a:avLst/>
              <a:gdLst/>
              <a:ahLst/>
              <a:cxnLst/>
              <a:rect l="l" t="t" r="r" b="b"/>
              <a:pathLst>
                <a:path w="1463421" h="859917">
                  <a:moveTo>
                    <a:pt x="0" y="0"/>
                  </a:moveTo>
                  <a:lnTo>
                    <a:pt x="1463421" y="0"/>
                  </a:lnTo>
                  <a:lnTo>
                    <a:pt x="1463421" y="859917"/>
                  </a:lnTo>
                  <a:lnTo>
                    <a:pt x="0" y="859917"/>
                  </a:lnTo>
                  <a:close/>
                </a:path>
              </a:pathLst>
            </a:custGeom>
            <a:blipFill>
              <a:blip r:embed="rId7">
                <a:alphaModFix amt="0"/>
              </a:blip>
              <a:stretch>
                <a:fillRect l="-25449" r="-25446" b="-4"/>
              </a:stretch>
            </a:blipFill>
          </p:spPr>
        </p:sp>
      </p:grpSp>
      <p:grpSp>
        <p:nvGrpSpPr>
          <p:cNvPr id="15" name="Group 15"/>
          <p:cNvGrpSpPr/>
          <p:nvPr/>
        </p:nvGrpSpPr>
        <p:grpSpPr>
          <a:xfrm>
            <a:off x="16830599" y="9555394"/>
            <a:ext cx="1097547" cy="659254"/>
            <a:chOff x="0" y="0"/>
            <a:chExt cx="1463396" cy="879005"/>
          </a:xfrm>
        </p:grpSpPr>
        <p:sp>
          <p:nvSpPr>
            <p:cNvPr id="16" name="Freeform 16"/>
            <p:cNvSpPr/>
            <p:nvPr/>
          </p:nvSpPr>
          <p:spPr>
            <a:xfrm>
              <a:off x="0" y="0"/>
              <a:ext cx="1463396" cy="879005"/>
            </a:xfrm>
            <a:custGeom>
              <a:avLst/>
              <a:gdLst/>
              <a:ahLst/>
              <a:cxnLst/>
              <a:rect l="l" t="t" r="r" b="b"/>
              <a:pathLst>
                <a:path w="1463396" h="879005">
                  <a:moveTo>
                    <a:pt x="0" y="0"/>
                  </a:moveTo>
                  <a:lnTo>
                    <a:pt x="1463396" y="0"/>
                  </a:lnTo>
                  <a:lnTo>
                    <a:pt x="1463396" y="879005"/>
                  </a:lnTo>
                  <a:lnTo>
                    <a:pt x="0" y="879005"/>
                  </a:lnTo>
                  <a:close/>
                </a:path>
              </a:pathLst>
            </a:custGeom>
            <a:blipFill>
              <a:blip r:embed="rId8">
                <a:alphaModFix amt="0"/>
              </a:blip>
              <a:stretch>
                <a:fillRect l="-27066" r="-27066"/>
              </a:stretch>
            </a:blipFill>
          </p:spPr>
        </p:sp>
        <p:sp>
          <p:nvSpPr>
            <p:cNvPr id="17" name="TextBox 17"/>
            <p:cNvSpPr txBox="1"/>
            <p:nvPr/>
          </p:nvSpPr>
          <p:spPr>
            <a:xfrm>
              <a:off x="0" y="-19050"/>
              <a:ext cx="1463396" cy="898055"/>
            </a:xfrm>
            <a:prstGeom prst="rect">
              <a:avLst/>
            </a:prstGeom>
          </p:spPr>
          <p:txBody>
            <a:bodyPr lIns="0" tIns="0" rIns="0" bIns="0" rtlCol="0" anchor="ctr"/>
            <a:lstStyle/>
            <a:p>
              <a:pPr algn="r">
                <a:lnSpc>
                  <a:spcPts val="2160"/>
                </a:lnSpc>
              </a:pPr>
              <a:r>
                <a:rPr lang="en-US" sz="1800">
                  <a:solidFill>
                    <a:srgbClr val="FFFFFF"/>
                  </a:solidFill>
                  <a:latin typeface="Arial"/>
                  <a:ea typeface="Arial"/>
                  <a:cs typeface="Arial"/>
                  <a:sym typeface="Arial"/>
                </a:rPr>
                <a:t>13</a:t>
              </a:r>
            </a:p>
          </p:txBody>
        </p:sp>
      </p:grpSp>
      <p:sp>
        <p:nvSpPr>
          <p:cNvPr id="18" name="TextBox 18"/>
          <p:cNvSpPr txBox="1"/>
          <p:nvPr/>
        </p:nvSpPr>
        <p:spPr>
          <a:xfrm rot="-462600">
            <a:off x="13326065" y="9600938"/>
            <a:ext cx="2554043" cy="511435"/>
          </a:xfrm>
          <a:prstGeom prst="rect">
            <a:avLst/>
          </a:prstGeom>
        </p:spPr>
        <p:txBody>
          <a:bodyPr lIns="0" tIns="0" rIns="0" bIns="0" rtlCol="0" anchor="t">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id="19" name="TextBox 19"/>
          <p:cNvSpPr txBox="1"/>
          <p:nvPr/>
        </p:nvSpPr>
        <p:spPr>
          <a:xfrm rot="1440">
            <a:off x="9193218" y="9716433"/>
            <a:ext cx="4176751" cy="465077"/>
          </a:xfrm>
          <a:prstGeom prst="rect">
            <a:avLst/>
          </a:prstGeom>
        </p:spPr>
        <p:txBody>
          <a:bodyPr lIns="0" tIns="0" rIns="0" bIns="0" rtlCol="0" anchor="t">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id="20" name="TextBox 20"/>
          <p:cNvSpPr txBox="1"/>
          <p:nvPr/>
        </p:nvSpPr>
        <p:spPr>
          <a:xfrm>
            <a:off x="582120" y="771754"/>
            <a:ext cx="16797252" cy="949747"/>
          </a:xfrm>
          <a:prstGeom prst="rect">
            <a:avLst/>
          </a:prstGeom>
        </p:spPr>
        <p:txBody>
          <a:bodyPr lIns="0" tIns="0" rIns="0" bIns="0" rtlCol="0" anchor="t">
            <a:spAutoFit/>
          </a:bodyPr>
          <a:lstStyle/>
          <a:p>
            <a:pPr algn="l">
              <a:lnSpc>
                <a:spcPts val="6396"/>
              </a:lnSpc>
            </a:pPr>
            <a:r>
              <a:rPr lang="en-US" sz="3999" b="1" spc="-15">
                <a:solidFill>
                  <a:srgbClr val="0000FF"/>
                </a:solidFill>
                <a:latin typeface="Times New Roman Bold"/>
                <a:ea typeface="Times New Roman Bold"/>
                <a:cs typeface="Times New Roman Bold"/>
                <a:sym typeface="Times New Roman Bold"/>
              </a:rPr>
              <a:t>Methodology 1: Data Collection &amp; Graph Construction</a:t>
            </a:r>
          </a:p>
        </p:txBody>
      </p:sp>
      <p:sp>
        <p:nvSpPr>
          <p:cNvPr id="21" name="TextBox 21"/>
          <p:cNvSpPr txBox="1"/>
          <p:nvPr/>
        </p:nvSpPr>
        <p:spPr>
          <a:xfrm>
            <a:off x="745303" y="2640730"/>
            <a:ext cx="16651557" cy="4505458"/>
          </a:xfrm>
          <a:prstGeom prst="rect">
            <a:avLst/>
          </a:prstGeom>
        </p:spPr>
        <p:txBody>
          <a:bodyPr lIns="0" tIns="0" rIns="0" bIns="0" rtlCol="0" anchor="t">
            <a:spAutoFit/>
          </a:bodyPr>
          <a:lstStyle/>
          <a:p>
            <a:pPr algn="just">
              <a:lnSpc>
                <a:spcPts val="4558"/>
              </a:lnSpc>
            </a:pPr>
            <a:r>
              <a:rPr lang="en-US" sz="3798" b="1" spc="-29">
                <a:solidFill>
                  <a:srgbClr val="000000"/>
                </a:solidFill>
                <a:latin typeface="Times New Roman Bold"/>
                <a:ea typeface="Times New Roman Bold"/>
                <a:cs typeface="Times New Roman Bold"/>
                <a:sym typeface="Times New Roman Bold"/>
              </a:rPr>
              <a:t>Description:</a:t>
            </a:r>
          </a:p>
          <a:p>
            <a:pPr algn="just">
              <a:lnSpc>
                <a:spcPts val="3117"/>
              </a:lnSpc>
            </a:pPr>
            <a:r>
              <a:rPr lang="en-US" sz="2598" spc="-19">
                <a:solidFill>
                  <a:srgbClr val="000000"/>
                </a:solidFill>
                <a:latin typeface="Times New Roman"/>
                <a:ea typeface="Times New Roman"/>
                <a:cs typeface="Times New Roman"/>
                <a:sym typeface="Times New Roman"/>
              </a:rPr>
              <a:t>Download the Elliptic Bitcoin Dataset from Kaggle. Load elliptic_txs_features.csv, elliptic_txs_classes.csv, and elliptic_txs_edgelist.csv. Construct a directed temporal graph with 203,769 wallet nodes and 234,355 timestamped transaction edges across 49 ordered time steps.</a:t>
            </a:r>
          </a:p>
          <a:p>
            <a:pPr algn="just">
              <a:lnSpc>
                <a:spcPts val="4558"/>
              </a:lnSpc>
            </a:pPr>
            <a:r>
              <a:rPr lang="en-US" sz="3798" b="1" spc="-29">
                <a:solidFill>
                  <a:srgbClr val="000000"/>
                </a:solidFill>
                <a:latin typeface="Times New Roman Bold"/>
                <a:ea typeface="Times New Roman Bold"/>
                <a:cs typeface="Times New Roman Bold"/>
                <a:sym typeface="Times New Roman Bold"/>
              </a:rPr>
              <a:t>Steps:</a:t>
            </a:r>
          </a:p>
          <a:p>
            <a:pPr marL="990479" lvl="5" indent="-165080" algn="just">
              <a:lnSpc>
                <a:spcPts val="3117"/>
              </a:lnSpc>
              <a:buFont typeface="Arial"/>
              <a:buChar char="⚬"/>
            </a:pPr>
            <a:r>
              <a:rPr lang="en-US" sz="2598" spc="-19">
                <a:solidFill>
                  <a:srgbClr val="000000"/>
                </a:solidFill>
                <a:latin typeface="Times New Roman"/>
                <a:ea typeface="Times New Roman"/>
                <a:cs typeface="Times New Roman"/>
                <a:sym typeface="Times New Roman"/>
              </a:rPr>
              <a:t>Load &amp; merge 3 Elliptic CSV files</a:t>
            </a:r>
          </a:p>
          <a:p>
            <a:pPr marL="990479" lvl="5" indent="-165080" algn="just">
              <a:lnSpc>
                <a:spcPts val="3117"/>
              </a:lnSpc>
              <a:buFont typeface="Arial"/>
              <a:buChar char="⚬"/>
            </a:pPr>
            <a:r>
              <a:rPr lang="en-US" sz="2598" spc="-19">
                <a:solidFill>
                  <a:srgbClr val="000000"/>
                </a:solidFill>
                <a:latin typeface="Times New Roman"/>
                <a:ea typeface="Times New Roman"/>
                <a:cs typeface="Times New Roman"/>
                <a:sym typeface="Times New Roman"/>
              </a:rPr>
              <a:t>Engineer 6 temporal features (time-delta, fan-in/out ratio, degree, recency, cycle indicator)</a:t>
            </a:r>
          </a:p>
          <a:p>
            <a:pPr marL="990479" lvl="5" indent="-165080" algn="just">
              <a:lnSpc>
                <a:spcPts val="3117"/>
              </a:lnSpc>
              <a:buFont typeface="Arial"/>
              <a:buChar char="⚬"/>
            </a:pPr>
            <a:r>
              <a:rPr lang="en-US" sz="2598" spc="-19">
                <a:solidFill>
                  <a:srgbClr val="000000"/>
                </a:solidFill>
                <a:latin typeface="Times New Roman"/>
                <a:ea typeface="Times New Roman"/>
                <a:cs typeface="Times New Roman"/>
                <a:sym typeface="Times New Roman"/>
              </a:rPr>
              <a:t>Build PyG TemporalData object with edge timestamps</a:t>
            </a:r>
          </a:p>
          <a:p>
            <a:pPr marL="1447799" lvl="5" indent="-241300" algn="just">
              <a:lnSpc>
                <a:spcPts val="4558"/>
              </a:lnSpc>
            </a:pPr>
            <a:r>
              <a:rPr lang="en-US" sz="3798" b="1" spc="-29">
                <a:solidFill>
                  <a:srgbClr val="000000"/>
                </a:solidFill>
                <a:latin typeface="Times New Roman Bold"/>
                <a:ea typeface="Times New Roman Bold"/>
                <a:cs typeface="Times New Roman Bold"/>
                <a:sym typeface="Times New Roman Bold"/>
              </a:rPr>
              <a:t>Output:</a:t>
            </a:r>
          </a:p>
          <a:p>
            <a:pPr marL="990479" lvl="5" indent="-165080" algn="just">
              <a:lnSpc>
                <a:spcPts val="3117"/>
              </a:lnSpc>
            </a:pPr>
            <a:r>
              <a:rPr lang="en-US" sz="2598" spc="-19">
                <a:solidFill>
                  <a:srgbClr val="000000"/>
                </a:solidFill>
                <a:latin typeface="Times New Roman"/>
                <a:ea typeface="Times New Roman"/>
                <a:cs typeface="Times New Roman"/>
                <a:sym typeface="Times New Roman"/>
              </a:rPr>
              <a:t>172-dimensional node feature vectors and temporal edge list ready for TGAT training.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65" y="-43167"/>
            <a:ext cx="18345198" cy="450009"/>
            <a:chOff x="0" y="0"/>
            <a:chExt cx="24460264" cy="600012"/>
          </a:xfrm>
        </p:grpSpPr>
        <p:sp>
          <p:nvSpPr>
            <p:cNvPr id="3" name="Freeform 3"/>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grpSp>
        <p:nvGrpSpPr>
          <p:cNvPr id="4" name="Group 4"/>
          <p:cNvGrpSpPr/>
          <p:nvPr/>
        </p:nvGrpSpPr>
        <p:grpSpPr>
          <a:xfrm>
            <a:off x="-28565" y="9894760"/>
            <a:ext cx="18345198" cy="450009"/>
            <a:chOff x="0" y="0"/>
            <a:chExt cx="24460264" cy="600012"/>
          </a:xfrm>
        </p:grpSpPr>
        <p:sp>
          <p:nvSpPr>
            <p:cNvPr id="5" name="Freeform 5"/>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sp>
        <p:nvSpPr>
          <p:cNvPr id="6" name="Freeform 6"/>
          <p:cNvSpPr/>
          <p:nvPr/>
        </p:nvSpPr>
        <p:spPr>
          <a:xfrm>
            <a:off x="-12583" y="9568444"/>
            <a:ext cx="18313003" cy="555165"/>
          </a:xfrm>
          <a:custGeom>
            <a:avLst/>
            <a:gdLst/>
            <a:ahLst/>
            <a:cxnLst/>
            <a:rect l="l" t="t" r="r" b="b"/>
            <a:pathLst>
              <a:path w="18313003" h="555165">
                <a:moveTo>
                  <a:pt x="0" y="0"/>
                </a:moveTo>
                <a:lnTo>
                  <a:pt x="18313004" y="0"/>
                </a:lnTo>
                <a:lnTo>
                  <a:pt x="18313004" y="555164"/>
                </a:lnTo>
                <a:lnTo>
                  <a:pt x="0" y="555164"/>
                </a:lnTo>
                <a:lnTo>
                  <a:pt x="0" y="0"/>
                </a:lnTo>
                <a:close/>
              </a:path>
            </a:pathLst>
          </a:custGeom>
          <a:blipFill>
            <a:blip>
              <a:extLst>
                <a:ext uri="{96DAC541-7B7A-43D3-8B79-37D633B846F1}">
                  <asvg:svgBlip xmlns:asvg="http://schemas.microsoft.com/office/drawing/2016/SVG/main" r:embed="rId3"/>
                </a:ext>
              </a:extLst>
            </a:blip>
            <a:stretch>
              <a:fillRect t="-603" b="-602"/>
            </a:stretch>
          </a:blipFill>
        </p:spPr>
      </p:sp>
      <p:grpSp>
        <p:nvGrpSpPr>
          <p:cNvPr id="7" name="Group 7"/>
          <p:cNvGrpSpPr/>
          <p:nvPr/>
        </p:nvGrpSpPr>
        <p:grpSpPr>
          <a:xfrm>
            <a:off x="16830599" y="9612544"/>
            <a:ext cx="1097566" cy="602075"/>
            <a:chOff x="0" y="0"/>
            <a:chExt cx="1463421" cy="802767"/>
          </a:xfrm>
        </p:grpSpPr>
        <p:sp>
          <p:nvSpPr>
            <p:cNvPr id="8" name="Freeform 8"/>
            <p:cNvSpPr/>
            <p:nvPr/>
          </p:nvSpPr>
          <p:spPr>
            <a:xfrm>
              <a:off x="0" y="0"/>
              <a:ext cx="1463421" cy="802767"/>
            </a:xfrm>
            <a:custGeom>
              <a:avLst/>
              <a:gdLst/>
              <a:ahLst/>
              <a:cxnLst/>
              <a:rect l="l" t="t" r="r" b="b"/>
              <a:pathLst>
                <a:path w="1463421" h="802767">
                  <a:moveTo>
                    <a:pt x="0" y="0"/>
                  </a:moveTo>
                  <a:lnTo>
                    <a:pt x="1463421" y="0"/>
                  </a:lnTo>
                  <a:lnTo>
                    <a:pt x="1463421" y="802767"/>
                  </a:lnTo>
                  <a:lnTo>
                    <a:pt x="0" y="802767"/>
                  </a:lnTo>
                  <a:close/>
                </a:path>
              </a:pathLst>
            </a:custGeom>
            <a:blipFill>
              <a:blip r:embed="rId4">
                <a:alphaModFix amt="0"/>
              </a:blip>
              <a:stretch>
                <a:fillRect l="-20430" r="-20430"/>
              </a:stretch>
            </a:blipFill>
          </p:spPr>
        </p:sp>
      </p:grpSp>
      <p:grpSp>
        <p:nvGrpSpPr>
          <p:cNvPr id="9" name="Group 9"/>
          <p:cNvGrpSpPr/>
          <p:nvPr/>
        </p:nvGrpSpPr>
        <p:grpSpPr>
          <a:xfrm>
            <a:off x="16830599" y="9598257"/>
            <a:ext cx="1097566" cy="616363"/>
            <a:chOff x="0" y="0"/>
            <a:chExt cx="1463421" cy="821817"/>
          </a:xfrm>
        </p:grpSpPr>
        <p:sp>
          <p:nvSpPr>
            <p:cNvPr id="10" name="Freeform 10"/>
            <p:cNvSpPr/>
            <p:nvPr/>
          </p:nvSpPr>
          <p:spPr>
            <a:xfrm>
              <a:off x="0" y="0"/>
              <a:ext cx="1463421" cy="821817"/>
            </a:xfrm>
            <a:custGeom>
              <a:avLst/>
              <a:gdLst/>
              <a:ahLst/>
              <a:cxnLst/>
              <a:rect l="l" t="t" r="r" b="b"/>
              <a:pathLst>
                <a:path w="1463421" h="821817">
                  <a:moveTo>
                    <a:pt x="0" y="0"/>
                  </a:moveTo>
                  <a:lnTo>
                    <a:pt x="1463421" y="0"/>
                  </a:lnTo>
                  <a:lnTo>
                    <a:pt x="1463421" y="821817"/>
                  </a:lnTo>
                  <a:lnTo>
                    <a:pt x="0" y="821817"/>
                  </a:lnTo>
                  <a:close/>
                </a:path>
              </a:pathLst>
            </a:custGeom>
            <a:blipFill>
              <a:blip r:embed="rId5">
                <a:alphaModFix amt="0"/>
              </a:blip>
              <a:stretch>
                <a:fillRect l="-22101" r="-22101"/>
              </a:stretch>
            </a:blipFill>
          </p:spPr>
        </p:sp>
      </p:grpSp>
      <p:grpSp>
        <p:nvGrpSpPr>
          <p:cNvPr id="11" name="Group 11"/>
          <p:cNvGrpSpPr/>
          <p:nvPr/>
        </p:nvGrpSpPr>
        <p:grpSpPr>
          <a:xfrm>
            <a:off x="16830599" y="9583969"/>
            <a:ext cx="1097566" cy="630650"/>
            <a:chOff x="0" y="0"/>
            <a:chExt cx="1463421" cy="840867"/>
          </a:xfrm>
        </p:grpSpPr>
        <p:sp>
          <p:nvSpPr>
            <p:cNvPr id="12" name="Freeform 12"/>
            <p:cNvSpPr/>
            <p:nvPr/>
          </p:nvSpPr>
          <p:spPr>
            <a:xfrm>
              <a:off x="0" y="0"/>
              <a:ext cx="1463421" cy="840867"/>
            </a:xfrm>
            <a:custGeom>
              <a:avLst/>
              <a:gdLst/>
              <a:ahLst/>
              <a:cxnLst/>
              <a:rect l="l" t="t" r="r" b="b"/>
              <a:pathLst>
                <a:path w="1463421" h="840867">
                  <a:moveTo>
                    <a:pt x="0" y="0"/>
                  </a:moveTo>
                  <a:lnTo>
                    <a:pt x="1463421" y="0"/>
                  </a:lnTo>
                  <a:lnTo>
                    <a:pt x="1463421" y="840867"/>
                  </a:lnTo>
                  <a:lnTo>
                    <a:pt x="0" y="840867"/>
                  </a:lnTo>
                  <a:close/>
                </a:path>
              </a:pathLst>
            </a:custGeom>
            <a:blipFill>
              <a:blip r:embed="rId6">
                <a:alphaModFix amt="0"/>
              </a:blip>
              <a:stretch>
                <a:fillRect l="-23773" r="-23773"/>
              </a:stretch>
            </a:blipFill>
          </p:spPr>
        </p:sp>
      </p:grpSp>
      <p:grpSp>
        <p:nvGrpSpPr>
          <p:cNvPr id="13" name="Group 13"/>
          <p:cNvGrpSpPr/>
          <p:nvPr/>
        </p:nvGrpSpPr>
        <p:grpSpPr>
          <a:xfrm>
            <a:off x="16830599" y="9569682"/>
            <a:ext cx="1097547" cy="644966"/>
            <a:chOff x="0" y="0"/>
            <a:chExt cx="1463396" cy="859955"/>
          </a:xfrm>
        </p:grpSpPr>
        <p:sp>
          <p:nvSpPr>
            <p:cNvPr id="14" name="Freeform 14"/>
            <p:cNvSpPr/>
            <p:nvPr/>
          </p:nvSpPr>
          <p:spPr>
            <a:xfrm>
              <a:off x="0" y="0"/>
              <a:ext cx="1463421" cy="859917"/>
            </a:xfrm>
            <a:custGeom>
              <a:avLst/>
              <a:gdLst/>
              <a:ahLst/>
              <a:cxnLst/>
              <a:rect l="l" t="t" r="r" b="b"/>
              <a:pathLst>
                <a:path w="1463421" h="859917">
                  <a:moveTo>
                    <a:pt x="0" y="0"/>
                  </a:moveTo>
                  <a:lnTo>
                    <a:pt x="1463421" y="0"/>
                  </a:lnTo>
                  <a:lnTo>
                    <a:pt x="1463421" y="859917"/>
                  </a:lnTo>
                  <a:lnTo>
                    <a:pt x="0" y="859917"/>
                  </a:lnTo>
                  <a:close/>
                </a:path>
              </a:pathLst>
            </a:custGeom>
            <a:blipFill>
              <a:blip r:embed="rId7">
                <a:alphaModFix amt="0"/>
              </a:blip>
              <a:stretch>
                <a:fillRect l="-25449" r="-25446" b="-4"/>
              </a:stretch>
            </a:blipFill>
          </p:spPr>
        </p:sp>
      </p:grpSp>
      <p:grpSp>
        <p:nvGrpSpPr>
          <p:cNvPr id="15" name="Group 15"/>
          <p:cNvGrpSpPr/>
          <p:nvPr/>
        </p:nvGrpSpPr>
        <p:grpSpPr>
          <a:xfrm>
            <a:off x="16830599" y="9555394"/>
            <a:ext cx="1097547" cy="659254"/>
            <a:chOff x="0" y="0"/>
            <a:chExt cx="1463396" cy="879005"/>
          </a:xfrm>
        </p:grpSpPr>
        <p:sp>
          <p:nvSpPr>
            <p:cNvPr id="16" name="Freeform 16"/>
            <p:cNvSpPr/>
            <p:nvPr/>
          </p:nvSpPr>
          <p:spPr>
            <a:xfrm>
              <a:off x="0" y="0"/>
              <a:ext cx="1463396" cy="879005"/>
            </a:xfrm>
            <a:custGeom>
              <a:avLst/>
              <a:gdLst/>
              <a:ahLst/>
              <a:cxnLst/>
              <a:rect l="l" t="t" r="r" b="b"/>
              <a:pathLst>
                <a:path w="1463396" h="879005">
                  <a:moveTo>
                    <a:pt x="0" y="0"/>
                  </a:moveTo>
                  <a:lnTo>
                    <a:pt x="1463396" y="0"/>
                  </a:lnTo>
                  <a:lnTo>
                    <a:pt x="1463396" y="879005"/>
                  </a:lnTo>
                  <a:lnTo>
                    <a:pt x="0" y="879005"/>
                  </a:lnTo>
                  <a:close/>
                </a:path>
              </a:pathLst>
            </a:custGeom>
            <a:blipFill>
              <a:blip r:embed="rId8">
                <a:alphaModFix amt="0"/>
              </a:blip>
              <a:stretch>
                <a:fillRect l="-27066" r="-27066"/>
              </a:stretch>
            </a:blipFill>
          </p:spPr>
        </p:sp>
        <p:sp>
          <p:nvSpPr>
            <p:cNvPr id="17" name="TextBox 17"/>
            <p:cNvSpPr txBox="1"/>
            <p:nvPr/>
          </p:nvSpPr>
          <p:spPr>
            <a:xfrm>
              <a:off x="0" y="-19050"/>
              <a:ext cx="1463396" cy="898055"/>
            </a:xfrm>
            <a:prstGeom prst="rect">
              <a:avLst/>
            </a:prstGeom>
          </p:spPr>
          <p:txBody>
            <a:bodyPr lIns="0" tIns="0" rIns="0" bIns="0" rtlCol="0" anchor="ctr"/>
            <a:lstStyle/>
            <a:p>
              <a:pPr algn="r">
                <a:lnSpc>
                  <a:spcPts val="2160"/>
                </a:lnSpc>
              </a:pPr>
              <a:r>
                <a:rPr lang="en-US" sz="1800">
                  <a:solidFill>
                    <a:srgbClr val="FFFFFF"/>
                  </a:solidFill>
                  <a:latin typeface="Arial"/>
                  <a:ea typeface="Arial"/>
                  <a:cs typeface="Arial"/>
                  <a:sym typeface="Arial"/>
                </a:rPr>
                <a:t>14</a:t>
              </a:r>
            </a:p>
          </p:txBody>
        </p:sp>
      </p:grpSp>
      <p:sp>
        <p:nvSpPr>
          <p:cNvPr id="18" name="TextBox 18"/>
          <p:cNvSpPr txBox="1"/>
          <p:nvPr/>
        </p:nvSpPr>
        <p:spPr>
          <a:xfrm rot="-462600">
            <a:off x="13326065" y="9600938"/>
            <a:ext cx="2554043" cy="511435"/>
          </a:xfrm>
          <a:prstGeom prst="rect">
            <a:avLst/>
          </a:prstGeom>
        </p:spPr>
        <p:txBody>
          <a:bodyPr lIns="0" tIns="0" rIns="0" bIns="0" rtlCol="0" anchor="t">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id="19" name="TextBox 19"/>
          <p:cNvSpPr txBox="1"/>
          <p:nvPr/>
        </p:nvSpPr>
        <p:spPr>
          <a:xfrm rot="1440">
            <a:off x="9193218" y="9716433"/>
            <a:ext cx="4176751" cy="465077"/>
          </a:xfrm>
          <a:prstGeom prst="rect">
            <a:avLst/>
          </a:prstGeom>
        </p:spPr>
        <p:txBody>
          <a:bodyPr lIns="0" tIns="0" rIns="0" bIns="0" rtlCol="0" anchor="t">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id="20" name="TextBox 20"/>
          <p:cNvSpPr txBox="1"/>
          <p:nvPr/>
        </p:nvSpPr>
        <p:spPr>
          <a:xfrm>
            <a:off x="572348" y="771754"/>
            <a:ext cx="17182843" cy="949747"/>
          </a:xfrm>
          <a:prstGeom prst="rect">
            <a:avLst/>
          </a:prstGeom>
        </p:spPr>
        <p:txBody>
          <a:bodyPr lIns="0" tIns="0" rIns="0" bIns="0" rtlCol="0" anchor="t">
            <a:spAutoFit/>
          </a:bodyPr>
          <a:lstStyle/>
          <a:p>
            <a:pPr algn="l">
              <a:lnSpc>
                <a:spcPts val="6396"/>
              </a:lnSpc>
            </a:pPr>
            <a:r>
              <a:rPr lang="en-US" sz="3999" b="1" spc="-15">
                <a:solidFill>
                  <a:srgbClr val="0000FF"/>
                </a:solidFill>
                <a:latin typeface="Times New Roman Bold"/>
                <a:ea typeface="Times New Roman Bold"/>
                <a:cs typeface="Times New Roman Bold"/>
                <a:sym typeface="Times New Roman Bold"/>
              </a:rPr>
              <a:t>Methodology 2: Learnable Fourier Time Encoding (Core Novelty)</a:t>
            </a:r>
          </a:p>
        </p:txBody>
      </p:sp>
      <p:sp>
        <p:nvSpPr>
          <p:cNvPr id="21" name="TextBox 21"/>
          <p:cNvSpPr txBox="1"/>
          <p:nvPr/>
        </p:nvSpPr>
        <p:spPr>
          <a:xfrm>
            <a:off x="745303" y="2640959"/>
            <a:ext cx="17009888" cy="5677033"/>
          </a:xfrm>
          <a:prstGeom prst="rect">
            <a:avLst/>
          </a:prstGeom>
        </p:spPr>
        <p:txBody>
          <a:bodyPr lIns="0" tIns="0" rIns="0" bIns="0" rtlCol="0" anchor="t">
            <a:spAutoFit/>
          </a:bodyPr>
          <a:lstStyle/>
          <a:p>
            <a:pPr algn="just">
              <a:lnSpc>
                <a:spcPts val="4558"/>
              </a:lnSpc>
            </a:pPr>
            <a:r>
              <a:rPr lang="en-US" sz="3798" b="1" spc="-29">
                <a:solidFill>
                  <a:srgbClr val="000000"/>
                </a:solidFill>
                <a:latin typeface="Times New Roman Bold"/>
                <a:ea typeface="Times New Roman Bold"/>
                <a:cs typeface="Times New Roman Bold"/>
                <a:sym typeface="Times New Roman Bold"/>
              </a:rPr>
              <a:t>Description:</a:t>
            </a:r>
          </a:p>
          <a:p>
            <a:pPr algn="just">
              <a:lnSpc>
                <a:spcPts val="3117"/>
              </a:lnSpc>
            </a:pPr>
            <a:r>
              <a:rPr lang="en-US" sz="2598" spc="-19">
                <a:solidFill>
                  <a:srgbClr val="000000"/>
                </a:solidFill>
                <a:latin typeface="Times New Roman"/>
                <a:ea typeface="Times New Roman"/>
                <a:cs typeface="Times New Roman"/>
                <a:sym typeface="Times New Roman"/>
              </a:rPr>
              <a:t>Implement the Fourier time encoding module φ(t) = [cos(ω₁t), sin(ω₁t)...cos(ωdt), sin(ωdt)] where all frequency parameters ω₁...ωd are initialised randomly and trained end-to-end with the TGAT model. Concatenate the 128-dimensional time vector with node features before attention computation.</a:t>
            </a:r>
          </a:p>
          <a:p>
            <a:pPr algn="just">
              <a:lnSpc>
                <a:spcPts val="4558"/>
              </a:lnSpc>
            </a:pPr>
            <a:r>
              <a:rPr lang="en-US" sz="3798" b="1" spc="-29">
                <a:solidFill>
                  <a:srgbClr val="000000"/>
                </a:solidFill>
                <a:latin typeface="Times New Roman Bold"/>
                <a:ea typeface="Times New Roman Bold"/>
                <a:cs typeface="Times New Roman Bold"/>
                <a:sym typeface="Times New Roman Bold"/>
              </a:rPr>
              <a:t>Components:</a:t>
            </a:r>
          </a:p>
          <a:p>
            <a:pPr marL="990479" lvl="5" indent="-165080" algn="just">
              <a:lnSpc>
                <a:spcPts val="3117"/>
              </a:lnSpc>
              <a:buFont typeface="Arial"/>
              <a:buChar char="⚬"/>
            </a:pPr>
            <a:r>
              <a:rPr lang="en-US" sz="2598" spc="-19">
                <a:solidFill>
                  <a:srgbClr val="000000"/>
                </a:solidFill>
                <a:latin typeface="Times New Roman"/>
                <a:ea typeface="Times New Roman"/>
                <a:cs typeface="Times New Roman"/>
                <a:sym typeface="Times New Roman"/>
              </a:rPr>
              <a:t>Fourier encoder: cos/sin waves at d=64 frequencies</a:t>
            </a:r>
          </a:p>
          <a:p>
            <a:pPr marL="990479" lvl="5" indent="-165080" algn="just">
              <a:lnSpc>
                <a:spcPts val="3117"/>
              </a:lnSpc>
              <a:buFont typeface="Arial"/>
              <a:buChar char="⚬"/>
            </a:pPr>
            <a:r>
              <a:rPr lang="en-US" sz="2598" spc="-19">
                <a:solidFill>
                  <a:srgbClr val="000000"/>
                </a:solidFill>
                <a:latin typeface="Times New Roman"/>
                <a:ea typeface="Times New Roman"/>
                <a:cs typeface="Times New Roman"/>
                <a:sym typeface="Times New Roman"/>
              </a:rPr>
              <a:t>Trainable ω parameters updated via backpropagation</a:t>
            </a:r>
          </a:p>
          <a:p>
            <a:pPr marL="990479" lvl="5" indent="-165080" algn="just">
              <a:lnSpc>
                <a:spcPts val="3117"/>
              </a:lnSpc>
              <a:buFont typeface="Arial"/>
              <a:buChar char="⚬"/>
            </a:pPr>
            <a:r>
              <a:rPr lang="en-US" sz="2598" spc="-19">
                <a:solidFill>
                  <a:srgbClr val="000000"/>
                </a:solidFill>
                <a:latin typeface="Times New Roman"/>
                <a:ea typeface="Times New Roman"/>
                <a:cs typeface="Times New Roman"/>
                <a:sym typeface="Times New Roman"/>
              </a:rPr>
              <a:t>Causal constraint: only past neighbours included at time t</a:t>
            </a:r>
          </a:p>
          <a:p>
            <a:pPr marL="990479" lvl="5" indent="-165080" algn="just">
              <a:lnSpc>
                <a:spcPts val="3117"/>
              </a:lnSpc>
              <a:buFont typeface="Arial"/>
              <a:buChar char="⚬"/>
            </a:pPr>
            <a:r>
              <a:rPr lang="en-US" sz="2598" spc="-19">
                <a:solidFill>
                  <a:srgbClr val="000000"/>
                </a:solidFill>
                <a:latin typeface="Times New Roman"/>
                <a:ea typeface="Times New Roman"/>
                <a:cs typeface="Times New Roman"/>
                <a:sym typeface="Times New Roman"/>
              </a:rPr>
              <a:t>Time-delta encoding: φ(t_current − t_neighbour) per edge</a:t>
            </a:r>
          </a:p>
          <a:p>
            <a:pPr marL="990479" lvl="5" indent="-165080" algn="just">
              <a:lnSpc>
                <a:spcPts val="3117"/>
              </a:lnSpc>
              <a:buFont typeface="Arial"/>
              <a:buChar char="⚬"/>
            </a:pPr>
            <a:r>
              <a:rPr lang="en-US" sz="2598" spc="-19">
                <a:solidFill>
                  <a:srgbClr val="000000"/>
                </a:solidFill>
                <a:latin typeface="Times New Roman"/>
                <a:ea typeface="Times New Roman"/>
                <a:cs typeface="Times New Roman"/>
                <a:sym typeface="Times New Roman"/>
              </a:rPr>
              <a:t>Concatenation: [node features (172d) || time encoding (128d)]</a:t>
            </a:r>
          </a:p>
          <a:p>
            <a:pPr marL="990479" lvl="5" indent="-165080" algn="just">
              <a:lnSpc>
                <a:spcPts val="3117"/>
              </a:lnSpc>
              <a:buFont typeface="Arial"/>
              <a:buChar char="⚬"/>
            </a:pPr>
            <a:r>
              <a:rPr lang="en-US" sz="2598" spc="-19">
                <a:solidFill>
                  <a:srgbClr val="000000"/>
                </a:solidFill>
                <a:latin typeface="Times New Roman"/>
                <a:ea typeface="Times New Roman"/>
                <a:cs typeface="Times New Roman"/>
                <a:sym typeface="Times New Roman"/>
              </a:rPr>
              <a:t>Multi-head attention: 4 heads over temporal neighbourhood</a:t>
            </a:r>
          </a:p>
          <a:p>
            <a:pPr marL="1447799" lvl="5" indent="-241300" algn="just">
              <a:lnSpc>
                <a:spcPts val="4558"/>
              </a:lnSpc>
            </a:pPr>
            <a:r>
              <a:rPr lang="en-US" sz="3798" b="1" spc="-29">
                <a:solidFill>
                  <a:srgbClr val="000000"/>
                </a:solidFill>
                <a:latin typeface="Times New Roman Bold"/>
                <a:ea typeface="Times New Roman Bold"/>
                <a:cs typeface="Times New Roman Bold"/>
                <a:sym typeface="Times New Roman Bold"/>
              </a:rPr>
              <a:t>Output:</a:t>
            </a:r>
          </a:p>
          <a:p>
            <a:pPr marL="990479" lvl="5" indent="-165080" algn="just">
              <a:lnSpc>
                <a:spcPts val="3117"/>
              </a:lnSpc>
            </a:pPr>
            <a:r>
              <a:rPr lang="en-US" sz="2598" spc="-19">
                <a:solidFill>
                  <a:srgbClr val="000000"/>
                </a:solidFill>
                <a:latin typeface="Times New Roman"/>
                <a:ea typeface="Times New Roman"/>
                <a:cs typeface="Times New Roman"/>
                <a:sym typeface="Times New Roman"/>
              </a:rPr>
              <a:t>Time-aware node embeddings capturing laundering-specific temporal signatures.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65" y="-43167"/>
            <a:ext cx="18345198" cy="450009"/>
            <a:chOff x="0" y="0"/>
            <a:chExt cx="24460264" cy="600012"/>
          </a:xfrm>
        </p:grpSpPr>
        <p:sp>
          <p:nvSpPr>
            <p:cNvPr id="3" name="Freeform 3"/>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grpSp>
        <p:nvGrpSpPr>
          <p:cNvPr id="4" name="Group 4"/>
          <p:cNvGrpSpPr/>
          <p:nvPr/>
        </p:nvGrpSpPr>
        <p:grpSpPr>
          <a:xfrm>
            <a:off x="-28565" y="9894760"/>
            <a:ext cx="18345198" cy="450009"/>
            <a:chOff x="0" y="0"/>
            <a:chExt cx="24460264" cy="600012"/>
          </a:xfrm>
        </p:grpSpPr>
        <p:sp>
          <p:nvSpPr>
            <p:cNvPr id="5" name="Freeform 5"/>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sp>
        <p:nvSpPr>
          <p:cNvPr id="6" name="Freeform 6"/>
          <p:cNvSpPr/>
          <p:nvPr/>
        </p:nvSpPr>
        <p:spPr>
          <a:xfrm>
            <a:off x="-12583" y="9568444"/>
            <a:ext cx="18313003" cy="555165"/>
          </a:xfrm>
          <a:custGeom>
            <a:avLst/>
            <a:gdLst/>
            <a:ahLst/>
            <a:cxnLst/>
            <a:rect l="l" t="t" r="r" b="b"/>
            <a:pathLst>
              <a:path w="18313003" h="555165">
                <a:moveTo>
                  <a:pt x="0" y="0"/>
                </a:moveTo>
                <a:lnTo>
                  <a:pt x="18313004" y="0"/>
                </a:lnTo>
                <a:lnTo>
                  <a:pt x="18313004" y="555164"/>
                </a:lnTo>
                <a:lnTo>
                  <a:pt x="0" y="555164"/>
                </a:lnTo>
                <a:lnTo>
                  <a:pt x="0" y="0"/>
                </a:lnTo>
                <a:close/>
              </a:path>
            </a:pathLst>
          </a:custGeom>
          <a:blipFill>
            <a:blip>
              <a:extLst>
                <a:ext uri="{96DAC541-7B7A-43D3-8B79-37D633B846F1}">
                  <asvg:svgBlip xmlns:asvg="http://schemas.microsoft.com/office/drawing/2016/SVG/main" r:embed="rId3"/>
                </a:ext>
              </a:extLst>
            </a:blip>
            <a:stretch>
              <a:fillRect t="-603" b="-602"/>
            </a:stretch>
          </a:blipFill>
        </p:spPr>
      </p:sp>
      <p:grpSp>
        <p:nvGrpSpPr>
          <p:cNvPr id="7" name="Group 7"/>
          <p:cNvGrpSpPr/>
          <p:nvPr/>
        </p:nvGrpSpPr>
        <p:grpSpPr>
          <a:xfrm>
            <a:off x="16830599" y="9612544"/>
            <a:ext cx="1097566" cy="602075"/>
            <a:chOff x="0" y="0"/>
            <a:chExt cx="1463421" cy="802767"/>
          </a:xfrm>
        </p:grpSpPr>
        <p:sp>
          <p:nvSpPr>
            <p:cNvPr id="8" name="Freeform 8"/>
            <p:cNvSpPr/>
            <p:nvPr/>
          </p:nvSpPr>
          <p:spPr>
            <a:xfrm>
              <a:off x="0" y="0"/>
              <a:ext cx="1463421" cy="802767"/>
            </a:xfrm>
            <a:custGeom>
              <a:avLst/>
              <a:gdLst/>
              <a:ahLst/>
              <a:cxnLst/>
              <a:rect l="l" t="t" r="r" b="b"/>
              <a:pathLst>
                <a:path w="1463421" h="802767">
                  <a:moveTo>
                    <a:pt x="0" y="0"/>
                  </a:moveTo>
                  <a:lnTo>
                    <a:pt x="1463421" y="0"/>
                  </a:lnTo>
                  <a:lnTo>
                    <a:pt x="1463421" y="802767"/>
                  </a:lnTo>
                  <a:lnTo>
                    <a:pt x="0" y="802767"/>
                  </a:lnTo>
                  <a:close/>
                </a:path>
              </a:pathLst>
            </a:custGeom>
            <a:blipFill>
              <a:blip r:embed="rId4">
                <a:alphaModFix amt="0"/>
              </a:blip>
              <a:stretch>
                <a:fillRect l="-20430" r="-20430"/>
              </a:stretch>
            </a:blipFill>
          </p:spPr>
        </p:sp>
      </p:grpSp>
      <p:grpSp>
        <p:nvGrpSpPr>
          <p:cNvPr id="9" name="Group 9"/>
          <p:cNvGrpSpPr/>
          <p:nvPr/>
        </p:nvGrpSpPr>
        <p:grpSpPr>
          <a:xfrm>
            <a:off x="16830599" y="9598257"/>
            <a:ext cx="1097566" cy="616363"/>
            <a:chOff x="0" y="0"/>
            <a:chExt cx="1463421" cy="821817"/>
          </a:xfrm>
        </p:grpSpPr>
        <p:sp>
          <p:nvSpPr>
            <p:cNvPr id="10" name="Freeform 10"/>
            <p:cNvSpPr/>
            <p:nvPr/>
          </p:nvSpPr>
          <p:spPr>
            <a:xfrm>
              <a:off x="0" y="0"/>
              <a:ext cx="1463421" cy="821817"/>
            </a:xfrm>
            <a:custGeom>
              <a:avLst/>
              <a:gdLst/>
              <a:ahLst/>
              <a:cxnLst/>
              <a:rect l="l" t="t" r="r" b="b"/>
              <a:pathLst>
                <a:path w="1463421" h="821817">
                  <a:moveTo>
                    <a:pt x="0" y="0"/>
                  </a:moveTo>
                  <a:lnTo>
                    <a:pt x="1463421" y="0"/>
                  </a:lnTo>
                  <a:lnTo>
                    <a:pt x="1463421" y="821817"/>
                  </a:lnTo>
                  <a:lnTo>
                    <a:pt x="0" y="821817"/>
                  </a:lnTo>
                  <a:close/>
                </a:path>
              </a:pathLst>
            </a:custGeom>
            <a:blipFill>
              <a:blip r:embed="rId5">
                <a:alphaModFix amt="0"/>
              </a:blip>
              <a:stretch>
                <a:fillRect l="-22101" r="-22101"/>
              </a:stretch>
            </a:blipFill>
          </p:spPr>
        </p:sp>
      </p:grpSp>
      <p:grpSp>
        <p:nvGrpSpPr>
          <p:cNvPr id="11" name="Group 11"/>
          <p:cNvGrpSpPr/>
          <p:nvPr/>
        </p:nvGrpSpPr>
        <p:grpSpPr>
          <a:xfrm>
            <a:off x="16830599" y="9583969"/>
            <a:ext cx="1097566" cy="630650"/>
            <a:chOff x="0" y="0"/>
            <a:chExt cx="1463421" cy="840867"/>
          </a:xfrm>
        </p:grpSpPr>
        <p:sp>
          <p:nvSpPr>
            <p:cNvPr id="12" name="Freeform 12"/>
            <p:cNvSpPr/>
            <p:nvPr/>
          </p:nvSpPr>
          <p:spPr>
            <a:xfrm>
              <a:off x="0" y="0"/>
              <a:ext cx="1463421" cy="840867"/>
            </a:xfrm>
            <a:custGeom>
              <a:avLst/>
              <a:gdLst/>
              <a:ahLst/>
              <a:cxnLst/>
              <a:rect l="l" t="t" r="r" b="b"/>
              <a:pathLst>
                <a:path w="1463421" h="840867">
                  <a:moveTo>
                    <a:pt x="0" y="0"/>
                  </a:moveTo>
                  <a:lnTo>
                    <a:pt x="1463421" y="0"/>
                  </a:lnTo>
                  <a:lnTo>
                    <a:pt x="1463421" y="840867"/>
                  </a:lnTo>
                  <a:lnTo>
                    <a:pt x="0" y="840867"/>
                  </a:lnTo>
                  <a:close/>
                </a:path>
              </a:pathLst>
            </a:custGeom>
            <a:blipFill>
              <a:blip r:embed="rId6">
                <a:alphaModFix amt="0"/>
              </a:blip>
              <a:stretch>
                <a:fillRect l="-23773" r="-23773"/>
              </a:stretch>
            </a:blipFill>
          </p:spPr>
        </p:sp>
      </p:grpSp>
      <p:grpSp>
        <p:nvGrpSpPr>
          <p:cNvPr id="13" name="Group 13"/>
          <p:cNvGrpSpPr/>
          <p:nvPr/>
        </p:nvGrpSpPr>
        <p:grpSpPr>
          <a:xfrm>
            <a:off x="16830599" y="9569682"/>
            <a:ext cx="1097547" cy="644966"/>
            <a:chOff x="0" y="0"/>
            <a:chExt cx="1463396" cy="859955"/>
          </a:xfrm>
        </p:grpSpPr>
        <p:sp>
          <p:nvSpPr>
            <p:cNvPr id="14" name="Freeform 14"/>
            <p:cNvSpPr/>
            <p:nvPr/>
          </p:nvSpPr>
          <p:spPr>
            <a:xfrm>
              <a:off x="0" y="0"/>
              <a:ext cx="1463421" cy="859917"/>
            </a:xfrm>
            <a:custGeom>
              <a:avLst/>
              <a:gdLst/>
              <a:ahLst/>
              <a:cxnLst/>
              <a:rect l="l" t="t" r="r" b="b"/>
              <a:pathLst>
                <a:path w="1463421" h="859917">
                  <a:moveTo>
                    <a:pt x="0" y="0"/>
                  </a:moveTo>
                  <a:lnTo>
                    <a:pt x="1463421" y="0"/>
                  </a:lnTo>
                  <a:lnTo>
                    <a:pt x="1463421" y="859917"/>
                  </a:lnTo>
                  <a:lnTo>
                    <a:pt x="0" y="859917"/>
                  </a:lnTo>
                  <a:close/>
                </a:path>
              </a:pathLst>
            </a:custGeom>
            <a:blipFill>
              <a:blip r:embed="rId7">
                <a:alphaModFix amt="0"/>
              </a:blip>
              <a:stretch>
                <a:fillRect l="-25449" r="-25446" b="-4"/>
              </a:stretch>
            </a:blipFill>
          </p:spPr>
        </p:sp>
      </p:grpSp>
      <p:grpSp>
        <p:nvGrpSpPr>
          <p:cNvPr id="15" name="Group 15"/>
          <p:cNvGrpSpPr/>
          <p:nvPr/>
        </p:nvGrpSpPr>
        <p:grpSpPr>
          <a:xfrm>
            <a:off x="16830599" y="9555394"/>
            <a:ext cx="1097547" cy="659254"/>
            <a:chOff x="0" y="0"/>
            <a:chExt cx="1463396" cy="879005"/>
          </a:xfrm>
        </p:grpSpPr>
        <p:sp>
          <p:nvSpPr>
            <p:cNvPr id="16" name="Freeform 16"/>
            <p:cNvSpPr/>
            <p:nvPr/>
          </p:nvSpPr>
          <p:spPr>
            <a:xfrm>
              <a:off x="0" y="0"/>
              <a:ext cx="1463396" cy="879005"/>
            </a:xfrm>
            <a:custGeom>
              <a:avLst/>
              <a:gdLst/>
              <a:ahLst/>
              <a:cxnLst/>
              <a:rect l="l" t="t" r="r" b="b"/>
              <a:pathLst>
                <a:path w="1463396" h="879005">
                  <a:moveTo>
                    <a:pt x="0" y="0"/>
                  </a:moveTo>
                  <a:lnTo>
                    <a:pt x="1463396" y="0"/>
                  </a:lnTo>
                  <a:lnTo>
                    <a:pt x="1463396" y="879005"/>
                  </a:lnTo>
                  <a:lnTo>
                    <a:pt x="0" y="879005"/>
                  </a:lnTo>
                  <a:close/>
                </a:path>
              </a:pathLst>
            </a:custGeom>
            <a:blipFill>
              <a:blip r:embed="rId8">
                <a:alphaModFix amt="0"/>
              </a:blip>
              <a:stretch>
                <a:fillRect l="-27066" r="-27066"/>
              </a:stretch>
            </a:blipFill>
          </p:spPr>
        </p:sp>
        <p:sp>
          <p:nvSpPr>
            <p:cNvPr id="17" name="TextBox 17"/>
            <p:cNvSpPr txBox="1"/>
            <p:nvPr/>
          </p:nvSpPr>
          <p:spPr>
            <a:xfrm>
              <a:off x="0" y="-19050"/>
              <a:ext cx="1463396" cy="898055"/>
            </a:xfrm>
            <a:prstGeom prst="rect">
              <a:avLst/>
            </a:prstGeom>
          </p:spPr>
          <p:txBody>
            <a:bodyPr lIns="0" tIns="0" rIns="0" bIns="0" rtlCol="0" anchor="ctr"/>
            <a:lstStyle/>
            <a:p>
              <a:pPr algn="r">
                <a:lnSpc>
                  <a:spcPts val="2160"/>
                </a:lnSpc>
              </a:pPr>
              <a:r>
                <a:rPr lang="en-US" sz="1800">
                  <a:solidFill>
                    <a:srgbClr val="FFFFFF"/>
                  </a:solidFill>
                  <a:latin typeface="Arial"/>
                  <a:ea typeface="Arial"/>
                  <a:cs typeface="Arial"/>
                  <a:sym typeface="Arial"/>
                </a:rPr>
                <a:t>15</a:t>
              </a:r>
            </a:p>
          </p:txBody>
        </p:sp>
      </p:grpSp>
      <p:sp>
        <p:nvSpPr>
          <p:cNvPr id="18" name="TextBox 18"/>
          <p:cNvSpPr txBox="1"/>
          <p:nvPr/>
        </p:nvSpPr>
        <p:spPr>
          <a:xfrm rot="-462600">
            <a:off x="13326065" y="9600938"/>
            <a:ext cx="2554043" cy="511435"/>
          </a:xfrm>
          <a:prstGeom prst="rect">
            <a:avLst/>
          </a:prstGeom>
        </p:spPr>
        <p:txBody>
          <a:bodyPr lIns="0" tIns="0" rIns="0" bIns="0" rtlCol="0" anchor="t">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id="19" name="TextBox 19"/>
          <p:cNvSpPr txBox="1"/>
          <p:nvPr/>
        </p:nvSpPr>
        <p:spPr>
          <a:xfrm rot="1440">
            <a:off x="9193218" y="9716433"/>
            <a:ext cx="4176751" cy="465077"/>
          </a:xfrm>
          <a:prstGeom prst="rect">
            <a:avLst/>
          </a:prstGeom>
        </p:spPr>
        <p:txBody>
          <a:bodyPr lIns="0" tIns="0" rIns="0" bIns="0" rtlCol="0" anchor="t">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id="20" name="TextBox 20"/>
          <p:cNvSpPr txBox="1"/>
          <p:nvPr/>
        </p:nvSpPr>
        <p:spPr>
          <a:xfrm>
            <a:off x="745303" y="683200"/>
            <a:ext cx="15157561" cy="949747"/>
          </a:xfrm>
          <a:prstGeom prst="rect">
            <a:avLst/>
          </a:prstGeom>
        </p:spPr>
        <p:txBody>
          <a:bodyPr lIns="0" tIns="0" rIns="0" bIns="0" rtlCol="0" anchor="t">
            <a:spAutoFit/>
          </a:bodyPr>
          <a:lstStyle/>
          <a:p>
            <a:pPr algn="l">
              <a:lnSpc>
                <a:spcPts val="6396"/>
              </a:lnSpc>
            </a:pPr>
            <a:r>
              <a:rPr lang="en-US" sz="3999" b="1" spc="-15">
                <a:solidFill>
                  <a:srgbClr val="0000FF"/>
                </a:solidFill>
                <a:latin typeface="Times New Roman Bold"/>
                <a:ea typeface="Times New Roman Bold"/>
                <a:cs typeface="Times New Roman Bold"/>
                <a:sym typeface="Times New Roman Bold"/>
              </a:rPr>
              <a:t>Methodology 3: TGAT Model Training &amp; Pattern Detection</a:t>
            </a:r>
          </a:p>
        </p:txBody>
      </p:sp>
      <p:sp>
        <p:nvSpPr>
          <p:cNvPr id="21" name="TextBox 21"/>
          <p:cNvSpPr txBox="1"/>
          <p:nvPr/>
        </p:nvSpPr>
        <p:spPr>
          <a:xfrm>
            <a:off x="745303" y="2402834"/>
            <a:ext cx="17079849" cy="5286508"/>
          </a:xfrm>
          <a:prstGeom prst="rect">
            <a:avLst/>
          </a:prstGeom>
        </p:spPr>
        <p:txBody>
          <a:bodyPr lIns="0" tIns="0" rIns="0" bIns="0" rtlCol="0" anchor="t">
            <a:spAutoFit/>
          </a:bodyPr>
          <a:lstStyle/>
          <a:p>
            <a:pPr algn="just">
              <a:lnSpc>
                <a:spcPts val="4558"/>
              </a:lnSpc>
            </a:pPr>
            <a:r>
              <a:rPr lang="en-US" sz="3798" b="1" spc="-29">
                <a:solidFill>
                  <a:srgbClr val="000000"/>
                </a:solidFill>
                <a:latin typeface="Times New Roman Bold"/>
                <a:ea typeface="Times New Roman Bold"/>
                <a:cs typeface="Times New Roman Bold"/>
                <a:sym typeface="Times New Roman Bold"/>
              </a:rPr>
              <a:t>Description:</a:t>
            </a:r>
          </a:p>
          <a:p>
            <a:pPr algn="just">
              <a:lnSpc>
                <a:spcPts val="3117"/>
              </a:lnSpc>
            </a:pPr>
            <a:r>
              <a:rPr lang="en-US" sz="2598" spc="-19">
                <a:solidFill>
                  <a:srgbClr val="000000"/>
                </a:solidFill>
                <a:latin typeface="Times New Roman"/>
                <a:ea typeface="Times New Roman"/>
                <a:cs typeface="Times New Roman"/>
                <a:sym typeface="Times New Roman"/>
              </a:rPr>
              <a:t>Train the full TGAT model with learnable Fourier encoding on the Elliptic dataset. Build three pattern-specific detection heads on the shared embedding space. Train with binary cross-entropy loss and per-timestep class weighting to address the ~2% illicit class imbalance across 49 time steps.</a:t>
            </a:r>
          </a:p>
          <a:p>
            <a:pPr algn="just">
              <a:lnSpc>
                <a:spcPts val="4558"/>
              </a:lnSpc>
            </a:pPr>
            <a:r>
              <a:rPr lang="en-US" sz="3798" b="1" spc="-29">
                <a:solidFill>
                  <a:srgbClr val="000000"/>
                </a:solidFill>
                <a:latin typeface="Times New Roman Bold"/>
                <a:ea typeface="Times New Roman Bold"/>
                <a:cs typeface="Times New Roman Bold"/>
                <a:sym typeface="Times New Roman Bold"/>
              </a:rPr>
              <a:t>Components:</a:t>
            </a:r>
          </a:p>
          <a:p>
            <a:pPr marL="1076331" lvl="5" indent="-179388" algn="l">
              <a:lnSpc>
                <a:spcPts val="3117"/>
              </a:lnSpc>
              <a:buFont typeface="Arial"/>
              <a:buChar char="⚬"/>
            </a:pPr>
            <a:r>
              <a:rPr lang="en-US" sz="2598" spc="-26">
                <a:solidFill>
                  <a:srgbClr val="000000"/>
                </a:solidFill>
                <a:latin typeface="Times New Roman"/>
                <a:ea typeface="Times New Roman"/>
                <a:cs typeface="Times New Roman"/>
                <a:sym typeface="Times New Roman"/>
              </a:rPr>
              <a:t>Circular Transfer Head: subgraph motif matching on temporal cycles A→B→C→A</a:t>
            </a:r>
          </a:p>
          <a:p>
            <a:pPr marL="1076331" lvl="5" indent="-179388" algn="l">
              <a:lnSpc>
                <a:spcPts val="3117"/>
              </a:lnSpc>
              <a:buFont typeface="Arial"/>
              <a:buChar char="⚬"/>
            </a:pPr>
            <a:r>
              <a:rPr lang="en-US" sz="2598" spc="-26">
                <a:solidFill>
                  <a:srgbClr val="000000"/>
                </a:solidFill>
                <a:latin typeface="Times New Roman"/>
                <a:ea typeface="Times New Roman"/>
                <a:cs typeface="Times New Roman"/>
                <a:sym typeface="Times New Roman"/>
              </a:rPr>
              <a:t>Layering Chain Head: temporal path velocity scoring for 10+ hop chains</a:t>
            </a:r>
          </a:p>
          <a:p>
            <a:pPr marL="1076331" lvl="5" indent="-179388" algn="l">
              <a:lnSpc>
                <a:spcPts val="3117"/>
              </a:lnSpc>
              <a:buFont typeface="Arial"/>
              <a:buChar char="⚬"/>
            </a:pPr>
            <a:r>
              <a:rPr lang="en-US" sz="2598" spc="-26">
                <a:solidFill>
                  <a:srgbClr val="000000"/>
                </a:solidFill>
                <a:latin typeface="Times New Roman"/>
                <a:ea typeface="Times New Roman"/>
                <a:cs typeface="Times New Roman"/>
                <a:sym typeface="Times New Roman"/>
              </a:rPr>
              <a:t>Smurfing Head: fan-out anomaly score for 50+ outgoing txns in 1-2 steps</a:t>
            </a:r>
          </a:p>
          <a:p>
            <a:pPr marL="1076331" lvl="5" indent="-179388" algn="l">
              <a:lnSpc>
                <a:spcPts val="3117"/>
              </a:lnSpc>
              <a:buFont typeface="Arial"/>
              <a:buChar char="⚬"/>
            </a:pPr>
            <a:r>
              <a:rPr lang="en-US" sz="2598" spc="-26">
                <a:solidFill>
                  <a:srgbClr val="000000"/>
                </a:solidFill>
                <a:latin typeface="Times New Roman"/>
                <a:ea typeface="Times New Roman"/>
                <a:cs typeface="Times New Roman"/>
                <a:sym typeface="Times New Roman"/>
              </a:rPr>
              <a:t>Loss: Binary Cross-Entropy + L2 regularization + per-timestep class weights</a:t>
            </a:r>
          </a:p>
          <a:p>
            <a:pPr marL="1076331" lvl="5" indent="-179388" algn="l">
              <a:lnSpc>
                <a:spcPts val="3117"/>
              </a:lnSpc>
              <a:buFont typeface="Arial"/>
              <a:buChar char="⚬"/>
            </a:pPr>
            <a:r>
              <a:rPr lang="en-US" sz="2598" spc="-26">
                <a:solidFill>
                  <a:srgbClr val="000000"/>
                </a:solidFill>
                <a:latin typeface="Times New Roman"/>
                <a:ea typeface="Times New Roman"/>
                <a:cs typeface="Times New Roman"/>
                <a:sym typeface="Times New Roman"/>
              </a:rPr>
              <a:t>Optimizer: Adam, LR=0.001, 200 epochs, Google Colab free GPU</a:t>
            </a:r>
          </a:p>
          <a:p>
            <a:pPr marL="1573290" lvl="5" indent="-262215" algn="just">
              <a:lnSpc>
                <a:spcPts val="4558"/>
              </a:lnSpc>
            </a:pPr>
            <a:r>
              <a:rPr lang="en-US" sz="3798" b="1" spc="-29">
                <a:solidFill>
                  <a:srgbClr val="000000"/>
                </a:solidFill>
                <a:latin typeface="Times New Roman Bold"/>
                <a:ea typeface="Times New Roman Bold"/>
                <a:cs typeface="Times New Roman Bold"/>
                <a:sym typeface="Times New Roman Bold"/>
              </a:rPr>
              <a:t>Output:</a:t>
            </a:r>
          </a:p>
          <a:p>
            <a:pPr marL="1076331" lvl="5" indent="-179388" algn="just">
              <a:lnSpc>
                <a:spcPts val="3117"/>
              </a:lnSpc>
            </a:pPr>
            <a:r>
              <a:rPr lang="en-US" sz="2598" spc="-19">
                <a:solidFill>
                  <a:srgbClr val="000000"/>
                </a:solidFill>
                <a:latin typeface="Times New Roman"/>
                <a:ea typeface="Times New Roman"/>
                <a:cs typeface="Times New Roman"/>
                <a:sym typeface="Times New Roman"/>
              </a:rPr>
              <a:t>Trained TGAT model producing multi-label pattern classification for every wallet node.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65" y="-43167"/>
            <a:ext cx="18345198" cy="450009"/>
            <a:chOff x="0" y="0"/>
            <a:chExt cx="24460264" cy="600012"/>
          </a:xfrm>
        </p:grpSpPr>
        <p:sp>
          <p:nvSpPr>
            <p:cNvPr id="3" name="Freeform 3"/>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grpSp>
        <p:nvGrpSpPr>
          <p:cNvPr id="4" name="Group 4"/>
          <p:cNvGrpSpPr/>
          <p:nvPr/>
        </p:nvGrpSpPr>
        <p:grpSpPr>
          <a:xfrm>
            <a:off x="-28565" y="9894760"/>
            <a:ext cx="18345198" cy="450009"/>
            <a:chOff x="0" y="0"/>
            <a:chExt cx="24460264" cy="600012"/>
          </a:xfrm>
        </p:grpSpPr>
        <p:sp>
          <p:nvSpPr>
            <p:cNvPr id="5" name="Freeform 5"/>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sp>
        <p:nvSpPr>
          <p:cNvPr id="6" name="Freeform 6"/>
          <p:cNvSpPr/>
          <p:nvPr/>
        </p:nvSpPr>
        <p:spPr>
          <a:xfrm>
            <a:off x="-12583" y="9568444"/>
            <a:ext cx="18313003" cy="555165"/>
          </a:xfrm>
          <a:custGeom>
            <a:avLst/>
            <a:gdLst/>
            <a:ahLst/>
            <a:cxnLst/>
            <a:rect l="l" t="t" r="r" b="b"/>
            <a:pathLst>
              <a:path w="18313003" h="555165">
                <a:moveTo>
                  <a:pt x="0" y="0"/>
                </a:moveTo>
                <a:lnTo>
                  <a:pt x="18313004" y="0"/>
                </a:lnTo>
                <a:lnTo>
                  <a:pt x="18313004" y="555164"/>
                </a:lnTo>
                <a:lnTo>
                  <a:pt x="0" y="555164"/>
                </a:lnTo>
                <a:lnTo>
                  <a:pt x="0" y="0"/>
                </a:lnTo>
                <a:close/>
              </a:path>
            </a:pathLst>
          </a:custGeom>
          <a:blipFill>
            <a:blip>
              <a:extLst>
                <a:ext uri="{96DAC541-7B7A-43D3-8B79-37D633B846F1}">
                  <asvg:svgBlip xmlns:asvg="http://schemas.microsoft.com/office/drawing/2016/SVG/main" r:embed="rId3"/>
                </a:ext>
              </a:extLst>
            </a:blip>
            <a:stretch>
              <a:fillRect t="-603" b="-602"/>
            </a:stretch>
          </a:blipFill>
        </p:spPr>
      </p:sp>
      <p:grpSp>
        <p:nvGrpSpPr>
          <p:cNvPr id="7" name="Group 7"/>
          <p:cNvGrpSpPr/>
          <p:nvPr/>
        </p:nvGrpSpPr>
        <p:grpSpPr>
          <a:xfrm>
            <a:off x="16830599" y="9612544"/>
            <a:ext cx="1097566" cy="602075"/>
            <a:chOff x="0" y="0"/>
            <a:chExt cx="1463421" cy="802767"/>
          </a:xfrm>
        </p:grpSpPr>
        <p:sp>
          <p:nvSpPr>
            <p:cNvPr id="8" name="Freeform 8"/>
            <p:cNvSpPr/>
            <p:nvPr/>
          </p:nvSpPr>
          <p:spPr>
            <a:xfrm>
              <a:off x="0" y="0"/>
              <a:ext cx="1463421" cy="802767"/>
            </a:xfrm>
            <a:custGeom>
              <a:avLst/>
              <a:gdLst/>
              <a:ahLst/>
              <a:cxnLst/>
              <a:rect l="l" t="t" r="r" b="b"/>
              <a:pathLst>
                <a:path w="1463421" h="802767">
                  <a:moveTo>
                    <a:pt x="0" y="0"/>
                  </a:moveTo>
                  <a:lnTo>
                    <a:pt x="1463421" y="0"/>
                  </a:lnTo>
                  <a:lnTo>
                    <a:pt x="1463421" y="802767"/>
                  </a:lnTo>
                  <a:lnTo>
                    <a:pt x="0" y="802767"/>
                  </a:lnTo>
                  <a:close/>
                </a:path>
              </a:pathLst>
            </a:custGeom>
            <a:blipFill>
              <a:blip r:embed="rId4">
                <a:alphaModFix amt="0"/>
              </a:blip>
              <a:stretch>
                <a:fillRect l="-20430" r="-20430"/>
              </a:stretch>
            </a:blipFill>
          </p:spPr>
        </p:sp>
      </p:grpSp>
      <p:grpSp>
        <p:nvGrpSpPr>
          <p:cNvPr id="9" name="Group 9"/>
          <p:cNvGrpSpPr/>
          <p:nvPr/>
        </p:nvGrpSpPr>
        <p:grpSpPr>
          <a:xfrm>
            <a:off x="16830599" y="9598257"/>
            <a:ext cx="1097566" cy="616363"/>
            <a:chOff x="0" y="0"/>
            <a:chExt cx="1463421" cy="821817"/>
          </a:xfrm>
        </p:grpSpPr>
        <p:sp>
          <p:nvSpPr>
            <p:cNvPr id="10" name="Freeform 10"/>
            <p:cNvSpPr/>
            <p:nvPr/>
          </p:nvSpPr>
          <p:spPr>
            <a:xfrm>
              <a:off x="0" y="0"/>
              <a:ext cx="1463421" cy="821817"/>
            </a:xfrm>
            <a:custGeom>
              <a:avLst/>
              <a:gdLst/>
              <a:ahLst/>
              <a:cxnLst/>
              <a:rect l="l" t="t" r="r" b="b"/>
              <a:pathLst>
                <a:path w="1463421" h="821817">
                  <a:moveTo>
                    <a:pt x="0" y="0"/>
                  </a:moveTo>
                  <a:lnTo>
                    <a:pt x="1463421" y="0"/>
                  </a:lnTo>
                  <a:lnTo>
                    <a:pt x="1463421" y="821817"/>
                  </a:lnTo>
                  <a:lnTo>
                    <a:pt x="0" y="821817"/>
                  </a:lnTo>
                  <a:close/>
                </a:path>
              </a:pathLst>
            </a:custGeom>
            <a:blipFill>
              <a:blip r:embed="rId5">
                <a:alphaModFix amt="0"/>
              </a:blip>
              <a:stretch>
                <a:fillRect l="-22101" r="-22101"/>
              </a:stretch>
            </a:blipFill>
          </p:spPr>
        </p:sp>
      </p:grpSp>
      <p:grpSp>
        <p:nvGrpSpPr>
          <p:cNvPr id="11" name="Group 11"/>
          <p:cNvGrpSpPr/>
          <p:nvPr/>
        </p:nvGrpSpPr>
        <p:grpSpPr>
          <a:xfrm>
            <a:off x="16830599" y="9583969"/>
            <a:ext cx="1097566" cy="630650"/>
            <a:chOff x="0" y="0"/>
            <a:chExt cx="1463421" cy="840867"/>
          </a:xfrm>
        </p:grpSpPr>
        <p:sp>
          <p:nvSpPr>
            <p:cNvPr id="12" name="Freeform 12"/>
            <p:cNvSpPr/>
            <p:nvPr/>
          </p:nvSpPr>
          <p:spPr>
            <a:xfrm>
              <a:off x="0" y="0"/>
              <a:ext cx="1463421" cy="840867"/>
            </a:xfrm>
            <a:custGeom>
              <a:avLst/>
              <a:gdLst/>
              <a:ahLst/>
              <a:cxnLst/>
              <a:rect l="l" t="t" r="r" b="b"/>
              <a:pathLst>
                <a:path w="1463421" h="840867">
                  <a:moveTo>
                    <a:pt x="0" y="0"/>
                  </a:moveTo>
                  <a:lnTo>
                    <a:pt x="1463421" y="0"/>
                  </a:lnTo>
                  <a:lnTo>
                    <a:pt x="1463421" y="840867"/>
                  </a:lnTo>
                  <a:lnTo>
                    <a:pt x="0" y="840867"/>
                  </a:lnTo>
                  <a:close/>
                </a:path>
              </a:pathLst>
            </a:custGeom>
            <a:blipFill>
              <a:blip r:embed="rId6">
                <a:alphaModFix amt="0"/>
              </a:blip>
              <a:stretch>
                <a:fillRect l="-23773" r="-23773"/>
              </a:stretch>
            </a:blipFill>
          </p:spPr>
        </p:sp>
      </p:grpSp>
      <p:grpSp>
        <p:nvGrpSpPr>
          <p:cNvPr id="13" name="Group 13"/>
          <p:cNvGrpSpPr/>
          <p:nvPr/>
        </p:nvGrpSpPr>
        <p:grpSpPr>
          <a:xfrm>
            <a:off x="16830599" y="9569682"/>
            <a:ext cx="1097547" cy="644966"/>
            <a:chOff x="0" y="0"/>
            <a:chExt cx="1463396" cy="859955"/>
          </a:xfrm>
        </p:grpSpPr>
        <p:sp>
          <p:nvSpPr>
            <p:cNvPr id="14" name="Freeform 14"/>
            <p:cNvSpPr/>
            <p:nvPr/>
          </p:nvSpPr>
          <p:spPr>
            <a:xfrm>
              <a:off x="0" y="0"/>
              <a:ext cx="1463421" cy="859917"/>
            </a:xfrm>
            <a:custGeom>
              <a:avLst/>
              <a:gdLst/>
              <a:ahLst/>
              <a:cxnLst/>
              <a:rect l="l" t="t" r="r" b="b"/>
              <a:pathLst>
                <a:path w="1463421" h="859917">
                  <a:moveTo>
                    <a:pt x="0" y="0"/>
                  </a:moveTo>
                  <a:lnTo>
                    <a:pt x="1463421" y="0"/>
                  </a:lnTo>
                  <a:lnTo>
                    <a:pt x="1463421" y="859917"/>
                  </a:lnTo>
                  <a:lnTo>
                    <a:pt x="0" y="859917"/>
                  </a:lnTo>
                  <a:close/>
                </a:path>
              </a:pathLst>
            </a:custGeom>
            <a:blipFill>
              <a:blip r:embed="rId7">
                <a:alphaModFix amt="0"/>
              </a:blip>
              <a:stretch>
                <a:fillRect l="-25449" r="-25446" b="-4"/>
              </a:stretch>
            </a:blipFill>
          </p:spPr>
        </p:sp>
      </p:grpSp>
      <p:grpSp>
        <p:nvGrpSpPr>
          <p:cNvPr id="15" name="Group 15"/>
          <p:cNvGrpSpPr/>
          <p:nvPr/>
        </p:nvGrpSpPr>
        <p:grpSpPr>
          <a:xfrm>
            <a:off x="16830599" y="9555394"/>
            <a:ext cx="1097547" cy="659254"/>
            <a:chOff x="0" y="0"/>
            <a:chExt cx="1463396" cy="879005"/>
          </a:xfrm>
        </p:grpSpPr>
        <p:sp>
          <p:nvSpPr>
            <p:cNvPr id="16" name="Freeform 16"/>
            <p:cNvSpPr/>
            <p:nvPr/>
          </p:nvSpPr>
          <p:spPr>
            <a:xfrm>
              <a:off x="0" y="0"/>
              <a:ext cx="1463396" cy="879005"/>
            </a:xfrm>
            <a:custGeom>
              <a:avLst/>
              <a:gdLst/>
              <a:ahLst/>
              <a:cxnLst/>
              <a:rect l="l" t="t" r="r" b="b"/>
              <a:pathLst>
                <a:path w="1463396" h="879005">
                  <a:moveTo>
                    <a:pt x="0" y="0"/>
                  </a:moveTo>
                  <a:lnTo>
                    <a:pt x="1463396" y="0"/>
                  </a:lnTo>
                  <a:lnTo>
                    <a:pt x="1463396" y="879005"/>
                  </a:lnTo>
                  <a:lnTo>
                    <a:pt x="0" y="879005"/>
                  </a:lnTo>
                  <a:close/>
                </a:path>
              </a:pathLst>
            </a:custGeom>
            <a:blipFill>
              <a:blip r:embed="rId8">
                <a:alphaModFix amt="0"/>
              </a:blip>
              <a:stretch>
                <a:fillRect l="-27066" r="-27066"/>
              </a:stretch>
            </a:blipFill>
          </p:spPr>
        </p:sp>
        <p:sp>
          <p:nvSpPr>
            <p:cNvPr id="17" name="TextBox 17"/>
            <p:cNvSpPr txBox="1"/>
            <p:nvPr/>
          </p:nvSpPr>
          <p:spPr>
            <a:xfrm>
              <a:off x="0" y="-19050"/>
              <a:ext cx="1463396" cy="898055"/>
            </a:xfrm>
            <a:prstGeom prst="rect">
              <a:avLst/>
            </a:prstGeom>
          </p:spPr>
          <p:txBody>
            <a:bodyPr lIns="0" tIns="0" rIns="0" bIns="0" rtlCol="0" anchor="ctr"/>
            <a:lstStyle/>
            <a:p>
              <a:pPr algn="r">
                <a:lnSpc>
                  <a:spcPts val="2160"/>
                </a:lnSpc>
              </a:pPr>
              <a:r>
                <a:rPr lang="en-US" sz="1800">
                  <a:solidFill>
                    <a:srgbClr val="FFFFFF"/>
                  </a:solidFill>
                  <a:latin typeface="Arial"/>
                  <a:ea typeface="Arial"/>
                  <a:cs typeface="Arial"/>
                  <a:sym typeface="Arial"/>
                </a:rPr>
                <a:t>16</a:t>
              </a:r>
            </a:p>
          </p:txBody>
        </p:sp>
      </p:grpSp>
      <p:sp>
        <p:nvSpPr>
          <p:cNvPr id="18" name="TextBox 18"/>
          <p:cNvSpPr txBox="1"/>
          <p:nvPr/>
        </p:nvSpPr>
        <p:spPr>
          <a:xfrm rot="-462600">
            <a:off x="13326065" y="9600938"/>
            <a:ext cx="2554043" cy="511435"/>
          </a:xfrm>
          <a:prstGeom prst="rect">
            <a:avLst/>
          </a:prstGeom>
        </p:spPr>
        <p:txBody>
          <a:bodyPr lIns="0" tIns="0" rIns="0" bIns="0" rtlCol="0" anchor="t">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id="19" name="TextBox 19"/>
          <p:cNvSpPr txBox="1"/>
          <p:nvPr/>
        </p:nvSpPr>
        <p:spPr>
          <a:xfrm rot="1440">
            <a:off x="9193218" y="9716433"/>
            <a:ext cx="4176751" cy="465077"/>
          </a:xfrm>
          <a:prstGeom prst="rect">
            <a:avLst/>
          </a:prstGeom>
        </p:spPr>
        <p:txBody>
          <a:bodyPr lIns="0" tIns="0" rIns="0" bIns="0" rtlCol="0" anchor="t">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sp>
        <p:nvSpPr>
          <p:cNvPr id="20" name="TextBox 20"/>
          <p:cNvSpPr txBox="1"/>
          <p:nvPr/>
        </p:nvSpPr>
        <p:spPr>
          <a:xfrm>
            <a:off x="754837" y="712718"/>
            <a:ext cx="15157561" cy="949747"/>
          </a:xfrm>
          <a:prstGeom prst="rect">
            <a:avLst/>
          </a:prstGeom>
        </p:spPr>
        <p:txBody>
          <a:bodyPr lIns="0" tIns="0" rIns="0" bIns="0" rtlCol="0" anchor="t">
            <a:spAutoFit/>
          </a:bodyPr>
          <a:lstStyle/>
          <a:p>
            <a:pPr algn="l">
              <a:lnSpc>
                <a:spcPts val="6396"/>
              </a:lnSpc>
            </a:pPr>
            <a:r>
              <a:rPr lang="en-US" sz="3999" b="1" spc="-15">
                <a:solidFill>
                  <a:srgbClr val="0000FF"/>
                </a:solidFill>
                <a:latin typeface="Times New Roman Bold"/>
                <a:ea typeface="Times New Roman Bold"/>
                <a:cs typeface="Times New Roman Bold"/>
                <a:sym typeface="Times New Roman Bold"/>
              </a:rPr>
              <a:t>Methodology 4: Explainability &amp; Benchmarking</a:t>
            </a:r>
          </a:p>
        </p:txBody>
      </p:sp>
      <p:sp>
        <p:nvSpPr>
          <p:cNvPr id="21" name="TextBox 21"/>
          <p:cNvSpPr txBox="1"/>
          <p:nvPr/>
        </p:nvSpPr>
        <p:spPr>
          <a:xfrm>
            <a:off x="745303" y="2402834"/>
            <a:ext cx="16756799" cy="4505458"/>
          </a:xfrm>
          <a:prstGeom prst="rect">
            <a:avLst/>
          </a:prstGeom>
        </p:spPr>
        <p:txBody>
          <a:bodyPr lIns="0" tIns="0" rIns="0" bIns="0" rtlCol="0" anchor="t">
            <a:spAutoFit/>
          </a:bodyPr>
          <a:lstStyle/>
          <a:p>
            <a:pPr algn="just">
              <a:lnSpc>
                <a:spcPts val="4558"/>
              </a:lnSpc>
            </a:pPr>
            <a:r>
              <a:rPr lang="en-US" sz="3798" b="1" spc="-29">
                <a:solidFill>
                  <a:srgbClr val="000000"/>
                </a:solidFill>
                <a:latin typeface="Times New Roman Bold"/>
                <a:ea typeface="Times New Roman Bold"/>
                <a:cs typeface="Times New Roman Bold"/>
                <a:sym typeface="Times New Roman Bold"/>
              </a:rPr>
              <a:t>Description:</a:t>
            </a:r>
          </a:p>
          <a:p>
            <a:pPr algn="just">
              <a:lnSpc>
                <a:spcPts val="3117"/>
              </a:lnSpc>
            </a:pPr>
            <a:r>
              <a:rPr lang="en-US" sz="2598" spc="-19">
                <a:solidFill>
                  <a:srgbClr val="000000"/>
                </a:solidFill>
                <a:latin typeface="Times New Roman"/>
                <a:ea typeface="Times New Roman"/>
                <a:cs typeface="Times New Roman"/>
                <a:sym typeface="Times New Roman"/>
              </a:rPr>
              <a:t>Integrate GNNExplainer to produce per-alert, per-pattern minimal subgraph evidence. Benchmark TemporalAML against 5 baselines. Run ablation study removing time encoding and pattern heads to isolate each contribution. Report Precision, Recall, F1-Score, and AUC-ROC for all models.</a:t>
            </a:r>
          </a:p>
          <a:p>
            <a:pPr algn="just">
              <a:lnSpc>
                <a:spcPts val="4558"/>
              </a:lnSpc>
            </a:pPr>
            <a:r>
              <a:rPr lang="en-US" sz="3798" b="1" spc="-29">
                <a:solidFill>
                  <a:srgbClr val="000000"/>
                </a:solidFill>
                <a:latin typeface="Times New Roman Bold"/>
                <a:ea typeface="Times New Roman Bold"/>
                <a:cs typeface="Times New Roman Bold"/>
                <a:sym typeface="Times New Roman Bold"/>
              </a:rPr>
              <a:t>Baselines:</a:t>
            </a:r>
          </a:p>
          <a:p>
            <a:pPr marL="990479" lvl="5" indent="-165080" algn="just">
              <a:lnSpc>
                <a:spcPts val="3117"/>
              </a:lnSpc>
              <a:buFont typeface="Arial"/>
              <a:buChar char="⚬"/>
            </a:pPr>
            <a:r>
              <a:rPr lang="en-US" sz="2598" spc="-19">
                <a:solidFill>
                  <a:srgbClr val="000000"/>
                </a:solidFill>
                <a:latin typeface="Times New Roman"/>
                <a:ea typeface="Times New Roman"/>
                <a:cs typeface="Times New Roman"/>
                <a:sym typeface="Times New Roman"/>
              </a:rPr>
              <a:t>B1: Rule-based AML (threshold + blacklist)</a:t>
            </a:r>
          </a:p>
          <a:p>
            <a:pPr marL="990479" lvl="5" indent="-165080" algn="just">
              <a:lnSpc>
                <a:spcPts val="3117"/>
              </a:lnSpc>
              <a:buFont typeface="Arial"/>
              <a:buChar char="⚬"/>
            </a:pPr>
            <a:r>
              <a:rPr lang="en-US" sz="2598" spc="-19">
                <a:solidFill>
                  <a:srgbClr val="000000"/>
                </a:solidFill>
                <a:latin typeface="Times New Roman"/>
                <a:ea typeface="Times New Roman"/>
                <a:cs typeface="Times New Roman"/>
                <a:sym typeface="Times New Roman"/>
              </a:rPr>
              <a:t>B2: Static GCN (Weber et al. 2019)</a:t>
            </a:r>
          </a:p>
          <a:p>
            <a:pPr marL="1447799" lvl="5" indent="-241300" algn="just">
              <a:lnSpc>
                <a:spcPts val="4558"/>
              </a:lnSpc>
            </a:pPr>
            <a:r>
              <a:rPr lang="en-US" sz="3798" b="1" spc="-29">
                <a:solidFill>
                  <a:srgbClr val="000000"/>
                </a:solidFill>
                <a:latin typeface="Times New Roman Bold"/>
                <a:ea typeface="Times New Roman Bold"/>
                <a:cs typeface="Times New Roman Bold"/>
                <a:sym typeface="Times New Roman Bold"/>
              </a:rPr>
              <a:t>Output:</a:t>
            </a:r>
          </a:p>
          <a:p>
            <a:pPr marL="990479" lvl="5" indent="-165080" algn="just">
              <a:lnSpc>
                <a:spcPts val="3117"/>
              </a:lnSpc>
            </a:pPr>
            <a:r>
              <a:rPr lang="en-US" sz="2598" spc="-19">
                <a:solidFill>
                  <a:srgbClr val="000000"/>
                </a:solidFill>
                <a:latin typeface="Times New Roman"/>
                <a:ea typeface="Times New Roman"/>
                <a:cs typeface="Times New Roman"/>
                <a:sym typeface="Times New Roman"/>
              </a:rPr>
              <a:t>Metrics: Precision, Recall, F1-Score, AUC-ROC, Ablation study</a:t>
            </a:r>
          </a:p>
          <a:p>
            <a:pPr marL="990479" lvl="5" indent="-165080" algn="just">
              <a:lnSpc>
                <a:spcPts val="3117"/>
              </a:lnSpc>
            </a:pPr>
            <a:endParaRPr lang="en-US" sz="2598" spc="-19">
              <a:solidFill>
                <a:srgbClr val="000000"/>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65" y="-43167"/>
            <a:ext cx="18345198" cy="450009"/>
            <a:chOff x="0" y="0"/>
            <a:chExt cx="24460264" cy="600012"/>
          </a:xfrm>
        </p:grpSpPr>
        <p:sp>
          <p:nvSpPr>
            <p:cNvPr id="3" name="Freeform 3"/>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grpSp>
        <p:nvGrpSpPr>
          <p:cNvPr id="4" name="Group 4"/>
          <p:cNvGrpSpPr/>
          <p:nvPr/>
        </p:nvGrpSpPr>
        <p:grpSpPr>
          <a:xfrm>
            <a:off x="-28565" y="9894760"/>
            <a:ext cx="18345198" cy="450009"/>
            <a:chOff x="0" y="0"/>
            <a:chExt cx="24460264" cy="600012"/>
          </a:xfrm>
        </p:grpSpPr>
        <p:sp>
          <p:nvSpPr>
            <p:cNvPr id="5" name="Freeform 5"/>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sp>
        <p:nvSpPr>
          <p:cNvPr id="6" name="Freeform 6"/>
          <p:cNvSpPr/>
          <p:nvPr/>
        </p:nvSpPr>
        <p:spPr>
          <a:xfrm>
            <a:off x="-12583" y="9568444"/>
            <a:ext cx="18313003" cy="555165"/>
          </a:xfrm>
          <a:custGeom>
            <a:avLst/>
            <a:gdLst/>
            <a:ahLst/>
            <a:cxnLst/>
            <a:rect l="l" t="t" r="r" b="b"/>
            <a:pathLst>
              <a:path w="18313003" h="555165">
                <a:moveTo>
                  <a:pt x="0" y="0"/>
                </a:moveTo>
                <a:lnTo>
                  <a:pt x="18313004" y="0"/>
                </a:lnTo>
                <a:lnTo>
                  <a:pt x="18313004" y="555164"/>
                </a:lnTo>
                <a:lnTo>
                  <a:pt x="0" y="555164"/>
                </a:lnTo>
                <a:lnTo>
                  <a:pt x="0" y="0"/>
                </a:lnTo>
                <a:close/>
              </a:path>
            </a:pathLst>
          </a:custGeom>
          <a:blipFill>
            <a:blip>
              <a:extLst>
                <a:ext uri="{96DAC541-7B7A-43D3-8B79-37D633B846F1}">
                  <asvg:svgBlip xmlns:asvg="http://schemas.microsoft.com/office/drawing/2016/SVG/main" r:embed="rId3"/>
                </a:ext>
              </a:extLst>
            </a:blip>
            <a:stretch>
              <a:fillRect t="-603" b="-602"/>
            </a:stretch>
          </a:blipFill>
        </p:spPr>
      </p:sp>
      <p:sp>
        <p:nvSpPr>
          <p:cNvPr id="7" name="TextBox 7"/>
          <p:cNvSpPr txBox="1"/>
          <p:nvPr/>
        </p:nvSpPr>
        <p:spPr>
          <a:xfrm rot="-462600">
            <a:off x="13326065" y="9600938"/>
            <a:ext cx="2554043" cy="511435"/>
          </a:xfrm>
          <a:prstGeom prst="rect">
            <a:avLst/>
          </a:prstGeom>
        </p:spPr>
        <p:txBody>
          <a:bodyPr lIns="0" tIns="0" rIns="0" bIns="0" rtlCol="0" anchor="t">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id="8" name="TextBox 8"/>
          <p:cNvSpPr txBox="1"/>
          <p:nvPr/>
        </p:nvSpPr>
        <p:spPr>
          <a:xfrm rot="1440">
            <a:off x="9193218" y="9716433"/>
            <a:ext cx="4176751" cy="465077"/>
          </a:xfrm>
          <a:prstGeom prst="rect">
            <a:avLst/>
          </a:prstGeom>
        </p:spPr>
        <p:txBody>
          <a:bodyPr lIns="0" tIns="0" rIns="0" bIns="0" rtlCol="0" anchor="t">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id="9" name="Group 9"/>
          <p:cNvGrpSpPr/>
          <p:nvPr/>
        </p:nvGrpSpPr>
        <p:grpSpPr>
          <a:xfrm>
            <a:off x="12210374" y="3204601"/>
            <a:ext cx="5977033" cy="5953316"/>
            <a:chOff x="0" y="0"/>
            <a:chExt cx="7969377" cy="7937754"/>
          </a:xfrm>
        </p:grpSpPr>
        <p:sp>
          <p:nvSpPr>
            <p:cNvPr id="10" name="Freeform 10"/>
            <p:cNvSpPr/>
            <p:nvPr/>
          </p:nvSpPr>
          <p:spPr>
            <a:xfrm>
              <a:off x="0" y="0"/>
              <a:ext cx="7969377" cy="7937754"/>
            </a:xfrm>
            <a:custGeom>
              <a:avLst/>
              <a:gdLst/>
              <a:ahLst/>
              <a:cxnLst/>
              <a:rect l="l" t="t" r="r" b="b"/>
              <a:pathLst>
                <a:path w="7969377" h="7937754">
                  <a:moveTo>
                    <a:pt x="0" y="0"/>
                  </a:moveTo>
                  <a:lnTo>
                    <a:pt x="7969377" y="0"/>
                  </a:lnTo>
                  <a:lnTo>
                    <a:pt x="7969377" y="7937754"/>
                  </a:lnTo>
                  <a:lnTo>
                    <a:pt x="0" y="7937754"/>
                  </a:lnTo>
                  <a:lnTo>
                    <a:pt x="0" y="0"/>
                  </a:lnTo>
                  <a:close/>
                </a:path>
              </a:pathLst>
            </a:custGeom>
            <a:blipFill>
              <a:blip r:embed="rId4">
                <a:alphaModFix amt="3000"/>
              </a:blip>
              <a:stretch>
                <a:fillRect/>
              </a:stretch>
            </a:blipFill>
          </p:spPr>
        </p:sp>
      </p:grpSp>
      <p:sp>
        <p:nvSpPr>
          <p:cNvPr id="11" name="TextBox 11"/>
          <p:cNvSpPr txBox="1"/>
          <p:nvPr/>
        </p:nvSpPr>
        <p:spPr>
          <a:xfrm>
            <a:off x="745303" y="830980"/>
            <a:ext cx="2886818" cy="781431"/>
          </a:xfrm>
          <a:prstGeom prst="rect">
            <a:avLst/>
          </a:prstGeom>
        </p:spPr>
        <p:txBody>
          <a:bodyPr lIns="0" tIns="0" rIns="0" bIns="0" rtlCol="0" anchor="t">
            <a:spAutoFit/>
          </a:bodyPr>
          <a:lstStyle/>
          <a:p>
            <a:pPr algn="l">
              <a:lnSpc>
                <a:spcPts val="5757"/>
              </a:lnSpc>
            </a:pPr>
            <a:r>
              <a:rPr sz="2200" b="1">
                <a:solidFill>
                  <a:srgbClr val="003399"/>
                </a:solidFill>
              </a:rPr>
              <a:t>Conclusion &amp; Phase 1 Implementation Results</a:t>
            </a:r>
          </a:p>
        </p:txBody>
      </p:sp>
      <p:sp>
        <p:nvSpPr>
          <p:cNvPr id="12" name="TextBox 12"/>
          <p:cNvSpPr txBox="1"/>
          <p:nvPr/>
        </p:nvSpPr>
        <p:spPr>
          <a:xfrm>
            <a:off x="643252" y="2055352"/>
            <a:ext cx="15731080" cy="5886450"/>
          </a:xfrm>
          <a:prstGeom prst="rect">
            <a:avLst/>
          </a:prstGeom>
        </p:spPr>
        <p:txBody>
          <a:bodyPr lIns="0" tIns="0" rIns="0" bIns="0" rtlCol="0" anchor="t" wrap="square">
            <a:spAutoFit/>
          </a:bodyPr>
          <a:lstStyle/>
          <a:p>
            <a:pPr algn="just">
              <a:lnSpc>
                <a:spcPts val="3840"/>
              </a:lnSpc>
              <a:spcBef>
                <a:spcPts val="100"/>
              </a:spcBef>
              <a:spcAft>
                <a:spcPts val="200"/>
              </a:spcAft>
            </a:pPr>
            <a:r>
              <a:rPr b="1" sz="1000">
                <a:solidFill>
                  <a:srgbClr val="003366"/>
                </a:solidFill>
              </a:rPr>
              <a:t>1. Phase 1 Implementation Status (Objectives O1, O2, O3): </a:t>
            </a:r>
            <a:r>
              <a:rPr b="0" sz="950">
                <a:solidFill>
                  <a:srgbClr val="232323"/>
                </a:solidFill>
              </a:rPr>
              <a:t>First three research objectives successfully implemented in Phase 1; Objective 4 (comprehensive explainability &amp; benchmark convergence) scheduled for Phase 2.</a:t>
            </a:r>
          </a:p>
          <a:p>
            <a:pPr>
              <a:spcBef>
                <a:spcPts val="100"/>
              </a:spcBef>
              <a:spcAft>
                <a:spcPts val="200"/>
              </a:spcAft>
            </a:pPr>
          </a:p>
          <a:p>
            <a:pPr lvl="1">
              <a:spcBef>
                <a:spcPts val="100"/>
              </a:spcBef>
              <a:spcAft>
                <a:spcPts val="100"/>
              </a:spcAft>
            </a:pPr>
            <a:r>
              <a:rPr sz="900">
                <a:solidFill>
                  <a:srgbClr val="464646"/>
                </a:solidFill>
              </a:rPr>
              <a:t>• Objective 1 (Temporal Graph Construction): Completed</a:t>
            </a:r>
          </a:p>
          <a:p>
            <a:pPr lvl="1">
              <a:spcBef>
                <a:spcPts val="100"/>
              </a:spcBef>
              <a:spcAft>
                <a:spcPts val="100"/>
              </a:spcAft>
            </a:pPr>
            <a:r>
              <a:rPr sz="900">
                <a:solidFill>
                  <a:srgbClr val="464646"/>
                </a:solidFill>
              </a:rPr>
              <a:t>• Objective 2 (Learnable Fourier Time Encoding — Core Novelty): Completed</a:t>
            </a:r>
          </a:p>
          <a:p>
            <a:pPr lvl="1">
              <a:spcBef>
                <a:spcPts val="100"/>
              </a:spcBef>
              <a:spcAft>
                <a:spcPts val="100"/>
              </a:spcAft>
            </a:pPr>
            <a:r>
              <a:rPr sz="900">
                <a:solidFill>
                  <a:srgbClr val="464646"/>
                </a:solidFill>
              </a:rPr>
              <a:t>• Objective 3 (Multi-Pattern Detection Architecture): Implemented &amp; Early Results Reported</a:t>
            </a:r>
          </a:p>
          <a:p>
            <a:pPr lvl="1">
              <a:spcBef>
                <a:spcPts val="100"/>
              </a:spcBef>
              <a:spcAft>
                <a:spcPts val="100"/>
              </a:spcAft>
            </a:pPr>
            <a:r>
              <a:rPr sz="900">
                <a:solidFill>
                  <a:srgbClr val="464646"/>
                </a:solidFill>
              </a:rPr>
              <a:t>• Objective 4 (Full Baseline Benchmarking, Ablations &amp; SAR Auditing): Phase 2 Planned Work</a:t>
            </a:r>
          </a:p>
          <a:p>
            <a:pPr>
              <a:spcBef>
                <a:spcPts val="100"/>
              </a:spcBef>
              <a:spcAft>
                <a:spcPts val="200"/>
              </a:spcAft>
            </a:pPr>
            <a:r>
              <a:rPr b="1" sz="1000">
                <a:solidFill>
                  <a:srgbClr val="003366"/>
                </a:solidFill>
              </a:rPr>
              <a:t>2. Confirmed Empirical Results from Dissertation Report: </a:t>
            </a:r>
          </a:p>
          <a:p>
            <a:pPr>
              <a:spcBef>
                <a:spcPts val="100"/>
              </a:spcBef>
              <a:spcAft>
                <a:spcPts val="200"/>
              </a:spcAft>
            </a:pPr>
          </a:p>
          <a:p>
            <a:pPr lvl="1">
              <a:spcBef>
                <a:spcPts val="100"/>
              </a:spcBef>
              <a:spcAft>
                <a:spcPts val="100"/>
              </a:spcAft>
            </a:pPr>
            <a:r>
              <a:rPr sz="900">
                <a:solidFill>
                  <a:srgbClr val="464646"/>
                </a:solidFill>
              </a:rPr>
              <a:t>• O1 Preprocessing: 203,769 nodes remapped, 234,355 directed edges, 6 topological features added (166 → 172 dims), zero temporal leakage verified on Train (t≤34) / Val (35-42) / Test (43-49) splits.</a:t>
            </a:r>
          </a:p>
          <a:p>
            <a:pPr lvl="1">
              <a:spcBef>
                <a:spcPts val="100"/>
              </a:spcBef>
              <a:spcAft>
                <a:spcPts val="100"/>
              </a:spcAft>
            </a:pPr>
            <a:r>
              <a:rPr sz="900">
                <a:solidFill>
                  <a:srgbClr val="464646"/>
                </a:solidFill>
              </a:rPr>
              <a:t>• O2 Fourier Encoding: Trainable parameters ω, φ ∈ ℝ⁶⁴ integrated into TGATConv; verified non-zero gradient updates (∂L/∂ω ≠ 0); causal neighbor sampling (K=20) eliminates look-ahead leakage.</a:t>
            </a:r>
          </a:p>
          <a:p>
            <a:pPr lvl="1">
              <a:spcBef>
                <a:spcPts val="100"/>
              </a:spcBef>
              <a:spcAft>
                <a:spcPts val="100"/>
              </a:spcAft>
            </a:pPr>
            <a:r>
              <a:rPr sz="900">
                <a:solidFill>
                  <a:srgbClr val="464646"/>
                </a:solidFill>
              </a:rPr>
              <a:t>• O3 Shared Backbone Efficiency: 2-layer TGATConv encoder (172 → 128 → 128 dims, 4 heads) consolidates representations, trimming parameter overhead by ~67% compared to decoupled models.</a:t>
            </a:r>
          </a:p>
          <a:p>
            <a:pPr lvl="1">
              <a:spcBef>
                <a:spcPts val="100"/>
              </a:spcBef>
              <a:spcAft>
                <a:spcPts val="100"/>
              </a:spcAft>
            </a:pPr>
            <a:r>
              <a:rPr sz="900">
                <a:solidFill>
                  <a:srgbClr val="464646"/>
                </a:solidFill>
              </a:rPr>
              <a:t>• O3 Smurfing Head Performance: Achieves early validation AUC-ROC ≈ 0.96, reflecting strong discriminative signal from engineered out-degree and fan-out ratios.</a:t>
            </a:r>
          </a:p>
          <a:p>
            <a:pPr lvl="1">
              <a:spcBef>
                <a:spcPts val="100"/>
              </a:spcBef>
              <a:spcAft>
                <a:spcPts val="100"/>
              </a:spcAft>
            </a:pPr>
            <a:r>
              <a:rPr sz="900">
                <a:solidFill>
                  <a:srgbClr val="464646"/>
                </a:solidFill>
              </a:rPr>
              <a:t>• O3 Layering Head Performance: Achieves early validation AUC-ROC ≈ 0.58; sequential velocity tuning with positive class weights (w_pos ≈ 44.8) currently ongoing.</a:t>
            </a:r>
          </a:p>
          <a:p>
            <a:pPr lvl="1">
              <a:spcBef>
                <a:spcPts val="100"/>
              </a:spcBef>
              <a:spcAft>
                <a:spcPts val="100"/>
              </a:spcAft>
            </a:pPr>
            <a:r>
              <a:rPr sz="900">
                <a:solidFill>
                  <a:srgbClr val="464646"/>
                </a:solidFill>
              </a:rPr>
              <a:t>• O3 Circular Head Observation: Produces near-zero recall, confirming the intrinsic Bitcoin DAG constraint where UTXOs cannot form directed loops without address-level abstraction.</a:t>
            </a:r>
          </a:p>
          <a:p>
            <a:pPr>
              <a:spcBef>
                <a:spcPts val="100"/>
              </a:spcBef>
              <a:spcAft>
                <a:spcPts val="200"/>
              </a:spcAft>
            </a:pPr>
            <a:r>
              <a:rPr b="1" sz="1000">
                <a:solidFill>
                  <a:srgbClr val="003366"/>
                </a:solidFill>
              </a:rPr>
              <a:t>3. Phase 2 Scope &amp; Deliverables: </a:t>
            </a:r>
            <a:r>
              <a:rPr b="0" sz="950">
                <a:solidFill>
                  <a:srgbClr val="232323"/>
                </a:solidFill>
              </a:rPr>
              <a:t>Full 200-epoch hyperparameter convergence, comprehensive comparative benchmarking against 4 baselines (GCN, GraphSAGE, GNN-LSTM, Rule-based), AUPRC evaluation curves, and quantitative GNNExplainer fidelity/sparsity auditing for FinCEN SAR compliance.</a:t>
            </a:r>
          </a:p>
        </p:txBody>
      </p:sp>
      <p:grpSp>
        <p:nvGrpSpPr>
          <p:cNvPr id="13" name="Group 13"/>
          <p:cNvGrpSpPr/>
          <p:nvPr/>
        </p:nvGrpSpPr>
        <p:grpSpPr>
          <a:xfrm>
            <a:off x="16830599" y="9612544"/>
            <a:ext cx="1097566" cy="602075"/>
            <a:chOff x="0" y="0"/>
            <a:chExt cx="1463421" cy="802767"/>
          </a:xfrm>
        </p:grpSpPr>
        <p:sp>
          <p:nvSpPr>
            <p:cNvPr id="14" name="Freeform 14"/>
            <p:cNvSpPr/>
            <p:nvPr/>
          </p:nvSpPr>
          <p:spPr>
            <a:xfrm>
              <a:off x="0" y="0"/>
              <a:ext cx="1463421" cy="802767"/>
            </a:xfrm>
            <a:custGeom>
              <a:avLst/>
              <a:gdLst/>
              <a:ahLst/>
              <a:cxnLst/>
              <a:rect l="l" t="t" r="r" b="b"/>
              <a:pathLst>
                <a:path w="1463421" h="802767">
                  <a:moveTo>
                    <a:pt x="0" y="0"/>
                  </a:moveTo>
                  <a:lnTo>
                    <a:pt x="1463421" y="0"/>
                  </a:lnTo>
                  <a:lnTo>
                    <a:pt x="1463421" y="802767"/>
                  </a:lnTo>
                  <a:lnTo>
                    <a:pt x="0" y="802767"/>
                  </a:lnTo>
                  <a:close/>
                </a:path>
              </a:pathLst>
            </a:custGeom>
            <a:blipFill>
              <a:blip r:embed="rId5">
                <a:alphaModFix amt="0"/>
              </a:blip>
              <a:stretch>
                <a:fillRect l="-20430" r="-20430"/>
              </a:stretch>
            </a:blipFill>
          </p:spPr>
        </p:sp>
      </p:grpSp>
      <p:grpSp>
        <p:nvGrpSpPr>
          <p:cNvPr id="15" name="Group 15"/>
          <p:cNvGrpSpPr/>
          <p:nvPr/>
        </p:nvGrpSpPr>
        <p:grpSpPr>
          <a:xfrm>
            <a:off x="16830599" y="9598257"/>
            <a:ext cx="1097566" cy="616363"/>
            <a:chOff x="0" y="0"/>
            <a:chExt cx="1463421" cy="821817"/>
          </a:xfrm>
        </p:grpSpPr>
        <p:sp>
          <p:nvSpPr>
            <p:cNvPr id="16" name="Freeform 16"/>
            <p:cNvSpPr/>
            <p:nvPr/>
          </p:nvSpPr>
          <p:spPr>
            <a:xfrm>
              <a:off x="0" y="0"/>
              <a:ext cx="1463421" cy="821817"/>
            </a:xfrm>
            <a:custGeom>
              <a:avLst/>
              <a:gdLst/>
              <a:ahLst/>
              <a:cxnLst/>
              <a:rect l="l" t="t" r="r" b="b"/>
              <a:pathLst>
                <a:path w="1463421" h="821817">
                  <a:moveTo>
                    <a:pt x="0" y="0"/>
                  </a:moveTo>
                  <a:lnTo>
                    <a:pt x="1463421" y="0"/>
                  </a:lnTo>
                  <a:lnTo>
                    <a:pt x="1463421" y="821817"/>
                  </a:lnTo>
                  <a:lnTo>
                    <a:pt x="0" y="821817"/>
                  </a:lnTo>
                  <a:close/>
                </a:path>
              </a:pathLst>
            </a:custGeom>
            <a:blipFill>
              <a:blip r:embed="rId6">
                <a:alphaModFix amt="0"/>
              </a:blip>
              <a:stretch>
                <a:fillRect l="-22101" r="-22101"/>
              </a:stretch>
            </a:blipFill>
          </p:spPr>
        </p:sp>
      </p:grpSp>
      <p:grpSp>
        <p:nvGrpSpPr>
          <p:cNvPr id="17" name="Group 17"/>
          <p:cNvGrpSpPr/>
          <p:nvPr/>
        </p:nvGrpSpPr>
        <p:grpSpPr>
          <a:xfrm>
            <a:off x="16830599" y="9583969"/>
            <a:ext cx="1097566" cy="630650"/>
            <a:chOff x="0" y="0"/>
            <a:chExt cx="1463421" cy="840867"/>
          </a:xfrm>
        </p:grpSpPr>
        <p:sp>
          <p:nvSpPr>
            <p:cNvPr id="18" name="Freeform 18"/>
            <p:cNvSpPr/>
            <p:nvPr/>
          </p:nvSpPr>
          <p:spPr>
            <a:xfrm>
              <a:off x="0" y="0"/>
              <a:ext cx="1463421" cy="840867"/>
            </a:xfrm>
            <a:custGeom>
              <a:avLst/>
              <a:gdLst/>
              <a:ahLst/>
              <a:cxnLst/>
              <a:rect l="l" t="t" r="r" b="b"/>
              <a:pathLst>
                <a:path w="1463421" h="840867">
                  <a:moveTo>
                    <a:pt x="0" y="0"/>
                  </a:moveTo>
                  <a:lnTo>
                    <a:pt x="1463421" y="0"/>
                  </a:lnTo>
                  <a:lnTo>
                    <a:pt x="1463421" y="840867"/>
                  </a:lnTo>
                  <a:lnTo>
                    <a:pt x="0" y="840867"/>
                  </a:lnTo>
                  <a:close/>
                </a:path>
              </a:pathLst>
            </a:custGeom>
            <a:blipFill>
              <a:blip r:embed="rId7">
                <a:alphaModFix amt="0"/>
              </a:blip>
              <a:stretch>
                <a:fillRect l="-23773" r="-23773"/>
              </a:stretch>
            </a:blipFill>
          </p:spPr>
        </p:sp>
      </p:grpSp>
      <p:grpSp>
        <p:nvGrpSpPr>
          <p:cNvPr id="19" name="Group 19"/>
          <p:cNvGrpSpPr/>
          <p:nvPr/>
        </p:nvGrpSpPr>
        <p:grpSpPr>
          <a:xfrm>
            <a:off x="16830599" y="9569682"/>
            <a:ext cx="1097547" cy="644966"/>
            <a:chOff x="0" y="0"/>
            <a:chExt cx="1463396" cy="859955"/>
          </a:xfrm>
        </p:grpSpPr>
        <p:sp>
          <p:nvSpPr>
            <p:cNvPr id="20" name="Freeform 20"/>
            <p:cNvSpPr/>
            <p:nvPr/>
          </p:nvSpPr>
          <p:spPr>
            <a:xfrm>
              <a:off x="0" y="0"/>
              <a:ext cx="1463421" cy="859917"/>
            </a:xfrm>
            <a:custGeom>
              <a:avLst/>
              <a:gdLst/>
              <a:ahLst/>
              <a:cxnLst/>
              <a:rect l="l" t="t" r="r" b="b"/>
              <a:pathLst>
                <a:path w="1463421" h="859917">
                  <a:moveTo>
                    <a:pt x="0" y="0"/>
                  </a:moveTo>
                  <a:lnTo>
                    <a:pt x="1463421" y="0"/>
                  </a:lnTo>
                  <a:lnTo>
                    <a:pt x="1463421" y="859917"/>
                  </a:lnTo>
                  <a:lnTo>
                    <a:pt x="0" y="859917"/>
                  </a:lnTo>
                  <a:close/>
                </a:path>
              </a:pathLst>
            </a:custGeom>
            <a:blipFill>
              <a:blip r:embed="rId8">
                <a:alphaModFix amt="0"/>
              </a:blip>
              <a:stretch>
                <a:fillRect l="-25449" r="-25446" b="-4"/>
              </a:stretch>
            </a:blipFill>
          </p:spPr>
        </p:sp>
      </p:grpSp>
      <p:grpSp>
        <p:nvGrpSpPr>
          <p:cNvPr id="21" name="Group 21"/>
          <p:cNvGrpSpPr/>
          <p:nvPr/>
        </p:nvGrpSpPr>
        <p:grpSpPr>
          <a:xfrm>
            <a:off x="16830599" y="9555394"/>
            <a:ext cx="1097547" cy="659254"/>
            <a:chOff x="0" y="0"/>
            <a:chExt cx="1463396" cy="879005"/>
          </a:xfrm>
        </p:grpSpPr>
        <p:sp>
          <p:nvSpPr>
            <p:cNvPr id="22" name="Freeform 22"/>
            <p:cNvSpPr/>
            <p:nvPr/>
          </p:nvSpPr>
          <p:spPr>
            <a:xfrm>
              <a:off x="0" y="0"/>
              <a:ext cx="1463396" cy="879005"/>
            </a:xfrm>
            <a:custGeom>
              <a:avLst/>
              <a:gdLst/>
              <a:ahLst/>
              <a:cxnLst/>
              <a:rect l="l" t="t" r="r" b="b"/>
              <a:pathLst>
                <a:path w="1463396" h="879005">
                  <a:moveTo>
                    <a:pt x="0" y="0"/>
                  </a:moveTo>
                  <a:lnTo>
                    <a:pt x="1463396" y="0"/>
                  </a:lnTo>
                  <a:lnTo>
                    <a:pt x="1463396" y="879005"/>
                  </a:lnTo>
                  <a:lnTo>
                    <a:pt x="0" y="879005"/>
                  </a:lnTo>
                  <a:close/>
                </a:path>
              </a:pathLst>
            </a:custGeom>
            <a:blipFill>
              <a:blip r:embed="rId9">
                <a:alphaModFix amt="0"/>
              </a:blip>
              <a:stretch>
                <a:fillRect l="-27066" r="-27066"/>
              </a:stretch>
            </a:blipFill>
          </p:spPr>
        </p:sp>
        <p:sp>
          <p:nvSpPr>
            <p:cNvPr id="23" name="TextBox 23"/>
            <p:cNvSpPr txBox="1"/>
            <p:nvPr/>
          </p:nvSpPr>
          <p:spPr>
            <a:xfrm>
              <a:off x="0" y="-19050"/>
              <a:ext cx="1463396" cy="898055"/>
            </a:xfrm>
            <a:prstGeom prst="rect">
              <a:avLst/>
            </a:prstGeom>
          </p:spPr>
          <p:txBody>
            <a:bodyPr lIns="0" tIns="0" rIns="0" bIns="0" rtlCol="0" anchor="ctr"/>
            <a:lstStyle/>
            <a:p>
              <a:pPr algn="r">
                <a:lnSpc>
                  <a:spcPts val="2160"/>
                </a:lnSpc>
              </a:pPr>
              <a:r>
                <a:rPr lang="en-US" sz="1800">
                  <a:solidFill>
                    <a:srgbClr val="FFFFFF"/>
                  </a:solidFill>
                  <a:latin typeface="Arial"/>
                  <a:ea typeface="Arial"/>
                  <a:cs typeface="Arial"/>
                  <a:sym typeface="Arial"/>
                </a:rPr>
                <a:t>19</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65" y="-43167"/>
            <a:ext cx="18345198" cy="450009"/>
            <a:chOff x="0" y="0"/>
            <a:chExt cx="24460264" cy="600012"/>
          </a:xfrm>
        </p:grpSpPr>
        <p:sp>
          <p:nvSpPr>
            <p:cNvPr id="3" name="Freeform 3"/>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grpSp>
        <p:nvGrpSpPr>
          <p:cNvPr id="4" name="Group 4"/>
          <p:cNvGrpSpPr/>
          <p:nvPr/>
        </p:nvGrpSpPr>
        <p:grpSpPr>
          <a:xfrm>
            <a:off x="-28565" y="9894760"/>
            <a:ext cx="18345198" cy="450009"/>
            <a:chOff x="0" y="0"/>
            <a:chExt cx="24460264" cy="600012"/>
          </a:xfrm>
        </p:grpSpPr>
        <p:sp>
          <p:nvSpPr>
            <p:cNvPr id="5" name="Freeform 5"/>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sp>
        <p:nvSpPr>
          <p:cNvPr id="6" name="Freeform 6"/>
          <p:cNvSpPr/>
          <p:nvPr/>
        </p:nvSpPr>
        <p:spPr>
          <a:xfrm>
            <a:off x="-12583" y="9568444"/>
            <a:ext cx="18313003" cy="555165"/>
          </a:xfrm>
          <a:custGeom>
            <a:avLst/>
            <a:gdLst/>
            <a:ahLst/>
            <a:cxnLst/>
            <a:rect l="l" t="t" r="r" b="b"/>
            <a:pathLst>
              <a:path w="18313003" h="555165">
                <a:moveTo>
                  <a:pt x="0" y="0"/>
                </a:moveTo>
                <a:lnTo>
                  <a:pt x="18313004" y="0"/>
                </a:lnTo>
                <a:lnTo>
                  <a:pt x="18313004" y="555164"/>
                </a:lnTo>
                <a:lnTo>
                  <a:pt x="0" y="555164"/>
                </a:lnTo>
                <a:lnTo>
                  <a:pt x="0" y="0"/>
                </a:lnTo>
                <a:close/>
              </a:path>
            </a:pathLst>
          </a:custGeom>
          <a:blipFill>
            <a:blip>
              <a:extLst>
                <a:ext uri="{96DAC541-7B7A-43D3-8B79-37D633B846F1}">
                  <asvg:svgBlip xmlns:asvg="http://schemas.microsoft.com/office/drawing/2016/SVG/main" r:embed="rId3"/>
                </a:ext>
              </a:extLst>
            </a:blip>
            <a:stretch>
              <a:fillRect t="-603" b="-602"/>
            </a:stretch>
          </a:blipFill>
        </p:spPr>
      </p:sp>
      <p:sp>
        <p:nvSpPr>
          <p:cNvPr id="7" name="TextBox 7"/>
          <p:cNvSpPr txBox="1"/>
          <p:nvPr/>
        </p:nvSpPr>
        <p:spPr>
          <a:xfrm rot="-462600">
            <a:off x="13326065" y="9600938"/>
            <a:ext cx="2554043" cy="511435"/>
          </a:xfrm>
          <a:prstGeom prst="rect">
            <a:avLst/>
          </a:prstGeom>
        </p:spPr>
        <p:txBody>
          <a:bodyPr lIns="0" tIns="0" rIns="0" bIns="0" rtlCol="0" anchor="t">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id="8" name="TextBox 8"/>
          <p:cNvSpPr txBox="1"/>
          <p:nvPr/>
        </p:nvSpPr>
        <p:spPr>
          <a:xfrm rot="1440">
            <a:off x="9193218" y="9716433"/>
            <a:ext cx="4176751" cy="465077"/>
          </a:xfrm>
          <a:prstGeom prst="rect">
            <a:avLst/>
          </a:prstGeom>
        </p:spPr>
        <p:txBody>
          <a:bodyPr lIns="0" tIns="0" rIns="0" bIns="0" rtlCol="0" anchor="t">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id="9" name="Group 9"/>
          <p:cNvGrpSpPr/>
          <p:nvPr/>
        </p:nvGrpSpPr>
        <p:grpSpPr>
          <a:xfrm>
            <a:off x="12210374" y="3204601"/>
            <a:ext cx="5977033" cy="5953316"/>
            <a:chOff x="0" y="0"/>
            <a:chExt cx="7969377" cy="7937754"/>
          </a:xfrm>
        </p:grpSpPr>
        <p:sp>
          <p:nvSpPr>
            <p:cNvPr id="10" name="Freeform 10"/>
            <p:cNvSpPr/>
            <p:nvPr/>
          </p:nvSpPr>
          <p:spPr>
            <a:xfrm>
              <a:off x="0" y="0"/>
              <a:ext cx="7969377" cy="7937754"/>
            </a:xfrm>
            <a:custGeom>
              <a:avLst/>
              <a:gdLst/>
              <a:ahLst/>
              <a:cxnLst/>
              <a:rect l="l" t="t" r="r" b="b"/>
              <a:pathLst>
                <a:path w="7969377" h="7937754">
                  <a:moveTo>
                    <a:pt x="0" y="0"/>
                  </a:moveTo>
                  <a:lnTo>
                    <a:pt x="7969377" y="0"/>
                  </a:lnTo>
                  <a:lnTo>
                    <a:pt x="7969377" y="7937754"/>
                  </a:lnTo>
                  <a:lnTo>
                    <a:pt x="0" y="7937754"/>
                  </a:lnTo>
                  <a:lnTo>
                    <a:pt x="0" y="0"/>
                  </a:lnTo>
                  <a:close/>
                </a:path>
              </a:pathLst>
            </a:custGeom>
            <a:blipFill>
              <a:blip r:embed="rId4">
                <a:alphaModFix amt="3000"/>
              </a:blip>
              <a:stretch>
                <a:fillRect/>
              </a:stretch>
            </a:blipFill>
          </p:spPr>
        </p:sp>
      </p:grpSp>
      <p:sp>
        <p:nvSpPr>
          <p:cNvPr id="11" name="TextBox 11"/>
          <p:cNvSpPr txBox="1"/>
          <p:nvPr/>
        </p:nvSpPr>
        <p:spPr>
          <a:xfrm>
            <a:off x="745303" y="830980"/>
            <a:ext cx="2816276" cy="781431"/>
          </a:xfrm>
          <a:prstGeom prst="rect">
            <a:avLst/>
          </a:prstGeom>
        </p:spPr>
        <p:txBody>
          <a:bodyPr lIns="0" tIns="0" rIns="0" bIns="0" rtlCol="0" anchor="t">
            <a:spAutoFit/>
          </a:bodyPr>
          <a:lstStyle/>
          <a:p>
            <a:pPr algn="l">
              <a:lnSpc>
                <a:spcPts val="5757"/>
              </a:lnSpc>
            </a:pPr>
            <a:r>
              <a:rPr lang="en-US" sz="4800" b="1" spc="-21">
                <a:solidFill>
                  <a:srgbClr val="0000FF"/>
                </a:solidFill>
                <a:latin typeface="Times New Roman Bold"/>
                <a:ea typeface="Times New Roman Bold"/>
                <a:cs typeface="Times New Roman Bold"/>
                <a:sym typeface="Times New Roman Bold"/>
              </a:rPr>
              <a:t>References</a:t>
            </a:r>
          </a:p>
        </p:txBody>
      </p:sp>
      <p:sp>
        <p:nvSpPr>
          <p:cNvPr id="12" name="TextBox 12"/>
          <p:cNvSpPr txBox="1"/>
          <p:nvPr/>
        </p:nvSpPr>
        <p:spPr>
          <a:xfrm>
            <a:off x="594922" y="1998783"/>
            <a:ext cx="16204968" cy="6210300"/>
          </a:xfrm>
          <a:prstGeom prst="rect">
            <a:avLst/>
          </a:prstGeom>
        </p:spPr>
        <p:txBody>
          <a:bodyPr lIns="0" tIns="0" rIns="0" bIns="0" rtlCol="0" anchor="t">
            <a:spAutoFit/>
          </a:bodyPr>
          <a:lstStyle/>
          <a:p>
            <a:pPr marL="959871" lvl="5" indent="-159978" algn="just">
              <a:lnSpc>
                <a:spcPts val="2760"/>
              </a:lnSpc>
              <a:buAutoNum type="arabicPeriod"/>
            </a:pPr>
            <a:r>
              <a:rPr lang="en-US" sz="2300" spc="-17">
                <a:solidFill>
                  <a:srgbClr val="000000"/>
                </a:solidFill>
                <a:latin typeface="Times New Roman"/>
                <a:ea typeface="Times New Roman"/>
                <a:cs typeface="Times New Roman"/>
                <a:sym typeface="Times New Roman"/>
              </a:rPr>
              <a:t>M. Weber, G. Domeniconi, J. Chen, D. K. I. Weidele, C. Bellei, T. Robinson, and C. E. Leiserson, "Anti-Money Laundering in Bitcoin: Experimenting with Graph Convolutional Networks for Financial Forensics," in Proc. KDD 2019 Workshop on Anomaly Detection in Finance, 2019.</a:t>
            </a:r>
          </a:p>
          <a:p>
            <a:pPr marL="959871" lvl="5" indent="-159978" algn="just">
              <a:lnSpc>
                <a:spcPts val="2760"/>
              </a:lnSpc>
              <a:buAutoNum type="arabicPeriod"/>
            </a:pPr>
            <a:r>
              <a:rPr lang="en-US" sz="2300" spc="-17">
                <a:solidFill>
                  <a:srgbClr val="000000"/>
                </a:solidFill>
                <a:latin typeface="Times New Roman"/>
                <a:ea typeface="Times New Roman"/>
                <a:cs typeface="Times New Roman"/>
                <a:sym typeface="Times New Roman"/>
              </a:rPr>
              <a:t>I. Alarab and S. Prakoonwit, "Graph-based LSTM for Anti-Money Laundering: Experimenting Temporal Graph Convolutional Network with Bitcoin Data," Neural Processing Letters, Springer, 2023.</a:t>
            </a:r>
          </a:p>
          <a:p>
            <a:pPr marL="959871" lvl="5" indent="-159978" algn="just">
              <a:lnSpc>
                <a:spcPts val="2760"/>
              </a:lnSpc>
              <a:buAutoNum type="arabicPeriod"/>
            </a:pPr>
            <a:r>
              <a:rPr lang="en-US" sz="2300" spc="-17">
                <a:solidFill>
                  <a:srgbClr val="000000"/>
                </a:solidFill>
                <a:latin typeface="Times New Roman"/>
                <a:ea typeface="Times New Roman"/>
                <a:cs typeface="Times New Roman"/>
                <a:sym typeface="Times New Roman"/>
              </a:rPr>
              <a:t>Z. Lin, Q. Luo, D. Wu, J. Shen, L. Li, X. Nong, and Z. Qin, "Detecting Illicit Transactions in Bitcoin: A Wavelet-Temporal Graph Transformer Approach for Anti-Money Laundering," Scientific Reports, Nature, 2026.</a:t>
            </a:r>
          </a:p>
          <a:p>
            <a:pPr marL="959871" lvl="5" indent="-159978" algn="just">
              <a:lnSpc>
                <a:spcPts val="2760"/>
              </a:lnSpc>
              <a:buAutoNum type="arabicPeriod"/>
            </a:pPr>
            <a:r>
              <a:rPr lang="en-US" sz="2300" spc="-17">
                <a:solidFill>
                  <a:srgbClr val="000000"/>
                </a:solidFill>
                <a:latin typeface="Times New Roman"/>
                <a:ea typeface="Times New Roman"/>
                <a:cs typeface="Times New Roman"/>
                <a:sym typeface="Times New Roman"/>
              </a:rPr>
              <a:t>O. Lawal, A. Okolie, and C. Obunadike, "An Explainable Graph Neural Network Framework for Anti-Money Laundering in Cryptocurrency Transactions using the Elliptic Dataset," International Journal of Network Security, 2025.</a:t>
            </a:r>
          </a:p>
          <a:p>
            <a:pPr marL="959871" lvl="5" indent="-159978" algn="just">
              <a:lnSpc>
                <a:spcPts val="2760"/>
              </a:lnSpc>
              <a:buAutoNum type="arabicPeriod"/>
            </a:pPr>
            <a:r>
              <a:rPr lang="en-US" sz="2300" spc="-17">
                <a:solidFill>
                  <a:srgbClr val="000000"/>
                </a:solidFill>
                <a:latin typeface="Times New Roman"/>
                <a:ea typeface="Times New Roman"/>
                <a:cs typeface="Times New Roman"/>
                <a:sym typeface="Times New Roman"/>
              </a:rPr>
              <a:t>Y. Nie, N. H. Nguyen, P. Sinthong, and J. Kalagnanam, "A Time Series Is Worth 64 Words: Long-Term Forecasting with Transformers," in Proc. International Conference on Learning Representations (ICLR), 2023, doi: 10.48550/arXiv.2211.14730.</a:t>
            </a:r>
          </a:p>
          <a:p>
            <a:pPr marL="959871" lvl="5" indent="-159978" algn="just">
              <a:lnSpc>
                <a:spcPts val="2760"/>
              </a:lnSpc>
              <a:buAutoNum type="arabicPeriod"/>
            </a:pPr>
            <a:r>
              <a:rPr lang="en-US" sz="2300" spc="-17">
                <a:solidFill>
                  <a:srgbClr val="000000"/>
                </a:solidFill>
                <a:latin typeface="Times New Roman"/>
                <a:ea typeface="Times New Roman"/>
                <a:cs typeface="Times New Roman"/>
                <a:sym typeface="Times New Roman"/>
              </a:rPr>
              <a:t>S. Ferretti, G. D'Angelo, and V. Ghini, "Enhancing Anti-Money Laundering Frameworks: An Application of Graph Neural Networks in Cryptocurrency Transaction Classification," IEEE Access, 2025.</a:t>
            </a:r>
          </a:p>
          <a:p>
            <a:pPr marL="959871" lvl="5" indent="-159978" algn="just">
              <a:lnSpc>
                <a:spcPts val="2760"/>
              </a:lnSpc>
              <a:buAutoNum type="arabicPeriod"/>
            </a:pPr>
            <a:r>
              <a:rPr lang="en-US" sz="2300" spc="-17">
                <a:solidFill>
                  <a:srgbClr val="000000"/>
                </a:solidFill>
                <a:latin typeface="Times New Roman"/>
                <a:ea typeface="Times New Roman"/>
                <a:cs typeface="Times New Roman"/>
                <a:sym typeface="Times New Roman"/>
              </a:rPr>
              <a:t>Y. He, L. Xing, Y. Chen, W. Pedrycz, L. Wang, and G. Wu, "A Generic Markov Decision Process Model and Reinforcement Learning Method for Scheduling Agile Earth Observation Satellites," IEEE Transactions on Systems, Man, and Cybernetics: Systems, vol. 52, no. 3, pp. 1463-1474, Mar. 2022, doi: 10.1109/TSMC.2020.3020732.</a:t>
            </a:r>
          </a:p>
          <a:p>
            <a:pPr marL="959871" lvl="5" indent="-159978" algn="just">
              <a:lnSpc>
                <a:spcPts val="2760"/>
              </a:lnSpc>
              <a:buAutoNum type="arabicPeriod"/>
            </a:pPr>
            <a:r>
              <a:rPr lang="en-US" sz="2300" spc="-17">
                <a:solidFill>
                  <a:srgbClr val="000000"/>
                </a:solidFill>
                <a:latin typeface="Times New Roman"/>
                <a:ea typeface="Times New Roman"/>
                <a:cs typeface="Times New Roman"/>
                <a:sym typeface="Times New Roman"/>
              </a:rPr>
              <a:t>B. Peng et al., "FACMAC: Factored Multi-Agent Centralised Policy Gradients," in Advances in Neural Information Processing Systems, vol. 34, pp. 12208-12221, 2021, doi: 10.48550/arXiv.2003.06709.</a:t>
            </a:r>
          </a:p>
        </p:txBody>
      </p:sp>
      <p:grpSp>
        <p:nvGrpSpPr>
          <p:cNvPr id="13" name="Group 13"/>
          <p:cNvGrpSpPr/>
          <p:nvPr/>
        </p:nvGrpSpPr>
        <p:grpSpPr>
          <a:xfrm>
            <a:off x="16830599" y="9612544"/>
            <a:ext cx="1097566" cy="602075"/>
            <a:chOff x="0" y="0"/>
            <a:chExt cx="1463421" cy="802767"/>
          </a:xfrm>
        </p:grpSpPr>
        <p:sp>
          <p:nvSpPr>
            <p:cNvPr id="14" name="Freeform 14"/>
            <p:cNvSpPr/>
            <p:nvPr/>
          </p:nvSpPr>
          <p:spPr>
            <a:xfrm>
              <a:off x="0" y="0"/>
              <a:ext cx="1463421" cy="802767"/>
            </a:xfrm>
            <a:custGeom>
              <a:avLst/>
              <a:gdLst/>
              <a:ahLst/>
              <a:cxnLst/>
              <a:rect l="l" t="t" r="r" b="b"/>
              <a:pathLst>
                <a:path w="1463421" h="802767">
                  <a:moveTo>
                    <a:pt x="0" y="0"/>
                  </a:moveTo>
                  <a:lnTo>
                    <a:pt x="1463421" y="0"/>
                  </a:lnTo>
                  <a:lnTo>
                    <a:pt x="1463421" y="802767"/>
                  </a:lnTo>
                  <a:lnTo>
                    <a:pt x="0" y="802767"/>
                  </a:lnTo>
                  <a:close/>
                </a:path>
              </a:pathLst>
            </a:custGeom>
            <a:blipFill>
              <a:blip r:embed="rId5">
                <a:alphaModFix amt="0"/>
              </a:blip>
              <a:stretch>
                <a:fillRect l="-20430" r="-20430"/>
              </a:stretch>
            </a:blipFill>
          </p:spPr>
        </p:sp>
      </p:grpSp>
      <p:grpSp>
        <p:nvGrpSpPr>
          <p:cNvPr id="15" name="Group 15"/>
          <p:cNvGrpSpPr/>
          <p:nvPr/>
        </p:nvGrpSpPr>
        <p:grpSpPr>
          <a:xfrm>
            <a:off x="16830599" y="9598257"/>
            <a:ext cx="1097566" cy="616363"/>
            <a:chOff x="0" y="0"/>
            <a:chExt cx="1463421" cy="821817"/>
          </a:xfrm>
        </p:grpSpPr>
        <p:sp>
          <p:nvSpPr>
            <p:cNvPr id="16" name="Freeform 16"/>
            <p:cNvSpPr/>
            <p:nvPr/>
          </p:nvSpPr>
          <p:spPr>
            <a:xfrm>
              <a:off x="0" y="0"/>
              <a:ext cx="1463421" cy="821817"/>
            </a:xfrm>
            <a:custGeom>
              <a:avLst/>
              <a:gdLst/>
              <a:ahLst/>
              <a:cxnLst/>
              <a:rect l="l" t="t" r="r" b="b"/>
              <a:pathLst>
                <a:path w="1463421" h="821817">
                  <a:moveTo>
                    <a:pt x="0" y="0"/>
                  </a:moveTo>
                  <a:lnTo>
                    <a:pt x="1463421" y="0"/>
                  </a:lnTo>
                  <a:lnTo>
                    <a:pt x="1463421" y="821817"/>
                  </a:lnTo>
                  <a:lnTo>
                    <a:pt x="0" y="821817"/>
                  </a:lnTo>
                  <a:close/>
                </a:path>
              </a:pathLst>
            </a:custGeom>
            <a:blipFill>
              <a:blip r:embed="rId6">
                <a:alphaModFix amt="0"/>
              </a:blip>
              <a:stretch>
                <a:fillRect l="-22101" r="-22101"/>
              </a:stretch>
            </a:blipFill>
          </p:spPr>
        </p:sp>
      </p:grpSp>
      <p:grpSp>
        <p:nvGrpSpPr>
          <p:cNvPr id="17" name="Group 17"/>
          <p:cNvGrpSpPr/>
          <p:nvPr/>
        </p:nvGrpSpPr>
        <p:grpSpPr>
          <a:xfrm>
            <a:off x="16830599" y="9583969"/>
            <a:ext cx="1097566" cy="630650"/>
            <a:chOff x="0" y="0"/>
            <a:chExt cx="1463421" cy="840867"/>
          </a:xfrm>
        </p:grpSpPr>
        <p:sp>
          <p:nvSpPr>
            <p:cNvPr id="18" name="Freeform 18"/>
            <p:cNvSpPr/>
            <p:nvPr/>
          </p:nvSpPr>
          <p:spPr>
            <a:xfrm>
              <a:off x="0" y="0"/>
              <a:ext cx="1463421" cy="840867"/>
            </a:xfrm>
            <a:custGeom>
              <a:avLst/>
              <a:gdLst/>
              <a:ahLst/>
              <a:cxnLst/>
              <a:rect l="l" t="t" r="r" b="b"/>
              <a:pathLst>
                <a:path w="1463421" h="840867">
                  <a:moveTo>
                    <a:pt x="0" y="0"/>
                  </a:moveTo>
                  <a:lnTo>
                    <a:pt x="1463421" y="0"/>
                  </a:lnTo>
                  <a:lnTo>
                    <a:pt x="1463421" y="840867"/>
                  </a:lnTo>
                  <a:lnTo>
                    <a:pt x="0" y="840867"/>
                  </a:lnTo>
                  <a:close/>
                </a:path>
              </a:pathLst>
            </a:custGeom>
            <a:blipFill>
              <a:blip r:embed="rId7">
                <a:alphaModFix amt="0"/>
              </a:blip>
              <a:stretch>
                <a:fillRect l="-23773" r="-23773"/>
              </a:stretch>
            </a:blipFill>
          </p:spPr>
        </p:sp>
      </p:grpSp>
      <p:grpSp>
        <p:nvGrpSpPr>
          <p:cNvPr id="19" name="Group 19"/>
          <p:cNvGrpSpPr/>
          <p:nvPr/>
        </p:nvGrpSpPr>
        <p:grpSpPr>
          <a:xfrm>
            <a:off x="16830599" y="9569682"/>
            <a:ext cx="1097547" cy="644966"/>
            <a:chOff x="0" y="0"/>
            <a:chExt cx="1463396" cy="859955"/>
          </a:xfrm>
        </p:grpSpPr>
        <p:sp>
          <p:nvSpPr>
            <p:cNvPr id="20" name="Freeform 20"/>
            <p:cNvSpPr/>
            <p:nvPr/>
          </p:nvSpPr>
          <p:spPr>
            <a:xfrm>
              <a:off x="0" y="0"/>
              <a:ext cx="1463421" cy="859917"/>
            </a:xfrm>
            <a:custGeom>
              <a:avLst/>
              <a:gdLst/>
              <a:ahLst/>
              <a:cxnLst/>
              <a:rect l="l" t="t" r="r" b="b"/>
              <a:pathLst>
                <a:path w="1463421" h="859917">
                  <a:moveTo>
                    <a:pt x="0" y="0"/>
                  </a:moveTo>
                  <a:lnTo>
                    <a:pt x="1463421" y="0"/>
                  </a:lnTo>
                  <a:lnTo>
                    <a:pt x="1463421" y="859917"/>
                  </a:lnTo>
                  <a:lnTo>
                    <a:pt x="0" y="859917"/>
                  </a:lnTo>
                  <a:close/>
                </a:path>
              </a:pathLst>
            </a:custGeom>
            <a:blipFill>
              <a:blip r:embed="rId8">
                <a:alphaModFix amt="0"/>
              </a:blip>
              <a:stretch>
                <a:fillRect l="-25449" r="-25446" b="-4"/>
              </a:stretch>
            </a:blipFill>
          </p:spPr>
        </p:sp>
      </p:grpSp>
      <p:grpSp>
        <p:nvGrpSpPr>
          <p:cNvPr id="21" name="Group 21"/>
          <p:cNvGrpSpPr/>
          <p:nvPr/>
        </p:nvGrpSpPr>
        <p:grpSpPr>
          <a:xfrm>
            <a:off x="16830599" y="9555394"/>
            <a:ext cx="1097547" cy="659254"/>
            <a:chOff x="0" y="0"/>
            <a:chExt cx="1463396" cy="879005"/>
          </a:xfrm>
        </p:grpSpPr>
        <p:sp>
          <p:nvSpPr>
            <p:cNvPr id="22" name="Freeform 22"/>
            <p:cNvSpPr/>
            <p:nvPr/>
          </p:nvSpPr>
          <p:spPr>
            <a:xfrm>
              <a:off x="0" y="0"/>
              <a:ext cx="1463396" cy="879005"/>
            </a:xfrm>
            <a:custGeom>
              <a:avLst/>
              <a:gdLst/>
              <a:ahLst/>
              <a:cxnLst/>
              <a:rect l="l" t="t" r="r" b="b"/>
              <a:pathLst>
                <a:path w="1463396" h="879005">
                  <a:moveTo>
                    <a:pt x="0" y="0"/>
                  </a:moveTo>
                  <a:lnTo>
                    <a:pt x="1463396" y="0"/>
                  </a:lnTo>
                  <a:lnTo>
                    <a:pt x="1463396" y="879005"/>
                  </a:lnTo>
                  <a:lnTo>
                    <a:pt x="0" y="879005"/>
                  </a:lnTo>
                  <a:close/>
                </a:path>
              </a:pathLst>
            </a:custGeom>
            <a:blipFill>
              <a:blip r:embed="rId9">
                <a:alphaModFix amt="0"/>
              </a:blip>
              <a:stretch>
                <a:fillRect l="-27066" r="-27066"/>
              </a:stretch>
            </a:blipFill>
          </p:spPr>
        </p:sp>
        <p:sp>
          <p:nvSpPr>
            <p:cNvPr id="23" name="TextBox 23"/>
            <p:cNvSpPr txBox="1"/>
            <p:nvPr/>
          </p:nvSpPr>
          <p:spPr>
            <a:xfrm>
              <a:off x="0" y="-19050"/>
              <a:ext cx="1463396" cy="898055"/>
            </a:xfrm>
            <a:prstGeom prst="rect">
              <a:avLst/>
            </a:prstGeom>
          </p:spPr>
          <p:txBody>
            <a:bodyPr lIns="0" tIns="0" rIns="0" bIns="0" rtlCol="0" anchor="ctr"/>
            <a:lstStyle/>
            <a:p>
              <a:pPr algn="r">
                <a:lnSpc>
                  <a:spcPts val="2160"/>
                </a:lnSpc>
              </a:pPr>
              <a:r>
                <a:rPr lang="en-US" sz="1800">
                  <a:solidFill>
                    <a:srgbClr val="FFFFFF"/>
                  </a:solidFill>
                  <a:latin typeface="Arial"/>
                  <a:ea typeface="Arial"/>
                  <a:cs typeface="Arial"/>
                  <a:sym typeface="Arial"/>
                </a:rPr>
                <a:t>20</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65" y="-43167"/>
            <a:ext cx="18345198" cy="450009"/>
            <a:chOff x="0" y="0"/>
            <a:chExt cx="24460264" cy="600012"/>
          </a:xfrm>
        </p:grpSpPr>
        <p:sp>
          <p:nvSpPr>
            <p:cNvPr id="3" name="Freeform 3"/>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grpSp>
        <p:nvGrpSpPr>
          <p:cNvPr id="4" name="Group 4"/>
          <p:cNvGrpSpPr/>
          <p:nvPr/>
        </p:nvGrpSpPr>
        <p:grpSpPr>
          <a:xfrm>
            <a:off x="-28565" y="9894760"/>
            <a:ext cx="18345198" cy="450009"/>
            <a:chOff x="0" y="0"/>
            <a:chExt cx="24460264" cy="600012"/>
          </a:xfrm>
        </p:grpSpPr>
        <p:sp>
          <p:nvSpPr>
            <p:cNvPr id="5" name="Freeform 5"/>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sp>
        <p:nvSpPr>
          <p:cNvPr id="6" name="Freeform 6"/>
          <p:cNvSpPr/>
          <p:nvPr/>
        </p:nvSpPr>
        <p:spPr>
          <a:xfrm>
            <a:off x="-12583" y="9568444"/>
            <a:ext cx="18313003" cy="555165"/>
          </a:xfrm>
          <a:custGeom>
            <a:avLst/>
            <a:gdLst/>
            <a:ahLst/>
            <a:cxnLst/>
            <a:rect l="l" t="t" r="r" b="b"/>
            <a:pathLst>
              <a:path w="18313003" h="555165">
                <a:moveTo>
                  <a:pt x="0" y="0"/>
                </a:moveTo>
                <a:lnTo>
                  <a:pt x="18313004" y="0"/>
                </a:lnTo>
                <a:lnTo>
                  <a:pt x="18313004" y="555164"/>
                </a:lnTo>
                <a:lnTo>
                  <a:pt x="0" y="555164"/>
                </a:lnTo>
                <a:lnTo>
                  <a:pt x="0" y="0"/>
                </a:lnTo>
                <a:close/>
              </a:path>
            </a:pathLst>
          </a:custGeom>
          <a:blipFill>
            <a:blip>
              <a:extLst>
                <a:ext uri="{96DAC541-7B7A-43D3-8B79-37D633B846F1}">
                  <asvg:svgBlip xmlns:asvg="http://schemas.microsoft.com/office/drawing/2016/SVG/main" r:embed="rId3"/>
                </a:ext>
              </a:extLst>
            </a:blip>
            <a:stretch>
              <a:fillRect t="-603" b="-602"/>
            </a:stretch>
          </a:blipFill>
        </p:spPr>
      </p:sp>
      <p:sp>
        <p:nvSpPr>
          <p:cNvPr id="7" name="TextBox 7"/>
          <p:cNvSpPr txBox="1"/>
          <p:nvPr/>
        </p:nvSpPr>
        <p:spPr>
          <a:xfrm rot="-462600">
            <a:off x="13326065" y="9600938"/>
            <a:ext cx="2554043" cy="511435"/>
          </a:xfrm>
          <a:prstGeom prst="rect">
            <a:avLst/>
          </a:prstGeom>
        </p:spPr>
        <p:txBody>
          <a:bodyPr lIns="0" tIns="0" rIns="0" bIns="0" rtlCol="0" anchor="t">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id="8" name="TextBox 8"/>
          <p:cNvSpPr txBox="1"/>
          <p:nvPr/>
        </p:nvSpPr>
        <p:spPr>
          <a:xfrm rot="1440">
            <a:off x="9193218" y="9716433"/>
            <a:ext cx="4176751" cy="465077"/>
          </a:xfrm>
          <a:prstGeom prst="rect">
            <a:avLst/>
          </a:prstGeom>
        </p:spPr>
        <p:txBody>
          <a:bodyPr lIns="0" tIns="0" rIns="0" bIns="0" rtlCol="0" anchor="t">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id="9" name="Group 9"/>
          <p:cNvGrpSpPr/>
          <p:nvPr/>
        </p:nvGrpSpPr>
        <p:grpSpPr>
          <a:xfrm>
            <a:off x="12210374" y="3204601"/>
            <a:ext cx="5977033" cy="5953316"/>
            <a:chOff x="0" y="0"/>
            <a:chExt cx="7969377" cy="7937754"/>
          </a:xfrm>
        </p:grpSpPr>
        <p:sp>
          <p:nvSpPr>
            <p:cNvPr id="10" name="Freeform 10"/>
            <p:cNvSpPr/>
            <p:nvPr/>
          </p:nvSpPr>
          <p:spPr>
            <a:xfrm>
              <a:off x="0" y="0"/>
              <a:ext cx="7969377" cy="7937754"/>
            </a:xfrm>
            <a:custGeom>
              <a:avLst/>
              <a:gdLst/>
              <a:ahLst/>
              <a:cxnLst/>
              <a:rect l="l" t="t" r="r" b="b"/>
              <a:pathLst>
                <a:path w="7969377" h="7937754">
                  <a:moveTo>
                    <a:pt x="0" y="0"/>
                  </a:moveTo>
                  <a:lnTo>
                    <a:pt x="7969377" y="0"/>
                  </a:lnTo>
                  <a:lnTo>
                    <a:pt x="7969377" y="7937754"/>
                  </a:lnTo>
                  <a:lnTo>
                    <a:pt x="0" y="7937754"/>
                  </a:lnTo>
                  <a:lnTo>
                    <a:pt x="0" y="0"/>
                  </a:lnTo>
                  <a:close/>
                </a:path>
              </a:pathLst>
            </a:custGeom>
            <a:blipFill>
              <a:blip r:embed="rId4">
                <a:alphaModFix amt="3000"/>
              </a:blip>
              <a:stretch>
                <a:fillRect/>
              </a:stretch>
            </a:blipFill>
          </p:spPr>
        </p:sp>
      </p:grpSp>
      <p:sp>
        <p:nvSpPr>
          <p:cNvPr id="11" name="TextBox 11"/>
          <p:cNvSpPr txBox="1"/>
          <p:nvPr/>
        </p:nvSpPr>
        <p:spPr>
          <a:xfrm>
            <a:off x="745303" y="830980"/>
            <a:ext cx="1575864" cy="781431"/>
          </a:xfrm>
          <a:prstGeom prst="rect">
            <a:avLst/>
          </a:prstGeom>
        </p:spPr>
        <p:txBody>
          <a:bodyPr lIns="0" tIns="0" rIns="0" bIns="0" rtlCol="0" anchor="t">
            <a:spAutoFit/>
          </a:bodyPr>
          <a:lstStyle/>
          <a:p>
            <a:pPr algn="l">
              <a:lnSpc>
                <a:spcPts val="5757"/>
              </a:lnSpc>
            </a:pPr>
            <a:r>
              <a:rPr lang="en-US" sz="4800" b="1" spc="-21">
                <a:solidFill>
                  <a:srgbClr val="0000FF"/>
                </a:solidFill>
                <a:latin typeface="Times New Roman Bold"/>
                <a:ea typeface="Times New Roman Bold"/>
                <a:cs typeface="Times New Roman Bold"/>
                <a:sym typeface="Times New Roman Bold"/>
              </a:rPr>
              <a:t>Cont..</a:t>
            </a:r>
          </a:p>
        </p:txBody>
      </p:sp>
      <p:sp>
        <p:nvSpPr>
          <p:cNvPr id="12" name="TextBox 12"/>
          <p:cNvSpPr txBox="1"/>
          <p:nvPr/>
        </p:nvSpPr>
        <p:spPr>
          <a:xfrm>
            <a:off x="638137" y="1934823"/>
            <a:ext cx="16204968" cy="4838700"/>
          </a:xfrm>
          <a:prstGeom prst="rect">
            <a:avLst/>
          </a:prstGeom>
        </p:spPr>
        <p:txBody>
          <a:bodyPr lIns="0" tIns="0" rIns="0" bIns="0" rtlCol="0" anchor="t">
            <a:spAutoFit/>
          </a:bodyPr>
          <a:lstStyle/>
          <a:p>
            <a:pPr marL="525781" lvl="2" indent="-175260" algn="l">
              <a:lnSpc>
                <a:spcPts val="2760"/>
              </a:lnSpc>
              <a:buAutoNum type="arabicPeriod"/>
            </a:pPr>
            <a:r>
              <a:rPr lang="en-US" sz="2300" spc="-17">
                <a:solidFill>
                  <a:srgbClr val="000000"/>
                </a:solidFill>
                <a:latin typeface="Times New Roman"/>
                <a:ea typeface="Times New Roman"/>
                <a:cs typeface="Times New Roman"/>
                <a:sym typeface="Times New Roman"/>
              </a:rPr>
              <a:t> R. Ying, D. Bourgeois, J. You, M. Zitnik, and J. Leskovec, "GNNExplainer: Generating Explanations for Graph Neural Networks," Advances in Neural Information Processing Systems (NeurIPS), 2019.</a:t>
            </a:r>
          </a:p>
          <a:p>
            <a:pPr marL="525781" lvl="2" indent="-175260" algn="just">
              <a:lnSpc>
                <a:spcPts val="2760"/>
              </a:lnSpc>
            </a:pPr>
            <a:r>
              <a:rPr lang="en-US" sz="2300" spc="-16">
                <a:solidFill>
                  <a:srgbClr val="000000"/>
                </a:solidFill>
                <a:latin typeface="Times New Roman"/>
                <a:ea typeface="Times New Roman"/>
                <a:cs typeface="Times New Roman"/>
                <a:sym typeface="Times New Roman"/>
              </a:rPr>
              <a:t>  12. [X. Wang, G. Wu, L. Xing, and W. Pedrycz, "Agile Earth Observation Satellite Scheduling Over 20 Years: Formulations, Methods, and</a:t>
            </a:r>
          </a:p>
          <a:p>
            <a:pPr marL="525781" lvl="2" indent="-175260" algn="just">
              <a:lnSpc>
                <a:spcPts val="2760"/>
              </a:lnSpc>
            </a:pPr>
            <a:r>
              <a:rPr lang="en-US" sz="2300" spc="-17">
                <a:solidFill>
                  <a:srgbClr val="000000"/>
                </a:solidFill>
                <a:latin typeface="Times New Roman"/>
                <a:ea typeface="Times New Roman"/>
                <a:cs typeface="Times New Roman"/>
                <a:sym typeface="Times New Roman"/>
              </a:rPr>
              <a:t>       Future Directions," IEEE Systems Journal, vol. 15, no. 3, pp. 3881-3892, Sep. 2021, doi: 10.1109/JSYST.2020.2997050.</a:t>
            </a:r>
          </a:p>
          <a:p>
            <a:pPr marL="525781" lvl="2" indent="-175260" algn="l">
              <a:lnSpc>
                <a:spcPts val="2760"/>
              </a:lnSpc>
              <a:buAutoNum type="arabicPeriod"/>
            </a:pPr>
            <a:r>
              <a:rPr lang="en-US" sz="2300" spc="-17">
                <a:solidFill>
                  <a:srgbClr val="000000"/>
                </a:solidFill>
                <a:latin typeface="Times New Roman"/>
                <a:ea typeface="Times New Roman"/>
                <a:cs typeface="Times New Roman"/>
                <a:sym typeface="Times New Roman"/>
              </a:rPr>
              <a:t>P. Veličković, G. Cucurull, A. Casanova, A. Romero, P. Liò, and Y. Bengio, "Graph Attention Networks," International Conference on Learning Representations (ICLR), 2018.</a:t>
            </a:r>
          </a:p>
          <a:p>
            <a:pPr marL="525781" lvl="2" indent="-175260" algn="just">
              <a:lnSpc>
                <a:spcPts val="2760"/>
              </a:lnSpc>
            </a:pPr>
            <a:r>
              <a:rPr lang="en-US" sz="2300" spc="-16">
                <a:solidFill>
                  <a:srgbClr val="000000"/>
                </a:solidFill>
                <a:latin typeface="Times New Roman"/>
                <a:ea typeface="Times New Roman"/>
                <a:cs typeface="Times New Roman"/>
                <a:sym typeface="Times New Roman"/>
              </a:rPr>
              <a:t> 14. E. Rossi, B. Chamberlain, F. Frasca, D. Eynard, F. Monti, and M. Bronstein, "Temporal Graph Networks for Deep Learning on</a:t>
            </a:r>
          </a:p>
          <a:p>
            <a:pPr marL="525781" lvl="2" indent="-175260" algn="just">
              <a:lnSpc>
                <a:spcPts val="2760"/>
              </a:lnSpc>
            </a:pPr>
            <a:r>
              <a:rPr lang="en-US" sz="2300" spc="-17">
                <a:solidFill>
                  <a:srgbClr val="000000"/>
                </a:solidFill>
                <a:latin typeface="Times New Roman"/>
                <a:ea typeface="Times New Roman"/>
                <a:cs typeface="Times New Roman"/>
                <a:sym typeface="Times New Roman"/>
              </a:rPr>
              <a:t>       Dynamic Graphs," ICML 2020 Workshop on Graph Representation Learning.</a:t>
            </a:r>
          </a:p>
          <a:p>
            <a:pPr marL="525781" lvl="2" indent="-175260" algn="just">
              <a:lnSpc>
                <a:spcPts val="2760"/>
              </a:lnSpc>
            </a:pPr>
            <a:r>
              <a:rPr lang="en-US" sz="2300" spc="-16">
                <a:solidFill>
                  <a:srgbClr val="000000"/>
                </a:solidFill>
                <a:latin typeface="Times New Roman"/>
                <a:ea typeface="Times New Roman"/>
                <a:cs typeface="Times New Roman"/>
                <a:sym typeface="Times New Roman"/>
              </a:rPr>
              <a:t> 15. M. R. Karim, F. Hermsen, S. A. Chala, and P. De Perthuis, "Scalable Semi-Supervised Graph Learning Techniques for Anti-Money </a:t>
            </a:r>
          </a:p>
          <a:p>
            <a:pPr marL="525781" lvl="2" indent="-175260" algn="just">
              <a:lnSpc>
                <a:spcPts val="2760"/>
              </a:lnSpc>
            </a:pPr>
            <a:r>
              <a:rPr lang="en-US" sz="2300" spc="-17">
                <a:solidFill>
                  <a:srgbClr val="000000"/>
                </a:solidFill>
                <a:latin typeface="Times New Roman"/>
                <a:ea typeface="Times New Roman"/>
                <a:cs typeface="Times New Roman"/>
                <a:sym typeface="Times New Roman"/>
              </a:rPr>
              <a:t>       Laundering," IEEE, 2024.</a:t>
            </a:r>
          </a:p>
          <a:p>
            <a:pPr marL="525781" lvl="2" indent="-175260" algn="just">
              <a:lnSpc>
                <a:spcPts val="2760"/>
              </a:lnSpc>
            </a:pPr>
            <a:r>
              <a:rPr lang="en-US" sz="2300" spc="-16">
                <a:solidFill>
                  <a:srgbClr val="000000"/>
                </a:solidFill>
                <a:latin typeface="Times New Roman"/>
                <a:ea typeface="Times New Roman"/>
                <a:cs typeface="Times New Roman"/>
                <a:sym typeface="Times New Roman"/>
              </a:rPr>
              <a:t> 16.T. Rashid et al., "QMIX: Monotonic Value Function Factorisation for Deep Multi-Agent Reinforcement Learning," in Proc. 35th </a:t>
            </a:r>
          </a:p>
          <a:p>
            <a:pPr marL="525781" lvl="2" indent="-175260" algn="just">
              <a:lnSpc>
                <a:spcPts val="2760"/>
              </a:lnSpc>
            </a:pPr>
            <a:r>
              <a:rPr lang="en-US" sz="2300" spc="-17">
                <a:solidFill>
                  <a:srgbClr val="000000"/>
                </a:solidFill>
                <a:latin typeface="Times New Roman"/>
                <a:ea typeface="Times New Roman"/>
                <a:cs typeface="Times New Roman"/>
                <a:sym typeface="Times New Roman"/>
              </a:rPr>
              <a:t>       International Conference on Machine Learning (ICML), vol. 80, pp. 4295-4304, 2018, doi: 10.48550/arXiv.1803.11485.</a:t>
            </a:r>
          </a:p>
          <a:p>
            <a:pPr marL="525781" lvl="2" indent="-175260" algn="l">
              <a:lnSpc>
                <a:spcPts val="2760"/>
              </a:lnSpc>
              <a:buAutoNum type="arabicPeriod"/>
            </a:pPr>
            <a:r>
              <a:rPr lang="en-US" sz="2300" spc="-17">
                <a:solidFill>
                  <a:srgbClr val="000000"/>
                </a:solidFill>
                <a:latin typeface="Times New Roman"/>
                <a:ea typeface="Times New Roman"/>
                <a:cs typeface="Times New Roman"/>
                <a:sym typeface="Times New Roman"/>
              </a:rPr>
              <a:t>J. N. Foerster, G. Farquhar, T. Afouras, N. Nardelli, and S. Whiteson, "Counterfactual Multi-Agent Policy Gradients," in Proc. 32nd AAAI Conference on Artificial Intelligence (AAAI), pp. 2974-2982, 2018, doi: 10.1609/aaai.v32i1.11794.</a:t>
            </a:r>
          </a:p>
        </p:txBody>
      </p:sp>
      <p:grpSp>
        <p:nvGrpSpPr>
          <p:cNvPr id="13" name="Group 13"/>
          <p:cNvGrpSpPr/>
          <p:nvPr/>
        </p:nvGrpSpPr>
        <p:grpSpPr>
          <a:xfrm>
            <a:off x="16830599" y="9612544"/>
            <a:ext cx="1097566" cy="602075"/>
            <a:chOff x="0" y="0"/>
            <a:chExt cx="1463421" cy="802767"/>
          </a:xfrm>
        </p:grpSpPr>
        <p:sp>
          <p:nvSpPr>
            <p:cNvPr id="14" name="Freeform 14"/>
            <p:cNvSpPr/>
            <p:nvPr/>
          </p:nvSpPr>
          <p:spPr>
            <a:xfrm>
              <a:off x="0" y="0"/>
              <a:ext cx="1463421" cy="802767"/>
            </a:xfrm>
            <a:custGeom>
              <a:avLst/>
              <a:gdLst/>
              <a:ahLst/>
              <a:cxnLst/>
              <a:rect l="l" t="t" r="r" b="b"/>
              <a:pathLst>
                <a:path w="1463421" h="802767">
                  <a:moveTo>
                    <a:pt x="0" y="0"/>
                  </a:moveTo>
                  <a:lnTo>
                    <a:pt x="1463421" y="0"/>
                  </a:lnTo>
                  <a:lnTo>
                    <a:pt x="1463421" y="802767"/>
                  </a:lnTo>
                  <a:lnTo>
                    <a:pt x="0" y="802767"/>
                  </a:lnTo>
                  <a:close/>
                </a:path>
              </a:pathLst>
            </a:custGeom>
            <a:blipFill>
              <a:blip r:embed="rId5">
                <a:alphaModFix amt="0"/>
              </a:blip>
              <a:stretch>
                <a:fillRect l="-20430" r="-20430"/>
              </a:stretch>
            </a:blipFill>
          </p:spPr>
        </p:sp>
      </p:grpSp>
      <p:grpSp>
        <p:nvGrpSpPr>
          <p:cNvPr id="15" name="Group 15"/>
          <p:cNvGrpSpPr/>
          <p:nvPr/>
        </p:nvGrpSpPr>
        <p:grpSpPr>
          <a:xfrm>
            <a:off x="16830599" y="9598257"/>
            <a:ext cx="1097566" cy="616363"/>
            <a:chOff x="0" y="0"/>
            <a:chExt cx="1463421" cy="821817"/>
          </a:xfrm>
        </p:grpSpPr>
        <p:sp>
          <p:nvSpPr>
            <p:cNvPr id="16" name="Freeform 16"/>
            <p:cNvSpPr/>
            <p:nvPr/>
          </p:nvSpPr>
          <p:spPr>
            <a:xfrm>
              <a:off x="0" y="0"/>
              <a:ext cx="1463421" cy="821817"/>
            </a:xfrm>
            <a:custGeom>
              <a:avLst/>
              <a:gdLst/>
              <a:ahLst/>
              <a:cxnLst/>
              <a:rect l="l" t="t" r="r" b="b"/>
              <a:pathLst>
                <a:path w="1463421" h="821817">
                  <a:moveTo>
                    <a:pt x="0" y="0"/>
                  </a:moveTo>
                  <a:lnTo>
                    <a:pt x="1463421" y="0"/>
                  </a:lnTo>
                  <a:lnTo>
                    <a:pt x="1463421" y="821817"/>
                  </a:lnTo>
                  <a:lnTo>
                    <a:pt x="0" y="821817"/>
                  </a:lnTo>
                  <a:close/>
                </a:path>
              </a:pathLst>
            </a:custGeom>
            <a:blipFill>
              <a:blip r:embed="rId6">
                <a:alphaModFix amt="0"/>
              </a:blip>
              <a:stretch>
                <a:fillRect l="-22101" r="-22101"/>
              </a:stretch>
            </a:blipFill>
          </p:spPr>
        </p:sp>
      </p:grpSp>
      <p:grpSp>
        <p:nvGrpSpPr>
          <p:cNvPr id="17" name="Group 17"/>
          <p:cNvGrpSpPr/>
          <p:nvPr/>
        </p:nvGrpSpPr>
        <p:grpSpPr>
          <a:xfrm>
            <a:off x="16830599" y="9583969"/>
            <a:ext cx="1097566" cy="630650"/>
            <a:chOff x="0" y="0"/>
            <a:chExt cx="1463421" cy="840867"/>
          </a:xfrm>
        </p:grpSpPr>
        <p:sp>
          <p:nvSpPr>
            <p:cNvPr id="18" name="Freeform 18"/>
            <p:cNvSpPr/>
            <p:nvPr/>
          </p:nvSpPr>
          <p:spPr>
            <a:xfrm>
              <a:off x="0" y="0"/>
              <a:ext cx="1463421" cy="840867"/>
            </a:xfrm>
            <a:custGeom>
              <a:avLst/>
              <a:gdLst/>
              <a:ahLst/>
              <a:cxnLst/>
              <a:rect l="l" t="t" r="r" b="b"/>
              <a:pathLst>
                <a:path w="1463421" h="840867">
                  <a:moveTo>
                    <a:pt x="0" y="0"/>
                  </a:moveTo>
                  <a:lnTo>
                    <a:pt x="1463421" y="0"/>
                  </a:lnTo>
                  <a:lnTo>
                    <a:pt x="1463421" y="840867"/>
                  </a:lnTo>
                  <a:lnTo>
                    <a:pt x="0" y="840867"/>
                  </a:lnTo>
                  <a:close/>
                </a:path>
              </a:pathLst>
            </a:custGeom>
            <a:blipFill>
              <a:blip r:embed="rId7">
                <a:alphaModFix amt="0"/>
              </a:blip>
              <a:stretch>
                <a:fillRect l="-23773" r="-23773"/>
              </a:stretch>
            </a:blipFill>
          </p:spPr>
        </p:sp>
      </p:grpSp>
      <p:grpSp>
        <p:nvGrpSpPr>
          <p:cNvPr id="19" name="Group 19"/>
          <p:cNvGrpSpPr/>
          <p:nvPr/>
        </p:nvGrpSpPr>
        <p:grpSpPr>
          <a:xfrm>
            <a:off x="16830599" y="9569682"/>
            <a:ext cx="1097547" cy="644966"/>
            <a:chOff x="0" y="0"/>
            <a:chExt cx="1463396" cy="859955"/>
          </a:xfrm>
        </p:grpSpPr>
        <p:sp>
          <p:nvSpPr>
            <p:cNvPr id="20" name="Freeform 20"/>
            <p:cNvSpPr/>
            <p:nvPr/>
          </p:nvSpPr>
          <p:spPr>
            <a:xfrm>
              <a:off x="0" y="0"/>
              <a:ext cx="1463421" cy="859917"/>
            </a:xfrm>
            <a:custGeom>
              <a:avLst/>
              <a:gdLst/>
              <a:ahLst/>
              <a:cxnLst/>
              <a:rect l="l" t="t" r="r" b="b"/>
              <a:pathLst>
                <a:path w="1463421" h="859917">
                  <a:moveTo>
                    <a:pt x="0" y="0"/>
                  </a:moveTo>
                  <a:lnTo>
                    <a:pt x="1463421" y="0"/>
                  </a:lnTo>
                  <a:lnTo>
                    <a:pt x="1463421" y="859917"/>
                  </a:lnTo>
                  <a:lnTo>
                    <a:pt x="0" y="859917"/>
                  </a:lnTo>
                  <a:close/>
                </a:path>
              </a:pathLst>
            </a:custGeom>
            <a:blipFill>
              <a:blip r:embed="rId8">
                <a:alphaModFix amt="0"/>
              </a:blip>
              <a:stretch>
                <a:fillRect l="-25449" r="-25446" b="-4"/>
              </a:stretch>
            </a:blipFill>
          </p:spPr>
        </p:sp>
      </p:grpSp>
      <p:grpSp>
        <p:nvGrpSpPr>
          <p:cNvPr id="21" name="Group 21"/>
          <p:cNvGrpSpPr/>
          <p:nvPr/>
        </p:nvGrpSpPr>
        <p:grpSpPr>
          <a:xfrm>
            <a:off x="16830599" y="9555394"/>
            <a:ext cx="1097547" cy="659254"/>
            <a:chOff x="0" y="0"/>
            <a:chExt cx="1463396" cy="879005"/>
          </a:xfrm>
        </p:grpSpPr>
        <p:sp>
          <p:nvSpPr>
            <p:cNvPr id="22" name="Freeform 22"/>
            <p:cNvSpPr/>
            <p:nvPr/>
          </p:nvSpPr>
          <p:spPr>
            <a:xfrm>
              <a:off x="0" y="0"/>
              <a:ext cx="1463396" cy="879005"/>
            </a:xfrm>
            <a:custGeom>
              <a:avLst/>
              <a:gdLst/>
              <a:ahLst/>
              <a:cxnLst/>
              <a:rect l="l" t="t" r="r" b="b"/>
              <a:pathLst>
                <a:path w="1463396" h="879005">
                  <a:moveTo>
                    <a:pt x="0" y="0"/>
                  </a:moveTo>
                  <a:lnTo>
                    <a:pt x="1463396" y="0"/>
                  </a:lnTo>
                  <a:lnTo>
                    <a:pt x="1463396" y="879005"/>
                  </a:lnTo>
                  <a:lnTo>
                    <a:pt x="0" y="879005"/>
                  </a:lnTo>
                  <a:close/>
                </a:path>
              </a:pathLst>
            </a:custGeom>
            <a:blipFill>
              <a:blip r:embed="rId9">
                <a:alphaModFix amt="0"/>
              </a:blip>
              <a:stretch>
                <a:fillRect l="-27066" r="-27066"/>
              </a:stretch>
            </a:blipFill>
          </p:spPr>
        </p:sp>
        <p:sp>
          <p:nvSpPr>
            <p:cNvPr id="23" name="TextBox 23"/>
            <p:cNvSpPr txBox="1"/>
            <p:nvPr/>
          </p:nvSpPr>
          <p:spPr>
            <a:xfrm>
              <a:off x="0" y="-19050"/>
              <a:ext cx="1463396" cy="898055"/>
            </a:xfrm>
            <a:prstGeom prst="rect">
              <a:avLst/>
            </a:prstGeom>
          </p:spPr>
          <p:txBody>
            <a:bodyPr lIns="0" tIns="0" rIns="0" bIns="0" rtlCol="0" anchor="ctr"/>
            <a:lstStyle/>
            <a:p>
              <a:pPr algn="r">
                <a:lnSpc>
                  <a:spcPts val="2160"/>
                </a:lnSpc>
              </a:pPr>
              <a:r>
                <a:rPr lang="en-US" sz="1800">
                  <a:solidFill>
                    <a:srgbClr val="FFFFFF"/>
                  </a:solidFill>
                  <a:latin typeface="Arial"/>
                  <a:ea typeface="Arial"/>
                  <a:cs typeface="Arial"/>
                  <a:sym typeface="Arial"/>
                </a:rPr>
                <a:t>21</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65" y="-43167"/>
            <a:ext cx="18345198" cy="450009"/>
            <a:chOff x="0" y="0"/>
            <a:chExt cx="24460264" cy="600012"/>
          </a:xfrm>
        </p:grpSpPr>
        <p:sp>
          <p:nvSpPr>
            <p:cNvPr id="3" name="Freeform 3"/>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grpSp>
        <p:nvGrpSpPr>
          <p:cNvPr id="4" name="Group 4"/>
          <p:cNvGrpSpPr/>
          <p:nvPr/>
        </p:nvGrpSpPr>
        <p:grpSpPr>
          <a:xfrm>
            <a:off x="-28565" y="9894760"/>
            <a:ext cx="18345198" cy="450009"/>
            <a:chOff x="0" y="0"/>
            <a:chExt cx="24460264" cy="600012"/>
          </a:xfrm>
        </p:grpSpPr>
        <p:sp>
          <p:nvSpPr>
            <p:cNvPr id="5" name="Freeform 5"/>
            <p:cNvSpPr/>
            <p:nvPr/>
          </p:nvSpPr>
          <p:spPr>
            <a:xfrm>
              <a:off x="0" y="0"/>
              <a:ext cx="24460327" cy="600075"/>
            </a:xfrm>
            <a:custGeom>
              <a:avLst/>
              <a:gdLst/>
              <a:ahLst/>
              <a:cxnLst/>
              <a:rect l="l" t="t" r="r" b="b"/>
              <a:pathLst>
                <a:path w="24460327" h="600075">
                  <a:moveTo>
                    <a:pt x="0" y="0"/>
                  </a:moveTo>
                  <a:lnTo>
                    <a:pt x="24460327" y="0"/>
                  </a:lnTo>
                  <a:lnTo>
                    <a:pt x="24460327" y="600075"/>
                  </a:lnTo>
                  <a:lnTo>
                    <a:pt x="0" y="600075"/>
                  </a:lnTo>
                  <a:close/>
                </a:path>
              </a:pathLst>
            </a:custGeom>
            <a:solidFill>
              <a:srgbClr val="0C5394"/>
            </a:solidFill>
            <a:ln w="14288" cap="sq">
              <a:solidFill>
                <a:srgbClr val="0C5394"/>
              </a:solidFill>
              <a:prstDash val="solid"/>
              <a:miter/>
            </a:ln>
          </p:spPr>
        </p:sp>
      </p:grpSp>
      <p:sp>
        <p:nvSpPr>
          <p:cNvPr id="6" name="Freeform 6"/>
          <p:cNvSpPr/>
          <p:nvPr/>
        </p:nvSpPr>
        <p:spPr>
          <a:xfrm>
            <a:off x="-12583" y="9568444"/>
            <a:ext cx="18313003" cy="555165"/>
          </a:xfrm>
          <a:custGeom>
            <a:avLst/>
            <a:gdLst/>
            <a:ahLst/>
            <a:cxnLst/>
            <a:rect l="l" t="t" r="r" b="b"/>
            <a:pathLst>
              <a:path w="18313003" h="555165">
                <a:moveTo>
                  <a:pt x="0" y="0"/>
                </a:moveTo>
                <a:lnTo>
                  <a:pt x="18313004" y="0"/>
                </a:lnTo>
                <a:lnTo>
                  <a:pt x="18313004" y="555164"/>
                </a:lnTo>
                <a:lnTo>
                  <a:pt x="0" y="555164"/>
                </a:lnTo>
                <a:lnTo>
                  <a:pt x="0" y="0"/>
                </a:lnTo>
                <a:close/>
              </a:path>
            </a:pathLst>
          </a:custGeom>
          <a:blipFill>
            <a:blip>
              <a:extLst>
                <a:ext uri="{96DAC541-7B7A-43D3-8B79-37D633B846F1}">
                  <asvg:svgBlip xmlns:asvg="http://schemas.microsoft.com/office/drawing/2016/SVG/main" r:embed="rId3"/>
                </a:ext>
              </a:extLst>
            </a:blip>
            <a:stretch>
              <a:fillRect t="-603" b="-602"/>
            </a:stretch>
          </a:blipFill>
        </p:spPr>
      </p:sp>
      <p:sp>
        <p:nvSpPr>
          <p:cNvPr id="7" name="TextBox 7"/>
          <p:cNvSpPr txBox="1"/>
          <p:nvPr/>
        </p:nvSpPr>
        <p:spPr>
          <a:xfrm rot="-462600">
            <a:off x="13326065" y="9600938"/>
            <a:ext cx="2554043" cy="511435"/>
          </a:xfrm>
          <a:prstGeom prst="rect">
            <a:avLst/>
          </a:prstGeom>
        </p:spPr>
        <p:txBody>
          <a:bodyPr lIns="0" tIns="0" rIns="0" bIns="0" rtlCol="0" anchor="t">
            <a:spAutoFit/>
          </a:bodyPr>
          <a:lstStyle/>
          <a:p>
            <a:pPr algn="l">
              <a:lnSpc>
                <a:spcPts val="2878"/>
              </a:lnSpc>
            </a:pPr>
            <a:r>
              <a:rPr lang="en-US" sz="2400">
                <a:solidFill>
                  <a:srgbClr val="D2AE6C"/>
                </a:solidFill>
                <a:latin typeface="Yellowtail"/>
                <a:ea typeface="Yellowtail"/>
                <a:cs typeface="Yellowtail"/>
                <a:sym typeface="Yellowtail"/>
              </a:rPr>
              <a:t>Excellence &amp; Service</a:t>
            </a:r>
          </a:p>
        </p:txBody>
      </p:sp>
      <p:sp>
        <p:nvSpPr>
          <p:cNvPr id="8" name="TextBox 8"/>
          <p:cNvSpPr txBox="1"/>
          <p:nvPr/>
        </p:nvSpPr>
        <p:spPr>
          <a:xfrm rot="1440">
            <a:off x="9193218" y="9716433"/>
            <a:ext cx="4176751" cy="465077"/>
          </a:xfrm>
          <a:prstGeom prst="rect">
            <a:avLst/>
          </a:prstGeom>
        </p:spPr>
        <p:txBody>
          <a:bodyPr lIns="0" tIns="0" rIns="0" bIns="0" rtlCol="0" anchor="t">
            <a:spAutoFit/>
          </a:bodyPr>
          <a:lstStyle/>
          <a:p>
            <a:pPr algn="r">
              <a:lnSpc>
                <a:spcPts val="2520"/>
              </a:lnSpc>
            </a:pPr>
            <a:r>
              <a:rPr lang="en-US" sz="2100">
                <a:solidFill>
                  <a:srgbClr val="CCCCCC"/>
                </a:solidFill>
                <a:latin typeface="Archivo Narrow"/>
                <a:ea typeface="Archivo Narrow"/>
                <a:cs typeface="Archivo Narrow"/>
                <a:sym typeface="Archivo Narrow"/>
              </a:rPr>
              <a:t>CHRIST (Deemed to be University)</a:t>
            </a:r>
          </a:p>
        </p:txBody>
      </p:sp>
      <p:grpSp>
        <p:nvGrpSpPr>
          <p:cNvPr id="9" name="Group 9"/>
          <p:cNvGrpSpPr/>
          <p:nvPr/>
        </p:nvGrpSpPr>
        <p:grpSpPr>
          <a:xfrm>
            <a:off x="12210374" y="3204601"/>
            <a:ext cx="5977033" cy="5953316"/>
            <a:chOff x="0" y="0"/>
            <a:chExt cx="7969377" cy="7937754"/>
          </a:xfrm>
        </p:grpSpPr>
        <p:sp>
          <p:nvSpPr>
            <p:cNvPr id="10" name="Freeform 10"/>
            <p:cNvSpPr/>
            <p:nvPr/>
          </p:nvSpPr>
          <p:spPr>
            <a:xfrm>
              <a:off x="0" y="0"/>
              <a:ext cx="7969377" cy="7937754"/>
            </a:xfrm>
            <a:custGeom>
              <a:avLst/>
              <a:gdLst/>
              <a:ahLst/>
              <a:cxnLst/>
              <a:rect l="l" t="t" r="r" b="b"/>
              <a:pathLst>
                <a:path w="7969377" h="7937754">
                  <a:moveTo>
                    <a:pt x="0" y="0"/>
                  </a:moveTo>
                  <a:lnTo>
                    <a:pt x="7969377" y="0"/>
                  </a:lnTo>
                  <a:lnTo>
                    <a:pt x="7969377" y="7937754"/>
                  </a:lnTo>
                  <a:lnTo>
                    <a:pt x="0" y="7937754"/>
                  </a:lnTo>
                  <a:lnTo>
                    <a:pt x="0" y="0"/>
                  </a:lnTo>
                  <a:close/>
                </a:path>
              </a:pathLst>
            </a:custGeom>
            <a:blipFill>
              <a:blip r:embed="rId4">
                <a:alphaModFix amt="3000"/>
              </a:blip>
              <a:stretch>
                <a:fillRect/>
              </a:stretch>
            </a:blipFill>
          </p:spPr>
        </p:sp>
      </p:grpSp>
      <p:sp>
        <p:nvSpPr>
          <p:cNvPr id="11" name="TextBox 11"/>
          <p:cNvSpPr txBox="1"/>
          <p:nvPr/>
        </p:nvSpPr>
        <p:spPr>
          <a:xfrm>
            <a:off x="745379" y="3272085"/>
            <a:ext cx="16797252" cy="2167195"/>
          </a:xfrm>
          <a:prstGeom prst="rect">
            <a:avLst/>
          </a:prstGeom>
        </p:spPr>
        <p:txBody>
          <a:bodyPr lIns="0" tIns="0" rIns="0" bIns="0" rtlCol="0" anchor="t">
            <a:spAutoFit/>
          </a:bodyPr>
          <a:lstStyle/>
          <a:p>
            <a:pPr algn="ctr">
              <a:lnSpc>
                <a:spcPts val="17280"/>
              </a:lnSpc>
            </a:pPr>
            <a:r>
              <a:rPr lang="en-US" sz="14400" spc="-65">
                <a:solidFill>
                  <a:srgbClr val="CC0000"/>
                </a:solidFill>
                <a:latin typeface="TT Ramillas"/>
                <a:ea typeface="TT Ramillas"/>
                <a:cs typeface="TT Ramillas"/>
                <a:sym typeface="TT Ramillas"/>
              </a:rPr>
              <a:t>Thank You </a:t>
            </a:r>
          </a:p>
        </p:txBody>
      </p:sp>
      <p:grpSp>
        <p:nvGrpSpPr>
          <p:cNvPr id="12" name="Group 12"/>
          <p:cNvGrpSpPr/>
          <p:nvPr/>
        </p:nvGrpSpPr>
        <p:grpSpPr>
          <a:xfrm>
            <a:off x="16830599" y="9612544"/>
            <a:ext cx="1097566" cy="602075"/>
            <a:chOff x="0" y="0"/>
            <a:chExt cx="1463421" cy="802767"/>
          </a:xfrm>
        </p:grpSpPr>
        <p:sp>
          <p:nvSpPr>
            <p:cNvPr id="13" name="Freeform 13"/>
            <p:cNvSpPr/>
            <p:nvPr/>
          </p:nvSpPr>
          <p:spPr>
            <a:xfrm>
              <a:off x="0" y="0"/>
              <a:ext cx="1463421" cy="802767"/>
            </a:xfrm>
            <a:custGeom>
              <a:avLst/>
              <a:gdLst/>
              <a:ahLst/>
              <a:cxnLst/>
              <a:rect l="l" t="t" r="r" b="b"/>
              <a:pathLst>
                <a:path w="1463421" h="802767">
                  <a:moveTo>
                    <a:pt x="0" y="0"/>
                  </a:moveTo>
                  <a:lnTo>
                    <a:pt x="1463421" y="0"/>
                  </a:lnTo>
                  <a:lnTo>
                    <a:pt x="1463421" y="802767"/>
                  </a:lnTo>
                  <a:lnTo>
                    <a:pt x="0" y="802767"/>
                  </a:lnTo>
                  <a:close/>
                </a:path>
              </a:pathLst>
            </a:custGeom>
            <a:blipFill>
              <a:blip r:embed="rId5">
                <a:alphaModFix amt="0"/>
              </a:blip>
              <a:stretch>
                <a:fillRect l="-20430" r="-20430"/>
              </a:stretch>
            </a:blipFill>
          </p:spPr>
        </p:sp>
      </p:grpSp>
      <p:grpSp>
        <p:nvGrpSpPr>
          <p:cNvPr id="14" name="Group 14"/>
          <p:cNvGrpSpPr/>
          <p:nvPr/>
        </p:nvGrpSpPr>
        <p:grpSpPr>
          <a:xfrm>
            <a:off x="16830599" y="9598257"/>
            <a:ext cx="1097566" cy="616363"/>
            <a:chOff x="0" y="0"/>
            <a:chExt cx="1463421" cy="821817"/>
          </a:xfrm>
        </p:grpSpPr>
        <p:sp>
          <p:nvSpPr>
            <p:cNvPr id="15" name="Freeform 15"/>
            <p:cNvSpPr/>
            <p:nvPr/>
          </p:nvSpPr>
          <p:spPr>
            <a:xfrm>
              <a:off x="0" y="0"/>
              <a:ext cx="1463421" cy="821817"/>
            </a:xfrm>
            <a:custGeom>
              <a:avLst/>
              <a:gdLst/>
              <a:ahLst/>
              <a:cxnLst/>
              <a:rect l="l" t="t" r="r" b="b"/>
              <a:pathLst>
                <a:path w="1463421" h="821817">
                  <a:moveTo>
                    <a:pt x="0" y="0"/>
                  </a:moveTo>
                  <a:lnTo>
                    <a:pt x="1463421" y="0"/>
                  </a:lnTo>
                  <a:lnTo>
                    <a:pt x="1463421" y="821817"/>
                  </a:lnTo>
                  <a:lnTo>
                    <a:pt x="0" y="821817"/>
                  </a:lnTo>
                  <a:close/>
                </a:path>
              </a:pathLst>
            </a:custGeom>
            <a:blipFill>
              <a:blip r:embed="rId6">
                <a:alphaModFix amt="0"/>
              </a:blip>
              <a:stretch>
                <a:fillRect l="-22101" r="-22101"/>
              </a:stretch>
            </a:blipFill>
          </p:spPr>
        </p:sp>
      </p:grpSp>
      <p:grpSp>
        <p:nvGrpSpPr>
          <p:cNvPr id="16" name="Group 16"/>
          <p:cNvGrpSpPr/>
          <p:nvPr/>
        </p:nvGrpSpPr>
        <p:grpSpPr>
          <a:xfrm>
            <a:off x="16830599" y="9583969"/>
            <a:ext cx="1097566" cy="630650"/>
            <a:chOff x="0" y="0"/>
            <a:chExt cx="1463421" cy="840867"/>
          </a:xfrm>
        </p:grpSpPr>
        <p:sp>
          <p:nvSpPr>
            <p:cNvPr id="17" name="Freeform 17"/>
            <p:cNvSpPr/>
            <p:nvPr/>
          </p:nvSpPr>
          <p:spPr>
            <a:xfrm>
              <a:off x="0" y="0"/>
              <a:ext cx="1463421" cy="840867"/>
            </a:xfrm>
            <a:custGeom>
              <a:avLst/>
              <a:gdLst/>
              <a:ahLst/>
              <a:cxnLst/>
              <a:rect l="l" t="t" r="r" b="b"/>
              <a:pathLst>
                <a:path w="1463421" h="840867">
                  <a:moveTo>
                    <a:pt x="0" y="0"/>
                  </a:moveTo>
                  <a:lnTo>
                    <a:pt x="1463421" y="0"/>
                  </a:lnTo>
                  <a:lnTo>
                    <a:pt x="1463421" y="840867"/>
                  </a:lnTo>
                  <a:lnTo>
                    <a:pt x="0" y="840867"/>
                  </a:lnTo>
                  <a:close/>
                </a:path>
              </a:pathLst>
            </a:custGeom>
            <a:blipFill>
              <a:blip r:embed="rId7">
                <a:alphaModFix amt="0"/>
              </a:blip>
              <a:stretch>
                <a:fillRect l="-23773" r="-23773"/>
              </a:stretch>
            </a:blipFill>
          </p:spPr>
        </p:sp>
      </p:grpSp>
      <p:grpSp>
        <p:nvGrpSpPr>
          <p:cNvPr id="18" name="Group 18"/>
          <p:cNvGrpSpPr/>
          <p:nvPr/>
        </p:nvGrpSpPr>
        <p:grpSpPr>
          <a:xfrm>
            <a:off x="16830599" y="9569682"/>
            <a:ext cx="1097547" cy="644966"/>
            <a:chOff x="0" y="0"/>
            <a:chExt cx="1463396" cy="859955"/>
          </a:xfrm>
        </p:grpSpPr>
        <p:sp>
          <p:nvSpPr>
            <p:cNvPr id="19" name="Freeform 19"/>
            <p:cNvSpPr/>
            <p:nvPr/>
          </p:nvSpPr>
          <p:spPr>
            <a:xfrm>
              <a:off x="0" y="0"/>
              <a:ext cx="1463421" cy="859917"/>
            </a:xfrm>
            <a:custGeom>
              <a:avLst/>
              <a:gdLst/>
              <a:ahLst/>
              <a:cxnLst/>
              <a:rect l="l" t="t" r="r" b="b"/>
              <a:pathLst>
                <a:path w="1463421" h="859917">
                  <a:moveTo>
                    <a:pt x="0" y="0"/>
                  </a:moveTo>
                  <a:lnTo>
                    <a:pt x="1463421" y="0"/>
                  </a:lnTo>
                  <a:lnTo>
                    <a:pt x="1463421" y="859917"/>
                  </a:lnTo>
                  <a:lnTo>
                    <a:pt x="0" y="859917"/>
                  </a:lnTo>
                  <a:close/>
                </a:path>
              </a:pathLst>
            </a:custGeom>
            <a:blipFill>
              <a:blip r:embed="rId8">
                <a:alphaModFix amt="0"/>
              </a:blip>
              <a:stretch>
                <a:fillRect l="-25449" r="-25446" b="-4"/>
              </a:stretch>
            </a:blipFill>
          </p:spPr>
        </p:sp>
      </p:grpSp>
      <p:grpSp>
        <p:nvGrpSpPr>
          <p:cNvPr id="20" name="Group 20"/>
          <p:cNvGrpSpPr/>
          <p:nvPr/>
        </p:nvGrpSpPr>
        <p:grpSpPr>
          <a:xfrm>
            <a:off x="16830599" y="9555394"/>
            <a:ext cx="1097547" cy="659254"/>
            <a:chOff x="0" y="0"/>
            <a:chExt cx="1463396" cy="879005"/>
          </a:xfrm>
        </p:grpSpPr>
        <p:sp>
          <p:nvSpPr>
            <p:cNvPr id="21" name="Freeform 21"/>
            <p:cNvSpPr/>
            <p:nvPr/>
          </p:nvSpPr>
          <p:spPr>
            <a:xfrm>
              <a:off x="0" y="0"/>
              <a:ext cx="1463396" cy="879005"/>
            </a:xfrm>
            <a:custGeom>
              <a:avLst/>
              <a:gdLst/>
              <a:ahLst/>
              <a:cxnLst/>
              <a:rect l="l" t="t" r="r" b="b"/>
              <a:pathLst>
                <a:path w="1463396" h="879005">
                  <a:moveTo>
                    <a:pt x="0" y="0"/>
                  </a:moveTo>
                  <a:lnTo>
                    <a:pt x="1463396" y="0"/>
                  </a:lnTo>
                  <a:lnTo>
                    <a:pt x="1463396" y="879005"/>
                  </a:lnTo>
                  <a:lnTo>
                    <a:pt x="0" y="879005"/>
                  </a:lnTo>
                  <a:close/>
                </a:path>
              </a:pathLst>
            </a:custGeom>
            <a:blipFill>
              <a:blip r:embed="rId9">
                <a:alphaModFix amt="0"/>
              </a:blip>
              <a:stretch>
                <a:fillRect l="-27066" r="-27066"/>
              </a:stretch>
            </a:blipFill>
          </p:spPr>
        </p:sp>
        <p:sp>
          <p:nvSpPr>
            <p:cNvPr id="22" name="TextBox 22"/>
            <p:cNvSpPr txBox="1"/>
            <p:nvPr/>
          </p:nvSpPr>
          <p:spPr>
            <a:xfrm>
              <a:off x="0" y="-19050"/>
              <a:ext cx="1463396" cy="898055"/>
            </a:xfrm>
            <a:prstGeom prst="rect">
              <a:avLst/>
            </a:prstGeom>
          </p:spPr>
          <p:txBody>
            <a:bodyPr lIns="0" tIns="0" rIns="0" bIns="0" rtlCol="0" anchor="ctr"/>
            <a:lstStyle/>
            <a:p>
              <a:pPr algn="r">
                <a:lnSpc>
                  <a:spcPts val="2160"/>
                </a:lnSpc>
              </a:pPr>
              <a:r>
                <a:rPr lang="en-US" sz="1800">
                  <a:solidFill>
                    <a:srgbClr val="FFFFFF"/>
                  </a:solidFill>
                  <a:latin typeface="Arial"/>
                  <a:ea typeface="Arial"/>
                  <a:cs typeface="Arial"/>
                  <a:sym typeface="Arial"/>
                </a:rPr>
                <a:t>22</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28</Slides>
  <Notes>26</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TemporalAML_review_2(AnshuKumari).pptx</dc:title>
  <cp:revision>6</cp:revision>
  <dcterms:created xsi:type="dcterms:W3CDTF">2006-08-16T00:00:00Z</dcterms:created>
  <dcterms:modified xsi:type="dcterms:W3CDTF">2026-10-09T13:55:52Z</dcterms:modified>
  <dc:identifier>DAHXdWbdRSs</dc:identifier>
</cp:coreProperties>
</file>