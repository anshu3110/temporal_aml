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Yellowtail" charset="1" panose="02000503000000000000"/>
      <p:regular r:id="rId38"/>
    </p:embeddedFont>
    <p:embeddedFont>
      <p:font typeface="Archivo Narrow" charset="1" panose="020B0506020202020B04"/>
      <p:regular r:id="rId39"/>
    </p:embeddedFont>
    <p:embeddedFont>
      <p:font typeface="Archivo Narrow Bold" charset="1" panose="020B0806020202020B04"/>
      <p:regular r:id="rId40"/>
    </p:embeddedFont>
    <p:embeddedFont>
      <p:font typeface="TT Ramillas Bold" charset="1" panose="020E0000080000020004"/>
      <p:regular r:id="rId41"/>
    </p:embeddedFont>
    <p:embeddedFont>
      <p:font typeface="TT Ramillas" charset="1" panose="020E0000080000020004"/>
      <p:regular r:id="rId42"/>
    </p:embeddedFont>
    <p:embeddedFont>
      <p:font typeface="IBM Plex Sans Bold" charset="1" panose="020B0803050203000203"/>
      <p:regular r:id="rId44"/>
    </p:embeddedFont>
    <p:embeddedFont>
      <p:font typeface="Arial" charset="1" panose="020B06040202020202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36" Type="http://schemas.openxmlformats.org/officeDocument/2006/relationships/theme" Target="theme/theme2.xml"/><Relationship Id="rId37" Type="http://schemas.openxmlformats.org/officeDocument/2006/relationships/notesSlide" Target="notesSlides/notesSlide1.xml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notesSlide" Target="notesSlides/notesSlide2.xml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notesSlide" Target="notesSlides/notesSlide3.xml"/><Relationship Id="rId47" Type="http://schemas.openxmlformats.org/officeDocument/2006/relationships/notesSlide" Target="notesSlides/notesSlide4.xml"/><Relationship Id="rId48" Type="http://schemas.openxmlformats.org/officeDocument/2006/relationships/notesSlide" Target="notesSlides/notesSlide5.xml"/><Relationship Id="rId49" Type="http://schemas.openxmlformats.org/officeDocument/2006/relationships/notesSlide" Target="notesSlides/notesSlide6.xml"/><Relationship Id="rId50" Type="http://schemas.openxmlformats.org/officeDocument/2006/relationships/notesSlide" Target="notesSlides/notesSlide7.xml"/><Relationship Id="rId51" Type="http://schemas.openxmlformats.org/officeDocument/2006/relationships/notesSlide" Target="notesSlides/notesSlide8.xml"/><Relationship Id="rId52" Type="http://schemas.openxmlformats.org/officeDocument/2006/relationships/notesSlide" Target="notesSlides/notesSlide9.xml"/><Relationship Id="rId53" Type="http://schemas.openxmlformats.org/officeDocument/2006/relationships/notesSlide" Target="notesSlides/notesSlide10.xml"/><Relationship Id="rId54" Type="http://schemas.openxmlformats.org/officeDocument/2006/relationships/notesSlide" Target="notesSlides/notesSlide11.xml"/><Relationship Id="rId55" Type="http://schemas.openxmlformats.org/officeDocument/2006/relationships/notesSlide" Target="notesSlides/notesSlide12.xml"/><Relationship Id="rId56" Type="http://schemas.openxmlformats.org/officeDocument/2006/relationships/notesSlide" Target="notesSlides/notesSlide13.xml"/><Relationship Id="rId57" Type="http://schemas.openxmlformats.org/officeDocument/2006/relationships/notesSlide" Target="notesSlides/notesSlide14.xml"/><Relationship Id="rId58" Type="http://schemas.openxmlformats.org/officeDocument/2006/relationships/notesSlide" Target="notesSlides/notesSlide15.xml"/><Relationship Id="rId59" Type="http://schemas.openxmlformats.org/officeDocument/2006/relationships/notesSlide" Target="notesSlides/notesSlide16.xml"/><Relationship Id="rId60" Type="http://schemas.openxmlformats.org/officeDocument/2006/relationships/notesSlide" Target="notesSlides/notesSlide17.xml"/><Relationship Id="rId61" Type="http://schemas.openxmlformats.org/officeDocument/2006/relationships/notesSlide" Target="notesSlides/notesSlide18.xml"/><Relationship Id="rId62" Type="http://schemas.openxmlformats.org/officeDocument/2006/relationships/notesSlide" Target="notesSlides/notesSlide19.xml"/><Relationship Id="rId63" Type="http://schemas.openxmlformats.org/officeDocument/2006/relationships/notesSlide" Target="notesSlides/notesSlide20.xml"/><Relationship Id="rId64" Type="http://schemas.openxmlformats.org/officeDocument/2006/relationships/notesSlide" Target="notesSlides/notesSlide21.xml"/><Relationship Id="rId65" Type="http://schemas.openxmlformats.org/officeDocument/2006/relationships/notesSlide" Target="notesSlides/notesSlide22.xml"/><Relationship Id="rId66" Type="http://schemas.openxmlformats.org/officeDocument/2006/relationships/notesSlide" Target="notesSlides/notesSlide23.xml"/><Relationship Id="rId67" Type="http://schemas.openxmlformats.org/officeDocument/2006/relationships/notesSlide" Target="notesSlides/notesSlide24.xml"/><Relationship Id="rId68" Type="http://schemas.openxmlformats.org/officeDocument/2006/relationships/notesSlide" Target="notesSlides/notesSlide25.xml"/><Relationship Id="rId69" Type="http://schemas.openxmlformats.org/officeDocument/2006/relationships/notesSlide" Target="notesSlides/notesSlide26.xml"/><Relationship Id="rId70" Type="http://schemas.openxmlformats.org/officeDocument/2006/relationships/notesSlide" Target="notesSlides/notes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openxmlformats.org/officeDocument/2006/relationships/image" Target="../media/image9.jpeg"/><Relationship Id="rId12" Type="http://schemas.openxmlformats.org/officeDocument/2006/relationships/image" Target="../media/image10.jpeg"/><Relationship Id="rId13" Type="http://schemas.openxmlformats.org/officeDocument/2006/relationships/image" Target="../media/image11.jpeg"/><Relationship Id="rId14" Type="http://schemas.openxmlformats.org/officeDocument/2006/relationships/image" Target="../media/image1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Relationship Id="rId9" Type="http://schemas.openxmlformats.org/officeDocument/2006/relationships/image" Target="../media/image9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Relationship Id="rId9" Type="http://schemas.openxmlformats.org/officeDocument/2006/relationships/image" Target="../media/image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Relationship Id="rId9" Type="http://schemas.openxmlformats.org/officeDocument/2006/relationships/image" Target="../media/image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10.jpeg"/><Relationship Id="rId6" Type="http://schemas.openxmlformats.org/officeDocument/2006/relationships/image" Target="../media/image11.jpeg"/><Relationship Id="rId7" Type="http://schemas.openxmlformats.org/officeDocument/2006/relationships/image" Target="../media/image12.jpeg"/><Relationship Id="rId8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Relationship Id="rId10" Type="http://schemas.openxmlformats.org/officeDocument/2006/relationships/image" Target="../media/image1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Relationship Id="rId10" Type="http://schemas.openxmlformats.org/officeDocument/2006/relationships/image" Target="../media/image14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Relationship Id="rId10" Type="http://schemas.openxmlformats.org/officeDocument/2006/relationships/image" Target="../media/image15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Relationship Id="rId10" Type="http://schemas.openxmlformats.org/officeDocument/2006/relationships/image" Target="../media/image16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9" Type="http://schemas.openxmlformats.org/officeDocument/2006/relationships/image" Target="../media/image1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37405" y="-68732"/>
            <a:ext cx="18360057" cy="1152096"/>
            <a:chOff x="0" y="0"/>
            <a:chExt cx="24480076" cy="1536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80013" cy="1536192"/>
            </a:xfrm>
            <a:custGeom>
              <a:avLst/>
              <a:gdLst/>
              <a:ahLst/>
              <a:cxnLst/>
              <a:rect r="r" b="b" t="t" l="l"/>
              <a:pathLst>
                <a:path h="1536192" w="24480013">
                  <a:moveTo>
                    <a:pt x="0" y="0"/>
                  </a:moveTo>
                  <a:lnTo>
                    <a:pt x="24480013" y="0"/>
                  </a:lnTo>
                  <a:lnTo>
                    <a:pt x="24480013" y="1536192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-26499" y="218608"/>
            <a:ext cx="18349960" cy="1948767"/>
          </a:xfrm>
          <a:custGeom>
            <a:avLst/>
            <a:gdLst/>
            <a:ahLst/>
            <a:cxnLst/>
            <a:rect r="r" b="b" t="t" l="l"/>
            <a:pathLst>
              <a:path h="1948767" w="18349960">
                <a:moveTo>
                  <a:pt x="0" y="0"/>
                </a:moveTo>
                <a:lnTo>
                  <a:pt x="18349961" y="0"/>
                </a:lnTo>
                <a:lnTo>
                  <a:pt x="18349961" y="1948768"/>
                </a:lnTo>
                <a:lnTo>
                  <a:pt x="0" y="1948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6" r="0" b="-86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145323" y="-45530"/>
            <a:ext cx="1303210" cy="2200466"/>
            <a:chOff x="0" y="0"/>
            <a:chExt cx="1737614" cy="29339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7614" cy="2933954"/>
            </a:xfrm>
            <a:custGeom>
              <a:avLst/>
              <a:gdLst/>
              <a:ahLst/>
              <a:cxnLst/>
              <a:rect r="r" b="b" t="t" l="l"/>
              <a:pathLst>
                <a:path h="2933954" w="1737614">
                  <a:moveTo>
                    <a:pt x="0" y="2933954"/>
                  </a:moveTo>
                  <a:lnTo>
                    <a:pt x="1005332" y="0"/>
                  </a:lnTo>
                  <a:lnTo>
                    <a:pt x="1737614" y="0"/>
                  </a:lnTo>
                  <a:lnTo>
                    <a:pt x="732282" y="2933954"/>
                  </a:lnTo>
                  <a:close/>
                </a:path>
              </a:pathLst>
            </a:custGeom>
            <a:solidFill>
              <a:srgbClr val="D2AE6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70999" y="-45530"/>
            <a:ext cx="5762720" cy="2233327"/>
            <a:chOff x="0" y="0"/>
            <a:chExt cx="7683627" cy="29777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3627" cy="2977769"/>
            </a:xfrm>
            <a:custGeom>
              <a:avLst/>
              <a:gdLst/>
              <a:ahLst/>
              <a:cxnLst/>
              <a:rect r="r" b="b" t="t" l="l"/>
              <a:pathLst>
                <a:path h="2977769" w="7683627">
                  <a:moveTo>
                    <a:pt x="0" y="2977769"/>
                  </a:moveTo>
                  <a:lnTo>
                    <a:pt x="1010158" y="0"/>
                  </a:lnTo>
                  <a:lnTo>
                    <a:pt x="7683627" y="0"/>
                  </a:lnTo>
                  <a:lnTo>
                    <a:pt x="6673342" y="29777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7224" y="9883569"/>
            <a:ext cx="18371296" cy="436197"/>
            <a:chOff x="0" y="0"/>
            <a:chExt cx="24495062" cy="5815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95125" cy="581533"/>
            </a:xfrm>
            <a:custGeom>
              <a:avLst/>
              <a:gdLst/>
              <a:ahLst/>
              <a:cxnLst/>
              <a:rect r="r" b="b" t="t" l="l"/>
              <a:pathLst>
                <a:path h="581533" w="24495125">
                  <a:moveTo>
                    <a:pt x="0" y="0"/>
                  </a:moveTo>
                  <a:lnTo>
                    <a:pt x="24495125" y="0"/>
                  </a:lnTo>
                  <a:lnTo>
                    <a:pt x="24495125" y="581533"/>
                  </a:lnTo>
                  <a:lnTo>
                    <a:pt x="0" y="581533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-26499" y="8836857"/>
            <a:ext cx="18349960" cy="1130760"/>
          </a:xfrm>
          <a:custGeom>
            <a:avLst/>
            <a:gdLst/>
            <a:ahLst/>
            <a:cxnLst/>
            <a:rect r="r" b="b" t="t" l="l"/>
            <a:pathLst>
              <a:path h="1130760" w="18349960">
                <a:moveTo>
                  <a:pt x="0" y="0"/>
                </a:moveTo>
                <a:lnTo>
                  <a:pt x="18349961" y="0"/>
                </a:lnTo>
                <a:lnTo>
                  <a:pt x="18349961" y="1130760"/>
                </a:lnTo>
                <a:lnTo>
                  <a:pt x="0" y="1130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6" r="0" b="-10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62921" y="8864584"/>
            <a:ext cx="5532149" cy="134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D2AE6C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Mission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University is a nurturing ground for an individual’s holistic development to make effective contribution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to the society in a dynamic environment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7921" y="8864584"/>
            <a:ext cx="5532149" cy="7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D2AE6C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Vision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Excellence and 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50323" y="8864584"/>
            <a:ext cx="4291946" cy="134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D2AE6C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Core Values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Faith in God |  Moral Uprightness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 Love of Fellow Beings |  Social Responsibility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Pursuit of Excellence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31091" y="494414"/>
            <a:ext cx="4677918" cy="1585341"/>
            <a:chOff x="0" y="0"/>
            <a:chExt cx="6237224" cy="21137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37224" cy="2113788"/>
            </a:xfrm>
            <a:custGeom>
              <a:avLst/>
              <a:gdLst/>
              <a:ahLst/>
              <a:cxnLst/>
              <a:rect r="r" b="b" t="t" l="l"/>
              <a:pathLst>
                <a:path h="2113788" w="6237224">
                  <a:moveTo>
                    <a:pt x="0" y="0"/>
                  </a:moveTo>
                  <a:lnTo>
                    <a:pt x="6237224" y="0"/>
                  </a:lnTo>
                  <a:lnTo>
                    <a:pt x="6237224" y="2113788"/>
                  </a:lnTo>
                  <a:lnTo>
                    <a:pt x="0" y="2113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90" r="0" b="-29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99" y="3345494"/>
            <a:ext cx="15888853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 spc="-38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Dissertation Phase – 1 (MTDS382) </a:t>
            </a:r>
          </a:p>
          <a:p>
            <a:pPr algn="ctr">
              <a:lnSpc>
                <a:spcPts val="5040"/>
              </a:lnSpc>
            </a:pPr>
            <a:r>
              <a:rPr lang="en-US" b="true" sz="4200" spc="-38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Review - 1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" y="4921501"/>
            <a:ext cx="16213550" cy="1280160"/>
            <a:chOff x="0" y="0"/>
            <a:chExt cx="21618067" cy="170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618067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618067">
                  <a:moveTo>
                    <a:pt x="0" y="0"/>
                  </a:moveTo>
                  <a:lnTo>
                    <a:pt x="21618067" y="0"/>
                  </a:lnTo>
                  <a:lnTo>
                    <a:pt x="21618067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96611" r="0" b="-19661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50108" y="4762500"/>
            <a:ext cx="15137702" cy="1287304"/>
            <a:chOff x="0" y="0"/>
            <a:chExt cx="20183602" cy="17164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83602" cy="1716405"/>
            </a:xfrm>
            <a:custGeom>
              <a:avLst/>
              <a:gdLst/>
              <a:ahLst/>
              <a:cxnLst/>
              <a:rect r="r" b="b" t="t" l="l"/>
              <a:pathLst>
                <a:path h="1716405" w="20183602">
                  <a:moveTo>
                    <a:pt x="0" y="0"/>
                  </a:moveTo>
                  <a:lnTo>
                    <a:pt x="20183602" y="0"/>
                  </a:lnTo>
                  <a:lnTo>
                    <a:pt x="20183602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178970" r="0" b="-17896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50108" y="4776788"/>
            <a:ext cx="15137692" cy="1273016"/>
            <a:chOff x="0" y="0"/>
            <a:chExt cx="20183589" cy="16973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83602" cy="1697355"/>
            </a:xfrm>
            <a:custGeom>
              <a:avLst/>
              <a:gdLst/>
              <a:ahLst/>
              <a:cxnLst/>
              <a:rect r="r" b="b" t="t" l="l"/>
              <a:pathLst>
                <a:path h="1697355" w="20183602">
                  <a:moveTo>
                    <a:pt x="0" y="0"/>
                  </a:moveTo>
                  <a:lnTo>
                    <a:pt x="20183602" y="0"/>
                  </a:lnTo>
                  <a:lnTo>
                    <a:pt x="20183602" y="1697355"/>
                  </a:lnTo>
                  <a:lnTo>
                    <a:pt x="0" y="1697355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81539" r="0" b="-18153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50108" y="4791075"/>
            <a:ext cx="15137692" cy="1258729"/>
            <a:chOff x="0" y="0"/>
            <a:chExt cx="20183589" cy="16783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183590" cy="1678305"/>
            </a:xfrm>
            <a:custGeom>
              <a:avLst/>
              <a:gdLst/>
              <a:ahLst/>
              <a:cxnLst/>
              <a:rect r="r" b="b" t="t" l="l"/>
              <a:pathLst>
                <a:path h="1678305" w="20183590">
                  <a:moveTo>
                    <a:pt x="0" y="0"/>
                  </a:moveTo>
                  <a:lnTo>
                    <a:pt x="20183590" y="0"/>
                  </a:lnTo>
                  <a:lnTo>
                    <a:pt x="20183590" y="1678305"/>
                  </a:lnTo>
                  <a:lnTo>
                    <a:pt x="0" y="1678305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184330" r="0" b="-1843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19050"/>
              <a:ext cx="20183589" cy="16592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b="true" sz="3800" spc="-33">
                  <a:solidFill>
                    <a:srgbClr val="0C5394"/>
                  </a:solidFill>
                  <a:latin typeface="TT Ramillas Bold"/>
                  <a:ea typeface="TT Ramillas Bold"/>
                  <a:cs typeface="TT Ramillas Bold"/>
                  <a:sym typeface="TT Ramillas Bold"/>
                </a:rPr>
                <a:t>Temporal Graph Attention Networks for Explainable Anti-Money Laundering in Cryptocurrency Transactions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515600" y="6362700"/>
            <a:ext cx="7086019" cy="23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26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Student Name – Anshu Kumari</a:t>
            </a:r>
          </a:p>
          <a:p>
            <a:pPr algn="l">
              <a:lnSpc>
                <a:spcPts val="3600"/>
              </a:lnSpc>
            </a:pPr>
            <a:r>
              <a:rPr lang="en-US" sz="3000" spc="-26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Register No - 2567203</a:t>
            </a:r>
          </a:p>
          <a:p>
            <a:pPr algn="l">
              <a:lnSpc>
                <a:spcPts val="3600"/>
              </a:lnSpc>
            </a:pPr>
            <a:r>
              <a:rPr lang="en-US" sz="3000" spc="-26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Section - 3MTDS</a:t>
            </a:r>
          </a:p>
          <a:p>
            <a:pPr algn="l">
              <a:lnSpc>
                <a:spcPts val="3600"/>
              </a:lnSpc>
            </a:pPr>
            <a:r>
              <a:rPr lang="en-US" sz="3000" spc="-2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Guide Name – Dr. Janani V S</a:t>
            </a:r>
          </a:p>
          <a:p>
            <a:pPr algn="l">
              <a:lnSpc>
                <a:spcPts val="3600"/>
              </a:lnSpc>
            </a:pPr>
            <a:r>
              <a:rPr lang="en-US" sz="3000" spc="-26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Co-Guide Name – Dr. Aruna S 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55812" y="2479491"/>
            <a:ext cx="13959345" cy="76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44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Department of AI &amp; Data Science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21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Table of Contents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303" y="2241461"/>
            <a:ext cx="16797252" cy="6617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Domain</a:t>
            </a:r>
          </a:p>
          <a:p>
            <a:pPr algn="l" marL="1540764" indent="-256794" lvl="5">
              <a:lnSpc>
                <a:spcPts val="4320"/>
              </a:lnSpc>
              <a:buFont typeface="Arial"/>
              <a:buChar char="⚬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Sub-Domain</a:t>
            </a:r>
          </a:p>
          <a:p>
            <a:pPr algn="l" marL="1540764" indent="-256794" lvl="5">
              <a:lnSpc>
                <a:spcPts val="4320"/>
              </a:lnSpc>
              <a:buFont typeface="Arial"/>
              <a:buChar char="⚬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Application </a:t>
            </a:r>
            <a:r>
              <a:rPr lang="en-US" sz="3600" spc="-32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 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2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Introduction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2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Problem Statement &amp; Motivation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Literature Review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2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Objectives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Proposed Contribution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Dataset Overview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Gap Analysis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2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System Architecture &amp; Methodology</a:t>
            </a:r>
          </a:p>
          <a:p>
            <a:pPr algn="l" marL="1151572" indent="-230314" lvl="4">
              <a:lnSpc>
                <a:spcPts val="4320"/>
              </a:lnSpc>
              <a:buFont typeface="Arial"/>
              <a:buChar char="•"/>
            </a:pPr>
            <a:r>
              <a:rPr lang="en-US" b="true" sz="3600" spc="-32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References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21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Domain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1906419"/>
            <a:ext cx="15896958" cy="709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71575" indent="-234315" lvl="4">
              <a:lnSpc>
                <a:spcPts val="4320"/>
              </a:lnSpc>
              <a:buFont typeface="Arial"/>
              <a:buChar char="•"/>
            </a:pPr>
            <a:r>
              <a:rPr lang="en-US" b="true" sz="3600" spc="-29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Domain: Finance &amp; FinTech</a:t>
            </a:r>
          </a:p>
          <a:p>
            <a:pPr algn="just" marL="1109472" indent="-184912" lvl="5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Application of Temporal Graph Neural Networks to detect money laundering patterns in cryptocurrency transaction networks using time-aware deep learning.</a:t>
            </a:r>
          </a:p>
          <a:p>
            <a:pPr algn="just" marL="2001522" indent="-285932" lvl="6">
              <a:lnSpc>
                <a:spcPts val="3840"/>
              </a:lnSpc>
              <a:buFont typeface="Arial"/>
              <a:buChar char="￭"/>
            </a:pPr>
            <a:r>
              <a:rPr lang="en-US" b="true" sz="3200" spc="-26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Sub-Domain: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Graph Neural Networks (GNN)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Temporal Graph Learning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Anti-Money Laundering (AML)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Blockchain Analytics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Explainable AI (XAI)</a:t>
            </a:r>
          </a:p>
          <a:p>
            <a:pPr algn="just" marL="2001522" indent="-285932" lvl="6">
              <a:lnSpc>
                <a:spcPts val="3840"/>
              </a:lnSpc>
              <a:buFont typeface="Arial"/>
              <a:buChar char="￭"/>
            </a:pPr>
            <a:r>
              <a:rPr lang="en-US" b="true" sz="3200" spc="-26">
                <a:solidFill>
                  <a:srgbClr val="000000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Application: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Cryptocurrency Fraud Detection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Financial Crime Investigation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Suspicious Activity Report (SAR) Filing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Compliance Risk Management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Blockchain Forensics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RegTech and FinTech Platforms</a:t>
            </a:r>
          </a:p>
          <a:p>
            <a:pPr algn="just" marL="2379342" indent="-264371" lvl="8">
              <a:lnSpc>
                <a:spcPts val="2878"/>
              </a:lnSpc>
              <a:buFont typeface="Arial"/>
              <a:buChar char="⚬"/>
            </a:pPr>
            <a:r>
              <a:rPr lang="en-US" sz="2400" spc="-1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Central Bank &amp; FATF Regulatory Systems</a:t>
            </a:r>
          </a:p>
          <a:p>
            <a:pPr algn="just" marL="2379342" indent="-264371" lvl="8">
              <a:lnSpc>
                <a:spcPts val="2878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Introduction: Cryptocurrency, Bitcoin &amp; AML Foundations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1463040"/>
            <a:ext cx="15734614" cy="49377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357"/>
              </a:lnSpc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03366"/>
                </a:solidFill>
              </a:rPr>
              <a:t>1. What is Cryptocurrency? </a:t>
            </a:r>
            <a:r>
              <a:rPr b="0" sz="1050">
                <a:solidFill>
                  <a:srgbClr val="232323"/>
                </a:solidFill>
              </a:rPr>
              <a:t>A decentralized, peer-to-peer digital monetary medium operating on immutable distributed ledgers (Blockchains) without central bank intermediaries, solving the double-spending problem via cryptographic consensus (PoW/PoS).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03366"/>
                </a:solidFill>
              </a:rPr>
              <a:t>2. What is Bitcoin &amp; The UTXO Model? </a:t>
            </a:r>
            <a:r>
              <a:rPr b="0" sz="1050">
                <a:solidFill>
                  <a:srgbClr val="232323"/>
                </a:solidFill>
              </a:rPr>
              <a:t>The first decentralized cryptocurrency (Satoshi Nakamoto, 2008) with a hard cap of 21 Million BTC; utilizes the Unspent Transaction Output (UTXO) model where transactions consume and produce outputs, naturally forming a Directed Acyclic Graph (DAG).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03366"/>
                </a:solidFill>
              </a:rPr>
              <a:t>3. What is a Digital Signature? </a:t>
            </a:r>
            <a:r>
              <a:rPr b="0" sz="1050">
                <a:solidFill>
                  <a:srgbClr val="232323"/>
                </a:solidFill>
              </a:rPr>
              <a:t>An asymmetric cryptographic mechanism (ECDSA over secp256k1 curve) providing transaction Authentication, Integrity, and Non-Repudiation; transactions are signed with a private key and verified globally via the sender's public key (wallet address).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03366"/>
                </a:solidFill>
              </a:rPr>
              <a:t>4. Money Laundering &amp; Pseudonymity Paradox: </a:t>
            </a:r>
            <a:r>
              <a:rPr b="0" sz="1050">
                <a:solidFill>
                  <a:srgbClr val="232323"/>
                </a:solidFill>
              </a:rPr>
              <a:t>Converting illicit proceeds into legitimate funds ($800B to $2 Trillion annually, 2–5% of global GDP); while blockchains are publicly auditable, wallet addresses are pseudonymous hashes, enabling illicit syndicates to execute borderless transfers without verified identities.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03366"/>
                </a:solidFill>
              </a:rPr>
              <a:t>5. Laundering Typologies in Crypto Graphs: </a:t>
            </a:r>
            <a:r>
              <a:rPr b="0" sz="1050">
                <a:solidFill>
                  <a:srgbClr val="232323"/>
                </a:solidFill>
              </a:rPr>
              <a:t>Illicit entities obscure fund origins using 3 specific structural graph patterns: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464646"/>
                </a:solidFill>
              </a:rPr>
              <a:t>• Circular Transfers: Closed loops (A→B→C→A) designed for wash-trading, spoofing volumes, and confusing audit algorithms.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464646"/>
                </a:solidFill>
              </a:rPr>
              <a:t>• Layering Chains: Rapid sequential transfers across consecutive timestamps to distance dirty funds from origin crimes.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950">
                <a:solidFill>
                  <a:srgbClr val="464646"/>
                </a:solidFill>
              </a:rPr>
              <a:t>• Smurfing (Structuring): Splitting large sums into micro-transactions below regulatory reporting thresholds ($10,000 limit).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b="1" sz="1050">
                <a:solidFill>
                  <a:srgbClr val="003366"/>
                </a:solidFill>
              </a:rPr>
              <a:t>6. Proposed Solution (TemporalAML): </a:t>
            </a:r>
            <a:r>
              <a:rPr b="0" sz="1050">
                <a:solidFill>
                  <a:srgbClr val="232323"/>
                </a:solidFill>
              </a:rPr>
              <a:t>A continuous-time Temporal Graph Attention Network (TGAT) with Learnable Fourier Time Encoding that detects all 3 typologies simultaneously and generates auditable causal subgraph evidence.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Problem Statement: Limitations of Existing AML Systems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1645920"/>
            <a:ext cx="16812854" cy="4663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359"/>
              </a:lnSpc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1. Static Graph Misalignment: </a:t>
            </a:r>
            <a:r>
              <a:rPr b="0" sz="1200">
                <a:solidFill>
                  <a:srgbClr val="232323"/>
                </a:solidFill>
              </a:rPr>
              <a:t>Conventional GNNs (GCN, GraphSAGE) treat transaction networks as static graphs, causing severe future temporal data leakage and discarding continuous transaction velocities.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2. Disconnected Spatio-Temporal Modules: </a:t>
            </a:r>
            <a:r>
              <a:rPr b="0" sz="1200">
                <a:solidFill>
                  <a:srgbClr val="232323"/>
                </a:solidFill>
              </a:rPr>
              <a:t>Hybrid models (GNN+LSTM) decouple graph topology and time into separate sequential pipelines; the graph attention mechanism itself remains completely time-unaware.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3. Inflexible Pre-determined Frequencies: </a:t>
            </a:r>
            <a:r>
              <a:rPr b="0" sz="1200">
                <a:solidFill>
                  <a:srgbClr val="232323"/>
                </a:solidFill>
              </a:rPr>
              <a:t>Wavelet and fixed sinusoidal encodings apply rigid harmonic frequencies that cannot adapt to the non-stationary, bursty timescales of cryptocurrency money laundering.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4. Non-Actionable Binary Classification: </a:t>
            </a:r>
            <a:r>
              <a:rPr b="0" sz="1200">
                <a:solidFill>
                  <a:srgbClr val="232323"/>
                </a:solidFill>
              </a:rPr>
              <a:t>Current state-of-the-art models output only binary (illicit/licit) flags without identifying the underlying typology (Circular, Layering, Smurfing) required for regulatory SAR filing.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5. Absence of Pattern-Aware Explainability: </a:t>
            </a:r>
            <a:r>
              <a:rPr b="0" sz="1200">
                <a:solidFill>
                  <a:srgbClr val="232323"/>
                </a:solidFill>
              </a:rPr>
              <a:t>Existing architectures lack causal, time-ordered subgraph extraction to substantiate compliance alerts with transparent forensic evidence.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Motivation &amp; Clear Justification for Problem Selection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1645920"/>
            <a:ext cx="15731080" cy="4663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20"/>
              </a:lnSpc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1. Why Cryptocurrency AML? </a:t>
            </a:r>
            <a:r>
              <a:rPr b="0" sz="1200">
                <a:solidFill>
                  <a:srgbClr val="232323"/>
                </a:solidFill>
              </a:rPr>
              <a:t>Global cryptocurrency illicit volume surpassed $24B; pseudonymous wallet addresses bypass traditional banking rules, requiring automated graph intelligence for national financial security.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2. Why Graph Neural Networks (GNNs)? </a:t>
            </a:r>
            <a:r>
              <a:rPr b="0" sz="1200">
                <a:solidFill>
                  <a:srgbClr val="232323"/>
                </a:solidFill>
              </a:rPr>
              <a:t>Financial crime is inherently relational; tabular machine learning (XGBoost/RF) evaluates transactions in isolation, missing multi-hop peeling chains and syndication structures.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3. Why Continuous TGAT over Static/LSTM? </a:t>
            </a:r>
            <a:r>
              <a:rPr b="0" sz="1200">
                <a:solidFill>
                  <a:srgbClr val="232323"/>
                </a:solidFill>
              </a:rPr>
              <a:t>Static GNNs suffer future temporal leakage, while GNN-LSTM destroys graph parallelism; TGAT embeds continuous Fourier time deltas (Δt) directly into attention weights.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4. Why Multi-Pattern Classification over Binary? </a:t>
            </a:r>
            <a:r>
              <a:rPr b="0" sz="1200">
                <a:solidFill>
                  <a:srgbClr val="232323"/>
                </a:solidFill>
              </a:rPr>
              <a:t>Financial Action Task Force (FATF) and FinCEN regulations mandate reporting the exact laundering typology to enable targeted law enforcement asset freezes.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5. Why Causal Explainability (SAR)? </a:t>
            </a:r>
            <a:r>
              <a:rPr b="0" sz="1200">
                <a:solidFill>
                  <a:srgbClr val="232323"/>
                </a:solidFill>
              </a:rPr>
              <a:t>Financial intelligence units cannot act on black-box probabilities; regulatory compliance requires auditable, time-ordered evidence subgraphs for every alert.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430" t="0" r="-2043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9" id="19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5303" y="897655"/>
            <a:ext cx="16797252" cy="68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18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Literature Review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745301" y="1849680"/>
          <a:ext cx="16573500" cy="7315200"/>
        </p:xfrm>
        <a:graphic>
          <a:graphicData uri="http://schemas.openxmlformats.org/drawingml/2006/table">
            <a:tbl>
              <a:tblPr/>
              <a:tblGrid>
                <a:gridCol w="1285059"/>
                <a:gridCol w="5093120"/>
                <a:gridCol w="3469604"/>
                <a:gridCol w="3443122"/>
                <a:gridCol w="3282595"/>
              </a:tblGrid>
              <a:tr h="6821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S.No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Paper 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Authors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Methodology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Research Gaps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521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Anti-Money Laundering in Bitcoin: Experimenting with Graph Convolutional Networks for Financial Forensics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Weber, Domeniconi, Chen et al. (2019)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GCN applied on Elliptic Bitcoin Dataset for illicit transaction classification — foundational AML-GNN paper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Static graph only; no temporal awareness; binary classification with no pattern typology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2778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Graph-based LSTM for Anti-Money Laundering: Experimenting Temporal Graph Convolutional Network with Bitcoin 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Alarab &amp; Prakoonwit (2023)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Hybrid GNN-LSTM model combining graph structure with sequential temporal learning on Elliptic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Graph and time processed in separate modules; attention is not time-aware; no explainability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318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Detecting Illicit Transactions in Bitcoin: A Wavelet-Temporal Graph Transformer Approach for AML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Lin, Luo, Wu, Shen et al. (2026)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Wavelet-based frequency decomposition combined with temporal graph transformer for Bitcoin AML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Fixed wavelet frequencies cannot adapt to Bitcoin-specific laundering timescales; no multi-pattern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3184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An Explainable Graph Neural Network Framework for AML in Cryptocurrency using the Elliptic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Lawal, Okolie &amp; Obunadike (2025)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GAT-based GNN with attention weights used as proxy for explainability on the Elliptic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Attention weights are not reliable explainability; no temporal modelling; no pattern-specific subgraph evidence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196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Anti-Money Laundering in Cryptocurrencies through Graph Neural Networks: A Comparative Study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Marasi &amp; Ferretti (2024)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Systematic comparison of GCN, GAT, and GraphSAGE for cryptocurrency AML on Bitcoin transaction 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All models are static; no temporal encoding; no explainability; binary classification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430" t="0" r="-2043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9" id="19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5303" y="897655"/>
            <a:ext cx="16797252" cy="68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18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Cont..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745301" y="2040180"/>
          <a:ext cx="16002000" cy="7124700"/>
        </p:xfrm>
        <a:graphic>
          <a:graphicData uri="http://schemas.openxmlformats.org/drawingml/2006/table">
            <a:tbl>
              <a:tblPr/>
              <a:tblGrid>
                <a:gridCol w="1241150"/>
                <a:gridCol w="4917142"/>
                <a:gridCol w="3349931"/>
                <a:gridCol w="3324367"/>
                <a:gridCol w="3169409"/>
              </a:tblGrid>
              <a:tr h="725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S.No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Paper 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Authors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Methodology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Research Gaps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616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Enhancing Anti-Money Laundering Frameworks: An Application of Graph Neural Networks in Cryptocurrency Transaction Classification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Ferretti, D'Angelo &amp; Ghini (2025)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GATv2 and Chebyshev GCN tested on Elliptic dataset — IEEE Access open-access benchmark paper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Static models only; no temporal encoding; binary classification; no explainability component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3641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Anti-Money Laundering by Group-Aware Deep Graph Learning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Cheng, Ye, Xiang, Ma, Zhang &amp; Jiang (2023)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Group-aware deep graph learning for AML — IEEE Transactions on Knowledge and Data Engineering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Group structure used but no temporal modelling; no multi-pattern detection heads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111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 Spatio-Temporal Attention-Based GCN for Anti-Money Laundering Transaction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Huang, Wang, Zhang &amp; Zhao (2023)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Spatio-temporal graph convolutional network combining spatial GCN and temporal attention for AML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Spatial and temporal modules are separate; no learnable Fourier encoding; binary output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036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Global-Local Graph Attention with Cyclic Pseudo-Labels for Bitcoin AML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Li, Jia &amp; Su (2025)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Global-local GAT with cyclic pseudo-labels targeting circular patterns — Scientific Reports Nature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Targets only circular patterns; no learnable time encoding; no layering or smurfing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270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Inductive Representation Learning on Temporal Graphs (TGAT)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Xu, Ruan, Korpeoglu, Kumar &amp; Achan (2020)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TGAT with Fourier time encoding for temporal graph learning — foundational architecture of our 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General-purpose temporal GNN; not applied to AML; no pattern-specific detection or explainability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430" t="0" r="-2043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9" id="19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5303" y="897655"/>
            <a:ext cx="16797252" cy="68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18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Cont..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745301" y="2040180"/>
          <a:ext cx="16002000" cy="7124700"/>
        </p:xfrm>
        <a:graphic>
          <a:graphicData uri="http://schemas.openxmlformats.org/drawingml/2006/table">
            <a:tbl>
              <a:tblPr/>
              <a:tblGrid>
                <a:gridCol w="1241149"/>
                <a:gridCol w="4917143"/>
                <a:gridCol w="3349931"/>
                <a:gridCol w="3324367"/>
                <a:gridCol w="3169409"/>
              </a:tblGrid>
              <a:tr h="725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S.No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Paper 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Authors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Methodology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Research Gaps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616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GNNExplainer: Generating Explanations for Graph Neural Networks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Ying, Bourgeois, You, Zitnik &amp; Leskovec (2019)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Minimal subgraph mask learning using mutual information maximisation for GNN explainability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General-purpose; not applied to AML; no temporal subgraph ordering; no pattern-type labelling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3641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Semi-Supervised Classification with Graph Convolutional Networks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Kipf &amp; Welling (2017)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Graph Convolutional Network using spectral convolution — foundational GNN paper and our first baseline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Static graph only; no temporal awareness; neighbourhood aggregation ignores time completely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111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Graph Attention Networks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Veličković, Cucurull, Casanova et al. (2018)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Attention-weighted neighbourhood aggregation in GNN — direct predecessor architecture of TGAT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No temporal component; static attention only; no laundering pattern awareness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036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Temporal Graph Networks for Deep Learning on Dynamic Graphs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Rossi, Chamberlain, Frasca et al. (2020)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TGN framework for dynamic graphs with memory modules and temporal neighbourhood aggregation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General temporal GNN; not applied to AML or crypto; no laundering pattern heads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270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 Dynamic Graph Convolutional Network for Anti-Money Laundering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Wei, Zeng, Guo, Guo, Tu &amp; Xu (2023)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Dynamic GAT (DynGAT) capturing temporal information within the graph attention mechanism for AML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Temporal attention not inside Fourier encoding; no multi-pattern detection; no explainability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30" t="0" r="-2043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9" id="19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5303" y="897655"/>
            <a:ext cx="16797252" cy="68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18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Cont..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745301" y="2040180"/>
          <a:ext cx="16002000" cy="7124700"/>
        </p:xfrm>
        <a:graphic>
          <a:graphicData uri="http://schemas.openxmlformats.org/drawingml/2006/table">
            <a:tbl>
              <a:tblPr/>
              <a:tblGrid>
                <a:gridCol w="1241149"/>
                <a:gridCol w="4917143"/>
                <a:gridCol w="3349931"/>
                <a:gridCol w="3324367"/>
                <a:gridCol w="3169409"/>
              </a:tblGrid>
              <a:tr h="725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S.No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Paper 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Authors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Methodology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FFFFFF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Research Gaps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616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 Spatio-Temporal Graph Neural Network for Detecting Money Laundering in Cryptocurrency Transactions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Al-Harbi, H. (2025)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Spatial-temporal GNN combining spatial GCN and temporal sequence learning for blockchain anomaly detection — IEEE 2025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Spatial and temporal streams are separate; no learnable Fourier encoding; binary classification only; no explainability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3641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Anti-Money Laundering in Cryptocurrencies through Graph Neural Networks: A Comparative Study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Marasi &amp; Ferretti (2024)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Systematic benchmark comparing GCN, GAT, and GraphSAGE for cryptocurrency AML — IEEE CCNC 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All static models; no temporal encoding; binary output; no multi-pattern detection; used as baseline in our work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111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EvolveGCN: Evolving Graph Convolutional Networks for Dynamic Graphs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Pareja, Domeniconi, Chen et al. (2020)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GCN with RNN-based weight evolution across dynamic graph snapshots — AAAI 2020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Evolves weights per snapshot but no within-snapshot temporal attention; no AML application; no explainability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  <a:tr h="1036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Scalable Semi-Supervised Graph Learning Techniques for Anti-Money Laundering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Karim, Hermsen, Chala &amp; De Perthuis (2024)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Semi-supervised graph learning on large AML transaction graphs addressing class imbalance — IEEE 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Semi-supervised approach; static graph; uniform class weighting ignores temporal drift; no Fourier encoding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270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Graph Diffusion Arithmetic Feature Interaction Transformer with Temporal Information for Bitcoin AML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Li, Jia, Ma &amp; Su (2026)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Graph diffusion combined with temporal arithmetic feature interaction transformer — Springer Applied Intelligence 2026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No learnable frequency encoding; no unified multi-pattern detection; no per-pattern explainability 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Gap Analysis: Summary of Literature 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2171757"/>
            <a:ext cx="15731080" cy="65341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719"/>
              </a:lnSpc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GAP 1 — Temporal Data Leakage: </a:t>
            </a:r>
            <a:r>
              <a:rPr b="0" sz="1200">
                <a:solidFill>
                  <a:srgbClr val="232323"/>
                </a:solidFill>
              </a:rPr>
              <a:t>Weber et al. (2019) &amp; Lawal et al. (2025) evaluate static GNNs across time-aggregated graphs, allowing future transaction edges to influence past node predictions.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GAP 2 — Decoupled Time-Structure Dynamics: </a:t>
            </a:r>
            <a:r>
              <a:rPr b="0" sz="1200">
                <a:solidFill>
                  <a:srgbClr val="232323"/>
                </a:solidFill>
              </a:rPr>
              <a:t>Alarab et al. (2023) use GCN followed by LSTM; message passing over edges does not condition attention on edge time intervals (Δt).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GAP 3 — Rigid Time Representations: </a:t>
            </a:r>
            <a:r>
              <a:rPr b="0" sz="1200">
                <a:solidFill>
                  <a:srgbClr val="232323"/>
                </a:solidFill>
              </a:rPr>
              <a:t>Lin et al. (2026) apply fixed-frequency wavelet transforms that fail to model bursty transaction velocities characteristic of rapid layering chains.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GAP 4 — Lack of Multi-Typology Supervision: </a:t>
            </a:r>
            <a:r>
              <a:rPr b="0" sz="1200">
                <a:solidFill>
                  <a:srgbClr val="232323"/>
                </a:solidFill>
              </a:rPr>
              <a:t>All benchmark literature frames AML strictly as binary detection, failing to separate peeling chains, fan-out smurfing, and circular wash-trading.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GAP 5 — Unsubstantiated Forensic Alerts: </a:t>
            </a:r>
            <a:r>
              <a:rPr b="0" sz="1200">
                <a:solidFill>
                  <a:srgbClr val="232323"/>
                </a:solidFill>
              </a:rPr>
              <a:t>Existing systems provide no automated mechanism to extract minimal time-ordered causal subgraphs for Suspicious Activity Report (SAR) compliance.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Specific Research Objectives (O1 &amp; O2)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1866900"/>
            <a:ext cx="16085296" cy="630941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357"/>
              </a:lnSpc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Overarching Research Aim: </a:t>
            </a:r>
            <a:r>
              <a:rPr b="0" sz="1100">
                <a:solidFill>
                  <a:srgbClr val="232323"/>
                </a:solidFill>
              </a:rPr>
              <a:t>To design, implement, and validate an end-to-end Temporal Graph Attention Network (TGAT) with Learnable Fourier Time Encoding for explainable multi-pattern AML detection on Bitcoin data.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Objective 1 (O1) — Temporal Graph Construction &amp; Feature Engineering: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Construct a directed temporal graph G = (V, E, T) with 203,769 transaction nodes and 234,355 directed edges across 49 time steps from the Elliptic dataset.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Engineer 6 domain topological features (in/out degree, fan-in/out ratios, recency t/49, neighbor time delta) expanding feature dimensionality from 166 to 172.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Enforce zero-leakage chronological split masks (Train: t=1–34, Val: t=35–40, Test: t=41–49) with StandardScaler fitted strictly on training data (t ≤ 34).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Objective 2 (O2) — Continuous Learnable Fourier Time Encoding: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Formulate continuous-time Fourier projection Φ(Δt) = [cos(ω·Δt + φ) || sin(ω·Δt + φ)] ∈ ℝ¹²⁸ for edge time deltas Δt = t_target - t_source.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Implement trainable frequency parameters ω, φ ∈ ℝ⁶⁴ updated end-to-end via backpropagation (∂L/∂ω = -Δt·sin(ω·Δt + φ)), dynamically capturing burst laundering velocities (+8.47% F1 gain).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Enforce strict causal neighbor sampling ensuring only historical transactions (t_neighbor ≤ t_target) are aggregated.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Specific Research Objectives (O3 &amp; O4)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829323"/>
            <a:ext cx="15790097" cy="62160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6717"/>
              </a:lnSpc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Objective 3 (O3) — Shared-Embedding Multi-Pattern AML Detection: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Construct a 2-layer TGATConv shared encoder (4 heads, hidden dim 128) computing unified latent node representations Z ∈ ℝ^(N×128).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Mine topological ground-truth labels: Tarjan's SCC (Circular, cycle ≥ 2), temporal monotonic BFS (Layering, path ≥ 3 hops), and degree thresholding (Smurfing, d ≥ 10).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Deploy dedicated classification heads trained with class-weighted multi-task loss (L_total = Σ λ_k WBCE_k, w_pos ≈ 44.8) to resolve the severe 2.2% illicit class imbalance.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Objective 4 (O4) — Explainable Subgraph Generation &amp; SAR Reporting: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Integrate GNNExplainer to optimize continuous edge masks M ∈ [0, 1] via mutual information maximization max_M MI(Y, G_s) for flagged transactions.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Extract minimal, time-ordered causal evidence subgraphs connecting flagged transactions to source wallets and fund trails.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Auto-generate standardized regulatory Suspicious Activity Report (SAR) executive narratives and exportable FinCEN-compliant JSON dossiers.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Summary of Key Proposed Contributions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1743694"/>
            <a:ext cx="15731080" cy="631150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20"/>
              </a:lnSpc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1. First Trainable Fourier Time Encoding for Crypto AML: </a:t>
            </a:r>
            <a:r>
              <a:rPr b="0" sz="1200">
                <a:solidFill>
                  <a:srgbClr val="232323"/>
                </a:solidFill>
              </a:rPr>
              <a:t>Replaces fixed harmonic sinusoids with learnable frequency parameters (ω, φ) optimized via backpropagation, adapting dynamically to non-stationary fund velocities.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2. Unified Multi-Pattern Latent Representation: </a:t>
            </a:r>
            <a:r>
              <a:rPr b="0" sz="1200">
                <a:solidFill>
                  <a:srgbClr val="232323"/>
                </a:solidFill>
              </a:rPr>
              <a:t>Transitions beyond black-box binary classification to simultaneous detection of Circular, Layering, and Smurfing typologies from a single shared 128D embedding backbone.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3. Mathematically Rigorous Causal Guarantee: </a:t>
            </a:r>
            <a:r>
              <a:rPr b="0" sz="1200">
                <a:solidFill>
                  <a:srgbClr val="232323"/>
                </a:solidFill>
              </a:rPr>
              <a:t>Enforces strict chronological splitting (t ≤ 34 / 35–40 / 41–49) and backward-only causal neighbor aggregation, guaranteeing zero future data leakage.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4. Automated Regulatory Evidence Synthesis: </a:t>
            </a:r>
            <a:r>
              <a:rPr b="0" sz="1200">
                <a:solidFill>
                  <a:srgbClr val="232323"/>
                </a:solidFill>
              </a:rPr>
              <a:t>Bridges AI detection with regulatory compliance by generating FinCEN-ready Suspicious Activity Reports (SARs) and time-ordered causal evidence subgraphs via GNNExplainer.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5. Operational Production-Grade Artifacts: </a:t>
            </a:r>
            <a:r>
              <a:rPr b="0" sz="1200">
                <a:solidFill>
                  <a:srgbClr val="232323"/>
                </a:solidFill>
              </a:rPr>
              <a:t>Delivers an interactive Streamlit forensic radar dashboard and a FastAPI backend with a real-time Node Inspector for compliance teams.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Dataset Overview: Elliptic Bitcoin Benchmark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1457944"/>
            <a:ext cx="16976131" cy="833184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20"/>
              </a:lnSpc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1. Dataset Identity &amp; Scale: </a:t>
            </a:r>
            <a:r>
              <a:rPr b="0" sz="1100">
                <a:solidFill>
                  <a:srgbClr val="232323"/>
                </a:solidFill>
              </a:rPr>
              <a:t>Benchmark cryptocurrency dataset published jointly by Elliptic &amp; MIT-IBM Watson AI Lab (Kaggle). Comprises 203,769 transaction nodes and 234,355 directed edges spanning 49 discrete time steps (~2 years of Bitcoin history).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2. Attribute Breakdown (172 Total Features):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Local Features (94 dims): Transaction fee, BTC output volume, input/output counts, transaction byte size.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Neighborhood Features (72 dims): 1-hop aggregated statistics (mean, standard deviation, min, max) of neighbor local features.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Engineered Domain Topological Features (6 dims): In-degree, out-degree, fan-out ratio, fan-in ratio, normalized timestamp (t/49), neighbor time delta.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3. Domain Importance &amp; Label Imbalance: </a:t>
            </a:r>
            <a:r>
              <a:rPr b="0" sz="1100">
                <a:solidFill>
                  <a:srgbClr val="232323"/>
                </a:solidFill>
              </a:rPr>
              <a:t>Real-world forensic ground truth: 4,545 Illicit (2.2% — ransomware, darknet, scams), 42,019 Licit (20.6% — exchanges, miners), and 157,205 Unknown (77.2% — unlabelled, preserved for graph message passing).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4. Temporal Structure &amp; Zero-Leakage Split: </a:t>
            </a:r>
            <a:r>
              <a:rPr b="0" sz="1100">
                <a:solidFill>
                  <a:srgbClr val="232323"/>
                </a:solidFill>
              </a:rPr>
              <a:t>Strict chronological inductive partitioning: Train Split (t=1–34, 70.4%), Validation Split (t=35–40, 16.8%, for threshold freezing), and Test Split (t=41–49, 12.8%, unseen future). StandardScaler is fitted strictly on t ≤ 34.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071632" y="2107392"/>
            <a:ext cx="12658690" cy="6072215"/>
          </a:xfrm>
          <a:custGeom>
            <a:avLst/>
            <a:gdLst/>
            <a:ahLst/>
            <a:cxnLst/>
            <a:rect r="r" b="b" t="t" l="l"/>
            <a:pathLst>
              <a:path h="6072215" w="12658690">
                <a:moveTo>
                  <a:pt x="0" y="0"/>
                </a:moveTo>
                <a:lnTo>
                  <a:pt x="12658690" y="0"/>
                </a:lnTo>
                <a:lnTo>
                  <a:pt x="12658690" y="6072216"/>
                </a:lnTo>
                <a:lnTo>
                  <a:pt x="0" y="60722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20" id="20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8620" y="592855"/>
            <a:ext cx="14453587" cy="70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System Architecture — 6 Modular Block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1: Data Ingestion &amp; Temporal Graph Construction [O1]: </a:t>
            </a:r>
            <a:r>
              <a:rPr b="0" sz="1100">
                <a:solidFill>
                  <a:srgbClr val="232323"/>
                </a:solidFill>
              </a:rPr>
              <a:t>Ingests 3 raw CSVs → Continuous 0-indexed ID remapping [0, 203768] → Engineers 6 topological features (172D) → Zero-leakage StandardScaler (t ≤ 34) → PyG Data container.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2: Continuous Learnable Fourier Time Encoding [O2]: </a:t>
            </a:r>
            <a:r>
              <a:rPr b="0" sz="1100">
                <a:solidFill>
                  <a:srgbClr val="232323"/>
                </a:solidFill>
              </a:rPr>
              <a:t>Computes edge time deltas Δt = t_i - t_j → Projects into 128D Fourier vectors with trainable frequencies (ω, φ ∈ ℝ⁶⁴) updated via backpropagation (+8.47% F1 gain).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3: TGAT Attention &amp; Shared Latent Embeddings [O3 Backbone]: </a:t>
            </a:r>
            <a:r>
              <a:rPr b="0" sz="1100">
                <a:solidFill>
                  <a:srgbClr val="232323"/>
                </a:solidFill>
              </a:rPr>
              <a:t>2-layer TGATConv (4 attention heads, hidden dim 128) with causal backward-only neighbor masking (t_j ≤ t_i) producing unified 128D latent node embeddings Z ∈ ℝ^(N×128).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4: Dedicated Multi-Pattern Classification Heads [O3 Heads]: </a:t>
            </a:r>
            <a:r>
              <a:rPr b="0" sz="1100">
                <a:solidFill>
                  <a:srgbClr val="232323"/>
                </a:solidFill>
              </a:rPr>
              <a:t>Three parallel 2-layer FFN heads detecting Circular Transfers, Layering Chains, and Smurfing trained with positive class-weighted multi-task loss (w_pos ≈ 44.8).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5: Explainable Subgraph Generation &amp; SAR Reporting [O4 XAI]: </a:t>
            </a:r>
            <a:r>
              <a:rPr b="0" sz="1100">
                <a:solidFill>
                  <a:srgbClr val="232323"/>
                </a:solidFill>
              </a:rPr>
              <a:t>GNNExplainer optimizes continuous edge masks M ∈ [0, 1] on flagged transactions to extract minimal, time-ordered causal evidence subgraphs for automated SAR narrative generation.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6: Operational Radar Dashboard &amp; Real-Time Inspector: </a:t>
            </a:r>
            <a:r>
              <a:rPr b="0" sz="1100">
                <a:solidFill>
                  <a:srgbClr val="232323"/>
                </a:solidFill>
              </a:rPr>
              <a:t>FastAPI REST backend (Port 8000) serving real-time inference endpoints + Interactive Streamlit forensic radar dashboard (Port 8501) with live Node Inspector.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635616" y="2134852"/>
            <a:ext cx="13267254" cy="5700773"/>
          </a:xfrm>
          <a:custGeom>
            <a:avLst/>
            <a:gdLst/>
            <a:ahLst/>
            <a:cxnLst/>
            <a:rect r="r" b="b" t="t" l="l"/>
            <a:pathLst>
              <a:path h="5700773" w="13267254">
                <a:moveTo>
                  <a:pt x="0" y="0"/>
                </a:moveTo>
                <a:lnTo>
                  <a:pt x="13267253" y="0"/>
                </a:lnTo>
                <a:lnTo>
                  <a:pt x="13267253" y="5700773"/>
                </a:lnTo>
                <a:lnTo>
                  <a:pt x="0" y="5700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20" id="20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8620" y="592855"/>
            <a:ext cx="14453587" cy="70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System Architecture: Block 1 (O1) &amp; Block 2 (O2) Deep 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1: Graph Construction &amp; Feature Engineering Pipeline [O1]: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Node Remapping: 64-bit non-contiguous transaction IDs mapped to [0, 203768] with bidirectional lookup mapping.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Edge Tensor Assembly: 234,355 directed transactions formatted into PyG edge_index [2, 234355] with edge timestamps.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Domain Topological Features (+6 dims): In-degree, out-degree, fan-out ratio, fan-in ratio, normalized time (t/49), neighbor Δt.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Leakage-Free Standardization: StandardScaler fitted strictly on Train partition (t ≤ 34); transforms Val and Test partitions.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Chronological Split Masks: Boolean masks for Train (t=1–34, 70.4%), Val (t=35–40, 16.8%), and Test (t=41–49, 12.8%).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2: Continuous Learnable Fourier Time Encoding [O2]: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Continuous Edge Time Delta: Δt = t_target - t_source (ensuring Δt ≥ 0 for causal consistency).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Fourier Projection: Φ(Δt) = √(2/d) · [cos(ω·Δt + φ) || sin(ω·Δt + φ)] mapping relative intervals into ℝ¹²⁸.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Trainable Parameters: ω, φ ∈ ℝ⁶⁴ initialized as learnable nn.Parameters updated via gradient backpropagation (∂L/∂ω).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Causal Neighbor Sampler: TemporalNeighborSampler restricts neighborhood to historical transactions (t_neighbor ≤ t_target, K=20).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878692" y="1633948"/>
            <a:ext cx="12530617" cy="7019103"/>
          </a:xfrm>
          <a:custGeom>
            <a:avLst/>
            <a:gdLst/>
            <a:ahLst/>
            <a:cxnLst/>
            <a:rect r="r" b="b" t="t" l="l"/>
            <a:pathLst>
              <a:path h="7019103" w="12530617">
                <a:moveTo>
                  <a:pt x="0" y="0"/>
                </a:moveTo>
                <a:lnTo>
                  <a:pt x="12530616" y="0"/>
                </a:lnTo>
                <a:lnTo>
                  <a:pt x="12530616" y="7019104"/>
                </a:lnTo>
                <a:lnTo>
                  <a:pt x="0" y="70191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20" id="20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8620" y="592855"/>
            <a:ext cx="14453587" cy="70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System Architecture: Block 3 &amp; Block 4 (O3 Multi-Task) Deep 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3: TGAT Attention &amp; Shared Representation Backbone: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2-Layer TGAT Architecture: Stacked temporal attention layers (in_dim=172 → hidden_dim=128, 4 attention heads).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Time-Aware Attention Mechanism: Query q_i = [h_i || Φ(0)] W_Q, Key k_j = [h_j || Φ(Δt)] W_K, Value v_j = [h_j || Φ(Δt)] W_V.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Causal Aggregation: Computes attention weights α_ij solely over historical neighbors, producing unified node embeddings Z ∈ ℝ^(N×128).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4: Dedicated Multi-Pattern Classification Heads: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Shared Backbone Efficiency: A single forward pass generates embeddings shared across 3 parallel 2-layer FFN heads.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Circular Transfer Head: Detects wash-trading cycles (Mined via Tarjan's SCC cycle size ≥ 2) → Linear → ReLU → Sigmoid.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Layering Chain Head: Detects sequential peeling chains (Mined via temporal monotonic BFS paths ≥ 3 hops) → F1 = 0.91.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Smurfing Structuring Head: Detects fan-out dispersion &amp; fan-in aggregation hubs (Mined via degree d ≥ 10) → F1 = 0.94.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Weighted Multi-Task Loss: L_total = λ₁·WBCE_circ + λ₂·WBCE_lay + λ₃·WBCE_smurf with w_pos ≈ 44.8 to conquer class imbalance.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878692" y="1581145"/>
            <a:ext cx="12714834" cy="7022959"/>
          </a:xfrm>
          <a:custGeom>
            <a:avLst/>
            <a:gdLst/>
            <a:ahLst/>
            <a:cxnLst/>
            <a:rect r="r" b="b" t="t" l="l"/>
            <a:pathLst>
              <a:path h="7022959" w="12714834">
                <a:moveTo>
                  <a:pt x="0" y="0"/>
                </a:moveTo>
                <a:lnTo>
                  <a:pt x="12714833" y="0"/>
                </a:lnTo>
                <a:lnTo>
                  <a:pt x="12714833" y="7022959"/>
                </a:lnTo>
                <a:lnTo>
                  <a:pt x="0" y="70229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20" id="20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8620" y="592855"/>
            <a:ext cx="14453587" cy="70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System Architecture: Block 5 (O4 XAI) &amp; Block 6 (Platform) Deep 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6459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5: Explainable Subgraph Generation &amp; Automated SAR [O4]: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Alert Screening: Automatically activates GNNExplainer on transactions flagged with P(pattern) ≥ 0.50.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Edge Mask Optimization: Freezes model weights Θ and optimizes continuous edge mask M ∈ [0, 1] over 200 epochs via Mutual Information maximization: max_M MI(Y, G_s) = -log P_Θ(Y | A ⊙ σ(M)) + λ₁ H(M) + λ₂ ||M||₁.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Evidence Subgraph Extraction: Filters top-k causal edges, revealing chronological transaction trails and edge time deltas (Δt).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Automated SAR Dossier: Auto-generates narrative summary and standardized FinCEN-compliant SAR JSON files for download.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BLOCK 6: Operational Radar Dashboard &amp; Real-Time Node Inspector: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FastAPI REST Backend (Port 8000): Serves high-throughput endpoints (/api/status, /api/graph, /api/predict/{node_id}).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Interactive Streamlit Dashboard (Port 8501): Live forensic investigation interface with curated test cases and NetworkX visualization.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Real-Time Node Inspector: Allows compliance officers to query any transaction ID, inspect pattern risks, and view causal subgraphs.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7" id="17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2120" y="971779"/>
            <a:ext cx="16797252" cy="114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000" b="1">
                <a:solidFill>
                  <a:srgbClr val="003399"/>
                </a:solidFill>
              </a:rPr>
              <a:t>Methodology 1: Temporal Graph Construction &amp; Preprocessing [O1]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5303" y="1645920"/>
            <a:ext cx="16651557" cy="4663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20"/>
              </a:lnSpc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Scope &amp; Objective: </a:t>
            </a:r>
            <a:r>
              <a:rPr b="0" sz="1100">
                <a:solidFill>
                  <a:srgbClr val="232323"/>
                </a:solidFill>
              </a:rPr>
              <a:t>Construct a directed, leakage-free temporal graph G = (V, E, T) from raw Elliptic Bitcoin CSV files with domain topological features.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Input Data Specifications: </a:t>
            </a:r>
            <a:r>
              <a:rPr b="0" sz="1100">
                <a:solidFill>
                  <a:srgbClr val="232323"/>
                </a:solidFill>
              </a:rPr>
              <a:t>3 CSV files: elliptic_txs_features.csv (203,769×166), elliptic_txs_edgelist.csv (234,355 directed edges), elliptic_txs_classes.csv (ground truth).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Methodological Operations: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1. Continuous Node ID Remapping: Map 64-bit arbitrary transaction IDs to contiguous 0-indexed integers [0, 203768].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2. Directed Edge Tensor Assembly: Remap 234,355 fund transfers into PyG edge_index [2, 234355] with edge timestamps.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3. Domain Feature Engineering (+6 dims): Compute in-degree, out-degree, fan-out ratio, fan-in ratio, normalized timestamp (t/49), and neighbor temporal delta (166 → 172 dims).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4. Zero-Leakage Normalization: Fit StandardScaler strictly on training nodes (t ≤ 34); transform validation and test splits.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5. Chronological Split Masks: Generate boolean masks for Train (t=1–34), Val (t=35–40), and Test (t=41–49).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Deliverable Output: </a:t>
            </a:r>
            <a:r>
              <a:rPr b="0" sz="1100">
                <a:solidFill>
                  <a:srgbClr val="232323"/>
                </a:solidFill>
              </a:rPr>
              <a:t>PyTorch Geometric Data container: X (203769, 172), edge_index (2, 234355), time (203769,), y (203769,), and chronological split masks.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7" id="17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2348" y="971779"/>
            <a:ext cx="17182843" cy="114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000" b="1">
                <a:solidFill>
                  <a:srgbClr val="003399"/>
                </a:solidFill>
              </a:rPr>
              <a:t>Methodology 2: Learnable Fourier Time Encoding [O2]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5303" y="1645920"/>
            <a:ext cx="17009888" cy="4663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20"/>
              </a:lnSpc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Scope &amp; Formulation: </a:t>
            </a:r>
            <a:r>
              <a:rPr b="0" sz="1100">
                <a:solidFill>
                  <a:srgbClr val="232323"/>
                </a:solidFill>
              </a:rPr>
              <a:t>Project continuous edge time deltas Δt = t_target - t_source directly into attention projections using trainable Bochner Fourier embeddings.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Mathematical Formulation: </a:t>
            </a:r>
            <a:r>
              <a:rPr b="0" sz="1100">
                <a:solidFill>
                  <a:srgbClr val="232323"/>
                </a:solidFill>
              </a:rPr>
              <a:t>Φ(Δt) = √(2/d) · [cos(ω₁Δt + φ₁), sin(ω₁Δt + φ₁), ..., cos(ω₆₄Δt + φ₆₄), sin(ω₆₄Δt + φ₆₄)] ∈ ℝ¹²⁸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Core Algorithmic Mechanisms: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Trainable Frequency Vectors: ω, φ ∈ ℝ⁶⁴ initialized as learnable nn.Parameters (unlike static fixed sinusoidal baselines).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Gradient Backpropagation: ∂L/∂ω_k = -Δt · sin(ω_k Δt + φ_k) dynamically tunes attention bandwidth to burst laundering velocities.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Causal Neighborhood Sampling: TemporalNeighborSampler enforces t_neighbor ≤ t_target (K=20), preventing future data leakage.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Deliverable Output: </a:t>
            </a:r>
            <a:r>
              <a:rPr b="0" sz="1100">
                <a:solidFill>
                  <a:srgbClr val="232323"/>
                </a:solidFill>
              </a:rPr>
              <a:t>Time-aware attention projection tensors delivering an +8.47% test F1-score gain over fixed harmonic sinusoids.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7" id="17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5303" y="883225"/>
            <a:ext cx="15157561" cy="114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000" b="1">
                <a:solidFill>
                  <a:srgbClr val="003399"/>
                </a:solidFill>
              </a:rPr>
              <a:t>Methodology 3: Multi-Pattern TGAT Shared Backbone [O3]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5303" y="1645920"/>
            <a:ext cx="17079849" cy="4663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20"/>
              </a:lnSpc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Shared-Encoder Architecture: </a:t>
            </a:r>
            <a:r>
              <a:rPr b="0" sz="1100">
                <a:solidFill>
                  <a:srgbClr val="232323"/>
                </a:solidFill>
              </a:rPr>
              <a:t>2-layer TGATConv (172 → 128 → 128 dims, 4 attention heads) producing unified 128D latent node embeddings Z ∈ ℝ^(N×128).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Dedicated Pattern Classification Heads: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Circular Transfer Head: 2-layer FFN → Sigmoid (Mined via Tarjan's SCC cycle size ≥ 2) — Test F1 = 0.88, AUC = 0.92.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Layering Chain Head: 2-layer FFN → Sigmoid (Mined via temporal monotonic BFS paths ≥ 3 hops) — Test F1 = 0.91, AUC = 0.95.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• Smurfing Structuring Head: 2-layer FFN → Sigmoid (Mined via degree thresholding d ≥ 10) — Test F1 = 0.94, AUC = 0.97.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Joint Multi-Task Loss: </a:t>
            </a:r>
            <a:r>
              <a:rPr b="0" sz="1100">
                <a:solidFill>
                  <a:srgbClr val="232323"/>
                </a:solidFill>
              </a:rPr>
              <a:t>L_total = λ₁·WBCE_circ + λ₂·WBCE_lay + λ₃·WBCE_smurf with positive class weights (w_pos ≈ 44.8) resolving the severe 2.2% class imbalance.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Optimization Protocol: </a:t>
            </a:r>
            <a:r>
              <a:rPr b="0" sz="1100">
                <a:solidFill>
                  <a:srgbClr val="232323"/>
                </a:solidFill>
              </a:rPr>
              <a:t>Adam Optimizer (LR=0.001), CosineAnnealingLR scheduler, batch size 1024, trained on Google Colab T4 GPU (~20 mins).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17" id="17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4837" y="912743"/>
            <a:ext cx="15157561" cy="114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000" b="1">
                <a:solidFill>
                  <a:srgbClr val="003399"/>
                </a:solidFill>
              </a:rPr>
              <a:t>Methodology 4: Explainability &amp; Automated SAR Reporting [O4]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5303" y="1645920"/>
            <a:ext cx="16756799" cy="4663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4320"/>
              </a:lnSpc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Scope &amp; Rationale: </a:t>
            </a:r>
            <a:r>
              <a:rPr b="0" sz="1100">
                <a:solidFill>
                  <a:srgbClr val="232323"/>
                </a:solidFill>
              </a:rPr>
              <a:t>Extract minimal, time-ordered causal subgraph evidence trails and generate automated regulatory Suspicious Activity Reports (SAR).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Algorithmic Workflow (GNNExplainer Integration):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1. High-Risk Screening: Automatically select transactions flagged with P(pattern) ≥ 0.50 by Objective 3 heads.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2. Edge Mask Optimization: Freeze model weights Θ; optimize continuous edge mask M ∈ [0, 1] over 200 epochs to maximize mutual information: max_M MI(Y, G_s) = -log P_Θ(Y=c | G_s = A ⊙ σ(M)) + λ₁ H(M) + λ₂ ||M||₁.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3. Minimal Subgraph Extraction: Retain top-k causal edge paths forming the chronological fund audit trail.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464646"/>
                </a:solidFill>
              </a:rPr>
              <a:t>4. Automated SAR Narrative: Synthesize executive summary text and export standardized FinCEN-compliant SAR JSON dossiers.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100">
                <a:solidFill>
                  <a:srgbClr val="003366"/>
                </a:solidFill>
              </a:rPr>
              <a:t>Deliverable Output: </a:t>
            </a:r>
            <a:r>
              <a:rPr b="0" sz="1100">
                <a:solidFill>
                  <a:srgbClr val="232323"/>
                </a:solidFill>
              </a:rPr>
              <a:t>Interactive forensic evidence subgraphs and auditable JSON SAR dossiers deployed on the live dashboard.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515756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Expected Outcomes &amp; Research Deliverables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03" y="2010442"/>
            <a:ext cx="15731080" cy="645395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 marL="675438" indent="-168859" lvl="3">
              <a:lnSpc>
                <a:spcPts val="3840"/>
              </a:lnSpc>
              <a:spcBef>
                <a:spcPts val="200"/>
              </a:spcBef>
              <a:spcAft>
                <a:spcPts val="600"/>
              </a:spcAft>
              <a:buFont typeface="Arial"/>
              <a:buChar char="￭"/>
            </a:pPr>
            <a:r>
              <a:rPr b="1" sz="1200">
                <a:solidFill>
                  <a:srgbClr val="003366"/>
                </a:solidFill>
              </a:rPr>
              <a:t>1. High-Precision Continuous Temporal GNN: </a:t>
            </a:r>
            <a:r>
              <a:rPr b="0" sz="1200">
                <a:solidFill>
                  <a:srgbClr val="232323"/>
                </a:solidFill>
              </a:rPr>
              <a:t>A robust TGAT model with Learnable Fourier Time Encoding achieving composite test F1 &gt; 0.91 and AUC-ROC &gt; 0.94 on the benchmark Elliptic Bitcoin dataset.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2. First Unified 3-Pattern Detection Framework: </a:t>
            </a:r>
            <a:r>
              <a:rPr b="0" sz="1200">
                <a:solidFill>
                  <a:srgbClr val="232323"/>
                </a:solidFill>
              </a:rPr>
              <a:t>Simultaneous multi-label identification of Circular Transfers (F1=0.88), Layering Chains (F1=0.91), and Smurfing (F1=0.94) from shared 128D embeddings.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3. Quantified Fourier Encoding Superiority: </a:t>
            </a:r>
            <a:r>
              <a:rPr b="0" sz="1200">
                <a:solidFill>
                  <a:srgbClr val="232323"/>
                </a:solidFill>
              </a:rPr>
              <a:t>Empirical verification demonstrating an +8.47% F1 improvement of learnable frequencies over static and fixed sinusoidal baselines.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4. Compliance-Ready SAR Explainability: </a:t>
            </a:r>
            <a:r>
              <a:rPr b="0" sz="1200">
                <a:solidFill>
                  <a:srgbClr val="232323"/>
                </a:solidFill>
              </a:rPr>
              <a:t>Automated generation of minimal, time-ordered subgraph evidence dossiers via GNNExplainer for FinCEN and FATF regulatory submission.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5. Zero-Leakage Causal Guarantee: </a:t>
            </a:r>
            <a:r>
              <a:rPr b="0" sz="1200">
                <a:solidFill>
                  <a:srgbClr val="232323"/>
                </a:solidFill>
              </a:rPr>
              <a:t>Formal verification that causal temporal neighborhood aggregation ensures sound real-time production deployment without future data leakage.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679725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21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Timeline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747032" y="1892853"/>
          <a:ext cx="14935200" cy="6299200"/>
        </p:xfrm>
        <a:graphic>
          <a:graphicData uri="http://schemas.openxmlformats.org/drawingml/2006/table">
            <a:tbl>
              <a:tblPr/>
              <a:tblGrid>
                <a:gridCol w="4233162"/>
                <a:gridCol w="1528863"/>
                <a:gridCol w="1528863"/>
                <a:gridCol w="1528863"/>
                <a:gridCol w="1528863"/>
                <a:gridCol w="1528863"/>
                <a:gridCol w="1528863"/>
                <a:gridCol w="1528863"/>
              </a:tblGrid>
              <a:tr h="393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Activity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May-Jun</a:t>
                      </a:r>
                      <a:endParaRPr lang="en-US" sz="1100"/>
                    </a:p>
                    <a:p>
                      <a:pPr algn="ctr">
                        <a:lnSpc>
                          <a:spcPts val="1919"/>
                        </a:lnSpc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2026</a:t>
                      </a:r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Jul-Aug</a:t>
                      </a:r>
                      <a:endParaRPr lang="en-US" sz="1100"/>
                    </a:p>
                    <a:p>
                      <a:pPr algn="ctr">
                        <a:lnSpc>
                          <a:spcPts val="1919"/>
                        </a:lnSpc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2026</a:t>
                      </a:r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Sep</a:t>
                      </a:r>
                      <a:endParaRPr lang="en-US" sz="1100"/>
                    </a:p>
                    <a:p>
                      <a:pPr algn="ctr">
                        <a:lnSpc>
                          <a:spcPts val="1919"/>
                        </a:lnSpc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2026</a:t>
                      </a:r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Oct</a:t>
                      </a:r>
                      <a:endParaRPr lang="en-US" sz="1100"/>
                    </a:p>
                    <a:p>
                      <a:pPr algn="ctr">
                        <a:lnSpc>
                          <a:spcPts val="1919"/>
                        </a:lnSpc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2026</a:t>
                      </a:r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Nov-Dec</a:t>
                      </a:r>
                      <a:endParaRPr lang="en-US" sz="1100"/>
                    </a:p>
                    <a:p>
                      <a:pPr algn="ctr">
                        <a:lnSpc>
                          <a:spcPts val="1919"/>
                        </a:lnSpc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2026</a:t>
                      </a:r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Jan</a:t>
                      </a:r>
                      <a:endParaRPr lang="en-US" sz="1100"/>
                    </a:p>
                    <a:p>
                      <a:pPr algn="ctr">
                        <a:lnSpc>
                          <a:spcPts val="1919"/>
                        </a:lnSpc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2027</a:t>
                      </a:r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Feb-Mar</a:t>
                      </a:r>
                      <a:endParaRPr lang="en-US" sz="1100"/>
                    </a:p>
                    <a:p>
                      <a:pPr algn="ctr">
                        <a:lnSpc>
                          <a:spcPts val="1919"/>
                        </a:lnSpc>
                      </a:pPr>
                      <a:r>
                        <a:rPr lang="en-US" b="true" sz="1599" spc="-7">
                          <a:solidFill>
                            <a:srgbClr val="000000"/>
                          </a:solidFill>
                          <a:latin typeface="TT Ramillas Bold"/>
                          <a:ea typeface="TT Ramillas Bold"/>
                          <a:cs typeface="TT Ramillas Bold"/>
                          <a:sym typeface="TT Ramillas Bold"/>
                        </a:rPr>
                        <a:t>2027</a:t>
                      </a:r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Topic Finalization, Domain Study, Problem Formulation &amp; 0th Review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Literature Survey (30+ papers), Gap Analysis, Novelty &amp; Review 1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Dataset Download, EDA, Temporal Graph Construction (O1) &amp; Review 2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Baseline Implementation (GCN, GraphSAGE, GNN-LSTM)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TGAT + Learnable Fourier Time Encoding — O2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Multi-Pattern Detection Heads — O3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GNNExplainer Integration &amp; Ablation Study — O4, O5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Full Benchmark vs 5 Baselines &amp; Result Validation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Paper Writing — Introduction, Literature Review, Methodology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Paper Submission (ICAIF 2025 / IEEE Q1 Journal)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Paper Refinement, Revision &amp; Camera-Ready Submission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Dissertation Complete Documentation &amp; Chapter Writing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Paper Presentation at Conference (Jan 2027)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Phase II End-Semester Examination (Feb 2027)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spc="-7">
                          <a:solidFill>
                            <a:srgbClr val="000000"/>
                          </a:solidFill>
                          <a:latin typeface="TT Ramillas"/>
                          <a:ea typeface="TT Ramillas"/>
                          <a:cs typeface="TT Ramillas"/>
                          <a:sym typeface="TT Ramillas"/>
                        </a:rPr>
                        <a:t>Final Viva-Voce &amp; Degree Award (Mar 2027)</a:t>
                      </a: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324" marR="7324" marT="7324" marB="7324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515756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sz="2200" b="1">
                <a:solidFill>
                  <a:srgbClr val="003399"/>
                </a:solidFill>
              </a:rPr>
              <a:t>Conclusion &amp; Project Summary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3252" y="2112502"/>
            <a:ext cx="15731080" cy="389850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840"/>
              </a:lnSpc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Core Innovation: </a:t>
            </a:r>
            <a:r>
              <a:rPr b="0" sz="1200">
                <a:solidFill>
                  <a:srgbClr val="232323"/>
                </a:solidFill>
              </a:rPr>
              <a:t>TemporalAML integrates Learnable Fourier Time Encoding directly inside Graph Attention, capturing continuous transaction velocity and burst dynamics in cryptocurrency networks.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Multi-Pattern Breakthrough: </a:t>
            </a:r>
            <a:r>
              <a:rPr b="0" sz="1200">
                <a:solidFill>
                  <a:srgbClr val="232323"/>
                </a:solidFill>
              </a:rPr>
              <a:t>Transitions from non-actionable binary (illicit/licit) classification to unified multi-task detection of Circular Transfers, Layering Chains, and Smurfing from shared 128D embeddings.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Empirical Validation: </a:t>
            </a:r>
            <a:r>
              <a:rPr b="0" sz="1200">
                <a:solidFill>
                  <a:srgbClr val="232323"/>
                </a:solidFill>
              </a:rPr>
              <a:t>Demonstrates strong performance across all three patterns (Circular F1=0.88, Layering F1=0.91, Smurfing F1=0.94) on 203,769 real-world Bitcoin transactions.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Explainable Compliance: </a:t>
            </a:r>
            <a:r>
              <a:rPr b="0" sz="1200">
                <a:solidFill>
                  <a:srgbClr val="232323"/>
                </a:solidFill>
              </a:rPr>
              <a:t>GNNExplainer integration produces time-ordered subgraph evidence dossiers ready for regulatory Suspicious Activity Report (SAR) filing.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200">
                <a:solidFill>
                  <a:srgbClr val="003366"/>
                </a:solidFill>
              </a:rPr>
              <a:t>Operational Readiness: </a:t>
            </a:r>
            <a:r>
              <a:rPr b="0" sz="1200">
                <a:solidFill>
                  <a:srgbClr val="232323"/>
                </a:solidFill>
              </a:rPr>
              <a:t>Backed by a fully functional FastAPI backend (Port 8000) and an interactive dark-mode dashboard with a Real-Time Node Inspector for compliance officers.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515756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21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References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922" y="2036883"/>
            <a:ext cx="16204968" cy="743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M. Weber, G. Domeniconi, J. Chen, D. K. I. Weidele, C. Bellei, T. Robinson, and C. E. Leiserson, "Anti-Money Laundering in Bitcoin: Experimenting with Graph Convolutional Networks for Financial Forensics," in Proc. KDD 2019 Workshop on Anomaly Detection in Finance, 2019.</a:t>
            </a:r>
          </a:p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I. Alarab and S. Prakoonwit, "Graph-based LSTM for Anti-Money Laundering: Experimenting Temporal Graph Convolutional Network with Bitcoin Data," Neural Processing Letters, Springer, 2023.</a:t>
            </a:r>
          </a:p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Z. Lin, Q. Luo, D. Wu, J. Shen, L. Li, X. Nong, and Z. Qin, "Detecting Illicit Transactions in Bitcoin: A Wavelet-Temporal Graph Transformer Approach for Anti-Money Laundering," Scientific Reports, Nature, 2026.</a:t>
            </a:r>
          </a:p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O. Lawal, A. Okolie, and C. Obunadike, "An Explainable Graph Neural Network Framework for Anti-Money Laundering in Cryptocurrency Transactions using the Elliptic Dataset," International Journal of Network Security, 2025.</a:t>
            </a:r>
          </a:p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Y. Nie, N. H. Nguyen, P. Sinthong, and J. Kalagnanam, "A Time Series Is Worth 64 Words: Long-Term Forecasting with Transformers," in Proc. International Conference on Learning Representations (ICLR), 2023, doi: 10.48550/arXiv.2211.14730.</a:t>
            </a:r>
          </a:p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S. Ferretti, G. D'Angelo, and V. Ghini, "Enhancing Anti-Money Laundering Frameworks: An Application of Graph Neural Networks in Cryptocurrency Transaction Classification," IEEE Access, 2025.</a:t>
            </a:r>
          </a:p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Y. He, L. Xing, Y. Chen, W. Pedrycz, L. Wang, and G. Wu, "A Generic Markov Decision Process Model and Reinforcement Learning Method for Scheduling Agile Earth Observation Satellites," IEEE Transactions on Systems, Man, and Cybernetics: Systems, vol. 52, no. 3, pp. 1463-1474, Mar. 2022, doi: 10.1109/TSMC.2020.3020732.</a:t>
            </a:r>
          </a:p>
          <a:p>
            <a:pPr algn="just" marL="852968" indent="-170594" lvl="4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B. Peng et al., "FACMAC: Factored Multi-Agent Centralised Policy Gradients," in Advances in Neural Information Processing Systems, vol. 34, pp. 12208-12221, 2021, doi: 10.48550/arXiv.2003.06709.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03" y="897655"/>
            <a:ext cx="1515756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b="true" sz="4800" spc="-21">
                <a:solidFill>
                  <a:srgbClr val="000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137" y="1972923"/>
            <a:ext cx="16204968" cy="514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781" indent="-175260" lvl="2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R. Ying, D. Bourgeois, J. You, M. Zitnik, and J. Leskovec, "GNNExplainer: Generating Explanations for Graph Neural Networks," Advances in Neural Information Processing Systems (NeurIPS), 2019.</a:t>
            </a:r>
          </a:p>
          <a:p>
            <a:pPr algn="just" marL="525781" indent="-175260" lvl="2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[X. Wang, G. Wu, L. Xing, and W. Pedrycz, "Agile Earth Observation Satellite Scheduling Over 20 Years: Formulations, Methods, and Future Directions," IEEE Systems Journal, vol. 15, no. 3, pp. 3881-3892, Sep. 2021, doi: 10.1109/JSYST.2020.2997050.</a:t>
            </a:r>
          </a:p>
          <a:p>
            <a:pPr algn="just" marL="525781" indent="-175260" lvl="2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P. Veličković, G. Cucurull, A. Casanova, A. Romero, P. Liò, and Y. Bengio, "Graph Attention Networks," International Conference on Learning Representations (ICLR), 2018.</a:t>
            </a:r>
          </a:p>
          <a:p>
            <a:pPr algn="just" marL="525781" indent="-175260" lvl="2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E. Rossi, B. Chamberlain, F. Frasca, D. Eynard, F. Monti, and M. Bronstein, "Temporal Graph Networks for Deep Learning on Dynamic Graphs," ICML 2020 Workshop on Graph Representation Learning.</a:t>
            </a:r>
          </a:p>
          <a:p>
            <a:pPr algn="just" marL="525781" indent="-175260" lvl="2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M. R. Karim, F. Hermsen, S. A. Chala, and P. De Perthuis, "Scalable Semi-Supervised Graph Learning Techniques for Anti-Money Laundering," IEEE, 2024.</a:t>
            </a:r>
          </a:p>
          <a:p>
            <a:pPr algn="just" marL="525781" indent="-175260" lvl="2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T. Rashid et al., "QMIX: Monotonic Value Function Factorisation for Deep Multi-Agent Reinforcement Learning," in Proc. 35th International Conference on Machine Learning (ICML), vol. 80, pp. 4295-4304, 2018, doi: 10.48550/arXiv.1803.11485.</a:t>
            </a:r>
          </a:p>
          <a:p>
            <a:pPr algn="just" marL="525781" indent="-175260" lvl="2">
              <a:lnSpc>
                <a:spcPts val="2760"/>
              </a:lnSpc>
              <a:buAutoNum type="arabicPeriod" startAt="1"/>
            </a:pPr>
            <a:r>
              <a:rPr lang="en-US" sz="2300" spc="-1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J. N. Foerster, G. Farquhar, T. Afouras, N. Nardelli, and S. Whiteson, "Counterfactual Multi-Agent Policy Gradients," in Proc. 32nd AAAI Conference on Artificial Intelligence (AAAI), pp. 2974-2982, 2018, doi: 10.1609/aaai.v32i1.11794.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212" y="-37814"/>
            <a:ext cx="18334434" cy="439245"/>
            <a:chOff x="0" y="0"/>
            <a:chExt cx="24445912" cy="585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3212" y="9900114"/>
            <a:ext cx="18334434" cy="439245"/>
            <a:chOff x="0" y="0"/>
            <a:chExt cx="24445912" cy="585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45976" cy="585724"/>
            </a:xfrm>
            <a:custGeom>
              <a:avLst/>
              <a:gdLst/>
              <a:ahLst/>
              <a:cxnLst/>
              <a:rect r="r" b="b" t="t" l="l"/>
              <a:pathLst>
                <a:path h="585724" w="24445976">
                  <a:moveTo>
                    <a:pt x="0" y="0"/>
                  </a:moveTo>
                  <a:lnTo>
                    <a:pt x="24445976" y="0"/>
                  </a:lnTo>
                  <a:lnTo>
                    <a:pt x="2444597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0C5394"/>
            </a:solidFill>
            <a:ln w="14288" cap="sq">
              <a:solidFill>
                <a:srgbClr val="0C539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83" y="9568444"/>
            <a:ext cx="18313003" cy="555165"/>
          </a:xfrm>
          <a:custGeom>
            <a:avLst/>
            <a:gdLst/>
            <a:ahLst/>
            <a:cxnLst/>
            <a:rect r="r" b="b" t="t" l="l"/>
            <a:pathLst>
              <a:path h="555165" w="18313003">
                <a:moveTo>
                  <a:pt x="0" y="0"/>
                </a:moveTo>
                <a:lnTo>
                  <a:pt x="18313004" y="0"/>
                </a:lnTo>
                <a:lnTo>
                  <a:pt x="18313004" y="555164"/>
                </a:lnTo>
                <a:lnTo>
                  <a:pt x="0" y="5551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03" r="0" b="-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-462600">
            <a:off x="13326703" y="9610416"/>
            <a:ext cx="2554043" cy="50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</a:p>
        </p:txBody>
      </p:sp>
      <p:sp>
        <p:nvSpPr>
          <p:cNvPr name="TextBox 8" id="8"/>
          <p:cNvSpPr txBox="true"/>
          <p:nvPr/>
        </p:nvSpPr>
        <p:spPr>
          <a:xfrm rot="1440">
            <a:off x="9193218" y="9725958"/>
            <a:ext cx="4176751" cy="45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10374" y="3204601"/>
            <a:ext cx="5977033" cy="5953316"/>
            <a:chOff x="0" y="0"/>
            <a:chExt cx="7969377" cy="7937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9377" cy="7937754"/>
            </a:xfrm>
            <a:custGeom>
              <a:avLst/>
              <a:gdLst/>
              <a:ahLst/>
              <a:cxnLst/>
              <a:rect r="r" b="b" t="t" l="l"/>
              <a:pathLst>
                <a:path h="7937754" w="7969377">
                  <a:moveTo>
                    <a:pt x="0" y="0"/>
                  </a:moveTo>
                  <a:lnTo>
                    <a:pt x="7969377" y="0"/>
                  </a:lnTo>
                  <a:lnTo>
                    <a:pt x="7969377" y="7937754"/>
                  </a:lnTo>
                  <a:lnTo>
                    <a:pt x="0" y="793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5379" y="3272085"/>
            <a:ext cx="16797252" cy="216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 spc="-65">
                <a:solidFill>
                  <a:srgbClr val="CC0000"/>
                </a:solidFill>
                <a:latin typeface="TT Ramillas"/>
                <a:ea typeface="TT Ramillas"/>
                <a:cs typeface="TT Ramillas"/>
                <a:sym typeface="TT Ramillas"/>
              </a:rPr>
              <a:t>Thank You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830599" y="9612544"/>
            <a:ext cx="1097566" cy="602075"/>
            <a:chOff x="0" y="0"/>
            <a:chExt cx="1463421" cy="802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421" cy="802767"/>
            </a:xfrm>
            <a:custGeom>
              <a:avLst/>
              <a:gdLst/>
              <a:ahLst/>
              <a:cxnLst/>
              <a:rect r="r" b="b" t="t" l="l"/>
              <a:pathLst>
                <a:path h="8027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02767"/>
                  </a:lnTo>
                  <a:lnTo>
                    <a:pt x="0" y="8027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430" t="0" r="-204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830599" y="9598257"/>
            <a:ext cx="1097566" cy="616363"/>
            <a:chOff x="0" y="0"/>
            <a:chExt cx="1463421" cy="8218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421" cy="821817"/>
            </a:xfrm>
            <a:custGeom>
              <a:avLst/>
              <a:gdLst/>
              <a:ahLst/>
              <a:cxnLst/>
              <a:rect r="r" b="b" t="t" l="l"/>
              <a:pathLst>
                <a:path h="82181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21817"/>
                  </a:lnTo>
                  <a:lnTo>
                    <a:pt x="0" y="8218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2101" t="0" r="-2210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830599" y="9583969"/>
            <a:ext cx="1097547" cy="630679"/>
            <a:chOff x="0" y="0"/>
            <a:chExt cx="1463396" cy="8409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421" cy="840867"/>
            </a:xfrm>
            <a:custGeom>
              <a:avLst/>
              <a:gdLst/>
              <a:ahLst/>
              <a:cxnLst/>
              <a:rect r="r" b="b" t="t" l="l"/>
              <a:pathLst>
                <a:path h="840867" w="1463421">
                  <a:moveTo>
                    <a:pt x="0" y="0"/>
                  </a:moveTo>
                  <a:lnTo>
                    <a:pt x="1463421" y="0"/>
                  </a:lnTo>
                  <a:lnTo>
                    <a:pt x="1463421" y="840867"/>
                  </a:lnTo>
                  <a:lnTo>
                    <a:pt x="0" y="8408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777" t="0" r="-23775" b="-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830599" y="9569682"/>
            <a:ext cx="1097547" cy="644966"/>
            <a:chOff x="0" y="0"/>
            <a:chExt cx="1463396" cy="8599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396" cy="859955"/>
            </a:xfrm>
            <a:custGeom>
              <a:avLst/>
              <a:gdLst/>
              <a:ahLst/>
              <a:cxnLst/>
              <a:rect r="r" b="b" t="t" l="l"/>
              <a:pathLst>
                <a:path h="859955" w="1463396">
                  <a:moveTo>
                    <a:pt x="0" y="0"/>
                  </a:moveTo>
                  <a:lnTo>
                    <a:pt x="1463396" y="0"/>
                  </a:lnTo>
                  <a:lnTo>
                    <a:pt x="1463396" y="859955"/>
                  </a:lnTo>
                  <a:lnTo>
                    <a:pt x="0" y="8599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5396" t="0" r="-2539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463396" cy="879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DAHS6GS8eks</dc:identifier>
  <dcterms:modified xsi:type="dcterms:W3CDTF">2011-08-01T06:04:30Z</dcterms:modified>
  <cp:revision>1</cp:revision>
  <dc:title>TemporalAML_review_1(AnshuKumari).pptx</dc:title>
</cp:coreProperties>
</file>