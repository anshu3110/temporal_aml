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Yellowtail" charset="1" panose="02000503000000000000"/>
      <p:regular r:id="rId38"/>
    </p:embeddedFont>
    <p:embeddedFont>
      <p:font typeface="Archivo Narrow" charset="1" panose="020B0506020202020B04"/>
      <p:regular r:id="rId39"/>
    </p:embeddedFont>
    <p:embeddedFont>
      <p:font typeface="Archivo Narrow Bold" charset="1" panose="020B0806020202020B04"/>
      <p:regular r:id="rId40"/>
    </p:embeddedFont>
    <p:embeddedFont>
      <p:font typeface="TT Ramillas Bold" charset="1" panose="020E0000080000020004"/>
      <p:regular r:id="rId41"/>
    </p:embeddedFont>
    <p:embeddedFont>
      <p:font typeface="TT Ramillas" charset="1" panose="020E0000080000020004"/>
      <p:regular r:id="rId42"/>
    </p:embeddedFont>
    <p:embeddedFont>
      <p:font typeface="IBM Plex Sans Bold" charset="1" panose="020B0803050203000203"/>
      <p:regular r:id="rId44"/>
    </p:embeddedFont>
    <p:embeddedFont>
      <p:font typeface="Arial" charset="1" panose="020B0604020202020204"/>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notesMasters/notesMaster1.xml" Type="http://schemas.openxmlformats.org/officeDocument/2006/relationships/notesMaster"/><Relationship Id="rId36" Target="theme/theme2.xml" Type="http://schemas.openxmlformats.org/officeDocument/2006/relationships/theme"/><Relationship Id="rId37" Target="notesSlides/notesSlide1.xml" Type="http://schemas.openxmlformats.org/officeDocument/2006/relationships/note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notesSlides/notesSlide2.xml" Type="http://schemas.openxmlformats.org/officeDocument/2006/relationships/notesSlide"/><Relationship Id="rId44" Target="fonts/font44.fntdata" Type="http://schemas.openxmlformats.org/officeDocument/2006/relationships/font"/><Relationship Id="rId45" Target="fonts/font45.fntdata" Type="http://schemas.openxmlformats.org/officeDocument/2006/relationships/font"/><Relationship Id="rId46" Target="notesSlides/notesSlide3.xml" Type="http://schemas.openxmlformats.org/officeDocument/2006/relationships/notesSlide"/><Relationship Id="rId47" Target="notesSlides/notesSlide4.xml" Type="http://schemas.openxmlformats.org/officeDocument/2006/relationships/notesSlide"/><Relationship Id="rId48" Target="notesSlides/notesSlide5.xml" Type="http://schemas.openxmlformats.org/officeDocument/2006/relationships/notesSlide"/><Relationship Id="rId49" Target="notesSlides/notesSlide6.xml" Type="http://schemas.openxmlformats.org/officeDocument/2006/relationships/notesSlide"/><Relationship Id="rId5" Target="tableStyles.xml" Type="http://schemas.openxmlformats.org/officeDocument/2006/relationships/tableStyles"/><Relationship Id="rId50" Target="notesSlides/notesSlide7.xml" Type="http://schemas.openxmlformats.org/officeDocument/2006/relationships/notesSlide"/><Relationship Id="rId51" Target="notesSlides/notesSlide8.xml" Type="http://schemas.openxmlformats.org/officeDocument/2006/relationships/notesSlide"/><Relationship Id="rId52" Target="notesSlides/notesSlide9.xml" Type="http://schemas.openxmlformats.org/officeDocument/2006/relationships/notesSlide"/><Relationship Id="rId53" Target="notesSlides/notesSlide10.xml" Type="http://schemas.openxmlformats.org/officeDocument/2006/relationships/notesSlide"/><Relationship Id="rId54" Target="notesSlides/notesSlide11.xml" Type="http://schemas.openxmlformats.org/officeDocument/2006/relationships/notesSlide"/><Relationship Id="rId55" Target="notesSlides/notesSlide12.xml" Type="http://schemas.openxmlformats.org/officeDocument/2006/relationships/notesSlide"/><Relationship Id="rId56" Target="notesSlides/notesSlide13.xml" Type="http://schemas.openxmlformats.org/officeDocument/2006/relationships/notesSlide"/><Relationship Id="rId57" Target="notesSlides/notesSlide14.xml" Type="http://schemas.openxmlformats.org/officeDocument/2006/relationships/notesSlide"/><Relationship Id="rId58" Target="notesSlides/notesSlide15.xml" Type="http://schemas.openxmlformats.org/officeDocument/2006/relationships/notesSlide"/><Relationship Id="rId59" Target="notesSlides/notesSlide16.xml" Type="http://schemas.openxmlformats.org/officeDocument/2006/relationships/notesSlide"/><Relationship Id="rId6" Target="slides/slide1.xml" Type="http://schemas.openxmlformats.org/officeDocument/2006/relationships/slide"/><Relationship Id="rId60" Target="notesSlides/notesSlide17.xml" Type="http://schemas.openxmlformats.org/officeDocument/2006/relationships/notesSlide"/><Relationship Id="rId61" Target="notesSlides/notesSlide18.xml" Type="http://schemas.openxmlformats.org/officeDocument/2006/relationships/notesSlide"/><Relationship Id="rId62" Target="notesSlides/notesSlide19.xml" Type="http://schemas.openxmlformats.org/officeDocument/2006/relationships/notesSlide"/><Relationship Id="rId63" Target="notesSlides/notesSlide20.xml" Type="http://schemas.openxmlformats.org/officeDocument/2006/relationships/notesSlide"/><Relationship Id="rId64" Target="notesSlides/notesSlide21.xml" Type="http://schemas.openxmlformats.org/officeDocument/2006/relationships/notesSlide"/><Relationship Id="rId65" Target="notesSlides/notesSlide22.xml" Type="http://schemas.openxmlformats.org/officeDocument/2006/relationships/notesSlide"/><Relationship Id="rId66" Target="notesSlides/notesSlide23.xml" Type="http://schemas.openxmlformats.org/officeDocument/2006/relationships/notesSlide"/><Relationship Id="rId67" Target="notesSlides/notesSlide24.xml" Type="http://schemas.openxmlformats.org/officeDocument/2006/relationships/notesSlide"/><Relationship Id="rId68" Target="notesSlides/notesSlide25.xml" Type="http://schemas.openxmlformats.org/officeDocument/2006/relationships/notesSlide"/><Relationship Id="rId69" Target="notesSlides/notesSlide26.xml" Type="http://schemas.openxmlformats.org/officeDocument/2006/relationships/notesSlide"/><Relationship Id="rId7" Target="slides/slide2.xml" Type="http://schemas.openxmlformats.org/officeDocument/2006/relationships/slide"/><Relationship Id="rId70" Target="notesSlides/notesSlide27.xml" Type="http://schemas.openxmlformats.org/officeDocument/2006/relationships/note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8</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jpeg" Type="http://schemas.openxmlformats.org/officeDocument/2006/relationships/image"/><Relationship Id="rId12" Target="../media/image10.jpeg" Type="http://schemas.openxmlformats.org/officeDocument/2006/relationships/image"/><Relationship Id="rId13" Target="../media/image11.jpeg" Type="http://schemas.openxmlformats.org/officeDocument/2006/relationships/image"/><Relationship Id="rId14" Target="../media/image12.jpe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9.jpe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 Id="rId9" Target="../media/image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 Id="rId9" Target="../media/image9.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 Id="rId9" Target="../media/image9.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 Id="rId7" Target="../media/image12.jpeg" Type="http://schemas.openxmlformats.org/officeDocument/2006/relationships/image"/><Relationship Id="rId8" Target="../media/image9.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9.jpe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2" Target="../notesSlides/notesSlide14.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jpeg" Type="http://schemas.openxmlformats.org/officeDocument/2006/relationships/image"/><Relationship Id="rId2" Target="../notesSlides/notesSlide15.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jpeg" Type="http://schemas.openxmlformats.org/officeDocument/2006/relationships/image"/><Relationship Id="rId2" Target="../notesSlides/notesSlide16.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jpeg" Type="http://schemas.openxmlformats.org/officeDocument/2006/relationships/image"/><Relationship Id="rId2" Target="../notesSlides/notesSlide17.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9.jpe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9.jpe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9.jpe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9.jpe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grpSp>
        <p:nvGrpSpPr>
          <p:cNvPr name="Group 11" id="11"/>
          <p:cNvGrpSpPr/>
          <p:nvPr/>
        </p:nvGrpSpPr>
        <p:grpSpPr>
          <a:xfrm rot="0">
            <a:off x="-37405" y="-68732"/>
            <a:ext cx="18360057" cy="1152096"/>
            <a:chOff x="0" y="0"/>
            <a:chExt cx="24480076" cy="1536128"/>
          </a:xfrm>
        </p:grpSpPr>
        <p:sp>
          <p:nvSpPr>
            <p:cNvPr name="Freeform 12" id="12"/>
            <p:cNvSpPr/>
            <p:nvPr/>
          </p:nvSpPr>
          <p:spPr>
            <a:xfrm flipH="false" flipV="false" rot="0">
              <a:off x="0" y="0"/>
              <a:ext cx="24480013" cy="1536192"/>
            </a:xfrm>
            <a:custGeom>
              <a:avLst/>
              <a:gdLst/>
              <a:ahLst/>
              <a:cxnLst/>
              <a:rect r="r" b="b" t="t" l="l"/>
              <a:pathLst>
                <a:path h="1536192" w="24480013">
                  <a:moveTo>
                    <a:pt x="0" y="0"/>
                  </a:moveTo>
                  <a:lnTo>
                    <a:pt x="24480013" y="0"/>
                  </a:lnTo>
                  <a:lnTo>
                    <a:pt x="24480013" y="1536192"/>
                  </a:lnTo>
                  <a:lnTo>
                    <a:pt x="0" y="1536192"/>
                  </a:lnTo>
                  <a:close/>
                </a:path>
              </a:pathLst>
            </a:custGeom>
            <a:solidFill>
              <a:srgbClr val="0C5394"/>
            </a:solidFill>
            <a:ln w="14288" cap="sq">
              <a:solidFill>
                <a:srgbClr val="0C5394"/>
              </a:solidFill>
              <a:prstDash val="solid"/>
              <a:miter/>
            </a:ln>
          </p:spPr>
        </p:sp>
      </p:grpSp>
      <p:sp>
        <p:nvSpPr>
          <p:cNvPr name="Freeform 13" id="13"/>
          <p:cNvSpPr/>
          <p:nvPr/>
        </p:nvSpPr>
        <p:spPr>
          <a:xfrm flipH="false" flipV="false" rot="0">
            <a:off x="-26499" y="218608"/>
            <a:ext cx="18349960" cy="1948767"/>
          </a:xfrm>
          <a:custGeom>
            <a:avLst/>
            <a:gdLst/>
            <a:ahLst/>
            <a:cxnLst/>
            <a:rect r="r" b="b" t="t" l="l"/>
            <a:pathLst>
              <a:path h="1948767" w="18349960">
                <a:moveTo>
                  <a:pt x="0" y="0"/>
                </a:moveTo>
                <a:lnTo>
                  <a:pt x="18349961" y="0"/>
                </a:lnTo>
                <a:lnTo>
                  <a:pt x="18349961" y="1948768"/>
                </a:lnTo>
                <a:lnTo>
                  <a:pt x="0" y="1948768"/>
                </a:lnTo>
                <a:lnTo>
                  <a:pt x="0" y="0"/>
                </a:lnTo>
                <a:close/>
              </a:path>
            </a:pathLst>
          </a:custGeom>
          <a:blipFill>
            <a:blip r:embed="rId6">
              <a:extLst>
                <a:ext uri="{96DAC541-7B7A-43D3-8B79-37D633B846F1}">
                  <asvg:svgBlip xmlns:asvg="http://schemas.microsoft.com/office/drawing/2016/SVG/main" r:embed="rId7"/>
                </a:ext>
              </a:extLst>
            </a:blip>
            <a:stretch>
              <a:fillRect l="0" t="-86" r="0" b="-86"/>
            </a:stretch>
          </a:blipFill>
        </p:spPr>
      </p:sp>
      <p:grpSp>
        <p:nvGrpSpPr>
          <p:cNvPr name="Group 14" id="14"/>
          <p:cNvGrpSpPr/>
          <p:nvPr/>
        </p:nvGrpSpPr>
        <p:grpSpPr>
          <a:xfrm rot="0">
            <a:off x="16145323" y="-45530"/>
            <a:ext cx="1303210" cy="2200466"/>
            <a:chOff x="0" y="0"/>
            <a:chExt cx="1737614" cy="2933954"/>
          </a:xfrm>
        </p:grpSpPr>
        <p:sp>
          <p:nvSpPr>
            <p:cNvPr name="Freeform 15" id="15"/>
            <p:cNvSpPr/>
            <p:nvPr/>
          </p:nvSpPr>
          <p:spPr>
            <a:xfrm flipH="false" flipV="false" rot="0">
              <a:off x="0" y="0"/>
              <a:ext cx="1737614" cy="2933954"/>
            </a:xfrm>
            <a:custGeom>
              <a:avLst/>
              <a:gdLst/>
              <a:ahLst/>
              <a:cxnLst/>
              <a:rect r="r" b="b" t="t" l="l"/>
              <a:pathLst>
                <a:path h="2933954" w="1737614">
                  <a:moveTo>
                    <a:pt x="0" y="2933954"/>
                  </a:moveTo>
                  <a:lnTo>
                    <a:pt x="1005332" y="0"/>
                  </a:lnTo>
                  <a:lnTo>
                    <a:pt x="1737614" y="0"/>
                  </a:lnTo>
                  <a:lnTo>
                    <a:pt x="732282" y="2933954"/>
                  </a:lnTo>
                  <a:close/>
                </a:path>
              </a:pathLst>
            </a:custGeom>
            <a:solidFill>
              <a:srgbClr val="D2AE6C"/>
            </a:solidFill>
          </p:spPr>
        </p:sp>
      </p:grpSp>
      <p:grpSp>
        <p:nvGrpSpPr>
          <p:cNvPr name="Group 16" id="16"/>
          <p:cNvGrpSpPr/>
          <p:nvPr/>
        </p:nvGrpSpPr>
        <p:grpSpPr>
          <a:xfrm rot="0">
            <a:off x="11570999" y="-45530"/>
            <a:ext cx="5762720" cy="2233327"/>
            <a:chOff x="0" y="0"/>
            <a:chExt cx="7683627" cy="2977769"/>
          </a:xfrm>
        </p:grpSpPr>
        <p:sp>
          <p:nvSpPr>
            <p:cNvPr name="Freeform 17" id="17"/>
            <p:cNvSpPr/>
            <p:nvPr/>
          </p:nvSpPr>
          <p:spPr>
            <a:xfrm flipH="false" flipV="false" rot="0">
              <a:off x="0" y="0"/>
              <a:ext cx="7683627" cy="2977769"/>
            </a:xfrm>
            <a:custGeom>
              <a:avLst/>
              <a:gdLst/>
              <a:ahLst/>
              <a:cxnLst/>
              <a:rect r="r" b="b" t="t" l="l"/>
              <a:pathLst>
                <a:path h="2977769" w="7683627">
                  <a:moveTo>
                    <a:pt x="0" y="2977769"/>
                  </a:moveTo>
                  <a:lnTo>
                    <a:pt x="1010158" y="0"/>
                  </a:lnTo>
                  <a:lnTo>
                    <a:pt x="7683627" y="0"/>
                  </a:lnTo>
                  <a:lnTo>
                    <a:pt x="6673342" y="2977769"/>
                  </a:lnTo>
                  <a:close/>
                </a:path>
              </a:pathLst>
            </a:custGeom>
            <a:solidFill>
              <a:srgbClr val="FFFFFF"/>
            </a:solidFill>
          </p:spPr>
        </p:sp>
      </p:grpSp>
      <p:grpSp>
        <p:nvGrpSpPr>
          <p:cNvPr name="Group 18" id="18"/>
          <p:cNvGrpSpPr/>
          <p:nvPr/>
        </p:nvGrpSpPr>
        <p:grpSpPr>
          <a:xfrm rot="0">
            <a:off x="-37224" y="9883569"/>
            <a:ext cx="18371296" cy="436197"/>
            <a:chOff x="0" y="0"/>
            <a:chExt cx="24495062" cy="581596"/>
          </a:xfrm>
        </p:grpSpPr>
        <p:sp>
          <p:nvSpPr>
            <p:cNvPr name="Freeform 19" id="19"/>
            <p:cNvSpPr/>
            <p:nvPr/>
          </p:nvSpPr>
          <p:spPr>
            <a:xfrm flipH="false" flipV="false" rot="0">
              <a:off x="0" y="0"/>
              <a:ext cx="24495125" cy="581533"/>
            </a:xfrm>
            <a:custGeom>
              <a:avLst/>
              <a:gdLst/>
              <a:ahLst/>
              <a:cxnLst/>
              <a:rect r="r" b="b" t="t" l="l"/>
              <a:pathLst>
                <a:path h="581533" w="24495125">
                  <a:moveTo>
                    <a:pt x="0" y="0"/>
                  </a:moveTo>
                  <a:lnTo>
                    <a:pt x="24495125" y="0"/>
                  </a:lnTo>
                  <a:lnTo>
                    <a:pt x="24495125" y="581533"/>
                  </a:lnTo>
                  <a:lnTo>
                    <a:pt x="0" y="581533"/>
                  </a:lnTo>
                  <a:close/>
                </a:path>
              </a:pathLst>
            </a:custGeom>
            <a:solidFill>
              <a:srgbClr val="0C5394"/>
            </a:solidFill>
            <a:ln w="14288" cap="sq">
              <a:solidFill>
                <a:srgbClr val="0C5394"/>
              </a:solidFill>
              <a:prstDash val="solid"/>
              <a:miter/>
            </a:ln>
          </p:spPr>
        </p:sp>
      </p:grpSp>
      <p:sp>
        <p:nvSpPr>
          <p:cNvPr name="Freeform 20" id="20"/>
          <p:cNvSpPr/>
          <p:nvPr/>
        </p:nvSpPr>
        <p:spPr>
          <a:xfrm flipH="false" flipV="false" rot="0">
            <a:off x="-26499" y="8836857"/>
            <a:ext cx="18349960" cy="1130760"/>
          </a:xfrm>
          <a:custGeom>
            <a:avLst/>
            <a:gdLst/>
            <a:ahLst/>
            <a:cxnLst/>
            <a:rect r="r" b="b" t="t" l="l"/>
            <a:pathLst>
              <a:path h="1130760" w="18349960">
                <a:moveTo>
                  <a:pt x="0" y="0"/>
                </a:moveTo>
                <a:lnTo>
                  <a:pt x="18349961" y="0"/>
                </a:lnTo>
                <a:lnTo>
                  <a:pt x="18349961" y="1130760"/>
                </a:lnTo>
                <a:lnTo>
                  <a:pt x="0" y="1130760"/>
                </a:lnTo>
                <a:lnTo>
                  <a:pt x="0" y="0"/>
                </a:lnTo>
                <a:close/>
              </a:path>
            </a:pathLst>
          </a:custGeom>
          <a:blipFill>
            <a:blip r:embed="rId8">
              <a:extLst>
                <a:ext uri="{96DAC541-7B7A-43D3-8B79-37D633B846F1}">
                  <asvg:svgBlip xmlns:asvg="http://schemas.microsoft.com/office/drawing/2016/SVG/main" r:embed="rId9"/>
                </a:ext>
              </a:extLst>
            </a:blip>
            <a:stretch>
              <a:fillRect l="0" t="-106" r="0" b="-106"/>
            </a:stretch>
          </a:blipFill>
        </p:spPr>
      </p:sp>
      <p:sp>
        <p:nvSpPr>
          <p:cNvPr name="TextBox 21" id="21"/>
          <p:cNvSpPr txBox="true"/>
          <p:nvPr/>
        </p:nvSpPr>
        <p:spPr>
          <a:xfrm rot="0">
            <a:off x="662921" y="8864584"/>
            <a:ext cx="5532149" cy="1347749"/>
          </a:xfrm>
          <a:prstGeom prst="rect">
            <a:avLst/>
          </a:prstGeom>
        </p:spPr>
        <p:txBody>
          <a:bodyPr anchor="t" rtlCol="false" tIns="0" lIns="0" bIns="0" rIns="0">
            <a:spAutoFit/>
          </a:bodyPr>
          <a:lstStyle/>
          <a:p>
            <a:pPr algn="ctr">
              <a:lnSpc>
                <a:spcPts val="2700"/>
              </a:lnSpc>
            </a:pPr>
            <a:r>
              <a:rPr lang="en-US" sz="2250" b="true">
                <a:solidFill>
                  <a:srgbClr val="D2AE6C"/>
                </a:solidFill>
                <a:latin typeface="Archivo Narrow Bold"/>
                <a:ea typeface="Archivo Narrow Bold"/>
                <a:cs typeface="Archivo Narrow Bold"/>
                <a:sym typeface="Archivo Narrow Bold"/>
              </a:rPr>
              <a:t>Mission</a:t>
            </a:r>
          </a:p>
          <a:p>
            <a:pPr algn="ctr">
              <a:lnSpc>
                <a:spcPts val="2160"/>
              </a:lnSpc>
            </a:pPr>
            <a:r>
              <a:rPr lang="en-US" sz="1800">
                <a:solidFill>
                  <a:srgbClr val="FFFFFF"/>
                </a:solidFill>
                <a:latin typeface="Archivo Narrow"/>
                <a:ea typeface="Archivo Narrow"/>
                <a:cs typeface="Archivo Narrow"/>
                <a:sym typeface="Archivo Narrow"/>
              </a:rPr>
              <a:t>Christ University is a nurturing ground for an individual’s holistic development to make effective contribution</a:t>
            </a:r>
          </a:p>
          <a:p>
            <a:pPr algn="ctr">
              <a:lnSpc>
                <a:spcPts val="2160"/>
              </a:lnSpc>
            </a:pPr>
            <a:r>
              <a:rPr lang="en-US" sz="1800">
                <a:solidFill>
                  <a:srgbClr val="FFFFFF"/>
                </a:solidFill>
                <a:latin typeface="Archivo Narrow"/>
                <a:ea typeface="Archivo Narrow"/>
                <a:cs typeface="Archivo Narrow"/>
                <a:sym typeface="Archivo Narrow"/>
              </a:rPr>
              <a:t>to the society in a dynamic environment</a:t>
            </a:r>
          </a:p>
        </p:txBody>
      </p:sp>
      <p:sp>
        <p:nvSpPr>
          <p:cNvPr name="TextBox 22" id="22"/>
          <p:cNvSpPr txBox="true"/>
          <p:nvPr/>
        </p:nvSpPr>
        <p:spPr>
          <a:xfrm rot="0">
            <a:off x="6377921" y="8864584"/>
            <a:ext cx="5532149" cy="793804"/>
          </a:xfrm>
          <a:prstGeom prst="rect">
            <a:avLst/>
          </a:prstGeom>
        </p:spPr>
        <p:txBody>
          <a:bodyPr anchor="t" rtlCol="false" tIns="0" lIns="0" bIns="0" rIns="0">
            <a:spAutoFit/>
          </a:bodyPr>
          <a:lstStyle/>
          <a:p>
            <a:pPr algn="ctr">
              <a:lnSpc>
                <a:spcPts val="2700"/>
              </a:lnSpc>
            </a:pPr>
            <a:r>
              <a:rPr lang="en-US" sz="2250" b="true">
                <a:solidFill>
                  <a:srgbClr val="D2AE6C"/>
                </a:solidFill>
                <a:latin typeface="Archivo Narrow Bold"/>
                <a:ea typeface="Archivo Narrow Bold"/>
                <a:cs typeface="Archivo Narrow Bold"/>
                <a:sym typeface="Archivo Narrow Bold"/>
              </a:rPr>
              <a:t>Vision</a:t>
            </a:r>
          </a:p>
          <a:p>
            <a:pPr algn="ctr">
              <a:lnSpc>
                <a:spcPts val="2160"/>
              </a:lnSpc>
            </a:pPr>
            <a:r>
              <a:rPr lang="en-US" sz="1800">
                <a:solidFill>
                  <a:srgbClr val="FFFFFF"/>
                </a:solidFill>
                <a:latin typeface="Archivo Narrow"/>
                <a:ea typeface="Archivo Narrow"/>
                <a:cs typeface="Archivo Narrow"/>
                <a:sym typeface="Archivo Narrow"/>
              </a:rPr>
              <a:t>Excellence and Service</a:t>
            </a:r>
          </a:p>
        </p:txBody>
      </p:sp>
      <p:sp>
        <p:nvSpPr>
          <p:cNvPr name="TextBox 23" id="23"/>
          <p:cNvSpPr txBox="true"/>
          <p:nvPr/>
        </p:nvSpPr>
        <p:spPr>
          <a:xfrm rot="0">
            <a:off x="12950323" y="8864584"/>
            <a:ext cx="4291946" cy="1347749"/>
          </a:xfrm>
          <a:prstGeom prst="rect">
            <a:avLst/>
          </a:prstGeom>
        </p:spPr>
        <p:txBody>
          <a:bodyPr anchor="t" rtlCol="false" tIns="0" lIns="0" bIns="0" rIns="0">
            <a:spAutoFit/>
          </a:bodyPr>
          <a:lstStyle/>
          <a:p>
            <a:pPr algn="ctr">
              <a:lnSpc>
                <a:spcPts val="2700"/>
              </a:lnSpc>
            </a:pPr>
            <a:r>
              <a:rPr lang="en-US" sz="2250" b="true">
                <a:solidFill>
                  <a:srgbClr val="D2AE6C"/>
                </a:solidFill>
                <a:latin typeface="Archivo Narrow Bold"/>
                <a:ea typeface="Archivo Narrow Bold"/>
                <a:cs typeface="Archivo Narrow Bold"/>
                <a:sym typeface="Archivo Narrow Bold"/>
              </a:rPr>
              <a:t>Core Values</a:t>
            </a:r>
          </a:p>
          <a:p>
            <a:pPr algn="ctr">
              <a:lnSpc>
                <a:spcPts val="2160"/>
              </a:lnSpc>
            </a:pPr>
            <a:r>
              <a:rPr lang="en-US" sz="1800">
                <a:solidFill>
                  <a:srgbClr val="FFFFFF"/>
                </a:solidFill>
                <a:latin typeface="Archivo Narrow"/>
                <a:ea typeface="Archivo Narrow"/>
                <a:cs typeface="Archivo Narrow"/>
                <a:sym typeface="Archivo Narrow"/>
              </a:rPr>
              <a:t>Faith in God |  Moral Uprightness</a:t>
            </a:r>
          </a:p>
          <a:p>
            <a:pPr algn="ctr">
              <a:lnSpc>
                <a:spcPts val="2160"/>
              </a:lnSpc>
            </a:pPr>
            <a:r>
              <a:rPr lang="en-US" sz="1800">
                <a:solidFill>
                  <a:srgbClr val="FFFFFF"/>
                </a:solidFill>
                <a:latin typeface="Archivo Narrow"/>
                <a:ea typeface="Archivo Narrow"/>
                <a:cs typeface="Archivo Narrow"/>
                <a:sym typeface="Archivo Narrow"/>
              </a:rPr>
              <a:t> Love of Fellow Beings |  Social Responsibility</a:t>
            </a:r>
          </a:p>
          <a:p>
            <a:pPr algn="ctr">
              <a:lnSpc>
                <a:spcPts val="2160"/>
              </a:lnSpc>
            </a:pPr>
            <a:r>
              <a:rPr lang="en-US" sz="1800">
                <a:solidFill>
                  <a:srgbClr val="FFFFFF"/>
                </a:solidFill>
                <a:latin typeface="Archivo Narrow"/>
                <a:ea typeface="Archivo Narrow"/>
                <a:cs typeface="Archivo Narrow"/>
                <a:sym typeface="Archivo Narrow"/>
              </a:rPr>
              <a:t>Pursuit of Excellence</a:t>
            </a:r>
          </a:p>
        </p:txBody>
      </p:sp>
      <p:grpSp>
        <p:nvGrpSpPr>
          <p:cNvPr name="Group 24" id="24"/>
          <p:cNvGrpSpPr/>
          <p:nvPr/>
        </p:nvGrpSpPr>
        <p:grpSpPr>
          <a:xfrm rot="0">
            <a:off x="11931091" y="494414"/>
            <a:ext cx="4677918" cy="1585341"/>
            <a:chOff x="0" y="0"/>
            <a:chExt cx="6237224" cy="2113788"/>
          </a:xfrm>
        </p:grpSpPr>
        <p:sp>
          <p:nvSpPr>
            <p:cNvPr name="Freeform 25" id="25"/>
            <p:cNvSpPr/>
            <p:nvPr/>
          </p:nvSpPr>
          <p:spPr>
            <a:xfrm flipH="false" flipV="false" rot="0">
              <a:off x="0" y="0"/>
              <a:ext cx="6237224" cy="2113788"/>
            </a:xfrm>
            <a:custGeom>
              <a:avLst/>
              <a:gdLst/>
              <a:ahLst/>
              <a:cxnLst/>
              <a:rect r="r" b="b" t="t" l="l"/>
              <a:pathLst>
                <a:path h="2113788" w="6237224">
                  <a:moveTo>
                    <a:pt x="0" y="0"/>
                  </a:moveTo>
                  <a:lnTo>
                    <a:pt x="6237224" y="0"/>
                  </a:lnTo>
                  <a:lnTo>
                    <a:pt x="6237224" y="2113788"/>
                  </a:lnTo>
                  <a:lnTo>
                    <a:pt x="0" y="2113788"/>
                  </a:lnTo>
                  <a:lnTo>
                    <a:pt x="0" y="0"/>
                  </a:lnTo>
                  <a:close/>
                </a:path>
              </a:pathLst>
            </a:custGeom>
            <a:blipFill>
              <a:blip r:embed="rId10"/>
              <a:stretch>
                <a:fillRect l="0" t="-290" r="0" b="-290"/>
              </a:stretch>
            </a:blipFill>
          </p:spPr>
        </p:sp>
      </p:grpSp>
      <p:sp>
        <p:nvSpPr>
          <p:cNvPr name="TextBox 26" id="26"/>
          <p:cNvSpPr txBox="true"/>
          <p:nvPr/>
        </p:nvSpPr>
        <p:spPr>
          <a:xfrm rot="0">
            <a:off x="1248699" y="3345494"/>
            <a:ext cx="15888853" cy="1276350"/>
          </a:xfrm>
          <a:prstGeom prst="rect">
            <a:avLst/>
          </a:prstGeom>
        </p:spPr>
        <p:txBody>
          <a:bodyPr anchor="t" rtlCol="false" tIns="0" lIns="0" bIns="0" rIns="0">
            <a:spAutoFit/>
          </a:bodyPr>
          <a:lstStyle/>
          <a:p>
            <a:pPr algn="ctr">
              <a:lnSpc>
                <a:spcPts val="5040"/>
              </a:lnSpc>
            </a:pPr>
            <a:r>
              <a:rPr lang="en-US" b="true" sz="4200" spc="-38">
                <a:solidFill>
                  <a:srgbClr val="000000"/>
                </a:solidFill>
                <a:latin typeface="TT Ramillas Bold"/>
                <a:ea typeface="TT Ramillas Bold"/>
                <a:cs typeface="TT Ramillas Bold"/>
                <a:sym typeface="TT Ramillas Bold"/>
              </a:rPr>
              <a:t>Dissertation Phase – 1 (MTDS382) </a:t>
            </a:r>
          </a:p>
          <a:p>
            <a:pPr algn="ctr">
              <a:lnSpc>
                <a:spcPts val="5040"/>
              </a:lnSpc>
            </a:pPr>
            <a:r>
              <a:rPr lang="en-US" b="true" sz="4200" spc="-38">
                <a:solidFill>
                  <a:srgbClr val="000000"/>
                </a:solidFill>
                <a:latin typeface="TT Ramillas Bold"/>
                <a:ea typeface="TT Ramillas Bold"/>
                <a:cs typeface="TT Ramillas Bold"/>
                <a:sym typeface="TT Ramillas Bold"/>
              </a:rPr>
              <a:t>Review - 1</a:t>
            </a:r>
          </a:p>
        </p:txBody>
      </p:sp>
      <p:grpSp>
        <p:nvGrpSpPr>
          <p:cNvPr name="Group 27" id="27"/>
          <p:cNvGrpSpPr/>
          <p:nvPr/>
        </p:nvGrpSpPr>
        <p:grpSpPr>
          <a:xfrm rot="0">
            <a:off x="1028700" y="4921501"/>
            <a:ext cx="16213550" cy="1280160"/>
            <a:chOff x="0" y="0"/>
            <a:chExt cx="21618067" cy="1706880"/>
          </a:xfrm>
        </p:grpSpPr>
        <p:sp>
          <p:nvSpPr>
            <p:cNvPr name="Freeform 28" id="28"/>
            <p:cNvSpPr/>
            <p:nvPr/>
          </p:nvSpPr>
          <p:spPr>
            <a:xfrm flipH="false" flipV="false" rot="0">
              <a:off x="0" y="0"/>
              <a:ext cx="21618067" cy="1706880"/>
            </a:xfrm>
            <a:custGeom>
              <a:avLst/>
              <a:gdLst/>
              <a:ahLst/>
              <a:cxnLst/>
              <a:rect r="r" b="b" t="t" l="l"/>
              <a:pathLst>
                <a:path h="1706880" w="21618067">
                  <a:moveTo>
                    <a:pt x="0" y="0"/>
                  </a:moveTo>
                  <a:lnTo>
                    <a:pt x="21618067" y="0"/>
                  </a:lnTo>
                  <a:lnTo>
                    <a:pt x="21618067" y="1706880"/>
                  </a:lnTo>
                  <a:lnTo>
                    <a:pt x="0" y="1706880"/>
                  </a:lnTo>
                  <a:close/>
                </a:path>
              </a:pathLst>
            </a:custGeom>
            <a:blipFill>
              <a:blip r:embed="rId11">
                <a:alphaModFix amt="0"/>
              </a:blip>
              <a:stretch>
                <a:fillRect l="0" t="-196611" r="0" b="-196610"/>
              </a:stretch>
            </a:blipFill>
          </p:spPr>
        </p:sp>
      </p:grpSp>
      <p:grpSp>
        <p:nvGrpSpPr>
          <p:cNvPr name="Group 29" id="29"/>
          <p:cNvGrpSpPr/>
          <p:nvPr/>
        </p:nvGrpSpPr>
        <p:grpSpPr>
          <a:xfrm rot="0">
            <a:off x="1550108" y="4762500"/>
            <a:ext cx="15137702" cy="1287304"/>
            <a:chOff x="0" y="0"/>
            <a:chExt cx="20183602" cy="1716405"/>
          </a:xfrm>
        </p:grpSpPr>
        <p:sp>
          <p:nvSpPr>
            <p:cNvPr name="Freeform 30" id="30"/>
            <p:cNvSpPr/>
            <p:nvPr/>
          </p:nvSpPr>
          <p:spPr>
            <a:xfrm flipH="false" flipV="false" rot="0">
              <a:off x="0" y="0"/>
              <a:ext cx="20183602" cy="1716405"/>
            </a:xfrm>
            <a:custGeom>
              <a:avLst/>
              <a:gdLst/>
              <a:ahLst/>
              <a:cxnLst/>
              <a:rect r="r" b="b" t="t" l="l"/>
              <a:pathLst>
                <a:path h="1716405" w="20183602">
                  <a:moveTo>
                    <a:pt x="0" y="0"/>
                  </a:moveTo>
                  <a:lnTo>
                    <a:pt x="20183602" y="0"/>
                  </a:lnTo>
                  <a:lnTo>
                    <a:pt x="20183602" y="1716405"/>
                  </a:lnTo>
                  <a:lnTo>
                    <a:pt x="0" y="1716405"/>
                  </a:lnTo>
                  <a:close/>
                </a:path>
              </a:pathLst>
            </a:custGeom>
            <a:blipFill>
              <a:blip r:embed="rId12">
                <a:alphaModFix amt="0"/>
              </a:blip>
              <a:stretch>
                <a:fillRect l="0" t="-178970" r="0" b="-178969"/>
              </a:stretch>
            </a:blipFill>
          </p:spPr>
        </p:sp>
      </p:grpSp>
      <p:grpSp>
        <p:nvGrpSpPr>
          <p:cNvPr name="Group 31" id="31"/>
          <p:cNvGrpSpPr/>
          <p:nvPr/>
        </p:nvGrpSpPr>
        <p:grpSpPr>
          <a:xfrm rot="0">
            <a:off x="1550108" y="4776788"/>
            <a:ext cx="15137692" cy="1273016"/>
            <a:chOff x="0" y="0"/>
            <a:chExt cx="20183589" cy="1697355"/>
          </a:xfrm>
        </p:grpSpPr>
        <p:sp>
          <p:nvSpPr>
            <p:cNvPr name="Freeform 32" id="32"/>
            <p:cNvSpPr/>
            <p:nvPr/>
          </p:nvSpPr>
          <p:spPr>
            <a:xfrm flipH="false" flipV="false" rot="0">
              <a:off x="0" y="0"/>
              <a:ext cx="20183602" cy="1697355"/>
            </a:xfrm>
            <a:custGeom>
              <a:avLst/>
              <a:gdLst/>
              <a:ahLst/>
              <a:cxnLst/>
              <a:rect r="r" b="b" t="t" l="l"/>
              <a:pathLst>
                <a:path h="1697355" w="20183602">
                  <a:moveTo>
                    <a:pt x="0" y="0"/>
                  </a:moveTo>
                  <a:lnTo>
                    <a:pt x="20183602" y="0"/>
                  </a:lnTo>
                  <a:lnTo>
                    <a:pt x="20183602" y="1697355"/>
                  </a:lnTo>
                  <a:lnTo>
                    <a:pt x="0" y="1697355"/>
                  </a:lnTo>
                  <a:close/>
                </a:path>
              </a:pathLst>
            </a:custGeom>
            <a:blipFill>
              <a:blip r:embed="rId13">
                <a:alphaModFix amt="0"/>
              </a:blip>
              <a:stretch>
                <a:fillRect l="0" t="-181539" r="0" b="-181539"/>
              </a:stretch>
            </a:blipFill>
          </p:spPr>
        </p:sp>
      </p:grpSp>
      <p:grpSp>
        <p:nvGrpSpPr>
          <p:cNvPr name="Group 33" id="33"/>
          <p:cNvGrpSpPr/>
          <p:nvPr/>
        </p:nvGrpSpPr>
        <p:grpSpPr>
          <a:xfrm rot="0">
            <a:off x="1550108" y="4791075"/>
            <a:ext cx="15137692" cy="1258729"/>
            <a:chOff x="0" y="0"/>
            <a:chExt cx="20183589" cy="1678305"/>
          </a:xfrm>
        </p:grpSpPr>
        <p:sp>
          <p:nvSpPr>
            <p:cNvPr name="Freeform 34" id="34"/>
            <p:cNvSpPr/>
            <p:nvPr/>
          </p:nvSpPr>
          <p:spPr>
            <a:xfrm flipH="false" flipV="false" rot="0">
              <a:off x="0" y="0"/>
              <a:ext cx="20183590" cy="1678305"/>
            </a:xfrm>
            <a:custGeom>
              <a:avLst/>
              <a:gdLst/>
              <a:ahLst/>
              <a:cxnLst/>
              <a:rect r="r" b="b" t="t" l="l"/>
              <a:pathLst>
                <a:path h="1678305" w="20183590">
                  <a:moveTo>
                    <a:pt x="0" y="0"/>
                  </a:moveTo>
                  <a:lnTo>
                    <a:pt x="20183590" y="0"/>
                  </a:lnTo>
                  <a:lnTo>
                    <a:pt x="20183590" y="1678305"/>
                  </a:lnTo>
                  <a:lnTo>
                    <a:pt x="0" y="1678305"/>
                  </a:lnTo>
                  <a:close/>
                </a:path>
              </a:pathLst>
            </a:custGeom>
            <a:blipFill>
              <a:blip r:embed="rId14">
                <a:alphaModFix amt="0"/>
              </a:blip>
              <a:stretch>
                <a:fillRect l="0" t="-184330" r="0" b="-184330"/>
              </a:stretch>
            </a:blipFill>
          </p:spPr>
        </p:sp>
        <p:sp>
          <p:nvSpPr>
            <p:cNvPr name="TextBox 35" id="35"/>
            <p:cNvSpPr txBox="true"/>
            <p:nvPr/>
          </p:nvSpPr>
          <p:spPr>
            <a:xfrm>
              <a:off x="0" y="19050"/>
              <a:ext cx="20183589" cy="1659255"/>
            </a:xfrm>
            <a:prstGeom prst="rect">
              <a:avLst/>
            </a:prstGeom>
          </p:spPr>
          <p:txBody>
            <a:bodyPr anchor="b" rtlCol="false" tIns="0" lIns="0" bIns="0" rIns="0"/>
            <a:lstStyle/>
            <a:p>
              <a:pPr algn="ctr">
                <a:lnSpc>
                  <a:spcPts val="4319"/>
                </a:lnSpc>
              </a:pPr>
              <a:r>
                <a:rPr lang="en-US" b="true" sz="3800" spc="-33">
                  <a:solidFill>
                    <a:srgbClr val="0C5394"/>
                  </a:solidFill>
                  <a:latin typeface="TT Ramillas Bold"/>
                  <a:ea typeface="TT Ramillas Bold"/>
                  <a:cs typeface="TT Ramillas Bold"/>
                  <a:sym typeface="TT Ramillas Bold"/>
                </a:rPr>
                <a:t>Temporal Graph Attention Networks for Explainable Anti-Money Laundering in Cryptocurrency Transactions</a:t>
              </a:r>
            </a:p>
          </p:txBody>
        </p:sp>
      </p:grpSp>
      <p:sp>
        <p:nvSpPr>
          <p:cNvPr name="TextBox 36" id="36"/>
          <p:cNvSpPr txBox="true"/>
          <p:nvPr/>
        </p:nvSpPr>
        <p:spPr>
          <a:xfrm rot="0">
            <a:off x="10515600" y="6362700"/>
            <a:ext cx="7086019" cy="2308327"/>
          </a:xfrm>
          <a:prstGeom prst="rect">
            <a:avLst/>
          </a:prstGeom>
        </p:spPr>
        <p:txBody>
          <a:bodyPr anchor="t" rtlCol="false" tIns="0" lIns="0" bIns="0" rIns="0">
            <a:spAutoFit/>
          </a:bodyPr>
          <a:lstStyle/>
          <a:p>
            <a:pPr algn="l">
              <a:lnSpc>
                <a:spcPts val="3600"/>
              </a:lnSpc>
            </a:pPr>
            <a:r>
              <a:rPr lang="en-US" sz="3000" spc="-26">
                <a:solidFill>
                  <a:srgbClr val="000000"/>
                </a:solidFill>
                <a:latin typeface="TT Ramillas"/>
                <a:ea typeface="TT Ramillas"/>
                <a:cs typeface="TT Ramillas"/>
                <a:sym typeface="TT Ramillas"/>
              </a:rPr>
              <a:t>Student Name – Anshu Kumari</a:t>
            </a:r>
          </a:p>
          <a:p>
            <a:pPr algn="l">
              <a:lnSpc>
                <a:spcPts val="3600"/>
              </a:lnSpc>
            </a:pPr>
            <a:r>
              <a:rPr lang="en-US" sz="3000" spc="-26">
                <a:solidFill>
                  <a:srgbClr val="000000"/>
                </a:solidFill>
                <a:latin typeface="TT Ramillas"/>
                <a:ea typeface="TT Ramillas"/>
                <a:cs typeface="TT Ramillas"/>
                <a:sym typeface="TT Ramillas"/>
              </a:rPr>
              <a:t>Register No - 2567203</a:t>
            </a:r>
          </a:p>
          <a:p>
            <a:pPr algn="l">
              <a:lnSpc>
                <a:spcPts val="3600"/>
              </a:lnSpc>
            </a:pPr>
            <a:r>
              <a:rPr lang="en-US" sz="3000" spc="-26">
                <a:solidFill>
                  <a:srgbClr val="000000"/>
                </a:solidFill>
                <a:latin typeface="TT Ramillas"/>
                <a:ea typeface="TT Ramillas"/>
                <a:cs typeface="TT Ramillas"/>
                <a:sym typeface="TT Ramillas"/>
              </a:rPr>
              <a:t>Section - 3MTDS</a:t>
            </a:r>
          </a:p>
          <a:p>
            <a:pPr algn="l">
              <a:lnSpc>
                <a:spcPts val="3600"/>
              </a:lnSpc>
            </a:pPr>
            <a:r>
              <a:rPr lang="en-US" sz="3000" spc="-24">
                <a:solidFill>
                  <a:srgbClr val="000000"/>
                </a:solidFill>
                <a:latin typeface="TT Ramillas"/>
                <a:ea typeface="TT Ramillas"/>
                <a:cs typeface="TT Ramillas"/>
                <a:sym typeface="TT Ramillas"/>
              </a:rPr>
              <a:t>Guide Name – Dr. Janani V S</a:t>
            </a:r>
          </a:p>
          <a:p>
            <a:pPr algn="l">
              <a:lnSpc>
                <a:spcPts val="3600"/>
              </a:lnSpc>
            </a:pPr>
            <a:r>
              <a:rPr lang="en-US" sz="3000" spc="-26">
                <a:solidFill>
                  <a:srgbClr val="000000"/>
                </a:solidFill>
                <a:latin typeface="TT Ramillas"/>
                <a:ea typeface="TT Ramillas"/>
                <a:cs typeface="TT Ramillas"/>
                <a:sym typeface="TT Ramillas"/>
              </a:rPr>
              <a:t>Co-Guide Name – Dr. Aruna S K</a:t>
            </a:r>
          </a:p>
        </p:txBody>
      </p:sp>
      <p:sp>
        <p:nvSpPr>
          <p:cNvPr name="TextBox 37" id="37"/>
          <p:cNvSpPr txBox="true"/>
          <p:nvPr/>
        </p:nvSpPr>
        <p:spPr>
          <a:xfrm rot="0">
            <a:off x="2155812" y="2479491"/>
            <a:ext cx="13959345" cy="767239"/>
          </a:xfrm>
          <a:prstGeom prst="rect">
            <a:avLst/>
          </a:prstGeom>
        </p:spPr>
        <p:txBody>
          <a:bodyPr anchor="t" rtlCol="false" tIns="0" lIns="0" bIns="0" rIns="0">
            <a:spAutoFit/>
          </a:bodyPr>
          <a:lstStyle/>
          <a:p>
            <a:pPr algn="l">
              <a:lnSpc>
                <a:spcPts val="5757"/>
              </a:lnSpc>
            </a:pPr>
            <a:r>
              <a:rPr lang="en-US" b="true" sz="4800" spc="-44">
                <a:solidFill>
                  <a:srgbClr val="000000"/>
                </a:solidFill>
                <a:latin typeface="TT Ramillas Bold"/>
                <a:ea typeface="TT Ramillas Bold"/>
                <a:cs typeface="TT Ramillas Bold"/>
                <a:sym typeface="TT Ramillas Bold"/>
              </a:rPr>
              <a:t>Department of AI &amp; Data Science Engineering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9" id="9"/>
          <p:cNvSpPr txBox="true"/>
          <p:nvPr/>
        </p:nvSpPr>
        <p:spPr>
          <a:xfrm rot="0">
            <a:off x="745303" y="897655"/>
            <a:ext cx="16797252" cy="685800"/>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Table of Contents</a:t>
            </a:r>
          </a:p>
        </p:txBody>
      </p:sp>
      <p:sp>
        <p:nvSpPr>
          <p:cNvPr name="TextBox 10" id="10"/>
          <p:cNvSpPr txBox="true"/>
          <p:nvPr/>
        </p:nvSpPr>
        <p:spPr>
          <a:xfrm rot="0">
            <a:off x="745303" y="2241461"/>
            <a:ext cx="16797252" cy="6617198"/>
          </a:xfrm>
          <a:prstGeom prst="rect">
            <a:avLst/>
          </a:prstGeom>
        </p:spPr>
        <p:txBody>
          <a:bodyPr anchor="t" rtlCol="false" tIns="0" lIns="0" bIns="0" rIns="0">
            <a:spAutoFit/>
          </a:bodyPr>
          <a:lstStyle/>
          <a:p>
            <a:pPr algn="l" marL="1151572" indent="-230314" lvl="4">
              <a:lnSpc>
                <a:spcPts val="4320"/>
              </a:lnSpc>
              <a:buFont typeface="Arial"/>
              <a:buChar char="•"/>
            </a:pPr>
            <a:r>
              <a:rPr lang="en-US" b="true" sz="3600" spc="-32">
                <a:solidFill>
                  <a:srgbClr val="000000"/>
                </a:solidFill>
                <a:latin typeface="TT Ramillas Bold"/>
                <a:ea typeface="TT Ramillas Bold"/>
                <a:cs typeface="TT Ramillas Bold"/>
                <a:sym typeface="TT Ramillas Bold"/>
              </a:rPr>
              <a:t>Domain</a:t>
            </a:r>
          </a:p>
          <a:p>
            <a:pPr algn="l" marL="1540764" indent="-256794" lvl="5">
              <a:lnSpc>
                <a:spcPts val="4320"/>
              </a:lnSpc>
              <a:buFont typeface="Arial"/>
              <a:buChar char="⚬"/>
            </a:pPr>
            <a:r>
              <a:rPr lang="en-US" b="true" sz="3600" spc="-32">
                <a:solidFill>
                  <a:srgbClr val="000000"/>
                </a:solidFill>
                <a:latin typeface="TT Ramillas Bold"/>
                <a:ea typeface="TT Ramillas Bold"/>
                <a:cs typeface="TT Ramillas Bold"/>
                <a:sym typeface="TT Ramillas Bold"/>
              </a:rPr>
              <a:t>Sub-Domain</a:t>
            </a:r>
          </a:p>
          <a:p>
            <a:pPr algn="l" marL="1540764" indent="-256794" lvl="5">
              <a:lnSpc>
                <a:spcPts val="4320"/>
              </a:lnSpc>
              <a:buFont typeface="Arial"/>
              <a:buChar char="⚬"/>
            </a:pPr>
            <a:r>
              <a:rPr lang="en-US" b="true" sz="3600" spc="-32">
                <a:solidFill>
                  <a:srgbClr val="000000"/>
                </a:solidFill>
                <a:latin typeface="TT Ramillas Bold"/>
                <a:ea typeface="TT Ramillas Bold"/>
                <a:cs typeface="TT Ramillas Bold"/>
                <a:sym typeface="TT Ramillas Bold"/>
              </a:rPr>
              <a:t>Application </a:t>
            </a:r>
            <a:r>
              <a:rPr lang="en-US" sz="3600" spc="-32">
                <a:solidFill>
                  <a:srgbClr val="000000"/>
                </a:solidFill>
                <a:latin typeface="TT Ramillas"/>
                <a:ea typeface="TT Ramillas"/>
                <a:cs typeface="TT Ramillas"/>
                <a:sym typeface="TT Ramillas"/>
              </a:rPr>
              <a:t> </a:t>
            </a:r>
          </a:p>
          <a:p>
            <a:pPr algn="l" marL="1151572" indent="-230314" lvl="4">
              <a:lnSpc>
                <a:spcPts val="4320"/>
              </a:lnSpc>
              <a:buFont typeface="Arial"/>
              <a:buChar char="•"/>
            </a:pPr>
            <a:r>
              <a:rPr lang="en-US" b="true" sz="3600" spc="-29">
                <a:solidFill>
                  <a:srgbClr val="000000"/>
                </a:solidFill>
                <a:latin typeface="TT Ramillas Bold"/>
                <a:ea typeface="TT Ramillas Bold"/>
                <a:cs typeface="TT Ramillas Bold"/>
                <a:sym typeface="TT Ramillas Bold"/>
              </a:rPr>
              <a:t>Introduction</a:t>
            </a:r>
          </a:p>
          <a:p>
            <a:pPr algn="l" marL="1151572" indent="-230314" lvl="4">
              <a:lnSpc>
                <a:spcPts val="4320"/>
              </a:lnSpc>
              <a:buFont typeface="Arial"/>
              <a:buChar char="•"/>
            </a:pPr>
            <a:r>
              <a:rPr lang="en-US" b="true" sz="3600" spc="-29">
                <a:solidFill>
                  <a:srgbClr val="000000"/>
                </a:solidFill>
                <a:latin typeface="TT Ramillas Bold"/>
                <a:ea typeface="TT Ramillas Bold"/>
                <a:cs typeface="TT Ramillas Bold"/>
                <a:sym typeface="TT Ramillas Bold"/>
              </a:rPr>
              <a:t>Problem Statement &amp; Motivation</a:t>
            </a:r>
          </a:p>
          <a:p>
            <a:pPr algn="l" marL="1151572" indent="-230314" lvl="4">
              <a:lnSpc>
                <a:spcPts val="4320"/>
              </a:lnSpc>
              <a:buFont typeface="Arial"/>
              <a:buChar char="•"/>
            </a:pPr>
            <a:r>
              <a:rPr lang="en-US" b="true" sz="3600" spc="-32">
                <a:solidFill>
                  <a:srgbClr val="000000"/>
                </a:solidFill>
                <a:latin typeface="TT Ramillas Bold"/>
                <a:ea typeface="TT Ramillas Bold"/>
                <a:cs typeface="TT Ramillas Bold"/>
                <a:sym typeface="TT Ramillas Bold"/>
              </a:rPr>
              <a:t>Literature Review</a:t>
            </a:r>
          </a:p>
          <a:p>
            <a:pPr algn="l" marL="1151572" indent="-230314" lvl="4">
              <a:lnSpc>
                <a:spcPts val="4320"/>
              </a:lnSpc>
              <a:buFont typeface="Arial"/>
              <a:buChar char="•"/>
            </a:pPr>
            <a:r>
              <a:rPr lang="en-US" b="true" sz="3600" spc="-29">
                <a:solidFill>
                  <a:srgbClr val="000000"/>
                </a:solidFill>
                <a:latin typeface="TT Ramillas Bold"/>
                <a:ea typeface="TT Ramillas Bold"/>
                <a:cs typeface="TT Ramillas Bold"/>
                <a:sym typeface="TT Ramillas Bold"/>
              </a:rPr>
              <a:t>Objectives</a:t>
            </a:r>
          </a:p>
          <a:p>
            <a:pPr algn="l" marL="1151572" indent="-230314" lvl="4">
              <a:lnSpc>
                <a:spcPts val="4320"/>
              </a:lnSpc>
              <a:buFont typeface="Arial"/>
              <a:buChar char="•"/>
            </a:pPr>
            <a:r>
              <a:rPr lang="en-US" b="true" sz="3600" spc="-32">
                <a:solidFill>
                  <a:srgbClr val="000000"/>
                </a:solidFill>
                <a:latin typeface="TT Ramillas Bold"/>
                <a:ea typeface="TT Ramillas Bold"/>
                <a:cs typeface="TT Ramillas Bold"/>
                <a:sym typeface="TT Ramillas Bold"/>
              </a:rPr>
              <a:t>Proposed Contribution</a:t>
            </a:r>
          </a:p>
          <a:p>
            <a:pPr algn="l" marL="1151572" indent="-230314" lvl="4">
              <a:lnSpc>
                <a:spcPts val="4320"/>
              </a:lnSpc>
              <a:buFont typeface="Arial"/>
              <a:buChar char="•"/>
            </a:pPr>
            <a:r>
              <a:rPr lang="en-US" b="true" sz="3600" spc="-32">
                <a:solidFill>
                  <a:srgbClr val="000000"/>
                </a:solidFill>
                <a:latin typeface="TT Ramillas Bold"/>
                <a:ea typeface="TT Ramillas Bold"/>
                <a:cs typeface="TT Ramillas Bold"/>
                <a:sym typeface="TT Ramillas Bold"/>
              </a:rPr>
              <a:t>Dataset Overview</a:t>
            </a:r>
          </a:p>
          <a:p>
            <a:pPr algn="l" marL="1151572" indent="-230314" lvl="4">
              <a:lnSpc>
                <a:spcPts val="4320"/>
              </a:lnSpc>
              <a:buFont typeface="Arial"/>
              <a:buChar char="•"/>
            </a:pPr>
            <a:r>
              <a:rPr lang="en-US" b="true" sz="3600" spc="-32">
                <a:solidFill>
                  <a:srgbClr val="000000"/>
                </a:solidFill>
                <a:latin typeface="TT Ramillas Bold"/>
                <a:ea typeface="TT Ramillas Bold"/>
                <a:cs typeface="TT Ramillas Bold"/>
                <a:sym typeface="TT Ramillas Bold"/>
              </a:rPr>
              <a:t>Gap Analysis</a:t>
            </a:r>
          </a:p>
          <a:p>
            <a:pPr algn="l" marL="1151572" indent="-230314" lvl="4">
              <a:lnSpc>
                <a:spcPts val="4320"/>
              </a:lnSpc>
              <a:buFont typeface="Arial"/>
              <a:buChar char="•"/>
            </a:pPr>
            <a:r>
              <a:rPr lang="en-US" b="true" sz="3600" spc="-29">
                <a:solidFill>
                  <a:srgbClr val="000000"/>
                </a:solidFill>
                <a:latin typeface="TT Ramillas Bold"/>
                <a:ea typeface="TT Ramillas Bold"/>
                <a:cs typeface="TT Ramillas Bold"/>
                <a:sym typeface="TT Ramillas Bold"/>
              </a:rPr>
              <a:t>System Architecture &amp; Methodology</a:t>
            </a:r>
          </a:p>
          <a:p>
            <a:pPr algn="l" marL="1151572" indent="-230314" lvl="4">
              <a:lnSpc>
                <a:spcPts val="4320"/>
              </a:lnSpc>
              <a:buFont typeface="Arial"/>
              <a:buChar char="•"/>
            </a:pPr>
            <a:r>
              <a:rPr lang="en-US" b="true" sz="3600" spc="-32">
                <a:solidFill>
                  <a:srgbClr val="000000"/>
                </a:solidFill>
                <a:latin typeface="TT Ramillas Bold"/>
                <a:ea typeface="TT Ramillas Bold"/>
                <a:cs typeface="TT Ramillas Bold"/>
                <a:sym typeface="TT Ramillas Bold"/>
              </a:rPr>
              <a:t>References</a:t>
            </a:r>
          </a:p>
        </p:txBody>
      </p:sp>
      <p:grpSp>
        <p:nvGrpSpPr>
          <p:cNvPr name="Group 11" id="11"/>
          <p:cNvGrpSpPr/>
          <p:nvPr/>
        </p:nvGrpSpPr>
        <p:grpSpPr>
          <a:xfrm rot="0">
            <a:off x="16830599" y="9612544"/>
            <a:ext cx="1097566" cy="602075"/>
            <a:chOff x="0" y="0"/>
            <a:chExt cx="1463421" cy="802767"/>
          </a:xfrm>
        </p:grpSpPr>
        <p:sp>
          <p:nvSpPr>
            <p:cNvPr name="Freeform 12" id="12"/>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5">
                <a:alphaModFix amt="0"/>
              </a:blip>
              <a:stretch>
                <a:fillRect l="-20430" t="0" r="-20430" b="0"/>
              </a:stretch>
            </a:blipFill>
          </p:spPr>
        </p:sp>
      </p:grpSp>
      <p:grpSp>
        <p:nvGrpSpPr>
          <p:cNvPr name="Group 13" id="13"/>
          <p:cNvGrpSpPr/>
          <p:nvPr/>
        </p:nvGrpSpPr>
        <p:grpSpPr>
          <a:xfrm rot="0">
            <a:off x="16830599" y="9598257"/>
            <a:ext cx="1097566" cy="616363"/>
            <a:chOff x="0" y="0"/>
            <a:chExt cx="1463421" cy="821817"/>
          </a:xfrm>
        </p:grpSpPr>
        <p:sp>
          <p:nvSpPr>
            <p:cNvPr name="Freeform 14" id="14"/>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6">
                <a:alphaModFix amt="0"/>
              </a:blip>
              <a:stretch>
                <a:fillRect l="-22101" t="0" r="-22101" b="0"/>
              </a:stretch>
            </a:blipFill>
          </p:spPr>
        </p:sp>
      </p:grpSp>
      <p:grpSp>
        <p:nvGrpSpPr>
          <p:cNvPr name="Group 15" id="15"/>
          <p:cNvGrpSpPr/>
          <p:nvPr/>
        </p:nvGrpSpPr>
        <p:grpSpPr>
          <a:xfrm rot="0">
            <a:off x="16830599" y="9583969"/>
            <a:ext cx="1097547" cy="630679"/>
            <a:chOff x="0" y="0"/>
            <a:chExt cx="1463396" cy="840905"/>
          </a:xfrm>
        </p:grpSpPr>
        <p:sp>
          <p:nvSpPr>
            <p:cNvPr name="Freeform 16" id="16"/>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7">
                <a:alphaModFix amt="0"/>
              </a:blip>
              <a:stretch>
                <a:fillRect l="-23777" t="0" r="-23775" b="-4"/>
              </a:stretch>
            </a:blipFill>
          </p:spPr>
        </p:sp>
      </p:grpSp>
      <p:grpSp>
        <p:nvGrpSpPr>
          <p:cNvPr name="Group 17" id="17"/>
          <p:cNvGrpSpPr/>
          <p:nvPr/>
        </p:nvGrpSpPr>
        <p:grpSpPr>
          <a:xfrm rot="0">
            <a:off x="16830599" y="9569682"/>
            <a:ext cx="1097547" cy="644966"/>
            <a:chOff x="0" y="0"/>
            <a:chExt cx="1463396" cy="859955"/>
          </a:xfrm>
        </p:grpSpPr>
        <p:sp>
          <p:nvSpPr>
            <p:cNvPr name="Freeform 18" id="18"/>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8">
                <a:alphaModFix amt="0"/>
              </a:blip>
              <a:stretch>
                <a:fillRect l="-25396" t="0" r="-25396" b="0"/>
              </a:stretch>
            </a:blipFill>
          </p:spPr>
        </p:sp>
        <p:sp>
          <p:nvSpPr>
            <p:cNvPr name="TextBox 19" id="19"/>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97655"/>
            <a:ext cx="16797252" cy="685800"/>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Domain</a:t>
            </a:r>
          </a:p>
        </p:txBody>
      </p:sp>
      <p:sp>
        <p:nvSpPr>
          <p:cNvPr name="TextBox 12" id="12"/>
          <p:cNvSpPr txBox="true"/>
          <p:nvPr/>
        </p:nvSpPr>
        <p:spPr>
          <a:xfrm rot="0">
            <a:off x="745303" y="1906419"/>
            <a:ext cx="15896958" cy="7095401"/>
          </a:xfrm>
          <a:prstGeom prst="rect">
            <a:avLst/>
          </a:prstGeom>
        </p:spPr>
        <p:txBody>
          <a:bodyPr anchor="t" rtlCol="false" tIns="0" lIns="0" bIns="0" rIns="0">
            <a:spAutoFit/>
          </a:bodyPr>
          <a:lstStyle/>
          <a:p>
            <a:pPr algn="just" marL="1171575" indent="-234315" lvl="4">
              <a:lnSpc>
                <a:spcPts val="4320"/>
              </a:lnSpc>
              <a:buFont typeface="Arial"/>
              <a:buChar char="•"/>
            </a:pPr>
            <a:r>
              <a:rPr lang="en-US" b="true" sz="3600" spc="-29">
                <a:solidFill>
                  <a:srgbClr val="000000"/>
                </a:solidFill>
                <a:latin typeface="TT Ramillas Bold"/>
                <a:ea typeface="TT Ramillas Bold"/>
                <a:cs typeface="TT Ramillas Bold"/>
                <a:sym typeface="TT Ramillas Bold"/>
              </a:rPr>
              <a:t>Domain: Finance &amp; FinTech</a:t>
            </a:r>
          </a:p>
          <a:p>
            <a:pPr algn="just" marL="1109472" indent="-184912" lvl="5">
              <a:lnSpc>
                <a:spcPts val="2878"/>
              </a:lnSpc>
              <a:buFont typeface="Arial"/>
              <a:buChar char="⚬"/>
            </a:pPr>
            <a:r>
              <a:rPr lang="en-US" sz="2400" spc="-19">
                <a:solidFill>
                  <a:srgbClr val="000000"/>
                </a:solidFill>
                <a:latin typeface="TT Ramillas"/>
                <a:ea typeface="TT Ramillas"/>
                <a:cs typeface="TT Ramillas"/>
                <a:sym typeface="TT Ramillas"/>
              </a:rPr>
              <a:t>Application of Temporal Graph Neural Networks to detect money laundering patterns in cryptocurrency transaction networks using time-aware deep learning.</a:t>
            </a:r>
          </a:p>
          <a:p>
            <a:pPr algn="just" marL="2001522" indent="-285932" lvl="6">
              <a:lnSpc>
                <a:spcPts val="3840"/>
              </a:lnSpc>
              <a:buFont typeface="Arial"/>
              <a:buChar char="￭"/>
            </a:pPr>
            <a:r>
              <a:rPr lang="en-US" b="true" sz="3200" spc="-26">
                <a:solidFill>
                  <a:srgbClr val="000000"/>
                </a:solidFill>
                <a:latin typeface="TT Ramillas Bold"/>
                <a:ea typeface="TT Ramillas Bold"/>
                <a:cs typeface="TT Ramillas Bold"/>
                <a:sym typeface="TT Ramillas Bold"/>
              </a:rPr>
              <a:t>Sub-Domain:</a:t>
            </a:r>
          </a:p>
          <a:p>
            <a:pPr algn="just" marL="2379342" indent="-264371" lvl="8">
              <a:lnSpc>
                <a:spcPts val="2878"/>
              </a:lnSpc>
              <a:buFont typeface="Arial"/>
              <a:buChar char="⚬"/>
            </a:pPr>
            <a:r>
              <a:rPr lang="en-US" sz="2400" spc="-19">
                <a:solidFill>
                  <a:srgbClr val="000000"/>
                </a:solidFill>
                <a:latin typeface="TT Ramillas"/>
                <a:ea typeface="TT Ramillas"/>
                <a:cs typeface="TT Ramillas"/>
                <a:sym typeface="TT Ramillas"/>
              </a:rPr>
              <a:t>Graph Neural Networks (GNN)</a:t>
            </a:r>
          </a:p>
          <a:p>
            <a:pPr algn="just" marL="2379342" indent="-264371" lvl="8">
              <a:lnSpc>
                <a:spcPts val="2878"/>
              </a:lnSpc>
              <a:buFont typeface="Arial"/>
              <a:buChar char="⚬"/>
            </a:pPr>
            <a:r>
              <a:rPr lang="en-US" sz="2400" spc="-19">
                <a:solidFill>
                  <a:srgbClr val="000000"/>
                </a:solidFill>
                <a:latin typeface="TT Ramillas"/>
                <a:ea typeface="TT Ramillas"/>
                <a:cs typeface="TT Ramillas"/>
                <a:sym typeface="TT Ramillas"/>
              </a:rPr>
              <a:t>Temporal Graph Learning</a:t>
            </a:r>
          </a:p>
          <a:p>
            <a:pPr algn="just" marL="2379342" indent="-264371" lvl="8">
              <a:lnSpc>
                <a:spcPts val="2878"/>
              </a:lnSpc>
              <a:buFont typeface="Arial"/>
              <a:buChar char="⚬"/>
            </a:pPr>
            <a:r>
              <a:rPr lang="en-US" sz="2400" spc="-19">
                <a:solidFill>
                  <a:srgbClr val="000000"/>
                </a:solidFill>
                <a:latin typeface="TT Ramillas"/>
                <a:ea typeface="TT Ramillas"/>
                <a:cs typeface="TT Ramillas"/>
                <a:sym typeface="TT Ramillas"/>
              </a:rPr>
              <a:t>Anti-Money Laundering (AML)</a:t>
            </a:r>
          </a:p>
          <a:p>
            <a:pPr algn="just" marL="2379342" indent="-264371" lvl="8">
              <a:lnSpc>
                <a:spcPts val="2878"/>
              </a:lnSpc>
              <a:buFont typeface="Arial"/>
              <a:buChar char="⚬"/>
            </a:pPr>
            <a:r>
              <a:rPr lang="en-US" sz="2400" spc="-19">
                <a:solidFill>
                  <a:srgbClr val="000000"/>
                </a:solidFill>
                <a:latin typeface="TT Ramillas"/>
                <a:ea typeface="TT Ramillas"/>
                <a:cs typeface="TT Ramillas"/>
                <a:sym typeface="TT Ramillas"/>
              </a:rPr>
              <a:t>Blockchain Analytics</a:t>
            </a:r>
          </a:p>
          <a:p>
            <a:pPr algn="just" marL="2379342" indent="-264371" lvl="8">
              <a:lnSpc>
                <a:spcPts val="2878"/>
              </a:lnSpc>
              <a:buFont typeface="Arial"/>
              <a:buChar char="⚬"/>
            </a:pPr>
            <a:r>
              <a:rPr lang="en-US" sz="2400" spc="-19">
                <a:solidFill>
                  <a:srgbClr val="000000"/>
                </a:solidFill>
                <a:latin typeface="TT Ramillas"/>
                <a:ea typeface="TT Ramillas"/>
                <a:cs typeface="TT Ramillas"/>
                <a:sym typeface="TT Ramillas"/>
              </a:rPr>
              <a:t>Explainable AI (XAI)</a:t>
            </a:r>
          </a:p>
          <a:p>
            <a:pPr algn="just" marL="2001522" indent="-285932" lvl="6">
              <a:lnSpc>
                <a:spcPts val="3840"/>
              </a:lnSpc>
              <a:buFont typeface="Arial"/>
              <a:buChar char="￭"/>
            </a:pPr>
            <a:r>
              <a:rPr lang="en-US" b="true" sz="3200" spc="-26">
                <a:solidFill>
                  <a:srgbClr val="000000"/>
                </a:solidFill>
                <a:latin typeface="TT Ramillas Bold"/>
                <a:ea typeface="TT Ramillas Bold"/>
                <a:cs typeface="TT Ramillas Bold"/>
                <a:sym typeface="TT Ramillas Bold"/>
              </a:rPr>
              <a:t>Application:</a:t>
            </a:r>
          </a:p>
          <a:p>
            <a:pPr algn="just" marL="2379342" indent="-264371" lvl="8">
              <a:lnSpc>
                <a:spcPts val="2878"/>
              </a:lnSpc>
              <a:buFont typeface="Arial"/>
              <a:buChar char="⚬"/>
            </a:pPr>
            <a:r>
              <a:rPr lang="en-US" sz="2400" spc="-19">
                <a:solidFill>
                  <a:srgbClr val="000000"/>
                </a:solidFill>
                <a:latin typeface="TT Ramillas"/>
                <a:ea typeface="TT Ramillas"/>
                <a:cs typeface="TT Ramillas"/>
                <a:sym typeface="TT Ramillas"/>
              </a:rPr>
              <a:t>Cryptocurrency Fraud Detection</a:t>
            </a:r>
          </a:p>
          <a:p>
            <a:pPr algn="just" marL="2379342" indent="-264371" lvl="8">
              <a:lnSpc>
                <a:spcPts val="2878"/>
              </a:lnSpc>
              <a:buFont typeface="Arial"/>
              <a:buChar char="⚬"/>
            </a:pPr>
            <a:r>
              <a:rPr lang="en-US" sz="2400" spc="-19">
                <a:solidFill>
                  <a:srgbClr val="000000"/>
                </a:solidFill>
                <a:latin typeface="TT Ramillas"/>
                <a:ea typeface="TT Ramillas"/>
                <a:cs typeface="TT Ramillas"/>
                <a:sym typeface="TT Ramillas"/>
              </a:rPr>
              <a:t>Financial Crime Investigation</a:t>
            </a:r>
          </a:p>
          <a:p>
            <a:pPr algn="just" marL="2379342" indent="-264371" lvl="8">
              <a:lnSpc>
                <a:spcPts val="2878"/>
              </a:lnSpc>
              <a:buFont typeface="Arial"/>
              <a:buChar char="⚬"/>
            </a:pPr>
            <a:r>
              <a:rPr lang="en-US" sz="2400" spc="-19">
                <a:solidFill>
                  <a:srgbClr val="000000"/>
                </a:solidFill>
                <a:latin typeface="TT Ramillas"/>
                <a:ea typeface="TT Ramillas"/>
                <a:cs typeface="TT Ramillas"/>
                <a:sym typeface="TT Ramillas"/>
              </a:rPr>
              <a:t>Suspicious Activity Report (SAR) Filing</a:t>
            </a:r>
          </a:p>
          <a:p>
            <a:pPr algn="just" marL="2379342" indent="-264371" lvl="8">
              <a:lnSpc>
                <a:spcPts val="2878"/>
              </a:lnSpc>
              <a:buFont typeface="Arial"/>
              <a:buChar char="⚬"/>
            </a:pPr>
            <a:r>
              <a:rPr lang="en-US" sz="2400" spc="-19">
                <a:solidFill>
                  <a:srgbClr val="000000"/>
                </a:solidFill>
                <a:latin typeface="TT Ramillas"/>
                <a:ea typeface="TT Ramillas"/>
                <a:cs typeface="TT Ramillas"/>
                <a:sym typeface="TT Ramillas"/>
              </a:rPr>
              <a:t>Compliance Risk Management</a:t>
            </a:r>
          </a:p>
          <a:p>
            <a:pPr algn="just" marL="2379342" indent="-264371" lvl="8">
              <a:lnSpc>
                <a:spcPts val="2878"/>
              </a:lnSpc>
              <a:buFont typeface="Arial"/>
              <a:buChar char="⚬"/>
            </a:pPr>
            <a:r>
              <a:rPr lang="en-US" sz="2400" spc="-19">
                <a:solidFill>
                  <a:srgbClr val="000000"/>
                </a:solidFill>
                <a:latin typeface="TT Ramillas"/>
                <a:ea typeface="TT Ramillas"/>
                <a:cs typeface="TT Ramillas"/>
                <a:sym typeface="TT Ramillas"/>
              </a:rPr>
              <a:t>Blockchain Forensics</a:t>
            </a:r>
          </a:p>
          <a:p>
            <a:pPr algn="just" marL="2379342" indent="-264371" lvl="8">
              <a:lnSpc>
                <a:spcPts val="2878"/>
              </a:lnSpc>
              <a:buFont typeface="Arial"/>
              <a:buChar char="⚬"/>
            </a:pPr>
            <a:r>
              <a:rPr lang="en-US" sz="2400" spc="-19">
                <a:solidFill>
                  <a:srgbClr val="000000"/>
                </a:solidFill>
                <a:latin typeface="TT Ramillas"/>
                <a:ea typeface="TT Ramillas"/>
                <a:cs typeface="TT Ramillas"/>
                <a:sym typeface="TT Ramillas"/>
              </a:rPr>
              <a:t>RegTech and FinTech Platforms</a:t>
            </a:r>
          </a:p>
          <a:p>
            <a:pPr algn="just" marL="2379342" indent="-264371" lvl="8">
              <a:lnSpc>
                <a:spcPts val="2878"/>
              </a:lnSpc>
              <a:buFont typeface="Arial"/>
              <a:buChar char="⚬"/>
            </a:pPr>
            <a:r>
              <a:rPr lang="en-US" sz="2400" spc="-19">
                <a:solidFill>
                  <a:srgbClr val="000000"/>
                </a:solidFill>
                <a:latin typeface="TT Ramillas"/>
                <a:ea typeface="TT Ramillas"/>
                <a:cs typeface="TT Ramillas"/>
                <a:sym typeface="TT Ramillas"/>
              </a:rPr>
              <a:t>Central Bank &amp; FATF Regulatory Systems</a:t>
            </a:r>
          </a:p>
          <a:p>
            <a:pPr algn="just" marL="2379342" indent="-264371" lvl="8">
              <a:lnSpc>
                <a:spcPts val="2878"/>
              </a:lnSpc>
            </a:pP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97655"/>
            <a:ext cx="16797252" cy="685800"/>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Introduction</a:t>
            </a:r>
          </a:p>
        </p:txBody>
      </p:sp>
      <p:sp>
        <p:nvSpPr>
          <p:cNvPr name="TextBox 12" id="12"/>
          <p:cNvSpPr txBox="true"/>
          <p:nvPr/>
        </p:nvSpPr>
        <p:spPr>
          <a:xfrm rot="0">
            <a:off x="745303" y="1902343"/>
            <a:ext cx="15734614" cy="6705703"/>
          </a:xfrm>
          <a:prstGeom prst="rect">
            <a:avLst/>
          </a:prstGeom>
        </p:spPr>
        <p:txBody>
          <a:bodyPr anchor="t" rtlCol="false" tIns="0" lIns="0" bIns="0" rIns="0">
            <a:spAutoFit/>
          </a:bodyPr>
          <a:lstStyle/>
          <a:p>
            <a:pPr algn="just">
              <a:lnSpc>
                <a:spcPts val="3357"/>
              </a:lnSpc>
            </a:pPr>
            <a:r>
              <a:rPr lang="en-US" sz="2799" spc="-12">
                <a:solidFill>
                  <a:srgbClr val="000000"/>
                </a:solidFill>
                <a:latin typeface="TT Ramillas"/>
                <a:ea typeface="TT Ramillas"/>
                <a:cs typeface="TT Ramillas"/>
                <a:sym typeface="TT Ramillas"/>
              </a:rPr>
              <a:t>Money laundering — converting illegal funds into legitimate money — costs the global economy USD 800 Billion to 2 Trillion annually (2–5% of global GDP), financing terrorism, drug trafficking, and corruption. Cryptocurrency networks like Bitcoin enable laundering through pseudonymous wallets, instant borderless transactions, and no identity verification, making traditional Anti-Money Laundering (AML) systems ineffective. Criminals exploit three core strategies: Circular Transfers (funds return to origin through intermediaries), Layering Chains (rapid multi-hop transactions to break the trail), and Smurfing (splitting large amounts into many small transactions). Existing AML systems — both rule-based and graph neural network-based — treat transaction networks as static snapshots, completely ignoring WHEN transactions occurred and at what velocity, making them blind to time-evolving laundering patterns. Recent advances in Temporal Graph Neural Networks, particularly the Temporal Graph Attention Network (TGAT), offer a powerful solution by modeling transaction networks as time-evolving graphs where both structure and timing are learned simultaneously. This research proposes TemporalAML — a Temporal Graph Attention Network with learnable Fourier time encoding that autonomously discovers laundering timescales, simultaneously detects all three laundering pattern types, and produces per-pattern explainable subgraph evidence for compliance use.</a:t>
            </a: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97655"/>
            <a:ext cx="16797252" cy="685800"/>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Problem Statement</a:t>
            </a:r>
          </a:p>
        </p:txBody>
      </p:sp>
      <p:sp>
        <p:nvSpPr>
          <p:cNvPr name="TextBox 12" id="12"/>
          <p:cNvSpPr txBox="true"/>
          <p:nvPr/>
        </p:nvSpPr>
        <p:spPr>
          <a:xfrm rot="0">
            <a:off x="745303" y="2807218"/>
            <a:ext cx="16812854" cy="5840857"/>
          </a:xfrm>
          <a:prstGeom prst="rect">
            <a:avLst/>
          </a:prstGeom>
        </p:spPr>
        <p:txBody>
          <a:bodyPr anchor="t" rtlCol="false" tIns="0" lIns="0" bIns="0" rIns="0">
            <a:spAutoFit/>
          </a:bodyPr>
          <a:lstStyle/>
          <a:p>
            <a:pPr algn="just">
              <a:lnSpc>
                <a:spcPts val="3359"/>
              </a:lnSpc>
            </a:pPr>
          </a:p>
          <a:p>
            <a:pPr algn="just" marL="482601" indent="-120650" lvl="3">
              <a:lnSpc>
                <a:spcPts val="3359"/>
              </a:lnSpc>
              <a:buFont typeface="Arial"/>
              <a:buChar char="￭"/>
            </a:pPr>
            <a:r>
              <a:rPr lang="en-US" sz="2000" spc="-20">
                <a:solidFill>
                  <a:srgbClr val="000000"/>
                </a:solidFill>
                <a:latin typeface="TT Ramillas"/>
                <a:ea typeface="TT Ramillas"/>
                <a:cs typeface="TT Ramillas"/>
                <a:sym typeface="TT Ramillas"/>
              </a:rPr>
              <a:t>Hybrid GNN-LSTM approaches process graph structure and time information in two separate disconnected modules — the graph attention mechanism itself remains time-unaware and cannot understand when neighbours transacted or how long ago.</a:t>
            </a:r>
          </a:p>
          <a:p>
            <a:pPr algn="just" marL="482601" indent="-120650" lvl="3">
              <a:lnSpc>
                <a:spcPts val="3359"/>
              </a:lnSpc>
              <a:buFont typeface="Arial"/>
              <a:buChar char="￭"/>
            </a:pPr>
            <a:r>
              <a:rPr lang="en-US" sz="2000" spc="-20">
                <a:solidFill>
                  <a:srgbClr val="000000"/>
                </a:solidFill>
                <a:latin typeface="TT Ramillas"/>
                <a:ea typeface="TT Ramillas"/>
                <a:cs typeface="TT Ramillas"/>
                <a:sym typeface="TT Ramillas"/>
              </a:rPr>
              <a:t>Wavelet-based temporal encodings (Lin et al., 2026) apply fixed, predetermined frequency bands that cannot adapt to discover the intrinsic timescales at which circular transfers, layering chains, and smurfing actually operate in Bitcoin transaction data.</a:t>
            </a:r>
          </a:p>
          <a:p>
            <a:pPr algn="just" marL="482601" indent="-120650" lvl="3">
              <a:lnSpc>
                <a:spcPts val="3359"/>
              </a:lnSpc>
              <a:buFont typeface="Arial"/>
              <a:buChar char="￭"/>
            </a:pPr>
            <a:r>
              <a:rPr lang="en-US" sz="2000" spc="-20">
                <a:solidFill>
                  <a:srgbClr val="000000"/>
                </a:solidFill>
                <a:latin typeface="TT Ramillas"/>
                <a:ea typeface="TT Ramillas"/>
                <a:cs typeface="TT Ramillas"/>
                <a:sym typeface="TT Ramillas"/>
              </a:rPr>
              <a:t>Every existing AML paper outputs a binary illicit or licit label — no system identifies which specific pattern type (circular transfer, layering chain, or smurfing) triggered the alert, making outputs non-actionable for compliance investigation and SAR filing.</a:t>
            </a:r>
          </a:p>
          <a:p>
            <a:pPr algn="just" marL="482601" indent="-120650" lvl="3">
              <a:lnSpc>
                <a:spcPts val="3359"/>
              </a:lnSpc>
              <a:buFont typeface="Arial"/>
              <a:buChar char="￭"/>
            </a:pPr>
            <a:r>
              <a:rPr lang="en-US" sz="2000" spc="-20">
                <a:solidFill>
                  <a:srgbClr val="000000"/>
                </a:solidFill>
                <a:latin typeface="TT Ramillas"/>
                <a:ea typeface="TT Ramillas"/>
                <a:cs typeface="TT Ramillas"/>
                <a:sym typeface="TT Ramillas"/>
              </a:rPr>
              <a:t>Existing explainability approaches use attention weights as a proxy — they do not produce the specific transaction subgraph evidence, do not show time ordering of that evidence, and do not connect the explanation to a specific laundering pattern type.</a:t>
            </a:r>
          </a:p>
          <a:p>
            <a:pPr algn="just" marL="482601" indent="-120650" lvl="3">
              <a:lnSpc>
                <a:spcPts val="3359"/>
              </a:lnSpc>
              <a:buFont typeface="Arial"/>
              <a:buChar char="￭"/>
            </a:pPr>
            <a:r>
              <a:rPr lang="en-US" sz="2000" spc="-20">
                <a:solidFill>
                  <a:srgbClr val="000000"/>
                </a:solidFill>
                <a:latin typeface="TT Ramillas"/>
                <a:ea typeface="TT Ramillas"/>
                <a:cs typeface="TT Ramillas"/>
                <a:sym typeface="TT Ramillas"/>
              </a:rPr>
              <a:t>Class imbalance in the Elliptic dataset (only ~2% illicit transactions) is addressed uniformly across all time steps — no existing paper recognises or corrects for temporal drift in illicit transaction ratios across the 49 available time snapshots.</a:t>
            </a:r>
          </a:p>
          <a:p>
            <a:pPr algn="just" marL="482601" indent="-120650" lvl="3">
              <a:lnSpc>
                <a:spcPts val="3359"/>
              </a:lnSpc>
              <a:buFont typeface="Arial"/>
              <a:buChar char="￭"/>
            </a:pPr>
            <a:r>
              <a:rPr lang="en-US" sz="2000" spc="-20">
                <a:solidFill>
                  <a:srgbClr val="000000"/>
                </a:solidFill>
                <a:latin typeface="TT Ramillas"/>
                <a:ea typeface="TT Ramillas"/>
                <a:cs typeface="TT Ramillas"/>
                <a:sym typeface="TT Ramillas"/>
              </a:rPr>
              <a:t>There is a critical and unaddressed need for an AML detection framework that natively integrates learnable temporal encoding inside graph attention, simultaneously detects all three laundering pattern types, and produces per-pattern time-ordered subgraph evidence for compliance-ready output.</a:t>
            </a: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5</a:t>
              </a:r>
            </a:p>
          </p:txBody>
        </p:sp>
      </p:grpSp>
      <p:sp>
        <p:nvSpPr>
          <p:cNvPr name="TextBox 22" id="22"/>
          <p:cNvSpPr txBox="true"/>
          <p:nvPr/>
        </p:nvSpPr>
        <p:spPr>
          <a:xfrm rot="0">
            <a:off x="833647" y="1933404"/>
            <a:ext cx="16609695" cy="1108891"/>
          </a:xfrm>
          <a:prstGeom prst="rect">
            <a:avLst/>
          </a:prstGeom>
        </p:spPr>
        <p:txBody>
          <a:bodyPr anchor="t" rtlCol="false" tIns="0" lIns="0" bIns="0" rIns="0">
            <a:spAutoFit/>
          </a:bodyPr>
          <a:lstStyle/>
          <a:p>
            <a:pPr algn="l">
              <a:lnSpc>
                <a:spcPts val="2878"/>
              </a:lnSpc>
            </a:pPr>
            <a:r>
              <a:rPr lang="en-US" b="true" sz="2400" spc="-10">
                <a:solidFill>
                  <a:srgbClr val="000000"/>
                </a:solidFill>
                <a:latin typeface="TT Ramillas Bold"/>
                <a:ea typeface="TT Ramillas Bold"/>
                <a:cs typeface="TT Ramillas Bold"/>
                <a:sym typeface="TT Ramillas Bold"/>
              </a:rPr>
              <a:t>"Existing AML systems model cryptocurrency transactions as static graph snapshots, capturing structural connectivity between wallets while discarding temporal ordering, transaction velocity, and time-evolving behavioural patterns that are the primary diagnostic signatures of money laundering."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97655"/>
            <a:ext cx="16797252" cy="685800"/>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Motivation</a:t>
            </a:r>
          </a:p>
        </p:txBody>
      </p:sp>
      <p:sp>
        <p:nvSpPr>
          <p:cNvPr name="TextBox 12" id="12"/>
          <p:cNvSpPr txBox="true"/>
          <p:nvPr/>
        </p:nvSpPr>
        <p:spPr>
          <a:xfrm rot="0">
            <a:off x="745303" y="2171757"/>
            <a:ext cx="15731080" cy="3308594"/>
          </a:xfrm>
          <a:prstGeom prst="rect">
            <a:avLst/>
          </a:prstGeom>
        </p:spPr>
        <p:txBody>
          <a:bodyPr anchor="t" rtlCol="false" tIns="0" lIns="0" bIns="0" rIns="0">
            <a:spAutoFit/>
          </a:bodyPr>
          <a:lstStyle/>
          <a:p>
            <a:pPr algn="just">
              <a:lnSpc>
                <a:spcPts val="4320"/>
              </a:lnSpc>
            </a:pPr>
            <a:r>
              <a:rPr lang="en-US" sz="3600" spc="-29">
                <a:solidFill>
                  <a:srgbClr val="000000"/>
                </a:solidFill>
                <a:latin typeface="TT Ramillas"/>
                <a:ea typeface="TT Ramillas"/>
                <a:cs typeface="TT Ramillas"/>
                <a:sym typeface="TT Ramillas"/>
              </a:rPr>
              <a:t>Need for</a:t>
            </a:r>
          </a:p>
          <a:p>
            <a:pPr algn="l" marL="1171575" indent="-234315" lvl="4">
              <a:lnSpc>
                <a:spcPts val="4320"/>
              </a:lnSpc>
              <a:buFont typeface="Arial"/>
              <a:buChar char="•"/>
            </a:pPr>
            <a:r>
              <a:rPr lang="en-US" sz="3600" spc="-29">
                <a:solidFill>
                  <a:srgbClr val="000000"/>
                </a:solidFill>
                <a:latin typeface="TT Ramillas"/>
                <a:ea typeface="TT Ramillas"/>
                <a:cs typeface="TT Ramillas"/>
                <a:sym typeface="TT Ramillas"/>
              </a:rPr>
              <a:t>Temporal-aware AML detection beyond static snapshots</a:t>
            </a:r>
          </a:p>
          <a:p>
            <a:pPr algn="l" marL="1171575" indent="-234315" lvl="4">
              <a:lnSpc>
                <a:spcPts val="4320"/>
              </a:lnSpc>
              <a:buFont typeface="Arial"/>
              <a:buChar char="•"/>
            </a:pPr>
            <a:r>
              <a:rPr lang="en-US" sz="3600" spc="-29">
                <a:solidFill>
                  <a:srgbClr val="000000"/>
                </a:solidFill>
                <a:latin typeface="TT Ramillas"/>
                <a:ea typeface="TT Ramillas"/>
                <a:cs typeface="TT Ramillas"/>
                <a:sym typeface="TT Ramillas"/>
              </a:rPr>
              <a:t>Learnable time encoding that adapts to laundering timescales</a:t>
            </a:r>
          </a:p>
          <a:p>
            <a:pPr algn="l" marL="1171575" indent="-234315" lvl="4">
              <a:lnSpc>
                <a:spcPts val="4320"/>
              </a:lnSpc>
              <a:buFont typeface="Arial"/>
              <a:buChar char="•"/>
            </a:pPr>
            <a:r>
              <a:rPr lang="en-US" sz="3600" spc="-29">
                <a:solidFill>
                  <a:srgbClr val="000000"/>
                </a:solidFill>
                <a:latin typeface="TT Ramillas"/>
                <a:ea typeface="TT Ramillas"/>
                <a:cs typeface="TT Ramillas"/>
                <a:sym typeface="TT Ramillas"/>
              </a:rPr>
              <a:t>Unified multi-pattern detection — circular, layering, smurfing</a:t>
            </a:r>
          </a:p>
          <a:p>
            <a:pPr algn="l" marL="1171575" indent="-234315" lvl="4">
              <a:lnSpc>
                <a:spcPts val="4320"/>
              </a:lnSpc>
              <a:buFont typeface="Arial"/>
              <a:buChar char="•"/>
            </a:pPr>
            <a:r>
              <a:rPr lang="en-US" sz="3600" spc="-29">
                <a:solidFill>
                  <a:srgbClr val="000000"/>
                </a:solidFill>
                <a:latin typeface="TT Ramillas"/>
                <a:ea typeface="TT Ramillas"/>
                <a:cs typeface="TT Ramillas"/>
                <a:sym typeface="TT Ramillas"/>
              </a:rPr>
              <a:t>Explainable per-pattern subgraph evidence for compliance</a:t>
            </a:r>
          </a:p>
          <a:p>
            <a:pPr algn="l" marL="1171575" indent="-234315" lvl="4">
              <a:lnSpc>
                <a:spcPts val="4320"/>
              </a:lnSpc>
              <a:buFont typeface="Arial"/>
              <a:buChar char="•"/>
            </a:pPr>
            <a:r>
              <a:rPr lang="en-US" sz="3600" spc="-29">
                <a:solidFill>
                  <a:srgbClr val="000000"/>
                </a:solidFill>
                <a:latin typeface="TT Ramillas"/>
                <a:ea typeface="TT Ramillas"/>
                <a:cs typeface="TT Ramillas"/>
                <a:sym typeface="TT Ramillas"/>
              </a:rPr>
              <a:t>Causal temporal constraint for production-grade deployment</a:t>
            </a: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2210374" y="3204601"/>
            <a:ext cx="5977033" cy="5953316"/>
            <a:chOff x="0" y="0"/>
            <a:chExt cx="7969377" cy="7937754"/>
          </a:xfrm>
        </p:grpSpPr>
        <p:sp>
          <p:nvSpPr>
            <p:cNvPr name="Freeform 8" id="8"/>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grpSp>
        <p:nvGrpSpPr>
          <p:cNvPr name="Group 9" id="9"/>
          <p:cNvGrpSpPr/>
          <p:nvPr/>
        </p:nvGrpSpPr>
        <p:grpSpPr>
          <a:xfrm rot="0">
            <a:off x="16830599" y="9598257"/>
            <a:ext cx="1097566" cy="616363"/>
            <a:chOff x="0" y="0"/>
            <a:chExt cx="1463421" cy="821817"/>
          </a:xfrm>
        </p:grpSpPr>
        <p:sp>
          <p:nvSpPr>
            <p:cNvPr name="Freeform 10" id="10"/>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6">
                <a:alphaModFix amt="0"/>
              </a:blip>
              <a:stretch>
                <a:fillRect l="-22101" t="0" r="-22101" b="0"/>
              </a:stretch>
            </a:blipFill>
          </p:spPr>
        </p:sp>
      </p:grpSp>
      <p:grpSp>
        <p:nvGrpSpPr>
          <p:cNvPr name="Group 11" id="11"/>
          <p:cNvGrpSpPr/>
          <p:nvPr/>
        </p:nvGrpSpPr>
        <p:grpSpPr>
          <a:xfrm rot="0">
            <a:off x="16830599" y="9583969"/>
            <a:ext cx="1097547" cy="630679"/>
            <a:chOff x="0" y="0"/>
            <a:chExt cx="1463396" cy="840905"/>
          </a:xfrm>
        </p:grpSpPr>
        <p:sp>
          <p:nvSpPr>
            <p:cNvPr name="Freeform 12" id="12"/>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7">
                <a:alphaModFix amt="0"/>
              </a:blip>
              <a:stretch>
                <a:fillRect l="-23777" t="0" r="-23775" b="-4"/>
              </a:stretch>
            </a:blipFill>
          </p:spPr>
        </p:sp>
      </p:grpSp>
      <p:grpSp>
        <p:nvGrpSpPr>
          <p:cNvPr name="Group 13" id="13"/>
          <p:cNvGrpSpPr/>
          <p:nvPr/>
        </p:nvGrpSpPr>
        <p:grpSpPr>
          <a:xfrm rot="0">
            <a:off x="16830599" y="9569682"/>
            <a:ext cx="1097547" cy="644966"/>
            <a:chOff x="0" y="0"/>
            <a:chExt cx="1463396" cy="859955"/>
          </a:xfrm>
        </p:grpSpPr>
        <p:sp>
          <p:nvSpPr>
            <p:cNvPr name="Freeform 14" id="14"/>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8">
                <a:alphaModFix amt="0"/>
              </a:blip>
              <a:stretch>
                <a:fillRect l="-25396" t="0" r="-25396" b="0"/>
              </a:stretch>
            </a:blipFill>
          </p:spPr>
        </p:sp>
        <p:sp>
          <p:nvSpPr>
            <p:cNvPr name="TextBox 15" id="15"/>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7</a:t>
              </a:r>
            </a:p>
          </p:txBody>
        </p:sp>
      </p:grpSp>
      <p:grpSp>
        <p:nvGrpSpPr>
          <p:cNvPr name="Group 16" id="16"/>
          <p:cNvGrpSpPr/>
          <p:nvPr/>
        </p:nvGrpSpPr>
        <p:grpSpPr>
          <a:xfrm rot="0">
            <a:off x="16830599" y="9612544"/>
            <a:ext cx="1097566" cy="602075"/>
            <a:chOff x="0" y="0"/>
            <a:chExt cx="1463421" cy="802767"/>
          </a:xfrm>
        </p:grpSpPr>
        <p:sp>
          <p:nvSpPr>
            <p:cNvPr name="Freeform 17" id="17"/>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9">
                <a:alphaModFix amt="0"/>
              </a:blip>
              <a:stretch>
                <a:fillRect l="-20430" t="0" r="-20430" b="0"/>
              </a:stretch>
            </a:blipFill>
          </p:spPr>
        </p:sp>
      </p:grpSp>
      <p:sp>
        <p:nvSpPr>
          <p:cNvPr name="TextBox 18" id="18"/>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19" id="19"/>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20" id="20"/>
          <p:cNvSpPr txBox="true"/>
          <p:nvPr/>
        </p:nvSpPr>
        <p:spPr>
          <a:xfrm rot="0">
            <a:off x="745303" y="897655"/>
            <a:ext cx="16797252" cy="685533"/>
          </a:xfrm>
          <a:prstGeom prst="rect">
            <a:avLst/>
          </a:prstGeom>
        </p:spPr>
        <p:txBody>
          <a:bodyPr anchor="t" rtlCol="false" tIns="0" lIns="0" bIns="0" rIns="0">
            <a:spAutoFit/>
          </a:bodyPr>
          <a:lstStyle/>
          <a:p>
            <a:pPr algn="l">
              <a:lnSpc>
                <a:spcPts val="5757"/>
              </a:lnSpc>
            </a:pPr>
            <a:r>
              <a:rPr lang="en-US" b="true" sz="4800" spc="-18">
                <a:solidFill>
                  <a:srgbClr val="0000FF"/>
                </a:solidFill>
                <a:latin typeface="IBM Plex Sans Bold"/>
                <a:ea typeface="IBM Plex Sans Bold"/>
                <a:cs typeface="IBM Plex Sans Bold"/>
                <a:sym typeface="IBM Plex Sans Bold"/>
              </a:rPr>
              <a:t>Literature Review</a:t>
            </a:r>
          </a:p>
        </p:txBody>
      </p:sp>
      <p:graphicFrame>
        <p:nvGraphicFramePr>
          <p:cNvPr name="Table 21" id="21"/>
          <p:cNvGraphicFramePr>
            <a:graphicFrameLocks noGrp="true"/>
          </p:cNvGraphicFramePr>
          <p:nvPr/>
        </p:nvGraphicFramePr>
        <p:xfrm>
          <a:off x="745301" y="1849680"/>
          <a:ext cx="16573500" cy="7315200"/>
        </p:xfrm>
        <a:graphic>
          <a:graphicData uri="http://schemas.openxmlformats.org/drawingml/2006/table">
            <a:tbl>
              <a:tblPr/>
              <a:tblGrid>
                <a:gridCol w="1285059"/>
                <a:gridCol w="5093120"/>
                <a:gridCol w="3469604"/>
                <a:gridCol w="3443122"/>
                <a:gridCol w="3282595"/>
              </a:tblGrid>
              <a:tr h="682112">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S.No</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Paper Title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Authors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Methodology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Research Gaps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r>
              <a:tr h="1521599">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 </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Anti-Money Laundering in Bitcoin: Experimenting with Graph Convolutional Networks for Financial Forensics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Weber, Domeniconi, Chen et al. (2019)</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GCN applied on Elliptic Bitcoin Dataset for illicit transaction classification — foundational AML-GNN paper</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Static graph only; no temporal awareness; binary classification with no pattern typology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1277873">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2</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Graph-based LSTM for Anti-Money Laundering: Experimenting Temporal Graph Convolutional Network with Bitcoin Data</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Alarab &amp; Prakoonwit (2023)</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Hybrid GNN-LSTM model combining graph structure with sequential temporal learning on Elliptic dataset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Graph and time processed in separate modules; attention is not time-aware; no explainability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r>
              <a:tr h="1318492">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3</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Detecting Illicit Transactions in Bitcoin: A Wavelet-Temporal Graph Transformer Approach for AML</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Lin, Luo, Wu, Shen et al. (2026)</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Wavelet-based frequency decomposition combined with temporal graph transformer for Bitcoin AML</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Fixed wavelet frequencies cannot adapt to Bitcoin-specific laundering timescales; no multi-pattern detection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1318492">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An Explainable Graph Neural Network Framework for AML in Cryptocurrency using the Elliptic Dataset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Lawal, Okolie &amp; Obunadike (2025)</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GAT-based GNN with attention weights used as proxy for explainability on the Elliptic dataset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Attention weights are not reliable explainability; no temporal modelling; no pattern-specific subgraph evidence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r>
              <a:tr h="1196632">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5</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Anti-Money Laundering in Cryptocurrencies through Graph Neural Networks: A Comparative Study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Marasi &amp; Ferretti (2024)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Systematic comparison of GCN, GAT, and GraphSAGE for cryptocurrency AML on Bitcoin transaction data</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All models are static; no temporal encoding; no explainability; binary classification only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2210374" y="3204601"/>
            <a:ext cx="5977033" cy="5953316"/>
            <a:chOff x="0" y="0"/>
            <a:chExt cx="7969377" cy="7937754"/>
          </a:xfrm>
        </p:grpSpPr>
        <p:sp>
          <p:nvSpPr>
            <p:cNvPr name="Freeform 8" id="8"/>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grpSp>
        <p:nvGrpSpPr>
          <p:cNvPr name="Group 9" id="9"/>
          <p:cNvGrpSpPr/>
          <p:nvPr/>
        </p:nvGrpSpPr>
        <p:grpSpPr>
          <a:xfrm rot="0">
            <a:off x="16830599" y="9598257"/>
            <a:ext cx="1097566" cy="616363"/>
            <a:chOff x="0" y="0"/>
            <a:chExt cx="1463421" cy="821817"/>
          </a:xfrm>
        </p:grpSpPr>
        <p:sp>
          <p:nvSpPr>
            <p:cNvPr name="Freeform 10" id="10"/>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6">
                <a:alphaModFix amt="0"/>
              </a:blip>
              <a:stretch>
                <a:fillRect l="-22101" t="0" r="-22101" b="0"/>
              </a:stretch>
            </a:blipFill>
          </p:spPr>
        </p:sp>
      </p:grpSp>
      <p:grpSp>
        <p:nvGrpSpPr>
          <p:cNvPr name="Group 11" id="11"/>
          <p:cNvGrpSpPr/>
          <p:nvPr/>
        </p:nvGrpSpPr>
        <p:grpSpPr>
          <a:xfrm rot="0">
            <a:off x="16830599" y="9583969"/>
            <a:ext cx="1097547" cy="630679"/>
            <a:chOff x="0" y="0"/>
            <a:chExt cx="1463396" cy="840905"/>
          </a:xfrm>
        </p:grpSpPr>
        <p:sp>
          <p:nvSpPr>
            <p:cNvPr name="Freeform 12" id="12"/>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7">
                <a:alphaModFix amt="0"/>
              </a:blip>
              <a:stretch>
                <a:fillRect l="-23777" t="0" r="-23775" b="-4"/>
              </a:stretch>
            </a:blipFill>
          </p:spPr>
        </p:sp>
      </p:grpSp>
      <p:grpSp>
        <p:nvGrpSpPr>
          <p:cNvPr name="Group 13" id="13"/>
          <p:cNvGrpSpPr/>
          <p:nvPr/>
        </p:nvGrpSpPr>
        <p:grpSpPr>
          <a:xfrm rot="0">
            <a:off x="16830599" y="9569682"/>
            <a:ext cx="1097547" cy="644966"/>
            <a:chOff x="0" y="0"/>
            <a:chExt cx="1463396" cy="859955"/>
          </a:xfrm>
        </p:grpSpPr>
        <p:sp>
          <p:nvSpPr>
            <p:cNvPr name="Freeform 14" id="14"/>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8">
                <a:alphaModFix amt="0"/>
              </a:blip>
              <a:stretch>
                <a:fillRect l="-25396" t="0" r="-25396" b="0"/>
              </a:stretch>
            </a:blipFill>
          </p:spPr>
        </p:sp>
        <p:sp>
          <p:nvSpPr>
            <p:cNvPr name="TextBox 15" id="15"/>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8</a:t>
              </a:r>
            </a:p>
          </p:txBody>
        </p:sp>
      </p:grpSp>
      <p:grpSp>
        <p:nvGrpSpPr>
          <p:cNvPr name="Group 16" id="16"/>
          <p:cNvGrpSpPr/>
          <p:nvPr/>
        </p:nvGrpSpPr>
        <p:grpSpPr>
          <a:xfrm rot="0">
            <a:off x="16830599" y="9612544"/>
            <a:ext cx="1097566" cy="602075"/>
            <a:chOff x="0" y="0"/>
            <a:chExt cx="1463421" cy="802767"/>
          </a:xfrm>
        </p:grpSpPr>
        <p:sp>
          <p:nvSpPr>
            <p:cNvPr name="Freeform 17" id="17"/>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9">
                <a:alphaModFix amt="0"/>
              </a:blip>
              <a:stretch>
                <a:fillRect l="-20430" t="0" r="-20430" b="0"/>
              </a:stretch>
            </a:blipFill>
          </p:spPr>
        </p:sp>
      </p:grpSp>
      <p:sp>
        <p:nvSpPr>
          <p:cNvPr name="TextBox 18" id="18"/>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19" id="19"/>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20" id="20"/>
          <p:cNvSpPr txBox="true"/>
          <p:nvPr/>
        </p:nvSpPr>
        <p:spPr>
          <a:xfrm rot="0">
            <a:off x="745303" y="897655"/>
            <a:ext cx="16797252" cy="685533"/>
          </a:xfrm>
          <a:prstGeom prst="rect">
            <a:avLst/>
          </a:prstGeom>
        </p:spPr>
        <p:txBody>
          <a:bodyPr anchor="t" rtlCol="false" tIns="0" lIns="0" bIns="0" rIns="0">
            <a:spAutoFit/>
          </a:bodyPr>
          <a:lstStyle/>
          <a:p>
            <a:pPr algn="l">
              <a:lnSpc>
                <a:spcPts val="5757"/>
              </a:lnSpc>
            </a:pPr>
            <a:r>
              <a:rPr lang="en-US" b="true" sz="4800" spc="-18">
                <a:solidFill>
                  <a:srgbClr val="0000FF"/>
                </a:solidFill>
                <a:latin typeface="IBM Plex Sans Bold"/>
                <a:ea typeface="IBM Plex Sans Bold"/>
                <a:cs typeface="IBM Plex Sans Bold"/>
                <a:sym typeface="IBM Plex Sans Bold"/>
              </a:rPr>
              <a:t>Cont..</a:t>
            </a:r>
          </a:p>
        </p:txBody>
      </p:sp>
      <p:graphicFrame>
        <p:nvGraphicFramePr>
          <p:cNvPr name="Table 21" id="21"/>
          <p:cNvGraphicFramePr>
            <a:graphicFrameLocks noGrp="true"/>
          </p:cNvGraphicFramePr>
          <p:nvPr/>
        </p:nvGraphicFramePr>
        <p:xfrm>
          <a:off x="745301" y="2040180"/>
          <a:ext cx="16002000" cy="7124700"/>
        </p:xfrm>
        <a:graphic>
          <a:graphicData uri="http://schemas.openxmlformats.org/drawingml/2006/table">
            <a:tbl>
              <a:tblPr/>
              <a:tblGrid>
                <a:gridCol w="1241150"/>
                <a:gridCol w="4917142"/>
                <a:gridCol w="3349931"/>
                <a:gridCol w="3324367"/>
                <a:gridCol w="3169409"/>
              </a:tblGrid>
              <a:tr h="725501">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S.No</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Paper Title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Authors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Methodology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Research Gaps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r>
              <a:tr h="1616411">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6</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Enhancing Anti-Money Laundering Frameworks: An Application of Graph Neural Networks in Cryptocurrency Transaction Classification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Ferretti, D'Angelo &amp; Ghini (2025)</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GATv2 and Chebyshev GCN tested on Elliptic dataset — IEEE Access open-access benchmark paper</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Static models only; no temporal encoding; binary classification; no explainability component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1364139">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7</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Anti-Money Laundering by Group-Aware Deep Graph Learning</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Cheng, Ye, Xiang, Ma, Zhang &amp; Jiang (2023)</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Group-aware deep graph learning for AML — IEEE Transactions on Knowledge and Data Engineering</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Group structure used but no temporal modelling; no multi-pattern detection heads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r>
              <a:tr h="1111868">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8</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 Spatio-Temporal Attention-Based GCN for Anti-Money Laundering Transaction Detection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Huang, Wang, Zhang &amp; Zhao (2023)</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Spatio-temporal graph convolutional network combining spatial GCN and temporal attention for AML</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Spatial and temporal modules are separate; no learnable Fourier encoding; binary output only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1036008">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9</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Global-Local Graph Attention with Cyclic Pseudo-Labels for Bitcoin AML Detection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Li, Jia &amp; Su (2025)</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Global-local GAT with cyclic pseudo-labels targeting circular patterns — Scientific Reports Nature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Targets only circular patterns; no learnable time encoding; no layering or smurfing detection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r>
              <a:tr h="1270773">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Inductive Representation Learning on Temporal Graphs (TGAT)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Xu, Ruan, Korpeoglu, Kumar &amp; Achan (2020)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TGAT with Fourier time encoding for temporal graph learning — foundational architecture of our model</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General-purpose temporal GNN; not applied to AML; no pattern-specific detection or explainability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2210374" y="3204601"/>
            <a:ext cx="5977033" cy="5953316"/>
            <a:chOff x="0" y="0"/>
            <a:chExt cx="7969377" cy="7937754"/>
          </a:xfrm>
        </p:grpSpPr>
        <p:sp>
          <p:nvSpPr>
            <p:cNvPr name="Freeform 8" id="8"/>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grpSp>
        <p:nvGrpSpPr>
          <p:cNvPr name="Group 9" id="9"/>
          <p:cNvGrpSpPr/>
          <p:nvPr/>
        </p:nvGrpSpPr>
        <p:grpSpPr>
          <a:xfrm rot="0">
            <a:off x="16830599" y="9598257"/>
            <a:ext cx="1097566" cy="616363"/>
            <a:chOff x="0" y="0"/>
            <a:chExt cx="1463421" cy="821817"/>
          </a:xfrm>
        </p:grpSpPr>
        <p:sp>
          <p:nvSpPr>
            <p:cNvPr name="Freeform 10" id="10"/>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6">
                <a:alphaModFix amt="0"/>
              </a:blip>
              <a:stretch>
                <a:fillRect l="-22101" t="0" r="-22101" b="0"/>
              </a:stretch>
            </a:blipFill>
          </p:spPr>
        </p:sp>
      </p:grpSp>
      <p:grpSp>
        <p:nvGrpSpPr>
          <p:cNvPr name="Group 11" id="11"/>
          <p:cNvGrpSpPr/>
          <p:nvPr/>
        </p:nvGrpSpPr>
        <p:grpSpPr>
          <a:xfrm rot="0">
            <a:off x="16830599" y="9583969"/>
            <a:ext cx="1097547" cy="630679"/>
            <a:chOff x="0" y="0"/>
            <a:chExt cx="1463396" cy="840905"/>
          </a:xfrm>
        </p:grpSpPr>
        <p:sp>
          <p:nvSpPr>
            <p:cNvPr name="Freeform 12" id="12"/>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7">
                <a:alphaModFix amt="0"/>
              </a:blip>
              <a:stretch>
                <a:fillRect l="-23777" t="0" r="-23775" b="-4"/>
              </a:stretch>
            </a:blipFill>
          </p:spPr>
        </p:sp>
      </p:grpSp>
      <p:grpSp>
        <p:nvGrpSpPr>
          <p:cNvPr name="Group 13" id="13"/>
          <p:cNvGrpSpPr/>
          <p:nvPr/>
        </p:nvGrpSpPr>
        <p:grpSpPr>
          <a:xfrm rot="0">
            <a:off x="16830599" y="9569682"/>
            <a:ext cx="1097547" cy="644966"/>
            <a:chOff x="0" y="0"/>
            <a:chExt cx="1463396" cy="859955"/>
          </a:xfrm>
        </p:grpSpPr>
        <p:sp>
          <p:nvSpPr>
            <p:cNvPr name="Freeform 14" id="14"/>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8">
                <a:alphaModFix amt="0"/>
              </a:blip>
              <a:stretch>
                <a:fillRect l="-25396" t="0" r="-25396" b="0"/>
              </a:stretch>
            </a:blipFill>
          </p:spPr>
        </p:sp>
        <p:sp>
          <p:nvSpPr>
            <p:cNvPr name="TextBox 15" id="15"/>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9</a:t>
              </a:r>
            </a:p>
          </p:txBody>
        </p:sp>
      </p:grpSp>
      <p:grpSp>
        <p:nvGrpSpPr>
          <p:cNvPr name="Group 16" id="16"/>
          <p:cNvGrpSpPr/>
          <p:nvPr/>
        </p:nvGrpSpPr>
        <p:grpSpPr>
          <a:xfrm rot="0">
            <a:off x="16830599" y="9612544"/>
            <a:ext cx="1097566" cy="602075"/>
            <a:chOff x="0" y="0"/>
            <a:chExt cx="1463421" cy="802767"/>
          </a:xfrm>
        </p:grpSpPr>
        <p:sp>
          <p:nvSpPr>
            <p:cNvPr name="Freeform 17" id="17"/>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9">
                <a:alphaModFix amt="0"/>
              </a:blip>
              <a:stretch>
                <a:fillRect l="-20430" t="0" r="-20430" b="0"/>
              </a:stretch>
            </a:blipFill>
          </p:spPr>
        </p:sp>
      </p:grpSp>
      <p:sp>
        <p:nvSpPr>
          <p:cNvPr name="TextBox 18" id="18"/>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19" id="19"/>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20" id="20"/>
          <p:cNvSpPr txBox="true"/>
          <p:nvPr/>
        </p:nvSpPr>
        <p:spPr>
          <a:xfrm rot="0">
            <a:off x="745303" y="897655"/>
            <a:ext cx="16797252" cy="685533"/>
          </a:xfrm>
          <a:prstGeom prst="rect">
            <a:avLst/>
          </a:prstGeom>
        </p:spPr>
        <p:txBody>
          <a:bodyPr anchor="t" rtlCol="false" tIns="0" lIns="0" bIns="0" rIns="0">
            <a:spAutoFit/>
          </a:bodyPr>
          <a:lstStyle/>
          <a:p>
            <a:pPr algn="l">
              <a:lnSpc>
                <a:spcPts val="5757"/>
              </a:lnSpc>
            </a:pPr>
            <a:r>
              <a:rPr lang="en-US" b="true" sz="4800" spc="-18">
                <a:solidFill>
                  <a:srgbClr val="0000FF"/>
                </a:solidFill>
                <a:latin typeface="IBM Plex Sans Bold"/>
                <a:ea typeface="IBM Plex Sans Bold"/>
                <a:cs typeface="IBM Plex Sans Bold"/>
                <a:sym typeface="IBM Plex Sans Bold"/>
              </a:rPr>
              <a:t>Cont..</a:t>
            </a:r>
          </a:p>
        </p:txBody>
      </p:sp>
      <p:graphicFrame>
        <p:nvGraphicFramePr>
          <p:cNvPr name="Table 21" id="21"/>
          <p:cNvGraphicFramePr>
            <a:graphicFrameLocks noGrp="true"/>
          </p:cNvGraphicFramePr>
          <p:nvPr/>
        </p:nvGraphicFramePr>
        <p:xfrm>
          <a:off x="745301" y="2040180"/>
          <a:ext cx="16002000" cy="7124700"/>
        </p:xfrm>
        <a:graphic>
          <a:graphicData uri="http://schemas.openxmlformats.org/drawingml/2006/table">
            <a:tbl>
              <a:tblPr/>
              <a:tblGrid>
                <a:gridCol w="1241149"/>
                <a:gridCol w="4917143"/>
                <a:gridCol w="3349931"/>
                <a:gridCol w="3324367"/>
                <a:gridCol w="3169409"/>
              </a:tblGrid>
              <a:tr h="725501">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S.No</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Paper Title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Authors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Methodology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Research Gaps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r>
              <a:tr h="1616411">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11</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GNNExplainer: Generating Explanations for Graph Neural Networks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Ying, Bourgeois, You, Zitnik &amp; Leskovec (2019)</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Minimal subgraph mask learning using mutual information maximisation for GNN explainability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General-purpose; not applied to AML; no temporal subgraph ordering; no pattern-type labelling</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1364139">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12</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Semi-Supervised Classification with Graph Convolutional Networks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Kipf &amp; Welling (2017)</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Graph Convolutional Network using spectral convolution — foundational GNN paper and our first baseline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Static graph only; no temporal awareness; neighbourhood aggregation ignores time completely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r>
              <a:tr h="1111868">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13</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Graph Attention Networks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Veličković, Cucurull, Casanova et al. (2018)</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Attention-weighted neighbourhood aggregation in GNN — direct predecessor architecture of TGAT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No temporal component; static attention only; no laundering pattern awareness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1036008">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Temporal Graph Networks for Deep Learning on Dynamic Graphs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Rossi, Chamberlain, Frasca et al. (2020)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TGN framework for dynamic graphs with memory modules and temporal neighbourhood aggregation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General temporal GNN; not applied to AML or crypto; no laundering pattern heads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r>
              <a:tr h="1270773">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15</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 Dynamic Graph Convolutional Network for Anti-Money Laundering</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Wei, Zeng, Guo, Guo, Tu &amp; Xu (2023)</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Dynamic GAT (DynGAT) capturing temporal information within the graph attention mechanism for AML</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Temporal attention not inside Fourier encoding; no multi-pattern detection; no explainability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bl>
          </a:graphicData>
        </a:graphic>
      </p:graphicFrame>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2">
              <a:extLst>
                <a:ext uri="{96DAC541-7B7A-43D3-8B79-37D633B846F1}">
                  <asvg:svgBlip xmlns:asvg="http://schemas.microsoft.com/office/drawing/2016/SVG/main" r:embed="rId3"/>
                </a:ext>
              </a:extLst>
            </a:blip>
            <a:stretch>
              <a:fillRect l="0" t="-603" r="0" b="-602"/>
            </a:stretch>
          </a:blipFill>
        </p:spPr>
      </p:sp>
      <p:grpSp>
        <p:nvGrpSpPr>
          <p:cNvPr name="Group 7" id="7"/>
          <p:cNvGrpSpPr/>
          <p:nvPr/>
        </p:nvGrpSpPr>
        <p:grpSpPr>
          <a:xfrm rot="0">
            <a:off x="12210374" y="3204601"/>
            <a:ext cx="5977033" cy="5953316"/>
            <a:chOff x="0" y="0"/>
            <a:chExt cx="7969377" cy="7937754"/>
          </a:xfrm>
        </p:grpSpPr>
        <p:sp>
          <p:nvSpPr>
            <p:cNvPr name="Freeform 8" id="8"/>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4">
                <a:alphaModFix amt="3000"/>
              </a:blip>
              <a:stretch>
                <a:fillRect l="0" t="0" r="0" b="0"/>
              </a:stretch>
            </a:blipFill>
          </p:spPr>
        </p:sp>
      </p:grpSp>
      <p:grpSp>
        <p:nvGrpSpPr>
          <p:cNvPr name="Group 9" id="9"/>
          <p:cNvGrpSpPr/>
          <p:nvPr/>
        </p:nvGrpSpPr>
        <p:grpSpPr>
          <a:xfrm rot="0">
            <a:off x="16830599" y="9598257"/>
            <a:ext cx="1097566" cy="616363"/>
            <a:chOff x="0" y="0"/>
            <a:chExt cx="1463421" cy="821817"/>
          </a:xfrm>
        </p:grpSpPr>
        <p:sp>
          <p:nvSpPr>
            <p:cNvPr name="Freeform 10" id="10"/>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5">
                <a:alphaModFix amt="0"/>
              </a:blip>
              <a:stretch>
                <a:fillRect l="-22101" t="0" r="-22101" b="0"/>
              </a:stretch>
            </a:blipFill>
          </p:spPr>
        </p:sp>
      </p:grpSp>
      <p:grpSp>
        <p:nvGrpSpPr>
          <p:cNvPr name="Group 11" id="11"/>
          <p:cNvGrpSpPr/>
          <p:nvPr/>
        </p:nvGrpSpPr>
        <p:grpSpPr>
          <a:xfrm rot="0">
            <a:off x="16830599" y="9583969"/>
            <a:ext cx="1097547" cy="630679"/>
            <a:chOff x="0" y="0"/>
            <a:chExt cx="1463396" cy="840905"/>
          </a:xfrm>
        </p:grpSpPr>
        <p:sp>
          <p:nvSpPr>
            <p:cNvPr name="Freeform 12" id="12"/>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6">
                <a:alphaModFix amt="0"/>
              </a:blip>
              <a:stretch>
                <a:fillRect l="-23777" t="0" r="-23775" b="-4"/>
              </a:stretch>
            </a:blipFill>
          </p:spPr>
        </p:sp>
      </p:grpSp>
      <p:grpSp>
        <p:nvGrpSpPr>
          <p:cNvPr name="Group 13" id="13"/>
          <p:cNvGrpSpPr/>
          <p:nvPr/>
        </p:nvGrpSpPr>
        <p:grpSpPr>
          <a:xfrm rot="0">
            <a:off x="16830599" y="9569682"/>
            <a:ext cx="1097547" cy="644966"/>
            <a:chOff x="0" y="0"/>
            <a:chExt cx="1463396" cy="859955"/>
          </a:xfrm>
        </p:grpSpPr>
        <p:sp>
          <p:nvSpPr>
            <p:cNvPr name="Freeform 14" id="14"/>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7">
                <a:alphaModFix amt="0"/>
              </a:blip>
              <a:stretch>
                <a:fillRect l="-25396" t="0" r="-25396" b="0"/>
              </a:stretch>
            </a:blipFill>
          </p:spPr>
        </p:sp>
        <p:sp>
          <p:nvSpPr>
            <p:cNvPr name="TextBox 15" id="15"/>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10</a:t>
              </a:r>
            </a:p>
          </p:txBody>
        </p:sp>
      </p:grpSp>
      <p:grpSp>
        <p:nvGrpSpPr>
          <p:cNvPr name="Group 16" id="16"/>
          <p:cNvGrpSpPr/>
          <p:nvPr/>
        </p:nvGrpSpPr>
        <p:grpSpPr>
          <a:xfrm rot="0">
            <a:off x="16830599" y="9612544"/>
            <a:ext cx="1097566" cy="602075"/>
            <a:chOff x="0" y="0"/>
            <a:chExt cx="1463421" cy="802767"/>
          </a:xfrm>
        </p:grpSpPr>
        <p:sp>
          <p:nvSpPr>
            <p:cNvPr name="Freeform 17" id="17"/>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8">
                <a:alphaModFix amt="0"/>
              </a:blip>
              <a:stretch>
                <a:fillRect l="-20430" t="0" r="-20430" b="0"/>
              </a:stretch>
            </a:blipFill>
          </p:spPr>
        </p:sp>
      </p:grpSp>
      <p:sp>
        <p:nvSpPr>
          <p:cNvPr name="TextBox 18" id="18"/>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19" id="19"/>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20" id="20"/>
          <p:cNvSpPr txBox="true"/>
          <p:nvPr/>
        </p:nvSpPr>
        <p:spPr>
          <a:xfrm rot="0">
            <a:off x="745303" y="897655"/>
            <a:ext cx="16797252" cy="685533"/>
          </a:xfrm>
          <a:prstGeom prst="rect">
            <a:avLst/>
          </a:prstGeom>
        </p:spPr>
        <p:txBody>
          <a:bodyPr anchor="t" rtlCol="false" tIns="0" lIns="0" bIns="0" rIns="0">
            <a:spAutoFit/>
          </a:bodyPr>
          <a:lstStyle/>
          <a:p>
            <a:pPr algn="l">
              <a:lnSpc>
                <a:spcPts val="5757"/>
              </a:lnSpc>
            </a:pPr>
            <a:r>
              <a:rPr lang="en-US" b="true" sz="4800" spc="-18">
                <a:solidFill>
                  <a:srgbClr val="0000FF"/>
                </a:solidFill>
                <a:latin typeface="IBM Plex Sans Bold"/>
                <a:ea typeface="IBM Plex Sans Bold"/>
                <a:cs typeface="IBM Plex Sans Bold"/>
                <a:sym typeface="IBM Plex Sans Bold"/>
              </a:rPr>
              <a:t>Cont..</a:t>
            </a:r>
          </a:p>
        </p:txBody>
      </p:sp>
      <p:graphicFrame>
        <p:nvGraphicFramePr>
          <p:cNvPr name="Table 21" id="21"/>
          <p:cNvGraphicFramePr>
            <a:graphicFrameLocks noGrp="true"/>
          </p:cNvGraphicFramePr>
          <p:nvPr/>
        </p:nvGraphicFramePr>
        <p:xfrm>
          <a:off x="745301" y="2040180"/>
          <a:ext cx="16002000" cy="7124700"/>
        </p:xfrm>
        <a:graphic>
          <a:graphicData uri="http://schemas.openxmlformats.org/drawingml/2006/table">
            <a:tbl>
              <a:tblPr/>
              <a:tblGrid>
                <a:gridCol w="1241149"/>
                <a:gridCol w="4917143"/>
                <a:gridCol w="3349931"/>
                <a:gridCol w="3324367"/>
                <a:gridCol w="3169409"/>
              </a:tblGrid>
              <a:tr h="725501">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S.No</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Paper Title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Authors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Methodology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Research Gaps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r>
              <a:tr h="1616411">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16</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 Spatio-Temporal Graph Neural Network for Detecting Money Laundering in Cryptocurrency Transactions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Al-Harbi, H. (2025)</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Spatial-temporal GNN combining spatial GCN and temporal sequence learning for blockchain anomaly detection — IEEE 2025</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Spatial and temporal streams are separate; no learnable Fourier encoding; binary classification only; no explainability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1364139">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17</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Anti-Money Laundering in Cryptocurrencies through Graph Neural Networks: A Comparative Study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Marasi &amp; Ferretti (2024)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Systematic benchmark comparing GCN, GAT, and GraphSAGE for cryptocurrency AML — IEEE CCNC 2024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All static models; no temporal encoding; binary output; no multi-pattern detection; used as baseline in our work</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r>
              <a:tr h="1111868">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18</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EvolveGCN: Evolving Graph Convolutional Networks for Dynamic Graphs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Pareja, Domeniconi, Chen et al. (2020)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GCN with RNN-based weight evolution across dynamic graph snapshots — AAAI 2020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Evolves weights per snapshot but no within-snapshot temporal attention; no AML application; no explainability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1036008">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19</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Scalable Semi-Supervised Graph Learning Techniques for Anti-Money Laundering</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Karim, Hermsen, Chala &amp; De Perthuis (2024)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Semi-supervised graph learning on large AML transaction graphs addressing class imbalance — IEEE 2024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Semi-supervised approach; static graph; uniform class weighting ignores temporal drift; no Fourier encoding</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r>
              <a:tr h="1270773">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20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Graph Diffusion Arithmetic Feature Interaction Transformer with Temporal Information for Bitcoin AML</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Li, Jia, Ma &amp; Su (2026)</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Graph diffusion combined with temporal arithmetic feature interaction transformer — Springer Applied Intelligence 2026</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No learnable frequency encoding; no unified multi-pattern detection; no per-pattern explainability module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2">
              <a:extLst>
                <a:ext uri="{96DAC541-7B7A-43D3-8B79-37D633B846F1}">
                  <asvg:svgBlip xmlns:asvg="http://schemas.microsoft.com/office/drawing/2016/SVG/main" r:embed="rId3"/>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4">
                <a:alphaModFix amt="3000"/>
              </a:blip>
              <a:stretch>
                <a:fillRect l="0" t="0" r="0" b="0"/>
              </a:stretch>
            </a:blipFill>
          </p:spPr>
        </p:sp>
      </p:grpSp>
      <p:sp>
        <p:nvSpPr>
          <p:cNvPr name="TextBox 11" id="11"/>
          <p:cNvSpPr txBox="true"/>
          <p:nvPr/>
        </p:nvSpPr>
        <p:spPr>
          <a:xfrm rot="0">
            <a:off x="745303" y="897655"/>
            <a:ext cx="16797252" cy="685800"/>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Gap Analysis</a:t>
            </a:r>
          </a:p>
        </p:txBody>
      </p:sp>
      <p:sp>
        <p:nvSpPr>
          <p:cNvPr name="TextBox 12" id="12"/>
          <p:cNvSpPr txBox="true"/>
          <p:nvPr/>
        </p:nvSpPr>
        <p:spPr>
          <a:xfrm rot="0">
            <a:off x="745303" y="2171757"/>
            <a:ext cx="15731080" cy="6534150"/>
          </a:xfrm>
          <a:prstGeom prst="rect">
            <a:avLst/>
          </a:prstGeom>
        </p:spPr>
        <p:txBody>
          <a:bodyPr anchor="t" rtlCol="false" tIns="0" lIns="0" bIns="0" rIns="0">
            <a:spAutoFit/>
          </a:bodyPr>
          <a:lstStyle/>
          <a:p>
            <a:pPr algn="just">
              <a:lnSpc>
                <a:spcPts val="3719"/>
              </a:lnSpc>
            </a:pPr>
            <a:r>
              <a:rPr lang="en-US" sz="3099" spc="-23">
                <a:solidFill>
                  <a:srgbClr val="000000"/>
                </a:solidFill>
                <a:latin typeface="TT Ramillas"/>
                <a:ea typeface="TT Ramillas"/>
                <a:cs typeface="TT Ramillas"/>
                <a:sym typeface="TT Ramillas"/>
              </a:rPr>
              <a:t>Research Gaps Identified from Literature Review</a:t>
            </a:r>
          </a:p>
          <a:p>
            <a:pPr algn="l" marL="1008855" indent="-201771" lvl="4">
              <a:lnSpc>
                <a:spcPts val="3719"/>
              </a:lnSpc>
              <a:buFont typeface="Arial"/>
              <a:buChar char="•"/>
            </a:pPr>
            <a:r>
              <a:rPr lang="en-US" b="true" sz="3099" spc="-23">
                <a:solidFill>
                  <a:srgbClr val="000000"/>
                </a:solidFill>
                <a:latin typeface="TT Ramillas Bold"/>
                <a:ea typeface="TT Ramillas Bold"/>
                <a:cs typeface="TT Ramillas Bold"/>
                <a:sym typeface="TT Ramillas Bold"/>
              </a:rPr>
              <a:t>Structural Gap: </a:t>
            </a:r>
            <a:r>
              <a:rPr lang="en-US" sz="3099" spc="-23">
                <a:solidFill>
                  <a:srgbClr val="000000"/>
                </a:solidFill>
                <a:latin typeface="TT Ramillas"/>
                <a:ea typeface="TT Ramillas"/>
                <a:cs typeface="TT Ramillas"/>
                <a:sym typeface="TT Ramillas"/>
              </a:rPr>
              <a:t>Static and disconnected temporal GNN models (Weber 2019, Alarab 2023, Lin 2026) fail to capture the time-evolving nature of laundering patterns — either ignoring time entirely or encoding it with fixed, non-adaptive frequencies that cannot learn Bitcoin-specific laundering timescales.</a:t>
            </a:r>
          </a:p>
          <a:p>
            <a:pPr algn="l" marL="1008855" indent="-201771" lvl="4">
              <a:lnSpc>
                <a:spcPts val="3719"/>
              </a:lnSpc>
              <a:buFont typeface="Arial"/>
              <a:buChar char="•"/>
            </a:pPr>
            <a:r>
              <a:rPr lang="en-US" b="true" sz="3099" spc="-24">
                <a:solidFill>
                  <a:srgbClr val="000000"/>
                </a:solidFill>
                <a:latin typeface="TT Ramillas Bold"/>
                <a:ea typeface="TT Ramillas Bold"/>
                <a:cs typeface="TT Ramillas Bold"/>
                <a:sym typeface="TT Ramillas Bold"/>
              </a:rPr>
              <a:t>Detection Gap:</a:t>
            </a:r>
            <a:r>
              <a:rPr lang="en-US" sz="3099" spc="-24">
                <a:solidFill>
                  <a:srgbClr val="000000"/>
                </a:solidFill>
                <a:latin typeface="TT Ramillas"/>
                <a:ea typeface="TT Ramillas"/>
                <a:cs typeface="TT Ramillas"/>
                <a:sym typeface="TT Ramillas"/>
              </a:rPr>
              <a:t> No existing system performs multi-pattern detection. All papers produce a binary illicit/licit output without identifying whether the crime is a circular transfer, layering chain, or smurfing — leaving compliance officers without the pattern context needed for SAR investigation.</a:t>
            </a:r>
          </a:p>
          <a:p>
            <a:pPr algn="l" marL="1008855" indent="-201771" lvl="4">
              <a:lnSpc>
                <a:spcPts val="3719"/>
              </a:lnSpc>
              <a:buFont typeface="Arial"/>
              <a:buChar char="•"/>
            </a:pPr>
            <a:r>
              <a:rPr lang="en-US" b="true" sz="3099" spc="-24">
                <a:solidFill>
                  <a:srgbClr val="000000"/>
                </a:solidFill>
                <a:latin typeface="TT Ramillas Bold"/>
                <a:ea typeface="TT Ramillas Bold"/>
                <a:cs typeface="TT Ramillas Bold"/>
                <a:sym typeface="TT Ramillas Bold"/>
              </a:rPr>
              <a:t>Explainability Gap: </a:t>
            </a:r>
            <a:r>
              <a:rPr lang="en-US" sz="3099" spc="-24">
                <a:solidFill>
                  <a:srgbClr val="000000"/>
                </a:solidFill>
                <a:latin typeface="TT Ramillas"/>
                <a:ea typeface="TT Ramillas"/>
                <a:cs typeface="TT Ramillas"/>
                <a:sym typeface="TT Ramillas"/>
              </a:rPr>
              <a:t>Current explainability approaches use attention weights (Lawal 2025) rather than evidence subgraphs — producing neither time-ordered transaction trails nor pattern-specific forensic evidence, making existing models unsuitable for real-world regulatory deployment.</a:t>
            </a:r>
          </a:p>
          <a:p>
            <a:pPr algn="l" marL="1008855" indent="-201771" lvl="4">
              <a:lnSpc>
                <a:spcPts val="3719"/>
              </a:lnSpc>
            </a:pP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5">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6">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7">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8">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6</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97655"/>
            <a:ext cx="16797252" cy="685800"/>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Objectives</a:t>
            </a:r>
          </a:p>
        </p:txBody>
      </p:sp>
      <p:sp>
        <p:nvSpPr>
          <p:cNvPr name="TextBox 12" id="12"/>
          <p:cNvSpPr txBox="true"/>
          <p:nvPr/>
        </p:nvSpPr>
        <p:spPr>
          <a:xfrm rot="0">
            <a:off x="745303" y="1866900"/>
            <a:ext cx="16085296" cy="6309417"/>
          </a:xfrm>
          <a:prstGeom prst="rect">
            <a:avLst/>
          </a:prstGeom>
        </p:spPr>
        <p:txBody>
          <a:bodyPr anchor="t" rtlCol="false" tIns="0" lIns="0" bIns="0" rIns="0">
            <a:spAutoFit/>
          </a:bodyPr>
          <a:lstStyle/>
          <a:p>
            <a:pPr algn="just">
              <a:lnSpc>
                <a:spcPts val="3357"/>
              </a:lnSpc>
            </a:pPr>
            <a:r>
              <a:rPr lang="en-US" b="true" sz="2799" spc="-19">
                <a:solidFill>
                  <a:srgbClr val="000000"/>
                </a:solidFill>
                <a:latin typeface="TT Ramillas Bold"/>
                <a:ea typeface="TT Ramillas Bold"/>
                <a:cs typeface="TT Ramillas Bold"/>
                <a:sym typeface="TT Ramillas Bold"/>
              </a:rPr>
              <a:t>Research Aim: </a:t>
            </a:r>
            <a:r>
              <a:rPr lang="en-US" sz="2799" spc="-19">
                <a:solidFill>
                  <a:srgbClr val="000000"/>
                </a:solidFill>
                <a:latin typeface="TT Ramillas"/>
                <a:ea typeface="TT Ramillas"/>
                <a:cs typeface="TT Ramillas"/>
                <a:sym typeface="TT Ramillas"/>
              </a:rPr>
              <a:t>To design, implement, and validate a Temporal Graph Attention Network with learnable Fourier time encoding for explainable multi-pattern Anti-Money Laundering detection in cryptocurrency transaction networks.</a:t>
            </a:r>
          </a:p>
          <a:p>
            <a:pPr algn="just">
              <a:lnSpc>
                <a:spcPts val="6717"/>
              </a:lnSpc>
            </a:pPr>
            <a:r>
              <a:rPr lang="en-US" b="true" sz="2799" spc="-19">
                <a:solidFill>
                  <a:srgbClr val="000000"/>
                </a:solidFill>
                <a:latin typeface="TT Ramillas Bold"/>
                <a:ea typeface="TT Ramillas Bold"/>
                <a:cs typeface="TT Ramillas Bold"/>
                <a:sym typeface="TT Ramillas Bold"/>
              </a:rPr>
              <a:t>O1 – Temporal Graph Construction</a:t>
            </a:r>
          </a:p>
          <a:p>
            <a:pPr algn="just">
              <a:lnSpc>
                <a:spcPts val="3357"/>
              </a:lnSpc>
            </a:pPr>
            <a:r>
              <a:rPr lang="en-US" sz="2799" spc="-19">
                <a:solidFill>
                  <a:srgbClr val="000000"/>
                </a:solidFill>
                <a:latin typeface="TT Ramillas"/>
                <a:ea typeface="TT Ramillas"/>
                <a:cs typeface="TT Ramillas"/>
                <a:sym typeface="TT Ramillas"/>
              </a:rPr>
              <a:t>Build a directed, weighted, temporal graph from the Elliptic Bitcoin Dataset — wallet addresses as nodes, Bitcoin transactions as timestamped directed edges — preserving all 49 ordered time snapshots for time-aware model training and evaluation.</a:t>
            </a:r>
          </a:p>
          <a:p>
            <a:pPr algn="just">
              <a:lnSpc>
                <a:spcPts val="6717"/>
              </a:lnSpc>
            </a:pPr>
            <a:r>
              <a:rPr lang="en-US" b="true" sz="2799" spc="-19">
                <a:solidFill>
                  <a:srgbClr val="000000"/>
                </a:solidFill>
                <a:latin typeface="TT Ramillas Bold"/>
                <a:ea typeface="TT Ramillas Bold"/>
                <a:cs typeface="TT Ramillas Bold"/>
                <a:sym typeface="TT Ramillas Bold"/>
              </a:rPr>
              <a:t>O2 – Learnable Fourier Time Encoding (Core Novelty)</a:t>
            </a:r>
          </a:p>
          <a:p>
            <a:pPr algn="just">
              <a:lnSpc>
                <a:spcPts val="3357"/>
              </a:lnSpc>
            </a:pPr>
            <a:r>
              <a:rPr lang="en-US" sz="2799" spc="-19">
                <a:solidFill>
                  <a:srgbClr val="000000"/>
                </a:solidFill>
                <a:latin typeface="TT Ramillas"/>
                <a:ea typeface="TT Ramillas"/>
                <a:cs typeface="TT Ramillas"/>
                <a:sym typeface="TT Ramillas"/>
              </a:rPr>
              <a:t>Design and implement trainable Fourier frequency parameters ω₁ through ωd inside the graph attention mechanism — enabling the model to automatically discover the characteristic timescales of circular transfers, layering chains, and smurfing from real transaction data without any human-specified frequencies.</a:t>
            </a:r>
          </a:p>
          <a:p>
            <a:pPr algn="just">
              <a:lnSpc>
                <a:spcPts val="3357"/>
              </a:lnSpc>
            </a:pP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10</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97655"/>
            <a:ext cx="16797252" cy="685800"/>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Cont..</a:t>
            </a:r>
          </a:p>
        </p:txBody>
      </p:sp>
      <p:sp>
        <p:nvSpPr>
          <p:cNvPr name="TextBox 12" id="12"/>
          <p:cNvSpPr txBox="true"/>
          <p:nvPr/>
        </p:nvSpPr>
        <p:spPr>
          <a:xfrm rot="0">
            <a:off x="745303" y="829323"/>
            <a:ext cx="15790097" cy="6216015"/>
          </a:xfrm>
          <a:prstGeom prst="rect">
            <a:avLst/>
          </a:prstGeom>
        </p:spPr>
        <p:txBody>
          <a:bodyPr anchor="t" rtlCol="false" tIns="0" lIns="0" bIns="0" rIns="0">
            <a:spAutoFit/>
          </a:bodyPr>
          <a:lstStyle/>
          <a:p>
            <a:pPr algn="just">
              <a:lnSpc>
                <a:spcPts val="6717"/>
              </a:lnSpc>
            </a:pPr>
          </a:p>
          <a:p>
            <a:pPr algn="just">
              <a:lnSpc>
                <a:spcPts val="3357"/>
              </a:lnSpc>
            </a:pPr>
            <a:r>
              <a:rPr lang="en-US" b="true" sz="2799" spc="-19">
                <a:solidFill>
                  <a:srgbClr val="000000"/>
                </a:solidFill>
                <a:latin typeface="TT Ramillas Bold"/>
                <a:ea typeface="TT Ramillas Bold"/>
                <a:cs typeface="TT Ramillas Bold"/>
                <a:sym typeface="TT Ramillas Bold"/>
              </a:rPr>
              <a:t>O3 – Unified Multi-Pattern Detection</a:t>
            </a:r>
          </a:p>
          <a:p>
            <a:pPr algn="just">
              <a:lnSpc>
                <a:spcPts val="3357"/>
              </a:lnSpc>
            </a:pPr>
            <a:r>
              <a:rPr lang="en-US" sz="2799" spc="-19">
                <a:solidFill>
                  <a:srgbClr val="000000"/>
                </a:solidFill>
                <a:latin typeface="TT Ramillas"/>
                <a:ea typeface="TT Ramillas"/>
                <a:cs typeface="TT Ramillas"/>
                <a:sym typeface="TT Ramillas"/>
              </a:rPr>
              <a:t>Build pattern-specific detection heads on top of shared TGAT embeddings to simultaneously detect all three laundering strategies — circular transfers via subgraph motif matching, layering chains via temporal path velocity scoring, and smurfing via fan-out anomaly scoring.</a:t>
            </a:r>
          </a:p>
          <a:p>
            <a:pPr algn="just">
              <a:lnSpc>
                <a:spcPts val="3357"/>
              </a:lnSpc>
            </a:pPr>
          </a:p>
          <a:p>
            <a:pPr algn="just">
              <a:lnSpc>
                <a:spcPts val="3357"/>
              </a:lnSpc>
            </a:pPr>
            <a:r>
              <a:rPr lang="en-US" b="true" sz="2799" spc="-19">
                <a:solidFill>
                  <a:srgbClr val="000000"/>
                </a:solidFill>
                <a:latin typeface="TT Ramillas Bold"/>
                <a:ea typeface="TT Ramillas Bold"/>
                <a:cs typeface="TT Ramillas Bold"/>
                <a:sym typeface="TT Ramillas Bold"/>
              </a:rPr>
              <a:t>O4 – Per-Pattern Subgraph Explainability</a:t>
            </a:r>
          </a:p>
          <a:p>
            <a:pPr algn="just">
              <a:lnSpc>
                <a:spcPts val="3357"/>
              </a:lnSpc>
            </a:pPr>
            <a:r>
              <a:rPr lang="en-US" sz="2799" spc="-19">
                <a:solidFill>
                  <a:srgbClr val="000000"/>
                </a:solidFill>
                <a:latin typeface="TT Ramillas"/>
                <a:ea typeface="TT Ramillas"/>
                <a:cs typeface="TT Ramillas"/>
                <a:sym typeface="TT Ramillas"/>
              </a:rPr>
              <a:t>Integrate GNNExplainer to produce per-alert, per-pattern time-ordered minimal subgraph evidence reports — identifying the exact transaction chains responsible for each flag and enabling compliance-ready Suspicious Activity Report generation.</a:t>
            </a:r>
          </a:p>
          <a:p>
            <a:pPr algn="just">
              <a:lnSpc>
                <a:spcPts val="3357"/>
              </a:lnSpc>
            </a:pPr>
          </a:p>
          <a:p>
            <a:pPr algn="just">
              <a:lnSpc>
                <a:spcPts val="3357"/>
              </a:lnSpc>
            </a:pP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11</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97655"/>
            <a:ext cx="16797252" cy="685800"/>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Proposed Contribution</a:t>
            </a:r>
          </a:p>
        </p:txBody>
      </p:sp>
      <p:sp>
        <p:nvSpPr>
          <p:cNvPr name="TextBox 12" id="12"/>
          <p:cNvSpPr txBox="true"/>
          <p:nvPr/>
        </p:nvSpPr>
        <p:spPr>
          <a:xfrm rot="0">
            <a:off x="745303" y="1743694"/>
            <a:ext cx="15731080" cy="6311503"/>
          </a:xfrm>
          <a:prstGeom prst="rect">
            <a:avLst/>
          </a:prstGeom>
        </p:spPr>
        <p:txBody>
          <a:bodyPr anchor="t" rtlCol="false" tIns="0" lIns="0" bIns="0" rIns="0">
            <a:spAutoFit/>
          </a:bodyPr>
          <a:lstStyle/>
          <a:p>
            <a:pPr algn="just">
              <a:lnSpc>
                <a:spcPts val="4320"/>
              </a:lnSpc>
            </a:pPr>
            <a:r>
              <a:rPr lang="en-US" sz="2799" spc="-24">
                <a:solidFill>
                  <a:srgbClr val="000000"/>
                </a:solidFill>
                <a:latin typeface="TT Ramillas"/>
                <a:ea typeface="TT Ramillas"/>
                <a:cs typeface="TT Ramillas"/>
                <a:sym typeface="TT Ramillas"/>
              </a:rPr>
              <a:t>This research proposes</a:t>
            </a:r>
          </a:p>
          <a:p>
            <a:pPr algn="just" marL="954193" indent="-190839" lvl="4">
              <a:lnSpc>
                <a:spcPts val="4320"/>
              </a:lnSpc>
              <a:buFont typeface="Arial"/>
              <a:buChar char="•"/>
            </a:pPr>
            <a:r>
              <a:rPr lang="en-US" sz="2799" spc="-24">
                <a:solidFill>
                  <a:srgbClr val="000000"/>
                </a:solidFill>
                <a:latin typeface="TT Ramillas"/>
                <a:ea typeface="TT Ramillas"/>
                <a:cs typeface="TT Ramillas"/>
                <a:sym typeface="TT Ramillas"/>
              </a:rPr>
              <a:t>Learnable Fourier time encoding trained end-to-end inside graph attention — model discovers laundering timescales from data automatically.</a:t>
            </a:r>
          </a:p>
          <a:p>
            <a:pPr algn="just" marL="954193" indent="-190839" lvl="4">
              <a:lnSpc>
                <a:spcPts val="4320"/>
              </a:lnSpc>
              <a:buFont typeface="Arial"/>
              <a:buChar char="•"/>
            </a:pPr>
            <a:r>
              <a:rPr lang="en-US" sz="2799" spc="-24">
                <a:solidFill>
                  <a:srgbClr val="000000"/>
                </a:solidFill>
                <a:latin typeface="TT Ramillas"/>
                <a:ea typeface="TT Ramillas"/>
                <a:cs typeface="TT Ramillas"/>
                <a:sym typeface="TT Ramillas"/>
              </a:rPr>
              <a:t>Unified 3-pattern detection framework — circular transfers, layering chains, and smurfing detected simultaneously from shared TGAT embeddings.</a:t>
            </a:r>
          </a:p>
          <a:p>
            <a:pPr algn="just" marL="954193" indent="-190839" lvl="4">
              <a:lnSpc>
                <a:spcPts val="4320"/>
              </a:lnSpc>
              <a:buFont typeface="Arial"/>
              <a:buChar char="•"/>
            </a:pPr>
            <a:r>
              <a:rPr lang="en-US" sz="2799" spc="-24">
                <a:solidFill>
                  <a:srgbClr val="000000"/>
                </a:solidFill>
                <a:latin typeface="TT Ramillas"/>
                <a:ea typeface="TT Ramillas"/>
                <a:cs typeface="TT Ramillas"/>
                <a:sym typeface="TT Ramillas"/>
              </a:rPr>
              <a:t>Causal temporal neighbourhood constraint — only past transactions used per node, ensuring production-grade deployability.</a:t>
            </a:r>
          </a:p>
          <a:p>
            <a:pPr algn="just" marL="954193" indent="-190839" lvl="4">
              <a:lnSpc>
                <a:spcPts val="4320"/>
              </a:lnSpc>
              <a:buFont typeface="Arial"/>
              <a:buChar char="•"/>
            </a:pPr>
            <a:r>
              <a:rPr lang="en-US" sz="2799" spc="-24">
                <a:solidFill>
                  <a:srgbClr val="000000"/>
                </a:solidFill>
                <a:latin typeface="TT Ramillas"/>
                <a:ea typeface="TT Ramillas"/>
                <a:cs typeface="TT Ramillas"/>
                <a:sym typeface="TT Ramillas"/>
              </a:rPr>
              <a:t>Per-pattern time-ordered subgraph explainability via GNNExplainer — compliance-ready SAR evidence for every alert.</a:t>
            </a:r>
          </a:p>
          <a:p>
            <a:pPr algn="just" marL="954193" indent="-190839" lvl="4">
              <a:lnSpc>
                <a:spcPts val="4320"/>
              </a:lnSpc>
              <a:buFont typeface="Arial"/>
              <a:buChar char="•"/>
            </a:pPr>
            <a:r>
              <a:rPr lang="en-US" sz="2799" spc="-24">
                <a:solidFill>
                  <a:srgbClr val="000000"/>
                </a:solidFill>
                <a:latin typeface="TT Ramillas"/>
                <a:ea typeface="TT Ramillas"/>
                <a:cs typeface="TT Ramillas"/>
                <a:sym typeface="TT Ramillas"/>
              </a:rPr>
              <a:t>Temporal class imbalance correction — per-timestep class weighting addressing drift across 49 Elliptic time steps.</a:t>
            </a: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12</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97655"/>
            <a:ext cx="16797252" cy="685800"/>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Dataset Overview</a:t>
            </a:r>
          </a:p>
        </p:txBody>
      </p:sp>
      <p:sp>
        <p:nvSpPr>
          <p:cNvPr name="TextBox 12" id="12"/>
          <p:cNvSpPr txBox="true"/>
          <p:nvPr/>
        </p:nvSpPr>
        <p:spPr>
          <a:xfrm rot="0">
            <a:off x="745303" y="1457944"/>
            <a:ext cx="16976131" cy="8331841"/>
          </a:xfrm>
          <a:prstGeom prst="rect">
            <a:avLst/>
          </a:prstGeom>
        </p:spPr>
        <p:txBody>
          <a:bodyPr anchor="t" rtlCol="false" tIns="0" lIns="0" bIns="0" rIns="0">
            <a:spAutoFit/>
          </a:bodyPr>
          <a:lstStyle/>
          <a:p>
            <a:pPr algn="just">
              <a:lnSpc>
                <a:spcPts val="4320"/>
              </a:lnSpc>
            </a:pPr>
            <a:r>
              <a:rPr lang="en-US" sz="2799" spc="-24">
                <a:solidFill>
                  <a:srgbClr val="000000"/>
                </a:solidFill>
                <a:latin typeface="TT Ramillas"/>
                <a:ea typeface="TT Ramillas"/>
                <a:cs typeface="TT Ramillas"/>
                <a:sym typeface="TT Ramillas"/>
              </a:rPr>
              <a:t>Dataset Overview — Elliptic Bitcoin Dataset</a:t>
            </a:r>
          </a:p>
          <a:p>
            <a:pPr algn="just">
              <a:lnSpc>
                <a:spcPts val="4320"/>
              </a:lnSpc>
            </a:pPr>
            <a:r>
              <a:rPr lang="en-US" b="true" sz="2799" spc="-24">
                <a:solidFill>
                  <a:srgbClr val="000000"/>
                </a:solidFill>
                <a:latin typeface="TT Ramillas Bold"/>
                <a:ea typeface="TT Ramillas Bold"/>
                <a:cs typeface="TT Ramillas Bold"/>
                <a:sym typeface="TT Ramillas Bold"/>
              </a:rPr>
              <a:t>Key Statistics:</a:t>
            </a:r>
          </a:p>
          <a:p>
            <a:pPr algn="just">
              <a:lnSpc>
                <a:spcPts val="4320"/>
              </a:lnSpc>
            </a:pPr>
            <a:r>
              <a:rPr lang="en-US" sz="2799" spc="-24">
                <a:solidFill>
                  <a:srgbClr val="000000"/>
                </a:solidFill>
                <a:latin typeface="TT Ramillas"/>
                <a:ea typeface="TT Ramillas"/>
                <a:cs typeface="TT Ramillas"/>
                <a:sym typeface="TT Ramillas"/>
              </a:rPr>
              <a:t>203,769 transactions (nodes) — 234,355 directed edges — 49 temporal snapshots — 166 features per transaction — approximately 2% illicit transactions</a:t>
            </a:r>
          </a:p>
          <a:p>
            <a:pPr algn="just">
              <a:lnSpc>
                <a:spcPts val="4320"/>
              </a:lnSpc>
            </a:pPr>
            <a:r>
              <a:rPr lang="en-US" b="true" sz="2799" spc="-24">
                <a:solidFill>
                  <a:srgbClr val="000000"/>
                </a:solidFill>
                <a:latin typeface="TT Ramillas Bold"/>
                <a:ea typeface="TT Ramillas Bold"/>
                <a:cs typeface="TT Ramillas Bold"/>
                <a:sym typeface="TT Ramillas Bold"/>
              </a:rPr>
              <a:t>Feature Structure:</a:t>
            </a:r>
          </a:p>
          <a:p>
            <a:pPr algn="just" marL="675438" indent="-168859" lvl="3">
              <a:lnSpc>
                <a:spcPts val="3357"/>
              </a:lnSpc>
              <a:buFont typeface="Arial"/>
              <a:buChar char="￭"/>
            </a:pPr>
            <a:r>
              <a:rPr lang="en-US" sz="2799" spc="-24">
                <a:solidFill>
                  <a:srgbClr val="000000"/>
                </a:solidFill>
                <a:latin typeface="TT Ramillas"/>
                <a:ea typeface="TT Ramillas"/>
                <a:cs typeface="TT Ramillas"/>
                <a:sym typeface="TT Ramillas"/>
              </a:rPr>
              <a:t>Local Features — 94 features</a:t>
            </a:r>
          </a:p>
          <a:p>
            <a:pPr algn="just" marL="675438" indent="-168859" lvl="3">
              <a:lnSpc>
                <a:spcPts val="3357"/>
              </a:lnSpc>
            </a:pPr>
            <a:r>
              <a:rPr lang="en-US" sz="2799" spc="-24">
                <a:solidFill>
                  <a:srgbClr val="000000"/>
                </a:solidFill>
                <a:latin typeface="TT Ramillas"/>
                <a:ea typeface="TT Ramillas"/>
                <a:cs typeface="TT Ramillas"/>
                <a:sym typeface="TT Ramillas"/>
              </a:rPr>
              <a:t> Transaction fee, number of inputs, number of outputs, total BTC value, average input and output values, transaction size in bytes, and time step — all extracted directly from raw Bitcoin blockchain data.</a:t>
            </a:r>
          </a:p>
          <a:p>
            <a:pPr algn="just" marL="675438" indent="-168859" lvl="3">
              <a:lnSpc>
                <a:spcPts val="3357"/>
              </a:lnSpc>
              <a:buFont typeface="Arial"/>
              <a:buChar char="￭"/>
            </a:pPr>
            <a:r>
              <a:rPr lang="en-US" sz="2799" spc="-24">
                <a:solidFill>
                  <a:srgbClr val="000000"/>
                </a:solidFill>
                <a:latin typeface="TT Ramillas"/>
                <a:ea typeface="TT Ramillas"/>
                <a:cs typeface="TT Ramillas"/>
                <a:sym typeface="TT Ramillas"/>
              </a:rPr>
              <a:t>    Neighborhood Features — 72 features</a:t>
            </a:r>
          </a:p>
          <a:p>
            <a:pPr algn="just" marL="675438" indent="-168859" lvl="3">
              <a:lnSpc>
                <a:spcPts val="3357"/>
              </a:lnSpc>
            </a:pPr>
            <a:r>
              <a:rPr lang="en-US" sz="2799" spc="-24">
                <a:solidFill>
                  <a:srgbClr val="000000"/>
                </a:solidFill>
                <a:latin typeface="TT Ramillas"/>
                <a:ea typeface="TT Ramillas"/>
                <a:cs typeface="TT Ramillas"/>
                <a:sym typeface="TT Ramillas"/>
              </a:rPr>
              <a:t> Mean, median, standard deviation, maximum, and minimum values computed across all 1-hop neighboring transactions — pre-aggregated statistics that describe the local transaction environment.</a:t>
            </a:r>
          </a:p>
          <a:p>
            <a:pPr algn="just" marL="675438" indent="-168859" lvl="3">
              <a:lnSpc>
                <a:spcPts val="3357"/>
              </a:lnSpc>
            </a:pPr>
            <a:r>
              <a:rPr lang="en-US" b="true" sz="2799" spc="-24">
                <a:solidFill>
                  <a:srgbClr val="000000"/>
                </a:solidFill>
                <a:latin typeface="TT Ramillas Bold"/>
                <a:ea typeface="TT Ramillas Bold"/>
                <a:cs typeface="TT Ramillas Bold"/>
                <a:sym typeface="TT Ramillas Bold"/>
              </a:rPr>
              <a:t>Temporal Structure:</a:t>
            </a:r>
          </a:p>
          <a:p>
            <a:pPr algn="just" marL="675438" indent="-168859" lvl="3">
              <a:lnSpc>
                <a:spcPts val="3357"/>
              </a:lnSpc>
            </a:pPr>
            <a:r>
              <a:rPr lang="en-US" sz="2799" spc="-24">
                <a:solidFill>
                  <a:srgbClr val="000000"/>
                </a:solidFill>
                <a:latin typeface="TT Ramillas"/>
                <a:ea typeface="TT Ramillas"/>
                <a:cs typeface="TT Ramillas"/>
                <a:sym typeface="TT Ramillas"/>
              </a:rPr>
              <a:t> 49 ordered snapshots taken approximately every two weeks covering roughly two years of Bitcoin transactions from 2011 to 2013. Labels are illicit, licit, or unknown per node. Source is Elliptic.co — freely available on Kaggle. This is the only public AML dataset combining ground truth labels with genuine temporal structure — making it the ideal and only appropriate choice for our project.</a:t>
            </a:r>
          </a:p>
          <a:p>
            <a:pPr algn="just" marL="675438" indent="-168859" lvl="3">
              <a:lnSpc>
                <a:spcPts val="4320"/>
              </a:lnSpc>
            </a:pP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12</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2210374" y="3204601"/>
            <a:ext cx="5977033" cy="5953316"/>
            <a:chOff x="0" y="0"/>
            <a:chExt cx="7969377" cy="7937754"/>
          </a:xfrm>
        </p:grpSpPr>
        <p:sp>
          <p:nvSpPr>
            <p:cNvPr name="Freeform 8" id="8"/>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grpSp>
        <p:nvGrpSpPr>
          <p:cNvPr name="Group 9" id="9"/>
          <p:cNvGrpSpPr/>
          <p:nvPr/>
        </p:nvGrpSpPr>
        <p:grpSpPr>
          <a:xfrm rot="0">
            <a:off x="16830599" y="9612544"/>
            <a:ext cx="1097566" cy="602075"/>
            <a:chOff x="0" y="0"/>
            <a:chExt cx="1463421" cy="802767"/>
          </a:xfrm>
        </p:grpSpPr>
        <p:sp>
          <p:nvSpPr>
            <p:cNvPr name="Freeform 10" id="10"/>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1" id="11"/>
          <p:cNvGrpSpPr/>
          <p:nvPr/>
        </p:nvGrpSpPr>
        <p:grpSpPr>
          <a:xfrm rot="0">
            <a:off x="16830599" y="9598257"/>
            <a:ext cx="1097566" cy="616363"/>
            <a:chOff x="0" y="0"/>
            <a:chExt cx="1463421" cy="821817"/>
          </a:xfrm>
        </p:grpSpPr>
        <p:sp>
          <p:nvSpPr>
            <p:cNvPr name="Freeform 12" id="12"/>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3" id="13"/>
          <p:cNvGrpSpPr/>
          <p:nvPr/>
        </p:nvGrpSpPr>
        <p:grpSpPr>
          <a:xfrm rot="0">
            <a:off x="16830599" y="9583969"/>
            <a:ext cx="1097547" cy="630679"/>
            <a:chOff x="0" y="0"/>
            <a:chExt cx="1463396" cy="840905"/>
          </a:xfrm>
        </p:grpSpPr>
        <p:sp>
          <p:nvSpPr>
            <p:cNvPr name="Freeform 14" id="14"/>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5" id="15"/>
          <p:cNvGrpSpPr/>
          <p:nvPr/>
        </p:nvGrpSpPr>
        <p:grpSpPr>
          <a:xfrm rot="0">
            <a:off x="16830599" y="9569682"/>
            <a:ext cx="1097547" cy="644966"/>
            <a:chOff x="0" y="0"/>
            <a:chExt cx="1463396" cy="859955"/>
          </a:xfrm>
        </p:grpSpPr>
        <p:sp>
          <p:nvSpPr>
            <p:cNvPr name="Freeform 16" id="16"/>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17" id="17"/>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12</a:t>
              </a:r>
            </a:p>
          </p:txBody>
        </p:sp>
      </p:grpSp>
      <p:sp>
        <p:nvSpPr>
          <p:cNvPr name="Freeform 18" id="18"/>
          <p:cNvSpPr/>
          <p:nvPr/>
        </p:nvSpPr>
        <p:spPr>
          <a:xfrm flipH="false" flipV="false" rot="0">
            <a:off x="3071632" y="2107392"/>
            <a:ext cx="12658690" cy="6072215"/>
          </a:xfrm>
          <a:custGeom>
            <a:avLst/>
            <a:gdLst/>
            <a:ahLst/>
            <a:cxnLst/>
            <a:rect r="r" b="b" t="t" l="l"/>
            <a:pathLst>
              <a:path h="6072215" w="12658690">
                <a:moveTo>
                  <a:pt x="0" y="0"/>
                </a:moveTo>
                <a:lnTo>
                  <a:pt x="12658690" y="0"/>
                </a:lnTo>
                <a:lnTo>
                  <a:pt x="12658690" y="6072216"/>
                </a:lnTo>
                <a:lnTo>
                  <a:pt x="0" y="6072216"/>
                </a:lnTo>
                <a:lnTo>
                  <a:pt x="0" y="0"/>
                </a:lnTo>
                <a:close/>
              </a:path>
            </a:pathLst>
          </a:custGeom>
          <a:blipFill>
            <a:blip r:embed="rId10"/>
            <a:stretch>
              <a:fillRect l="0" t="0" r="0" b="0"/>
            </a:stretch>
          </a:blipFill>
        </p:spPr>
      </p:sp>
      <p:sp>
        <p:nvSpPr>
          <p:cNvPr name="TextBox 19" id="19"/>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20" id="20"/>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21" id="21"/>
          <p:cNvSpPr txBox="true"/>
          <p:nvPr/>
        </p:nvSpPr>
        <p:spPr>
          <a:xfrm rot="0">
            <a:off x="848620" y="592855"/>
            <a:ext cx="14453587" cy="705107"/>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                                  System Architecture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2210374" y="3204601"/>
            <a:ext cx="5977033" cy="5953316"/>
            <a:chOff x="0" y="0"/>
            <a:chExt cx="7969377" cy="7937754"/>
          </a:xfrm>
        </p:grpSpPr>
        <p:sp>
          <p:nvSpPr>
            <p:cNvPr name="Freeform 8" id="8"/>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grpSp>
        <p:nvGrpSpPr>
          <p:cNvPr name="Group 9" id="9"/>
          <p:cNvGrpSpPr/>
          <p:nvPr/>
        </p:nvGrpSpPr>
        <p:grpSpPr>
          <a:xfrm rot="0">
            <a:off x="16830599" y="9612544"/>
            <a:ext cx="1097566" cy="602075"/>
            <a:chOff x="0" y="0"/>
            <a:chExt cx="1463421" cy="802767"/>
          </a:xfrm>
        </p:grpSpPr>
        <p:sp>
          <p:nvSpPr>
            <p:cNvPr name="Freeform 10" id="10"/>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1" id="11"/>
          <p:cNvGrpSpPr/>
          <p:nvPr/>
        </p:nvGrpSpPr>
        <p:grpSpPr>
          <a:xfrm rot="0">
            <a:off x="16830599" y="9598257"/>
            <a:ext cx="1097566" cy="616363"/>
            <a:chOff x="0" y="0"/>
            <a:chExt cx="1463421" cy="821817"/>
          </a:xfrm>
        </p:grpSpPr>
        <p:sp>
          <p:nvSpPr>
            <p:cNvPr name="Freeform 12" id="12"/>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3" id="13"/>
          <p:cNvGrpSpPr/>
          <p:nvPr/>
        </p:nvGrpSpPr>
        <p:grpSpPr>
          <a:xfrm rot="0">
            <a:off x="16830599" y="9583969"/>
            <a:ext cx="1097547" cy="630679"/>
            <a:chOff x="0" y="0"/>
            <a:chExt cx="1463396" cy="840905"/>
          </a:xfrm>
        </p:grpSpPr>
        <p:sp>
          <p:nvSpPr>
            <p:cNvPr name="Freeform 14" id="14"/>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5" id="15"/>
          <p:cNvGrpSpPr/>
          <p:nvPr/>
        </p:nvGrpSpPr>
        <p:grpSpPr>
          <a:xfrm rot="0">
            <a:off x="16830599" y="9569682"/>
            <a:ext cx="1097547" cy="644966"/>
            <a:chOff x="0" y="0"/>
            <a:chExt cx="1463396" cy="859955"/>
          </a:xfrm>
        </p:grpSpPr>
        <p:sp>
          <p:nvSpPr>
            <p:cNvPr name="Freeform 16" id="16"/>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17" id="17"/>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12</a:t>
              </a:r>
            </a:p>
          </p:txBody>
        </p:sp>
      </p:grpSp>
      <p:sp>
        <p:nvSpPr>
          <p:cNvPr name="Freeform 18" id="18"/>
          <p:cNvSpPr/>
          <p:nvPr/>
        </p:nvSpPr>
        <p:spPr>
          <a:xfrm flipH="false" flipV="false" rot="0">
            <a:off x="2635616" y="2134852"/>
            <a:ext cx="13267254" cy="5700773"/>
          </a:xfrm>
          <a:custGeom>
            <a:avLst/>
            <a:gdLst/>
            <a:ahLst/>
            <a:cxnLst/>
            <a:rect r="r" b="b" t="t" l="l"/>
            <a:pathLst>
              <a:path h="5700773" w="13267254">
                <a:moveTo>
                  <a:pt x="0" y="0"/>
                </a:moveTo>
                <a:lnTo>
                  <a:pt x="13267253" y="0"/>
                </a:lnTo>
                <a:lnTo>
                  <a:pt x="13267253" y="5700773"/>
                </a:lnTo>
                <a:lnTo>
                  <a:pt x="0" y="5700773"/>
                </a:lnTo>
                <a:lnTo>
                  <a:pt x="0" y="0"/>
                </a:lnTo>
                <a:close/>
              </a:path>
            </a:pathLst>
          </a:custGeom>
          <a:blipFill>
            <a:blip r:embed="rId10"/>
            <a:stretch>
              <a:fillRect l="0" t="0" r="0" b="0"/>
            </a:stretch>
          </a:blipFill>
        </p:spPr>
      </p:sp>
      <p:sp>
        <p:nvSpPr>
          <p:cNvPr name="TextBox 19" id="19"/>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20" id="20"/>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21" id="21"/>
          <p:cNvSpPr txBox="true"/>
          <p:nvPr/>
        </p:nvSpPr>
        <p:spPr>
          <a:xfrm rot="0">
            <a:off x="848620" y="592855"/>
            <a:ext cx="14453587" cy="705107"/>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                                  System Architecture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2210374" y="3204601"/>
            <a:ext cx="5977033" cy="5953316"/>
            <a:chOff x="0" y="0"/>
            <a:chExt cx="7969377" cy="7937754"/>
          </a:xfrm>
        </p:grpSpPr>
        <p:sp>
          <p:nvSpPr>
            <p:cNvPr name="Freeform 8" id="8"/>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grpSp>
        <p:nvGrpSpPr>
          <p:cNvPr name="Group 9" id="9"/>
          <p:cNvGrpSpPr/>
          <p:nvPr/>
        </p:nvGrpSpPr>
        <p:grpSpPr>
          <a:xfrm rot="0">
            <a:off x="16830599" y="9612544"/>
            <a:ext cx="1097566" cy="602075"/>
            <a:chOff x="0" y="0"/>
            <a:chExt cx="1463421" cy="802767"/>
          </a:xfrm>
        </p:grpSpPr>
        <p:sp>
          <p:nvSpPr>
            <p:cNvPr name="Freeform 10" id="10"/>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1" id="11"/>
          <p:cNvGrpSpPr/>
          <p:nvPr/>
        </p:nvGrpSpPr>
        <p:grpSpPr>
          <a:xfrm rot="0">
            <a:off x="16830599" y="9598257"/>
            <a:ext cx="1097566" cy="616363"/>
            <a:chOff x="0" y="0"/>
            <a:chExt cx="1463421" cy="821817"/>
          </a:xfrm>
        </p:grpSpPr>
        <p:sp>
          <p:nvSpPr>
            <p:cNvPr name="Freeform 12" id="12"/>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3" id="13"/>
          <p:cNvGrpSpPr/>
          <p:nvPr/>
        </p:nvGrpSpPr>
        <p:grpSpPr>
          <a:xfrm rot="0">
            <a:off x="16830599" y="9583969"/>
            <a:ext cx="1097547" cy="630679"/>
            <a:chOff x="0" y="0"/>
            <a:chExt cx="1463396" cy="840905"/>
          </a:xfrm>
        </p:grpSpPr>
        <p:sp>
          <p:nvSpPr>
            <p:cNvPr name="Freeform 14" id="14"/>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5" id="15"/>
          <p:cNvGrpSpPr/>
          <p:nvPr/>
        </p:nvGrpSpPr>
        <p:grpSpPr>
          <a:xfrm rot="0">
            <a:off x="16830599" y="9569682"/>
            <a:ext cx="1097547" cy="644966"/>
            <a:chOff x="0" y="0"/>
            <a:chExt cx="1463396" cy="859955"/>
          </a:xfrm>
        </p:grpSpPr>
        <p:sp>
          <p:nvSpPr>
            <p:cNvPr name="Freeform 16" id="16"/>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17" id="17"/>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12</a:t>
              </a:r>
            </a:p>
          </p:txBody>
        </p:sp>
      </p:grpSp>
      <p:sp>
        <p:nvSpPr>
          <p:cNvPr name="Freeform 18" id="18"/>
          <p:cNvSpPr/>
          <p:nvPr/>
        </p:nvSpPr>
        <p:spPr>
          <a:xfrm flipH="false" flipV="false" rot="0">
            <a:off x="2878692" y="1633948"/>
            <a:ext cx="12530617" cy="7019103"/>
          </a:xfrm>
          <a:custGeom>
            <a:avLst/>
            <a:gdLst/>
            <a:ahLst/>
            <a:cxnLst/>
            <a:rect r="r" b="b" t="t" l="l"/>
            <a:pathLst>
              <a:path h="7019103" w="12530617">
                <a:moveTo>
                  <a:pt x="0" y="0"/>
                </a:moveTo>
                <a:lnTo>
                  <a:pt x="12530616" y="0"/>
                </a:lnTo>
                <a:lnTo>
                  <a:pt x="12530616" y="7019104"/>
                </a:lnTo>
                <a:lnTo>
                  <a:pt x="0" y="7019104"/>
                </a:lnTo>
                <a:lnTo>
                  <a:pt x="0" y="0"/>
                </a:lnTo>
                <a:close/>
              </a:path>
            </a:pathLst>
          </a:custGeom>
          <a:blipFill>
            <a:blip r:embed="rId10"/>
            <a:stretch>
              <a:fillRect l="0" t="0" r="0" b="0"/>
            </a:stretch>
          </a:blipFill>
        </p:spPr>
      </p:sp>
      <p:sp>
        <p:nvSpPr>
          <p:cNvPr name="TextBox 19" id="19"/>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20" id="20"/>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21" id="21"/>
          <p:cNvSpPr txBox="true"/>
          <p:nvPr/>
        </p:nvSpPr>
        <p:spPr>
          <a:xfrm rot="0">
            <a:off x="848620" y="592855"/>
            <a:ext cx="14453587" cy="705107"/>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                                  System Architecture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2210374" y="3204601"/>
            <a:ext cx="5977033" cy="5953316"/>
            <a:chOff x="0" y="0"/>
            <a:chExt cx="7969377" cy="7937754"/>
          </a:xfrm>
        </p:grpSpPr>
        <p:sp>
          <p:nvSpPr>
            <p:cNvPr name="Freeform 8" id="8"/>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grpSp>
        <p:nvGrpSpPr>
          <p:cNvPr name="Group 9" id="9"/>
          <p:cNvGrpSpPr/>
          <p:nvPr/>
        </p:nvGrpSpPr>
        <p:grpSpPr>
          <a:xfrm rot="0">
            <a:off x="16830599" y="9612544"/>
            <a:ext cx="1097566" cy="602075"/>
            <a:chOff x="0" y="0"/>
            <a:chExt cx="1463421" cy="802767"/>
          </a:xfrm>
        </p:grpSpPr>
        <p:sp>
          <p:nvSpPr>
            <p:cNvPr name="Freeform 10" id="10"/>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1" id="11"/>
          <p:cNvGrpSpPr/>
          <p:nvPr/>
        </p:nvGrpSpPr>
        <p:grpSpPr>
          <a:xfrm rot="0">
            <a:off x="16830599" y="9598257"/>
            <a:ext cx="1097566" cy="616363"/>
            <a:chOff x="0" y="0"/>
            <a:chExt cx="1463421" cy="821817"/>
          </a:xfrm>
        </p:grpSpPr>
        <p:sp>
          <p:nvSpPr>
            <p:cNvPr name="Freeform 12" id="12"/>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3" id="13"/>
          <p:cNvGrpSpPr/>
          <p:nvPr/>
        </p:nvGrpSpPr>
        <p:grpSpPr>
          <a:xfrm rot="0">
            <a:off x="16830599" y="9583969"/>
            <a:ext cx="1097547" cy="630679"/>
            <a:chOff x="0" y="0"/>
            <a:chExt cx="1463396" cy="840905"/>
          </a:xfrm>
        </p:grpSpPr>
        <p:sp>
          <p:nvSpPr>
            <p:cNvPr name="Freeform 14" id="14"/>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5" id="15"/>
          <p:cNvGrpSpPr/>
          <p:nvPr/>
        </p:nvGrpSpPr>
        <p:grpSpPr>
          <a:xfrm rot="0">
            <a:off x="16830599" y="9569682"/>
            <a:ext cx="1097547" cy="644966"/>
            <a:chOff x="0" y="0"/>
            <a:chExt cx="1463396" cy="859955"/>
          </a:xfrm>
        </p:grpSpPr>
        <p:sp>
          <p:nvSpPr>
            <p:cNvPr name="Freeform 16" id="16"/>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17" id="17"/>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12</a:t>
              </a:r>
            </a:p>
          </p:txBody>
        </p:sp>
      </p:grpSp>
      <p:sp>
        <p:nvSpPr>
          <p:cNvPr name="Freeform 18" id="18"/>
          <p:cNvSpPr/>
          <p:nvPr/>
        </p:nvSpPr>
        <p:spPr>
          <a:xfrm flipH="false" flipV="false" rot="0">
            <a:off x="2878692" y="1581145"/>
            <a:ext cx="12714834" cy="7022959"/>
          </a:xfrm>
          <a:custGeom>
            <a:avLst/>
            <a:gdLst/>
            <a:ahLst/>
            <a:cxnLst/>
            <a:rect r="r" b="b" t="t" l="l"/>
            <a:pathLst>
              <a:path h="7022959" w="12714834">
                <a:moveTo>
                  <a:pt x="0" y="0"/>
                </a:moveTo>
                <a:lnTo>
                  <a:pt x="12714833" y="0"/>
                </a:lnTo>
                <a:lnTo>
                  <a:pt x="12714833" y="7022959"/>
                </a:lnTo>
                <a:lnTo>
                  <a:pt x="0" y="7022959"/>
                </a:lnTo>
                <a:lnTo>
                  <a:pt x="0" y="0"/>
                </a:lnTo>
                <a:close/>
              </a:path>
            </a:pathLst>
          </a:custGeom>
          <a:blipFill>
            <a:blip r:embed="rId10"/>
            <a:stretch>
              <a:fillRect l="0" t="0" r="0" b="0"/>
            </a:stretch>
          </a:blipFill>
        </p:spPr>
      </p:sp>
      <p:sp>
        <p:nvSpPr>
          <p:cNvPr name="TextBox 19" id="19"/>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20" id="20"/>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21" id="21"/>
          <p:cNvSpPr txBox="true"/>
          <p:nvPr/>
        </p:nvSpPr>
        <p:spPr>
          <a:xfrm rot="0">
            <a:off x="848620" y="592855"/>
            <a:ext cx="14453587" cy="705107"/>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                                  System Architecture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6830599" y="9612544"/>
            <a:ext cx="1097566" cy="602075"/>
            <a:chOff x="0" y="0"/>
            <a:chExt cx="1463421" cy="802767"/>
          </a:xfrm>
        </p:grpSpPr>
        <p:sp>
          <p:nvSpPr>
            <p:cNvPr name="Freeform 8" id="8"/>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5">
                <a:alphaModFix amt="0"/>
              </a:blip>
              <a:stretch>
                <a:fillRect l="-20430" t="0" r="-20430" b="0"/>
              </a:stretch>
            </a:blipFill>
          </p:spPr>
        </p:sp>
      </p:grpSp>
      <p:grpSp>
        <p:nvGrpSpPr>
          <p:cNvPr name="Group 9" id="9"/>
          <p:cNvGrpSpPr/>
          <p:nvPr/>
        </p:nvGrpSpPr>
        <p:grpSpPr>
          <a:xfrm rot="0">
            <a:off x="16830599" y="9598257"/>
            <a:ext cx="1097566" cy="616363"/>
            <a:chOff x="0" y="0"/>
            <a:chExt cx="1463421" cy="821817"/>
          </a:xfrm>
        </p:grpSpPr>
        <p:sp>
          <p:nvSpPr>
            <p:cNvPr name="Freeform 10" id="10"/>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6">
                <a:alphaModFix amt="0"/>
              </a:blip>
              <a:stretch>
                <a:fillRect l="-22101" t="0" r="-22101" b="0"/>
              </a:stretch>
            </a:blipFill>
          </p:spPr>
        </p:sp>
      </p:grpSp>
      <p:grpSp>
        <p:nvGrpSpPr>
          <p:cNvPr name="Group 11" id="11"/>
          <p:cNvGrpSpPr/>
          <p:nvPr/>
        </p:nvGrpSpPr>
        <p:grpSpPr>
          <a:xfrm rot="0">
            <a:off x="16830599" y="9583969"/>
            <a:ext cx="1097547" cy="630679"/>
            <a:chOff x="0" y="0"/>
            <a:chExt cx="1463396" cy="840905"/>
          </a:xfrm>
        </p:grpSpPr>
        <p:sp>
          <p:nvSpPr>
            <p:cNvPr name="Freeform 12" id="12"/>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7">
                <a:alphaModFix amt="0"/>
              </a:blip>
              <a:stretch>
                <a:fillRect l="-23777" t="0" r="-23775" b="-4"/>
              </a:stretch>
            </a:blipFill>
          </p:spPr>
        </p:sp>
      </p:grpSp>
      <p:grpSp>
        <p:nvGrpSpPr>
          <p:cNvPr name="Group 13" id="13"/>
          <p:cNvGrpSpPr/>
          <p:nvPr/>
        </p:nvGrpSpPr>
        <p:grpSpPr>
          <a:xfrm rot="0">
            <a:off x="16830599" y="9569682"/>
            <a:ext cx="1097547" cy="644966"/>
            <a:chOff x="0" y="0"/>
            <a:chExt cx="1463396" cy="859955"/>
          </a:xfrm>
        </p:grpSpPr>
        <p:sp>
          <p:nvSpPr>
            <p:cNvPr name="Freeform 14" id="14"/>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8">
                <a:alphaModFix amt="0"/>
              </a:blip>
              <a:stretch>
                <a:fillRect l="-25396" t="0" r="-25396" b="0"/>
              </a:stretch>
            </a:blipFill>
          </p:spPr>
        </p:sp>
        <p:sp>
          <p:nvSpPr>
            <p:cNvPr name="TextBox 15" id="15"/>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13</a:t>
              </a:r>
            </a:p>
          </p:txBody>
        </p:sp>
      </p:grpSp>
      <p:sp>
        <p:nvSpPr>
          <p:cNvPr name="TextBox 16" id="16"/>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17" id="17"/>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18" id="18"/>
          <p:cNvSpPr txBox="true"/>
          <p:nvPr/>
        </p:nvSpPr>
        <p:spPr>
          <a:xfrm rot="0">
            <a:off x="582120" y="971779"/>
            <a:ext cx="16797252" cy="1142733"/>
          </a:xfrm>
          <a:prstGeom prst="rect">
            <a:avLst/>
          </a:prstGeom>
        </p:spPr>
        <p:txBody>
          <a:bodyPr anchor="t" rtlCol="false" tIns="0" lIns="0" bIns="0" rIns="0">
            <a:spAutoFit/>
          </a:bodyPr>
          <a:lstStyle/>
          <a:p>
            <a:pPr algn="l">
              <a:lnSpc>
                <a:spcPts val="5757"/>
              </a:lnSpc>
            </a:pPr>
            <a:r>
              <a:rPr lang="en-US" b="true" sz="3600" spc="-15">
                <a:solidFill>
                  <a:srgbClr val="0000FF"/>
                </a:solidFill>
                <a:latin typeface="IBM Plex Sans Bold"/>
                <a:ea typeface="IBM Plex Sans Bold"/>
                <a:cs typeface="IBM Plex Sans Bold"/>
                <a:sym typeface="IBM Plex Sans Bold"/>
              </a:rPr>
              <a:t>Methodology 1: Data Collection &amp; Graph Construction</a:t>
            </a:r>
          </a:p>
        </p:txBody>
      </p:sp>
      <p:sp>
        <p:nvSpPr>
          <p:cNvPr name="TextBox 19" id="19"/>
          <p:cNvSpPr txBox="true"/>
          <p:nvPr/>
        </p:nvSpPr>
        <p:spPr>
          <a:xfrm rot="0">
            <a:off x="745303" y="2697880"/>
            <a:ext cx="16651557" cy="4248474"/>
          </a:xfrm>
          <a:prstGeom prst="rect">
            <a:avLst/>
          </a:prstGeom>
        </p:spPr>
        <p:txBody>
          <a:bodyPr anchor="t" rtlCol="false" tIns="0" lIns="0" bIns="0" rIns="0">
            <a:spAutoFit/>
          </a:bodyPr>
          <a:lstStyle/>
          <a:p>
            <a:pPr algn="just">
              <a:lnSpc>
                <a:spcPts val="4320"/>
              </a:lnSpc>
            </a:pPr>
            <a:r>
              <a:rPr lang="en-US" b="true" sz="3600" spc="-29">
                <a:solidFill>
                  <a:srgbClr val="000000"/>
                </a:solidFill>
                <a:latin typeface="TT Ramillas Bold"/>
                <a:ea typeface="TT Ramillas Bold"/>
                <a:cs typeface="TT Ramillas Bold"/>
                <a:sym typeface="TT Ramillas Bold"/>
              </a:rPr>
              <a:t>Description:</a:t>
            </a:r>
          </a:p>
          <a:p>
            <a:pPr algn="just">
              <a:lnSpc>
                <a:spcPts val="2878"/>
              </a:lnSpc>
            </a:pPr>
            <a:r>
              <a:rPr lang="en-US" sz="2400" spc="-19">
                <a:solidFill>
                  <a:srgbClr val="000000"/>
                </a:solidFill>
                <a:latin typeface="TT Ramillas"/>
                <a:ea typeface="TT Ramillas"/>
                <a:cs typeface="TT Ramillas"/>
                <a:sym typeface="TT Ramillas"/>
              </a:rPr>
              <a:t>Download the Elliptic Bitcoin Dataset from Kaggle. Load elliptic_txs_features.csv, elliptic_txs_classes.csv, and elliptic_txs_edgelist.csv. Construct a directed temporal graph with 203,769 wallet nodes and 234,355 timestamped transaction edges across 49 ordered time steps.</a:t>
            </a:r>
          </a:p>
          <a:p>
            <a:pPr algn="just">
              <a:lnSpc>
                <a:spcPts val="4320"/>
              </a:lnSpc>
            </a:pPr>
            <a:r>
              <a:rPr lang="en-US" b="true" sz="3600" spc="-29">
                <a:solidFill>
                  <a:srgbClr val="000000"/>
                </a:solidFill>
                <a:latin typeface="TT Ramillas Bold"/>
                <a:ea typeface="TT Ramillas Bold"/>
                <a:cs typeface="TT Ramillas Bold"/>
                <a:sym typeface="TT Ramillas Bold"/>
              </a:rPr>
              <a:t>Steps:</a:t>
            </a:r>
          </a:p>
          <a:p>
            <a:pPr algn="just" marL="781050" indent="-156210" lvl="4">
              <a:lnSpc>
                <a:spcPts val="2878"/>
              </a:lnSpc>
              <a:buFont typeface="Arial"/>
              <a:buChar char="•"/>
            </a:pPr>
            <a:r>
              <a:rPr lang="en-US" sz="2400" spc="-19">
                <a:solidFill>
                  <a:srgbClr val="000000"/>
                </a:solidFill>
                <a:latin typeface="TT Ramillas"/>
                <a:ea typeface="TT Ramillas"/>
                <a:cs typeface="TT Ramillas"/>
                <a:sym typeface="TT Ramillas"/>
              </a:rPr>
              <a:t>Load &amp; merge 3 Elliptic CSV files</a:t>
            </a:r>
          </a:p>
          <a:p>
            <a:pPr algn="just" marL="781050" indent="-156210" lvl="4">
              <a:lnSpc>
                <a:spcPts val="2878"/>
              </a:lnSpc>
              <a:buFont typeface="Arial"/>
              <a:buChar char="•"/>
            </a:pPr>
            <a:r>
              <a:rPr lang="en-US" sz="2400" spc="-19">
                <a:solidFill>
                  <a:srgbClr val="000000"/>
                </a:solidFill>
                <a:latin typeface="TT Ramillas"/>
                <a:ea typeface="TT Ramillas"/>
                <a:cs typeface="TT Ramillas"/>
                <a:sym typeface="TT Ramillas"/>
              </a:rPr>
              <a:t>Engineer 6 temporal features (time-delta, fan-in/out ratio, degree, recency, cycle indicator)</a:t>
            </a:r>
          </a:p>
          <a:p>
            <a:pPr algn="just" marL="781050" indent="-156210" lvl="4">
              <a:lnSpc>
                <a:spcPts val="2878"/>
              </a:lnSpc>
              <a:buFont typeface="Arial"/>
              <a:buChar char="•"/>
            </a:pPr>
            <a:r>
              <a:rPr lang="en-US" sz="2400" spc="-19">
                <a:solidFill>
                  <a:srgbClr val="000000"/>
                </a:solidFill>
                <a:latin typeface="TT Ramillas"/>
                <a:ea typeface="TT Ramillas"/>
                <a:cs typeface="TT Ramillas"/>
                <a:sym typeface="TT Ramillas"/>
              </a:rPr>
              <a:t>Build PyG TemporalData object with edge timestamps</a:t>
            </a:r>
          </a:p>
          <a:p>
            <a:pPr algn="just" marL="1171575" indent="-234315" lvl="4">
              <a:lnSpc>
                <a:spcPts val="4320"/>
              </a:lnSpc>
            </a:pPr>
            <a:r>
              <a:rPr lang="en-US" b="true" sz="3600" spc="-29">
                <a:solidFill>
                  <a:srgbClr val="000000"/>
                </a:solidFill>
                <a:latin typeface="TT Ramillas Bold"/>
                <a:ea typeface="TT Ramillas Bold"/>
                <a:cs typeface="TT Ramillas Bold"/>
                <a:sym typeface="TT Ramillas Bold"/>
              </a:rPr>
              <a:t>Output:</a:t>
            </a:r>
          </a:p>
          <a:p>
            <a:pPr algn="just" marL="781050" indent="-156210" lvl="4">
              <a:lnSpc>
                <a:spcPts val="2878"/>
              </a:lnSpc>
            </a:pPr>
            <a:r>
              <a:rPr lang="en-US" sz="2400" spc="-19">
                <a:solidFill>
                  <a:srgbClr val="000000"/>
                </a:solidFill>
                <a:latin typeface="TT Ramillas"/>
                <a:ea typeface="TT Ramillas"/>
                <a:cs typeface="TT Ramillas"/>
                <a:sym typeface="TT Ramillas"/>
              </a:rPr>
              <a:t>172-dimensional node feature vectors and temporal edge list ready for TGAT training.</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6830599" y="9612544"/>
            <a:ext cx="1097566" cy="602075"/>
            <a:chOff x="0" y="0"/>
            <a:chExt cx="1463421" cy="802767"/>
          </a:xfrm>
        </p:grpSpPr>
        <p:sp>
          <p:nvSpPr>
            <p:cNvPr name="Freeform 8" id="8"/>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5">
                <a:alphaModFix amt="0"/>
              </a:blip>
              <a:stretch>
                <a:fillRect l="-20430" t="0" r="-20430" b="0"/>
              </a:stretch>
            </a:blipFill>
          </p:spPr>
        </p:sp>
      </p:grpSp>
      <p:grpSp>
        <p:nvGrpSpPr>
          <p:cNvPr name="Group 9" id="9"/>
          <p:cNvGrpSpPr/>
          <p:nvPr/>
        </p:nvGrpSpPr>
        <p:grpSpPr>
          <a:xfrm rot="0">
            <a:off x="16830599" y="9598257"/>
            <a:ext cx="1097566" cy="616363"/>
            <a:chOff x="0" y="0"/>
            <a:chExt cx="1463421" cy="821817"/>
          </a:xfrm>
        </p:grpSpPr>
        <p:sp>
          <p:nvSpPr>
            <p:cNvPr name="Freeform 10" id="10"/>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6">
                <a:alphaModFix amt="0"/>
              </a:blip>
              <a:stretch>
                <a:fillRect l="-22101" t="0" r="-22101" b="0"/>
              </a:stretch>
            </a:blipFill>
          </p:spPr>
        </p:sp>
      </p:grpSp>
      <p:grpSp>
        <p:nvGrpSpPr>
          <p:cNvPr name="Group 11" id="11"/>
          <p:cNvGrpSpPr/>
          <p:nvPr/>
        </p:nvGrpSpPr>
        <p:grpSpPr>
          <a:xfrm rot="0">
            <a:off x="16830599" y="9583969"/>
            <a:ext cx="1097547" cy="630679"/>
            <a:chOff x="0" y="0"/>
            <a:chExt cx="1463396" cy="840905"/>
          </a:xfrm>
        </p:grpSpPr>
        <p:sp>
          <p:nvSpPr>
            <p:cNvPr name="Freeform 12" id="12"/>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7">
                <a:alphaModFix amt="0"/>
              </a:blip>
              <a:stretch>
                <a:fillRect l="-23777" t="0" r="-23775" b="-4"/>
              </a:stretch>
            </a:blipFill>
          </p:spPr>
        </p:sp>
      </p:grpSp>
      <p:grpSp>
        <p:nvGrpSpPr>
          <p:cNvPr name="Group 13" id="13"/>
          <p:cNvGrpSpPr/>
          <p:nvPr/>
        </p:nvGrpSpPr>
        <p:grpSpPr>
          <a:xfrm rot="0">
            <a:off x="16830599" y="9569682"/>
            <a:ext cx="1097547" cy="644966"/>
            <a:chOff x="0" y="0"/>
            <a:chExt cx="1463396" cy="859955"/>
          </a:xfrm>
        </p:grpSpPr>
        <p:sp>
          <p:nvSpPr>
            <p:cNvPr name="Freeform 14" id="14"/>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8">
                <a:alphaModFix amt="0"/>
              </a:blip>
              <a:stretch>
                <a:fillRect l="-25396" t="0" r="-25396" b="0"/>
              </a:stretch>
            </a:blipFill>
          </p:spPr>
        </p:sp>
        <p:sp>
          <p:nvSpPr>
            <p:cNvPr name="TextBox 15" id="15"/>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14</a:t>
              </a:r>
            </a:p>
          </p:txBody>
        </p:sp>
      </p:grpSp>
      <p:sp>
        <p:nvSpPr>
          <p:cNvPr name="TextBox 16" id="16"/>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17" id="17"/>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18" id="18"/>
          <p:cNvSpPr txBox="true"/>
          <p:nvPr/>
        </p:nvSpPr>
        <p:spPr>
          <a:xfrm rot="0">
            <a:off x="572348" y="971779"/>
            <a:ext cx="17182843" cy="1142733"/>
          </a:xfrm>
          <a:prstGeom prst="rect">
            <a:avLst/>
          </a:prstGeom>
        </p:spPr>
        <p:txBody>
          <a:bodyPr anchor="t" rtlCol="false" tIns="0" lIns="0" bIns="0" rIns="0">
            <a:spAutoFit/>
          </a:bodyPr>
          <a:lstStyle/>
          <a:p>
            <a:pPr algn="l">
              <a:lnSpc>
                <a:spcPts val="5757"/>
              </a:lnSpc>
            </a:pPr>
            <a:r>
              <a:rPr lang="en-US" b="true" sz="3600" spc="-15">
                <a:solidFill>
                  <a:srgbClr val="0000FF"/>
                </a:solidFill>
                <a:latin typeface="IBM Plex Sans Bold"/>
                <a:ea typeface="IBM Plex Sans Bold"/>
                <a:cs typeface="IBM Plex Sans Bold"/>
                <a:sym typeface="IBM Plex Sans Bold"/>
              </a:rPr>
              <a:t>Methodology 2: Learnable Fourier Time Encoding (Core Novelty)</a:t>
            </a:r>
          </a:p>
        </p:txBody>
      </p:sp>
      <p:sp>
        <p:nvSpPr>
          <p:cNvPr name="TextBox 19" id="19"/>
          <p:cNvSpPr txBox="true"/>
          <p:nvPr/>
        </p:nvSpPr>
        <p:spPr>
          <a:xfrm rot="0">
            <a:off x="745303" y="2698109"/>
            <a:ext cx="17009888" cy="5364166"/>
          </a:xfrm>
          <a:prstGeom prst="rect">
            <a:avLst/>
          </a:prstGeom>
        </p:spPr>
        <p:txBody>
          <a:bodyPr anchor="t" rtlCol="false" tIns="0" lIns="0" bIns="0" rIns="0">
            <a:spAutoFit/>
          </a:bodyPr>
          <a:lstStyle/>
          <a:p>
            <a:pPr algn="just">
              <a:lnSpc>
                <a:spcPts val="4320"/>
              </a:lnSpc>
            </a:pPr>
            <a:r>
              <a:rPr lang="en-US" b="true" sz="3600" spc="-29">
                <a:solidFill>
                  <a:srgbClr val="000000"/>
                </a:solidFill>
                <a:latin typeface="TT Ramillas Bold"/>
                <a:ea typeface="TT Ramillas Bold"/>
                <a:cs typeface="TT Ramillas Bold"/>
                <a:sym typeface="TT Ramillas Bold"/>
              </a:rPr>
              <a:t>Description:</a:t>
            </a:r>
          </a:p>
          <a:p>
            <a:pPr algn="just">
              <a:lnSpc>
                <a:spcPts val="2878"/>
              </a:lnSpc>
            </a:pPr>
            <a:r>
              <a:rPr lang="en-US" sz="2400" spc="-19">
                <a:solidFill>
                  <a:srgbClr val="000000"/>
                </a:solidFill>
                <a:latin typeface="TT Ramillas"/>
                <a:ea typeface="TT Ramillas"/>
                <a:cs typeface="TT Ramillas"/>
                <a:sym typeface="TT Ramillas"/>
              </a:rPr>
              <a:t>Implement the Fourier time encoding module φ(t) = [cos(ω₁t), sin(ω₁t)...cos(ωdt), sin(ωdt)] where all frequency parameters ω₁...ωd are initialised randomly and trained end-to-end with the TGAT model. Concatenate the 128-dimensional time vector with node features before attention computation.</a:t>
            </a:r>
          </a:p>
          <a:p>
            <a:pPr algn="just">
              <a:lnSpc>
                <a:spcPts val="4320"/>
              </a:lnSpc>
            </a:pPr>
            <a:r>
              <a:rPr lang="en-US" b="true" sz="3600" spc="-29">
                <a:solidFill>
                  <a:srgbClr val="000000"/>
                </a:solidFill>
                <a:latin typeface="TT Ramillas Bold"/>
                <a:ea typeface="TT Ramillas Bold"/>
                <a:cs typeface="TT Ramillas Bold"/>
                <a:sym typeface="TT Ramillas Bold"/>
              </a:rPr>
              <a:t>Components:</a:t>
            </a:r>
          </a:p>
          <a:p>
            <a:pPr algn="just" marL="781050" indent="-156210" lvl="4">
              <a:lnSpc>
                <a:spcPts val="2878"/>
              </a:lnSpc>
              <a:buFont typeface="Arial"/>
              <a:buChar char="•"/>
            </a:pPr>
            <a:r>
              <a:rPr lang="en-US" sz="2400" spc="-19">
                <a:solidFill>
                  <a:srgbClr val="000000"/>
                </a:solidFill>
                <a:latin typeface="TT Ramillas"/>
                <a:ea typeface="TT Ramillas"/>
                <a:cs typeface="TT Ramillas"/>
                <a:sym typeface="TT Ramillas"/>
              </a:rPr>
              <a:t>Fourier encoder: cos/sin waves at d=64 frequencies</a:t>
            </a:r>
          </a:p>
          <a:p>
            <a:pPr algn="just" marL="781050" indent="-156210" lvl="4">
              <a:lnSpc>
                <a:spcPts val="2878"/>
              </a:lnSpc>
              <a:buFont typeface="Arial"/>
              <a:buChar char="•"/>
            </a:pPr>
            <a:r>
              <a:rPr lang="en-US" sz="2400" spc="-19">
                <a:solidFill>
                  <a:srgbClr val="000000"/>
                </a:solidFill>
                <a:latin typeface="TT Ramillas"/>
                <a:ea typeface="TT Ramillas"/>
                <a:cs typeface="TT Ramillas"/>
                <a:sym typeface="TT Ramillas"/>
              </a:rPr>
              <a:t>Trainable ω parameters updated via backpropagation</a:t>
            </a:r>
          </a:p>
          <a:p>
            <a:pPr algn="just" marL="781050" indent="-156210" lvl="4">
              <a:lnSpc>
                <a:spcPts val="2878"/>
              </a:lnSpc>
              <a:buFont typeface="Arial"/>
              <a:buChar char="•"/>
            </a:pPr>
            <a:r>
              <a:rPr lang="en-US" sz="2400" spc="-19">
                <a:solidFill>
                  <a:srgbClr val="000000"/>
                </a:solidFill>
                <a:latin typeface="TT Ramillas"/>
                <a:ea typeface="TT Ramillas"/>
                <a:cs typeface="TT Ramillas"/>
                <a:sym typeface="TT Ramillas"/>
              </a:rPr>
              <a:t>Causal constraint: only past neighbours included at time t</a:t>
            </a:r>
          </a:p>
          <a:p>
            <a:pPr algn="just" marL="781050" indent="-156210" lvl="4">
              <a:lnSpc>
                <a:spcPts val="2878"/>
              </a:lnSpc>
              <a:buFont typeface="Arial"/>
              <a:buChar char="•"/>
            </a:pPr>
            <a:r>
              <a:rPr lang="en-US" sz="2400" spc="-19">
                <a:solidFill>
                  <a:srgbClr val="000000"/>
                </a:solidFill>
                <a:latin typeface="TT Ramillas"/>
                <a:ea typeface="TT Ramillas"/>
                <a:cs typeface="TT Ramillas"/>
                <a:sym typeface="TT Ramillas"/>
              </a:rPr>
              <a:t>Time-delta encoding: φ(t_current − t_neighbour) per edge</a:t>
            </a:r>
          </a:p>
          <a:p>
            <a:pPr algn="just" marL="781050" indent="-156210" lvl="4">
              <a:lnSpc>
                <a:spcPts val="2878"/>
              </a:lnSpc>
              <a:buFont typeface="Arial"/>
              <a:buChar char="•"/>
            </a:pPr>
            <a:r>
              <a:rPr lang="en-US" sz="2400" spc="-19">
                <a:solidFill>
                  <a:srgbClr val="000000"/>
                </a:solidFill>
                <a:latin typeface="TT Ramillas"/>
                <a:ea typeface="TT Ramillas"/>
                <a:cs typeface="TT Ramillas"/>
                <a:sym typeface="TT Ramillas"/>
              </a:rPr>
              <a:t>Concatenation: [node features (172d) || time encoding (128d)]</a:t>
            </a:r>
          </a:p>
          <a:p>
            <a:pPr algn="just" marL="781050" indent="-156210" lvl="4">
              <a:lnSpc>
                <a:spcPts val="2878"/>
              </a:lnSpc>
              <a:buFont typeface="Arial"/>
              <a:buChar char="•"/>
            </a:pPr>
            <a:r>
              <a:rPr lang="en-US" sz="2400" spc="-19">
                <a:solidFill>
                  <a:srgbClr val="000000"/>
                </a:solidFill>
                <a:latin typeface="TT Ramillas"/>
                <a:ea typeface="TT Ramillas"/>
                <a:cs typeface="TT Ramillas"/>
                <a:sym typeface="TT Ramillas"/>
              </a:rPr>
              <a:t>Multi-head attention: 4 heads over temporal neighbourhood</a:t>
            </a:r>
          </a:p>
          <a:p>
            <a:pPr algn="just" marL="1171575" indent="-234315" lvl="4">
              <a:lnSpc>
                <a:spcPts val="4320"/>
              </a:lnSpc>
            </a:pPr>
            <a:r>
              <a:rPr lang="en-US" b="true" sz="3600" spc="-29">
                <a:solidFill>
                  <a:srgbClr val="000000"/>
                </a:solidFill>
                <a:latin typeface="TT Ramillas Bold"/>
                <a:ea typeface="TT Ramillas Bold"/>
                <a:cs typeface="TT Ramillas Bold"/>
                <a:sym typeface="TT Ramillas Bold"/>
              </a:rPr>
              <a:t>Output:</a:t>
            </a:r>
          </a:p>
          <a:p>
            <a:pPr algn="just" marL="781050" indent="-156210" lvl="4">
              <a:lnSpc>
                <a:spcPts val="2878"/>
              </a:lnSpc>
            </a:pPr>
            <a:r>
              <a:rPr lang="en-US" sz="2400" spc="-19">
                <a:solidFill>
                  <a:srgbClr val="000000"/>
                </a:solidFill>
                <a:latin typeface="TT Ramillas"/>
                <a:ea typeface="TT Ramillas"/>
                <a:cs typeface="TT Ramillas"/>
                <a:sym typeface="TT Ramillas"/>
              </a:rPr>
              <a:t>Time-aware node embeddings capturing laundering-specific temporal signatures.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6830599" y="9612544"/>
            <a:ext cx="1097566" cy="602075"/>
            <a:chOff x="0" y="0"/>
            <a:chExt cx="1463421" cy="802767"/>
          </a:xfrm>
        </p:grpSpPr>
        <p:sp>
          <p:nvSpPr>
            <p:cNvPr name="Freeform 8" id="8"/>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5">
                <a:alphaModFix amt="0"/>
              </a:blip>
              <a:stretch>
                <a:fillRect l="-20430" t="0" r="-20430" b="0"/>
              </a:stretch>
            </a:blipFill>
          </p:spPr>
        </p:sp>
      </p:grpSp>
      <p:grpSp>
        <p:nvGrpSpPr>
          <p:cNvPr name="Group 9" id="9"/>
          <p:cNvGrpSpPr/>
          <p:nvPr/>
        </p:nvGrpSpPr>
        <p:grpSpPr>
          <a:xfrm rot="0">
            <a:off x="16830599" y="9598257"/>
            <a:ext cx="1097566" cy="616363"/>
            <a:chOff x="0" y="0"/>
            <a:chExt cx="1463421" cy="821817"/>
          </a:xfrm>
        </p:grpSpPr>
        <p:sp>
          <p:nvSpPr>
            <p:cNvPr name="Freeform 10" id="10"/>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6">
                <a:alphaModFix amt="0"/>
              </a:blip>
              <a:stretch>
                <a:fillRect l="-22101" t="0" r="-22101" b="0"/>
              </a:stretch>
            </a:blipFill>
          </p:spPr>
        </p:sp>
      </p:grpSp>
      <p:grpSp>
        <p:nvGrpSpPr>
          <p:cNvPr name="Group 11" id="11"/>
          <p:cNvGrpSpPr/>
          <p:nvPr/>
        </p:nvGrpSpPr>
        <p:grpSpPr>
          <a:xfrm rot="0">
            <a:off x="16830599" y="9583969"/>
            <a:ext cx="1097547" cy="630679"/>
            <a:chOff x="0" y="0"/>
            <a:chExt cx="1463396" cy="840905"/>
          </a:xfrm>
        </p:grpSpPr>
        <p:sp>
          <p:nvSpPr>
            <p:cNvPr name="Freeform 12" id="12"/>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7">
                <a:alphaModFix amt="0"/>
              </a:blip>
              <a:stretch>
                <a:fillRect l="-23777" t="0" r="-23775" b="-4"/>
              </a:stretch>
            </a:blipFill>
          </p:spPr>
        </p:sp>
      </p:grpSp>
      <p:grpSp>
        <p:nvGrpSpPr>
          <p:cNvPr name="Group 13" id="13"/>
          <p:cNvGrpSpPr/>
          <p:nvPr/>
        </p:nvGrpSpPr>
        <p:grpSpPr>
          <a:xfrm rot="0">
            <a:off x="16830599" y="9569682"/>
            <a:ext cx="1097547" cy="644966"/>
            <a:chOff x="0" y="0"/>
            <a:chExt cx="1463396" cy="859955"/>
          </a:xfrm>
        </p:grpSpPr>
        <p:sp>
          <p:nvSpPr>
            <p:cNvPr name="Freeform 14" id="14"/>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8">
                <a:alphaModFix amt="0"/>
              </a:blip>
              <a:stretch>
                <a:fillRect l="-25396" t="0" r="-25396" b="0"/>
              </a:stretch>
            </a:blipFill>
          </p:spPr>
        </p:sp>
        <p:sp>
          <p:nvSpPr>
            <p:cNvPr name="TextBox 15" id="15"/>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15</a:t>
              </a:r>
            </a:p>
          </p:txBody>
        </p:sp>
      </p:grpSp>
      <p:sp>
        <p:nvSpPr>
          <p:cNvPr name="TextBox 16" id="16"/>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17" id="17"/>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18" id="18"/>
          <p:cNvSpPr txBox="true"/>
          <p:nvPr/>
        </p:nvSpPr>
        <p:spPr>
          <a:xfrm rot="0">
            <a:off x="745303" y="883225"/>
            <a:ext cx="15157561" cy="1142733"/>
          </a:xfrm>
          <a:prstGeom prst="rect">
            <a:avLst/>
          </a:prstGeom>
        </p:spPr>
        <p:txBody>
          <a:bodyPr anchor="t" rtlCol="false" tIns="0" lIns="0" bIns="0" rIns="0">
            <a:spAutoFit/>
          </a:bodyPr>
          <a:lstStyle/>
          <a:p>
            <a:pPr algn="l">
              <a:lnSpc>
                <a:spcPts val="5757"/>
              </a:lnSpc>
            </a:pPr>
            <a:r>
              <a:rPr lang="en-US" b="true" sz="3600" spc="-15">
                <a:solidFill>
                  <a:srgbClr val="0000FF"/>
                </a:solidFill>
                <a:latin typeface="IBM Plex Sans Bold"/>
                <a:ea typeface="IBM Plex Sans Bold"/>
                <a:cs typeface="IBM Plex Sans Bold"/>
                <a:sym typeface="IBM Plex Sans Bold"/>
              </a:rPr>
              <a:t>Methodology 3: TGAT Model Training &amp; Pattern Detection</a:t>
            </a:r>
          </a:p>
        </p:txBody>
      </p:sp>
      <p:sp>
        <p:nvSpPr>
          <p:cNvPr name="TextBox 19" id="19"/>
          <p:cNvSpPr txBox="true"/>
          <p:nvPr/>
        </p:nvSpPr>
        <p:spPr>
          <a:xfrm rot="0">
            <a:off x="745303" y="2459984"/>
            <a:ext cx="17079849" cy="4979441"/>
          </a:xfrm>
          <a:prstGeom prst="rect">
            <a:avLst/>
          </a:prstGeom>
        </p:spPr>
        <p:txBody>
          <a:bodyPr anchor="t" rtlCol="false" tIns="0" lIns="0" bIns="0" rIns="0">
            <a:spAutoFit/>
          </a:bodyPr>
          <a:lstStyle/>
          <a:p>
            <a:pPr algn="just">
              <a:lnSpc>
                <a:spcPts val="4320"/>
              </a:lnSpc>
            </a:pPr>
            <a:r>
              <a:rPr lang="en-US" b="true" sz="3600" spc="-29">
                <a:solidFill>
                  <a:srgbClr val="000000"/>
                </a:solidFill>
                <a:latin typeface="TT Ramillas Bold"/>
                <a:ea typeface="TT Ramillas Bold"/>
                <a:cs typeface="TT Ramillas Bold"/>
                <a:sym typeface="TT Ramillas Bold"/>
              </a:rPr>
              <a:t>Description:</a:t>
            </a:r>
          </a:p>
          <a:p>
            <a:pPr algn="just">
              <a:lnSpc>
                <a:spcPts val="2878"/>
              </a:lnSpc>
            </a:pPr>
            <a:r>
              <a:rPr lang="en-US" sz="2400" spc="-19">
                <a:solidFill>
                  <a:srgbClr val="000000"/>
                </a:solidFill>
                <a:latin typeface="TT Ramillas"/>
                <a:ea typeface="TT Ramillas"/>
                <a:cs typeface="TT Ramillas"/>
                <a:sym typeface="TT Ramillas"/>
              </a:rPr>
              <a:t>Train the full TGAT model with learnable Fourier encoding on the Elliptic dataset. Build three pattern-specific detection heads on the shared embedding space. Train with binary cross-entropy loss and per-timestep class weighting to address the ~2% illicit class imbalance across 49 time steps.</a:t>
            </a:r>
          </a:p>
          <a:p>
            <a:pPr algn="just">
              <a:lnSpc>
                <a:spcPts val="4320"/>
              </a:lnSpc>
            </a:pPr>
            <a:r>
              <a:rPr lang="en-US" b="true" sz="3600" spc="-29">
                <a:solidFill>
                  <a:srgbClr val="000000"/>
                </a:solidFill>
                <a:latin typeface="TT Ramillas Bold"/>
                <a:ea typeface="TT Ramillas Bold"/>
                <a:cs typeface="TT Ramillas Bold"/>
                <a:sym typeface="TT Ramillas Bold"/>
              </a:rPr>
              <a:t>Components:</a:t>
            </a:r>
          </a:p>
          <a:p>
            <a:pPr algn="l" marL="880110" indent="-176022" lvl="4">
              <a:lnSpc>
                <a:spcPts val="2878"/>
              </a:lnSpc>
              <a:buFont typeface="Arial"/>
              <a:buChar char="•"/>
            </a:pPr>
            <a:r>
              <a:rPr lang="en-US" sz="2400" spc="-25">
                <a:solidFill>
                  <a:srgbClr val="000000"/>
                </a:solidFill>
                <a:latin typeface="TT Ramillas"/>
                <a:ea typeface="TT Ramillas"/>
                <a:cs typeface="TT Ramillas"/>
                <a:sym typeface="TT Ramillas"/>
              </a:rPr>
              <a:t>Circular Transfer Head: subgraph motif matching on temporal cycles A→B→C→A</a:t>
            </a:r>
          </a:p>
          <a:p>
            <a:pPr algn="l" marL="880110" indent="-176022" lvl="4">
              <a:lnSpc>
                <a:spcPts val="2878"/>
              </a:lnSpc>
              <a:buFont typeface="Arial"/>
              <a:buChar char="•"/>
            </a:pPr>
            <a:r>
              <a:rPr lang="en-US" sz="2400" spc="-25">
                <a:solidFill>
                  <a:srgbClr val="000000"/>
                </a:solidFill>
                <a:latin typeface="TT Ramillas"/>
                <a:ea typeface="TT Ramillas"/>
                <a:cs typeface="TT Ramillas"/>
                <a:sym typeface="TT Ramillas"/>
              </a:rPr>
              <a:t>Layering Chain Head: temporal path velocity scoring for 10+ hop chains</a:t>
            </a:r>
          </a:p>
          <a:p>
            <a:pPr algn="l" marL="880110" indent="-176022" lvl="4">
              <a:lnSpc>
                <a:spcPts val="2878"/>
              </a:lnSpc>
              <a:buFont typeface="Arial"/>
              <a:buChar char="•"/>
            </a:pPr>
            <a:r>
              <a:rPr lang="en-US" sz="2400" spc="-25">
                <a:solidFill>
                  <a:srgbClr val="000000"/>
                </a:solidFill>
                <a:latin typeface="TT Ramillas"/>
                <a:ea typeface="TT Ramillas"/>
                <a:cs typeface="TT Ramillas"/>
                <a:sym typeface="TT Ramillas"/>
              </a:rPr>
              <a:t>Smurfing Head: fan-out anomaly score for 50+ outgoing txns in 1-2 steps</a:t>
            </a:r>
          </a:p>
          <a:p>
            <a:pPr algn="l" marL="880110" indent="-176022" lvl="4">
              <a:lnSpc>
                <a:spcPts val="2878"/>
              </a:lnSpc>
              <a:buFont typeface="Arial"/>
              <a:buChar char="•"/>
            </a:pPr>
            <a:r>
              <a:rPr lang="en-US" sz="2400" spc="-25">
                <a:solidFill>
                  <a:srgbClr val="000000"/>
                </a:solidFill>
                <a:latin typeface="TT Ramillas"/>
                <a:ea typeface="TT Ramillas"/>
                <a:cs typeface="TT Ramillas"/>
                <a:sym typeface="TT Ramillas"/>
              </a:rPr>
              <a:t>Loss: Binary Cross-Entropy + L2 regularization + per-timestep class weights</a:t>
            </a:r>
          </a:p>
          <a:p>
            <a:pPr algn="l" marL="880110" indent="-176022" lvl="4">
              <a:lnSpc>
                <a:spcPts val="2878"/>
              </a:lnSpc>
              <a:buFont typeface="Arial"/>
              <a:buChar char="•"/>
            </a:pPr>
            <a:r>
              <a:rPr lang="en-US" sz="2400" spc="-25">
                <a:solidFill>
                  <a:srgbClr val="000000"/>
                </a:solidFill>
                <a:latin typeface="TT Ramillas"/>
                <a:ea typeface="TT Ramillas"/>
                <a:cs typeface="TT Ramillas"/>
                <a:sym typeface="TT Ramillas"/>
              </a:rPr>
              <a:t>Optimizer: Adam, LR=0.001, 200 epochs, Google Colab free GPU</a:t>
            </a:r>
          </a:p>
          <a:p>
            <a:pPr algn="just" marL="1320165" indent="-264033" lvl="4">
              <a:lnSpc>
                <a:spcPts val="4320"/>
              </a:lnSpc>
            </a:pPr>
            <a:r>
              <a:rPr lang="en-US" b="true" sz="3600" spc="-29">
                <a:solidFill>
                  <a:srgbClr val="000000"/>
                </a:solidFill>
                <a:latin typeface="TT Ramillas Bold"/>
                <a:ea typeface="TT Ramillas Bold"/>
                <a:cs typeface="TT Ramillas Bold"/>
                <a:sym typeface="TT Ramillas Bold"/>
              </a:rPr>
              <a:t>Output:</a:t>
            </a:r>
          </a:p>
          <a:p>
            <a:pPr algn="just" marL="880110" indent="-176022" lvl="4">
              <a:lnSpc>
                <a:spcPts val="2878"/>
              </a:lnSpc>
            </a:pPr>
            <a:r>
              <a:rPr lang="en-US" sz="2400" spc="-19">
                <a:solidFill>
                  <a:srgbClr val="000000"/>
                </a:solidFill>
                <a:latin typeface="TT Ramillas"/>
                <a:ea typeface="TT Ramillas"/>
                <a:cs typeface="TT Ramillas"/>
                <a:sym typeface="TT Ramillas"/>
              </a:rPr>
              <a:t>Trained TGAT model producing multi-label pattern classification for every wallet node.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6830599" y="9612544"/>
            <a:ext cx="1097566" cy="602075"/>
            <a:chOff x="0" y="0"/>
            <a:chExt cx="1463421" cy="802767"/>
          </a:xfrm>
        </p:grpSpPr>
        <p:sp>
          <p:nvSpPr>
            <p:cNvPr name="Freeform 8" id="8"/>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5">
                <a:alphaModFix amt="0"/>
              </a:blip>
              <a:stretch>
                <a:fillRect l="-20430" t="0" r="-20430" b="0"/>
              </a:stretch>
            </a:blipFill>
          </p:spPr>
        </p:sp>
      </p:grpSp>
      <p:grpSp>
        <p:nvGrpSpPr>
          <p:cNvPr name="Group 9" id="9"/>
          <p:cNvGrpSpPr/>
          <p:nvPr/>
        </p:nvGrpSpPr>
        <p:grpSpPr>
          <a:xfrm rot="0">
            <a:off x="16830599" y="9598257"/>
            <a:ext cx="1097566" cy="616363"/>
            <a:chOff x="0" y="0"/>
            <a:chExt cx="1463421" cy="821817"/>
          </a:xfrm>
        </p:grpSpPr>
        <p:sp>
          <p:nvSpPr>
            <p:cNvPr name="Freeform 10" id="10"/>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6">
                <a:alphaModFix amt="0"/>
              </a:blip>
              <a:stretch>
                <a:fillRect l="-22101" t="0" r="-22101" b="0"/>
              </a:stretch>
            </a:blipFill>
          </p:spPr>
        </p:sp>
      </p:grpSp>
      <p:grpSp>
        <p:nvGrpSpPr>
          <p:cNvPr name="Group 11" id="11"/>
          <p:cNvGrpSpPr/>
          <p:nvPr/>
        </p:nvGrpSpPr>
        <p:grpSpPr>
          <a:xfrm rot="0">
            <a:off x="16830599" y="9583969"/>
            <a:ext cx="1097547" cy="630679"/>
            <a:chOff x="0" y="0"/>
            <a:chExt cx="1463396" cy="840905"/>
          </a:xfrm>
        </p:grpSpPr>
        <p:sp>
          <p:nvSpPr>
            <p:cNvPr name="Freeform 12" id="12"/>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7">
                <a:alphaModFix amt="0"/>
              </a:blip>
              <a:stretch>
                <a:fillRect l="-23777" t="0" r="-23775" b="-4"/>
              </a:stretch>
            </a:blipFill>
          </p:spPr>
        </p:sp>
      </p:grpSp>
      <p:grpSp>
        <p:nvGrpSpPr>
          <p:cNvPr name="Group 13" id="13"/>
          <p:cNvGrpSpPr/>
          <p:nvPr/>
        </p:nvGrpSpPr>
        <p:grpSpPr>
          <a:xfrm rot="0">
            <a:off x="16830599" y="9569682"/>
            <a:ext cx="1097547" cy="644966"/>
            <a:chOff x="0" y="0"/>
            <a:chExt cx="1463396" cy="859955"/>
          </a:xfrm>
        </p:grpSpPr>
        <p:sp>
          <p:nvSpPr>
            <p:cNvPr name="Freeform 14" id="14"/>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8">
                <a:alphaModFix amt="0"/>
              </a:blip>
              <a:stretch>
                <a:fillRect l="-25396" t="0" r="-25396" b="0"/>
              </a:stretch>
            </a:blipFill>
          </p:spPr>
        </p:sp>
        <p:sp>
          <p:nvSpPr>
            <p:cNvPr name="TextBox 15" id="15"/>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16</a:t>
              </a:r>
            </a:p>
          </p:txBody>
        </p:sp>
      </p:grpSp>
      <p:sp>
        <p:nvSpPr>
          <p:cNvPr name="TextBox 16" id="16"/>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17" id="17"/>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18" id="18"/>
          <p:cNvSpPr txBox="true"/>
          <p:nvPr/>
        </p:nvSpPr>
        <p:spPr>
          <a:xfrm rot="0">
            <a:off x="754837" y="912743"/>
            <a:ext cx="15157561" cy="1142733"/>
          </a:xfrm>
          <a:prstGeom prst="rect">
            <a:avLst/>
          </a:prstGeom>
        </p:spPr>
        <p:txBody>
          <a:bodyPr anchor="t" rtlCol="false" tIns="0" lIns="0" bIns="0" rIns="0">
            <a:spAutoFit/>
          </a:bodyPr>
          <a:lstStyle/>
          <a:p>
            <a:pPr algn="l">
              <a:lnSpc>
                <a:spcPts val="5757"/>
              </a:lnSpc>
            </a:pPr>
            <a:r>
              <a:rPr lang="en-US" b="true" sz="3600" spc="-15">
                <a:solidFill>
                  <a:srgbClr val="0000FF"/>
                </a:solidFill>
                <a:latin typeface="IBM Plex Sans Bold"/>
                <a:ea typeface="IBM Plex Sans Bold"/>
                <a:cs typeface="IBM Plex Sans Bold"/>
                <a:sym typeface="IBM Plex Sans Bold"/>
              </a:rPr>
              <a:t>Methodology 4: Explainability &amp; Benchmarking</a:t>
            </a:r>
          </a:p>
        </p:txBody>
      </p:sp>
      <p:sp>
        <p:nvSpPr>
          <p:cNvPr name="TextBox 19" id="19"/>
          <p:cNvSpPr txBox="true"/>
          <p:nvPr/>
        </p:nvSpPr>
        <p:spPr>
          <a:xfrm rot="0">
            <a:off x="745303" y="2459984"/>
            <a:ext cx="16756799" cy="4248474"/>
          </a:xfrm>
          <a:prstGeom prst="rect">
            <a:avLst/>
          </a:prstGeom>
        </p:spPr>
        <p:txBody>
          <a:bodyPr anchor="t" rtlCol="false" tIns="0" lIns="0" bIns="0" rIns="0">
            <a:spAutoFit/>
          </a:bodyPr>
          <a:lstStyle/>
          <a:p>
            <a:pPr algn="just">
              <a:lnSpc>
                <a:spcPts val="4320"/>
              </a:lnSpc>
            </a:pPr>
            <a:r>
              <a:rPr lang="en-US" b="true" sz="3600" spc="-29">
                <a:solidFill>
                  <a:srgbClr val="000000"/>
                </a:solidFill>
                <a:latin typeface="TT Ramillas Bold"/>
                <a:ea typeface="TT Ramillas Bold"/>
                <a:cs typeface="TT Ramillas Bold"/>
                <a:sym typeface="TT Ramillas Bold"/>
              </a:rPr>
              <a:t>Description:</a:t>
            </a:r>
          </a:p>
          <a:p>
            <a:pPr algn="just">
              <a:lnSpc>
                <a:spcPts val="2878"/>
              </a:lnSpc>
            </a:pPr>
            <a:r>
              <a:rPr lang="en-US" sz="2400" spc="-19">
                <a:solidFill>
                  <a:srgbClr val="000000"/>
                </a:solidFill>
                <a:latin typeface="TT Ramillas"/>
                <a:ea typeface="TT Ramillas"/>
                <a:cs typeface="TT Ramillas"/>
                <a:sym typeface="TT Ramillas"/>
              </a:rPr>
              <a:t>Integrate GNNExplainer to produce per-alert, per-pattern minimal subgraph evidence. Benchmark TemporalAML against 5 baselines. Run ablation study removing time encoding and pattern heads to isolate each contribution. Report Precision, Recall, F1-Score, and AUC-ROC for all models.</a:t>
            </a:r>
          </a:p>
          <a:p>
            <a:pPr algn="just">
              <a:lnSpc>
                <a:spcPts val="4320"/>
              </a:lnSpc>
            </a:pPr>
            <a:r>
              <a:rPr lang="en-US" b="true" sz="3600" spc="-29">
                <a:solidFill>
                  <a:srgbClr val="000000"/>
                </a:solidFill>
                <a:latin typeface="TT Ramillas Bold"/>
                <a:ea typeface="TT Ramillas Bold"/>
                <a:cs typeface="TT Ramillas Bold"/>
                <a:sym typeface="TT Ramillas Bold"/>
              </a:rPr>
              <a:t>Baselines:</a:t>
            </a:r>
          </a:p>
          <a:p>
            <a:pPr algn="just" marL="781050" indent="-156210" lvl="4">
              <a:lnSpc>
                <a:spcPts val="2878"/>
              </a:lnSpc>
              <a:buFont typeface="Arial"/>
              <a:buChar char="•"/>
            </a:pPr>
            <a:r>
              <a:rPr lang="en-US" sz="2400" spc="-19">
                <a:solidFill>
                  <a:srgbClr val="000000"/>
                </a:solidFill>
                <a:latin typeface="TT Ramillas"/>
                <a:ea typeface="TT Ramillas"/>
                <a:cs typeface="TT Ramillas"/>
                <a:sym typeface="TT Ramillas"/>
              </a:rPr>
              <a:t>B1: Rule-based AML (threshold + blacklist)</a:t>
            </a:r>
          </a:p>
          <a:p>
            <a:pPr algn="just" marL="781050" indent="-156210" lvl="4">
              <a:lnSpc>
                <a:spcPts val="2878"/>
              </a:lnSpc>
              <a:buFont typeface="Arial"/>
              <a:buChar char="•"/>
            </a:pPr>
            <a:r>
              <a:rPr lang="en-US" sz="2400" spc="-19">
                <a:solidFill>
                  <a:srgbClr val="000000"/>
                </a:solidFill>
                <a:latin typeface="TT Ramillas"/>
                <a:ea typeface="TT Ramillas"/>
                <a:cs typeface="TT Ramillas"/>
                <a:sym typeface="TT Ramillas"/>
              </a:rPr>
              <a:t>B2: Static GCN (Weber et al. 2019)</a:t>
            </a:r>
          </a:p>
          <a:p>
            <a:pPr algn="just" marL="1171575" indent="-234315" lvl="4">
              <a:lnSpc>
                <a:spcPts val="4320"/>
              </a:lnSpc>
            </a:pPr>
            <a:r>
              <a:rPr lang="en-US" b="true" sz="3600" spc="-29">
                <a:solidFill>
                  <a:srgbClr val="000000"/>
                </a:solidFill>
                <a:latin typeface="TT Ramillas Bold"/>
                <a:ea typeface="TT Ramillas Bold"/>
                <a:cs typeface="TT Ramillas Bold"/>
                <a:sym typeface="TT Ramillas Bold"/>
              </a:rPr>
              <a:t>Output:</a:t>
            </a:r>
          </a:p>
          <a:p>
            <a:pPr algn="just" marL="781050" indent="-156210" lvl="4">
              <a:lnSpc>
                <a:spcPts val="2878"/>
              </a:lnSpc>
            </a:pPr>
            <a:r>
              <a:rPr lang="en-US" sz="2400" spc="-19">
                <a:solidFill>
                  <a:srgbClr val="000000"/>
                </a:solidFill>
                <a:latin typeface="TT Ramillas"/>
                <a:ea typeface="TT Ramillas"/>
                <a:cs typeface="TT Ramillas"/>
                <a:sym typeface="TT Ramillas"/>
              </a:rPr>
              <a:t>Metrics: Precision, Recall, F1-Score, AUC-ROC, Ablation study</a:t>
            </a:r>
          </a:p>
          <a:p>
            <a:pPr algn="just" marL="781050" indent="-156210" lvl="4">
              <a:lnSpc>
                <a:spcPts val="2878"/>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97655"/>
            <a:ext cx="15157561" cy="685800"/>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Expected Outcomes</a:t>
            </a:r>
          </a:p>
        </p:txBody>
      </p:sp>
      <p:sp>
        <p:nvSpPr>
          <p:cNvPr name="TextBox 12" id="12"/>
          <p:cNvSpPr txBox="true"/>
          <p:nvPr/>
        </p:nvSpPr>
        <p:spPr>
          <a:xfrm rot="0">
            <a:off x="745303" y="2010442"/>
            <a:ext cx="15731080" cy="6453959"/>
          </a:xfrm>
          <a:prstGeom prst="rect">
            <a:avLst/>
          </a:prstGeom>
        </p:spPr>
        <p:txBody>
          <a:bodyPr anchor="t" rtlCol="false" tIns="0" lIns="0" bIns="0" rIns="0">
            <a:spAutoFit/>
          </a:bodyPr>
          <a:lstStyle/>
          <a:p>
            <a:pPr algn="just" marL="675438" indent="-168859" lvl="3">
              <a:lnSpc>
                <a:spcPts val="3840"/>
              </a:lnSpc>
              <a:buFont typeface="Arial"/>
              <a:buChar char="￭"/>
            </a:pPr>
            <a:r>
              <a:rPr lang="en-US" sz="2799" spc="-12">
                <a:solidFill>
                  <a:srgbClr val="000000"/>
                </a:solidFill>
                <a:latin typeface="TT Ramillas"/>
                <a:ea typeface="TT Ramillas"/>
                <a:cs typeface="TT Ramillas"/>
                <a:sym typeface="TT Ramillas"/>
              </a:rPr>
              <a:t>A novel Temporal Graph Attention Network with learnable Fourier time encoding that autonomously discovers laundering-specific timescales — outperforming static GCN, GraphSAGE, GNN-LSTM, and ChronoWave-GNN baselines on F1-Score and AUC-ROC metrics on the Elliptic Bitcoin Dataset.</a:t>
            </a:r>
          </a:p>
          <a:p>
            <a:pPr algn="just" marL="675438" indent="-168859" lvl="3">
              <a:lnSpc>
                <a:spcPts val="3840"/>
              </a:lnSpc>
              <a:buFont typeface="Arial"/>
              <a:buChar char="￭"/>
            </a:pPr>
            <a:r>
              <a:rPr lang="en-US" sz="2799" spc="-12">
                <a:solidFill>
                  <a:srgbClr val="000000"/>
                </a:solidFill>
                <a:latin typeface="TT Ramillas"/>
                <a:ea typeface="TT Ramillas"/>
                <a:cs typeface="TT Ramillas"/>
                <a:sym typeface="TT Ramillas"/>
              </a:rPr>
              <a:t>First unified framework simultaneously detecting circular transfers, layering chains, and smurfing from a shared TGAT embedding — producing multi-label pattern classification outputs instead of binary illicit/licit predictions.</a:t>
            </a:r>
          </a:p>
          <a:p>
            <a:pPr algn="just" marL="675438" indent="-168859" lvl="3">
              <a:lnSpc>
                <a:spcPts val="3840"/>
              </a:lnSpc>
              <a:buFont typeface="Arial"/>
              <a:buChar char="￭"/>
            </a:pPr>
            <a:r>
              <a:rPr lang="en-US" sz="2799" spc="-12">
                <a:solidFill>
                  <a:srgbClr val="000000"/>
                </a:solidFill>
                <a:latin typeface="TT Ramillas"/>
                <a:ea typeface="TT Ramillas"/>
                <a:cs typeface="TT Ramillas"/>
                <a:sym typeface="TT Ramillas"/>
              </a:rPr>
              <a:t>Per-pattern time-ordered subgraph evidence reports via GNNExplainer — providing compliance-ready Suspicious Activity Report evidence that identifies which specific transactions constitute the laundering trail.</a:t>
            </a:r>
          </a:p>
          <a:p>
            <a:pPr algn="just" marL="675438" indent="-168859" lvl="3">
              <a:lnSpc>
                <a:spcPts val="3840"/>
              </a:lnSpc>
              <a:buFont typeface="Arial"/>
              <a:buChar char="￭"/>
            </a:pPr>
            <a:r>
              <a:rPr lang="en-US" sz="2799" spc="-12">
                <a:solidFill>
                  <a:srgbClr val="000000"/>
                </a:solidFill>
                <a:latin typeface="TT Ramillas"/>
                <a:ea typeface="TT Ramillas"/>
                <a:cs typeface="TT Ramillas"/>
                <a:sym typeface="TT Ramillas"/>
              </a:rPr>
              <a:t>Formal demonstration that causal temporal neighbourhood constraints are necessary for production AML deployment — preventing future data leakage that makes existing temporal GNN models architecturally unsound.</a:t>
            </a: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17</a:t>
              </a: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97655"/>
            <a:ext cx="16797252" cy="685800"/>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Project Timeline</a:t>
            </a:r>
          </a:p>
        </p:txBody>
      </p:sp>
      <p:grpSp>
        <p:nvGrpSpPr>
          <p:cNvPr name="Group 12" id="12"/>
          <p:cNvGrpSpPr/>
          <p:nvPr/>
        </p:nvGrpSpPr>
        <p:grpSpPr>
          <a:xfrm rot="0">
            <a:off x="16830599" y="9612544"/>
            <a:ext cx="1097566" cy="602075"/>
            <a:chOff x="0" y="0"/>
            <a:chExt cx="1463421" cy="802767"/>
          </a:xfrm>
        </p:grpSpPr>
        <p:sp>
          <p:nvSpPr>
            <p:cNvPr name="Freeform 13" id="13"/>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4" id="14"/>
          <p:cNvGrpSpPr/>
          <p:nvPr/>
        </p:nvGrpSpPr>
        <p:grpSpPr>
          <a:xfrm rot="0">
            <a:off x="16830599" y="9598257"/>
            <a:ext cx="1097566" cy="616363"/>
            <a:chOff x="0" y="0"/>
            <a:chExt cx="1463421" cy="821817"/>
          </a:xfrm>
        </p:grpSpPr>
        <p:sp>
          <p:nvSpPr>
            <p:cNvPr name="Freeform 15" id="15"/>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6" id="16"/>
          <p:cNvGrpSpPr/>
          <p:nvPr/>
        </p:nvGrpSpPr>
        <p:grpSpPr>
          <a:xfrm rot="0">
            <a:off x="16830599" y="9583969"/>
            <a:ext cx="1097547" cy="630679"/>
            <a:chOff x="0" y="0"/>
            <a:chExt cx="1463396" cy="840905"/>
          </a:xfrm>
        </p:grpSpPr>
        <p:sp>
          <p:nvSpPr>
            <p:cNvPr name="Freeform 17" id="17"/>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8" id="18"/>
          <p:cNvGrpSpPr/>
          <p:nvPr/>
        </p:nvGrpSpPr>
        <p:grpSpPr>
          <a:xfrm rot="0">
            <a:off x="16830599" y="9569682"/>
            <a:ext cx="1097547" cy="644966"/>
            <a:chOff x="0" y="0"/>
            <a:chExt cx="1463396" cy="859955"/>
          </a:xfrm>
        </p:grpSpPr>
        <p:sp>
          <p:nvSpPr>
            <p:cNvPr name="Freeform 19" id="19"/>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0" id="20"/>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18</a:t>
              </a:r>
            </a:p>
          </p:txBody>
        </p:sp>
      </p:grpSp>
      <p:graphicFrame>
        <p:nvGraphicFramePr>
          <p:cNvPr name="Table 21" id="21"/>
          <p:cNvGraphicFramePr>
            <a:graphicFrameLocks noGrp="true"/>
          </p:cNvGraphicFramePr>
          <p:nvPr/>
        </p:nvGraphicFramePr>
        <p:xfrm>
          <a:off x="747032" y="1892853"/>
          <a:ext cx="14935200" cy="6299200"/>
        </p:xfrm>
        <a:graphic>
          <a:graphicData uri="http://schemas.openxmlformats.org/drawingml/2006/table">
            <a:tbl>
              <a:tblPr/>
              <a:tblGrid>
                <a:gridCol w="4233162"/>
                <a:gridCol w="1528863"/>
                <a:gridCol w="1528863"/>
                <a:gridCol w="1528863"/>
                <a:gridCol w="1528863"/>
                <a:gridCol w="1528863"/>
                <a:gridCol w="1528863"/>
                <a:gridCol w="1528863"/>
              </a:tblGrid>
              <a:tr h="393700">
                <a:tc>
                  <a:txBody>
                    <a:bodyPr anchor="t" rtlCol="false"/>
                    <a:lstStyle/>
                    <a:p>
                      <a:pPr algn="ctr">
                        <a:lnSpc>
                          <a:spcPts val="1919"/>
                        </a:lnSpc>
                        <a:defRPr/>
                      </a:pPr>
                      <a:r>
                        <a:rPr lang="en-US" b="true" sz="1599" spc="-7">
                          <a:solidFill>
                            <a:srgbClr val="000000"/>
                          </a:solidFill>
                          <a:latin typeface="TT Ramillas Bold"/>
                          <a:ea typeface="TT Ramillas Bold"/>
                          <a:cs typeface="TT Ramillas Bold"/>
                          <a:sym typeface="TT Ramillas Bold"/>
                        </a:rPr>
                        <a:t>Activity</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ctr">
                        <a:lnSpc>
                          <a:spcPts val="1919"/>
                        </a:lnSpc>
                        <a:defRPr/>
                      </a:pPr>
                      <a:r>
                        <a:rPr lang="en-US" b="true" sz="1599" spc="-7">
                          <a:solidFill>
                            <a:srgbClr val="000000"/>
                          </a:solidFill>
                          <a:latin typeface="TT Ramillas Bold"/>
                          <a:ea typeface="TT Ramillas Bold"/>
                          <a:cs typeface="TT Ramillas Bold"/>
                          <a:sym typeface="TT Ramillas Bold"/>
                        </a:rPr>
                        <a:t>May-Jun</a:t>
                      </a:r>
                      <a:endParaRPr lang="en-US" sz="1100"/>
                    </a:p>
                    <a:p>
                      <a:pPr algn="ctr">
                        <a:lnSpc>
                          <a:spcPts val="1919"/>
                        </a:lnSpc>
                      </a:pPr>
                      <a:r>
                        <a:rPr lang="en-US" b="true" sz="1599" spc="-7">
                          <a:solidFill>
                            <a:srgbClr val="000000"/>
                          </a:solidFill>
                          <a:latin typeface="TT Ramillas Bold"/>
                          <a:ea typeface="TT Ramillas Bold"/>
                          <a:cs typeface="TT Ramillas Bold"/>
                          <a:sym typeface="TT Ramillas Bold"/>
                        </a:rPr>
                        <a:t>2026</a:t>
                      </a:r>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ctr">
                        <a:lnSpc>
                          <a:spcPts val="1919"/>
                        </a:lnSpc>
                        <a:defRPr/>
                      </a:pPr>
                      <a:r>
                        <a:rPr lang="en-US" b="true" sz="1599" spc="-7">
                          <a:solidFill>
                            <a:srgbClr val="000000"/>
                          </a:solidFill>
                          <a:latin typeface="TT Ramillas Bold"/>
                          <a:ea typeface="TT Ramillas Bold"/>
                          <a:cs typeface="TT Ramillas Bold"/>
                          <a:sym typeface="TT Ramillas Bold"/>
                        </a:rPr>
                        <a:t>Jul-Aug</a:t>
                      </a:r>
                      <a:endParaRPr lang="en-US" sz="1100"/>
                    </a:p>
                    <a:p>
                      <a:pPr algn="ctr">
                        <a:lnSpc>
                          <a:spcPts val="1919"/>
                        </a:lnSpc>
                      </a:pPr>
                      <a:r>
                        <a:rPr lang="en-US" b="true" sz="1599" spc="-7">
                          <a:solidFill>
                            <a:srgbClr val="000000"/>
                          </a:solidFill>
                          <a:latin typeface="TT Ramillas Bold"/>
                          <a:ea typeface="TT Ramillas Bold"/>
                          <a:cs typeface="TT Ramillas Bold"/>
                          <a:sym typeface="TT Ramillas Bold"/>
                        </a:rPr>
                        <a:t>2026</a:t>
                      </a:r>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ctr">
                        <a:lnSpc>
                          <a:spcPts val="1919"/>
                        </a:lnSpc>
                        <a:defRPr/>
                      </a:pPr>
                      <a:r>
                        <a:rPr lang="en-US" b="true" sz="1599" spc="-7">
                          <a:solidFill>
                            <a:srgbClr val="000000"/>
                          </a:solidFill>
                          <a:latin typeface="TT Ramillas Bold"/>
                          <a:ea typeface="TT Ramillas Bold"/>
                          <a:cs typeface="TT Ramillas Bold"/>
                          <a:sym typeface="TT Ramillas Bold"/>
                        </a:rPr>
                        <a:t>Sep</a:t>
                      </a:r>
                      <a:endParaRPr lang="en-US" sz="1100"/>
                    </a:p>
                    <a:p>
                      <a:pPr algn="ctr">
                        <a:lnSpc>
                          <a:spcPts val="1919"/>
                        </a:lnSpc>
                      </a:pPr>
                      <a:r>
                        <a:rPr lang="en-US" b="true" sz="1599" spc="-7">
                          <a:solidFill>
                            <a:srgbClr val="000000"/>
                          </a:solidFill>
                          <a:latin typeface="TT Ramillas Bold"/>
                          <a:ea typeface="TT Ramillas Bold"/>
                          <a:cs typeface="TT Ramillas Bold"/>
                          <a:sym typeface="TT Ramillas Bold"/>
                        </a:rPr>
                        <a:t>2026</a:t>
                      </a:r>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ctr">
                        <a:lnSpc>
                          <a:spcPts val="1919"/>
                        </a:lnSpc>
                        <a:defRPr/>
                      </a:pPr>
                      <a:r>
                        <a:rPr lang="en-US" b="true" sz="1599" spc="-7">
                          <a:solidFill>
                            <a:srgbClr val="000000"/>
                          </a:solidFill>
                          <a:latin typeface="TT Ramillas Bold"/>
                          <a:ea typeface="TT Ramillas Bold"/>
                          <a:cs typeface="TT Ramillas Bold"/>
                          <a:sym typeface="TT Ramillas Bold"/>
                        </a:rPr>
                        <a:t>Oct</a:t>
                      </a:r>
                      <a:endParaRPr lang="en-US" sz="1100"/>
                    </a:p>
                    <a:p>
                      <a:pPr algn="ctr">
                        <a:lnSpc>
                          <a:spcPts val="1919"/>
                        </a:lnSpc>
                      </a:pPr>
                      <a:r>
                        <a:rPr lang="en-US" b="true" sz="1599" spc="-7">
                          <a:solidFill>
                            <a:srgbClr val="000000"/>
                          </a:solidFill>
                          <a:latin typeface="TT Ramillas Bold"/>
                          <a:ea typeface="TT Ramillas Bold"/>
                          <a:cs typeface="TT Ramillas Bold"/>
                          <a:sym typeface="TT Ramillas Bold"/>
                        </a:rPr>
                        <a:t>2026</a:t>
                      </a:r>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ctr">
                        <a:lnSpc>
                          <a:spcPts val="1919"/>
                        </a:lnSpc>
                        <a:defRPr/>
                      </a:pPr>
                      <a:r>
                        <a:rPr lang="en-US" b="true" sz="1599" spc="-7">
                          <a:solidFill>
                            <a:srgbClr val="000000"/>
                          </a:solidFill>
                          <a:latin typeface="TT Ramillas Bold"/>
                          <a:ea typeface="TT Ramillas Bold"/>
                          <a:cs typeface="TT Ramillas Bold"/>
                          <a:sym typeface="TT Ramillas Bold"/>
                        </a:rPr>
                        <a:t>Nov-Dec</a:t>
                      </a:r>
                      <a:endParaRPr lang="en-US" sz="1100"/>
                    </a:p>
                    <a:p>
                      <a:pPr algn="ctr">
                        <a:lnSpc>
                          <a:spcPts val="1919"/>
                        </a:lnSpc>
                      </a:pPr>
                      <a:r>
                        <a:rPr lang="en-US" b="true" sz="1599" spc="-7">
                          <a:solidFill>
                            <a:srgbClr val="000000"/>
                          </a:solidFill>
                          <a:latin typeface="TT Ramillas Bold"/>
                          <a:ea typeface="TT Ramillas Bold"/>
                          <a:cs typeface="TT Ramillas Bold"/>
                          <a:sym typeface="TT Ramillas Bold"/>
                        </a:rPr>
                        <a:t>2026</a:t>
                      </a:r>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ctr">
                        <a:lnSpc>
                          <a:spcPts val="1919"/>
                        </a:lnSpc>
                        <a:defRPr/>
                      </a:pPr>
                      <a:r>
                        <a:rPr lang="en-US" b="true" sz="1599" spc="-7">
                          <a:solidFill>
                            <a:srgbClr val="000000"/>
                          </a:solidFill>
                          <a:latin typeface="TT Ramillas Bold"/>
                          <a:ea typeface="TT Ramillas Bold"/>
                          <a:cs typeface="TT Ramillas Bold"/>
                          <a:sym typeface="TT Ramillas Bold"/>
                        </a:rPr>
                        <a:t>Jan</a:t>
                      </a:r>
                      <a:endParaRPr lang="en-US" sz="1100"/>
                    </a:p>
                    <a:p>
                      <a:pPr algn="ctr">
                        <a:lnSpc>
                          <a:spcPts val="1919"/>
                        </a:lnSpc>
                      </a:pPr>
                      <a:r>
                        <a:rPr lang="en-US" b="true" sz="1599" spc="-7">
                          <a:solidFill>
                            <a:srgbClr val="000000"/>
                          </a:solidFill>
                          <a:latin typeface="TT Ramillas Bold"/>
                          <a:ea typeface="TT Ramillas Bold"/>
                          <a:cs typeface="TT Ramillas Bold"/>
                          <a:sym typeface="TT Ramillas Bold"/>
                        </a:rPr>
                        <a:t>2027</a:t>
                      </a:r>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ctr">
                        <a:lnSpc>
                          <a:spcPts val="1919"/>
                        </a:lnSpc>
                        <a:defRPr/>
                      </a:pPr>
                      <a:r>
                        <a:rPr lang="en-US" b="true" sz="1599" spc="-7">
                          <a:solidFill>
                            <a:srgbClr val="000000"/>
                          </a:solidFill>
                          <a:latin typeface="TT Ramillas Bold"/>
                          <a:ea typeface="TT Ramillas Bold"/>
                          <a:cs typeface="TT Ramillas Bold"/>
                          <a:sym typeface="TT Ramillas Bold"/>
                        </a:rPr>
                        <a:t>Feb-Mar</a:t>
                      </a:r>
                      <a:endParaRPr lang="en-US" sz="1100"/>
                    </a:p>
                    <a:p>
                      <a:pPr algn="ctr">
                        <a:lnSpc>
                          <a:spcPts val="1919"/>
                        </a:lnSpc>
                      </a:pPr>
                      <a:r>
                        <a:rPr lang="en-US" b="true" sz="1599" spc="-7">
                          <a:solidFill>
                            <a:srgbClr val="000000"/>
                          </a:solidFill>
                          <a:latin typeface="TT Ramillas Bold"/>
                          <a:ea typeface="TT Ramillas Bold"/>
                          <a:cs typeface="TT Ramillas Bold"/>
                          <a:sym typeface="TT Ramillas Bold"/>
                        </a:rPr>
                        <a:t>2027</a:t>
                      </a:r>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Topic Finalization, Domain Study, Problem Formulation &amp; 0th Review</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Literature Survey (30+ papers), Gap Analysis, Novelty &amp; Review 1</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Dataset Download, EDA, Temporal Graph Construction (O1) &amp; Review 2</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Baseline Implementation (GCN, GraphSAGE, GNN-LSTM)</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TGAT + Learnable Fourier Time Encoding — O2</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Multi-Pattern Detection Heads — O3</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GNNExplainer Integration &amp; Ablation Study — O4, O5</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Full Benchmark vs 5 Baselines &amp; Result Validation</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Paper Writing — Introduction, Literature Review, Methodology</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Paper Submission (ICAIF 2025 / IEEE Q1 Journal)</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Paper Refinement, Revision &amp; Camera-Ready Submission</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Dissertation Complete Documentation &amp; Chapter Writing</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Paper Presentation at Conference (Jan 2027)</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Phase II End-Semester Examination (Feb 2027)</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Final Viva-Voce &amp; Degree Award (Mar 2027)</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r>
            </a:tbl>
          </a:graphicData>
        </a:graphic>
      </p:graphicFrame>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97655"/>
            <a:ext cx="15157561" cy="685800"/>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Conclusion</a:t>
            </a:r>
          </a:p>
        </p:txBody>
      </p:sp>
      <p:sp>
        <p:nvSpPr>
          <p:cNvPr name="TextBox 12" id="12"/>
          <p:cNvSpPr txBox="true"/>
          <p:nvPr/>
        </p:nvSpPr>
        <p:spPr>
          <a:xfrm rot="0">
            <a:off x="643252" y="2112502"/>
            <a:ext cx="15731080" cy="3898506"/>
          </a:xfrm>
          <a:prstGeom prst="rect">
            <a:avLst/>
          </a:prstGeom>
        </p:spPr>
        <p:txBody>
          <a:bodyPr anchor="t" rtlCol="false" tIns="0" lIns="0" bIns="0" rIns="0">
            <a:spAutoFit/>
          </a:bodyPr>
          <a:lstStyle/>
          <a:p>
            <a:pPr algn="just">
              <a:lnSpc>
                <a:spcPts val="3840"/>
              </a:lnSpc>
            </a:pPr>
            <a:r>
              <a:rPr lang="en-US" sz="3200" spc="-26">
                <a:solidFill>
                  <a:srgbClr val="000000"/>
                </a:solidFill>
                <a:latin typeface="TT Ramillas"/>
                <a:ea typeface="TT Ramillas"/>
                <a:cs typeface="TT Ramillas"/>
                <a:sym typeface="TT Ramillas"/>
              </a:rPr>
              <a:t>This research proposes TemporalAML — a Temporal Graph Attention Network with learnable Fourier time encoding for explainable multi-pattern Anti-Money Laundering detection in cryptocurrency transaction networks. The framework addresses five critical gaps identified across 30+ reviewed papers: static graph representations that ignore time, disconnected temporal modules, fixed frequency encodings, binary-only classification, and absence of pattern-aware explainability. TemporalAML integrates learnable time encoding directly inside graph attention, simultaneously detects circular transfers, layering chains, and smurfing from shared embeddings, and generates per-pattern time-ordered subgraph evidence via GNNExplainer — producing the first AML system capable of compliance-ready Suspicious Activity Report generation. Experimental validation on the Elliptic Bitcoin Dataset against five baselines is expected to demonstrate superior Precision, Recall, F1-Score, and AUC-ROC, with ablation studies confirming the independent contribution of each proposed component.</a:t>
            </a: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19</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97655"/>
            <a:ext cx="15157561" cy="685800"/>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References</a:t>
            </a:r>
          </a:p>
        </p:txBody>
      </p:sp>
      <p:sp>
        <p:nvSpPr>
          <p:cNvPr name="TextBox 12" id="12"/>
          <p:cNvSpPr txBox="true"/>
          <p:nvPr/>
        </p:nvSpPr>
        <p:spPr>
          <a:xfrm rot="0">
            <a:off x="594922" y="2036883"/>
            <a:ext cx="16204968" cy="7432805"/>
          </a:xfrm>
          <a:prstGeom prst="rect">
            <a:avLst/>
          </a:prstGeom>
        </p:spPr>
        <p:txBody>
          <a:bodyPr anchor="t" rtlCol="false" tIns="0" lIns="0" bIns="0" rIns="0">
            <a:spAutoFit/>
          </a:bodyPr>
          <a:lstStyle/>
          <a:p>
            <a:pPr algn="just" marL="852968" indent="-170594" lvl="4">
              <a:lnSpc>
                <a:spcPts val="2760"/>
              </a:lnSpc>
              <a:buAutoNum type="arabicPeriod" startAt="1"/>
            </a:pPr>
            <a:r>
              <a:rPr lang="en-US" sz="2300" spc="-17">
                <a:solidFill>
                  <a:srgbClr val="000000"/>
                </a:solidFill>
                <a:latin typeface="TT Ramillas"/>
                <a:ea typeface="TT Ramillas"/>
                <a:cs typeface="TT Ramillas"/>
                <a:sym typeface="TT Ramillas"/>
              </a:rPr>
              <a:t>M. Weber, G. Domeniconi, J. Chen, D. K. I. Weidele, C. Bellei, T. Robinson, and C. E. Leiserson, "Anti-Money Laundering in Bitcoin: Experimenting with Graph Convolutional Networks for Financial Forensics," in Proc. KDD 2019 Workshop on Anomaly Detection in Finance, 2019.</a:t>
            </a:r>
          </a:p>
          <a:p>
            <a:pPr algn="just" marL="852968" indent="-170594" lvl="4">
              <a:lnSpc>
                <a:spcPts val="2760"/>
              </a:lnSpc>
              <a:buAutoNum type="arabicPeriod" startAt="1"/>
            </a:pPr>
            <a:r>
              <a:rPr lang="en-US" sz="2300" spc="-17">
                <a:solidFill>
                  <a:srgbClr val="000000"/>
                </a:solidFill>
                <a:latin typeface="TT Ramillas"/>
                <a:ea typeface="TT Ramillas"/>
                <a:cs typeface="TT Ramillas"/>
                <a:sym typeface="TT Ramillas"/>
              </a:rPr>
              <a:t>I. Alarab and S. Prakoonwit, "Graph-based LSTM for Anti-Money Laundering: Experimenting Temporal Graph Convolutional Network with Bitcoin Data," Neural Processing Letters, Springer, 2023.</a:t>
            </a:r>
          </a:p>
          <a:p>
            <a:pPr algn="just" marL="852968" indent="-170594" lvl="4">
              <a:lnSpc>
                <a:spcPts val="2760"/>
              </a:lnSpc>
              <a:buAutoNum type="arabicPeriod" startAt="1"/>
            </a:pPr>
            <a:r>
              <a:rPr lang="en-US" sz="2300" spc="-17">
                <a:solidFill>
                  <a:srgbClr val="000000"/>
                </a:solidFill>
                <a:latin typeface="TT Ramillas"/>
                <a:ea typeface="TT Ramillas"/>
                <a:cs typeface="TT Ramillas"/>
                <a:sym typeface="TT Ramillas"/>
              </a:rPr>
              <a:t>Z. Lin, Q. Luo, D. Wu, J. Shen, L. Li, X. Nong, and Z. Qin, "Detecting Illicit Transactions in Bitcoin: A Wavelet-Temporal Graph Transformer Approach for Anti-Money Laundering," Scientific Reports, Nature, 2026.</a:t>
            </a:r>
          </a:p>
          <a:p>
            <a:pPr algn="just" marL="852968" indent="-170594" lvl="4">
              <a:lnSpc>
                <a:spcPts val="2760"/>
              </a:lnSpc>
              <a:buAutoNum type="arabicPeriod" startAt="1"/>
            </a:pPr>
            <a:r>
              <a:rPr lang="en-US" sz="2300" spc="-17">
                <a:solidFill>
                  <a:srgbClr val="000000"/>
                </a:solidFill>
                <a:latin typeface="TT Ramillas"/>
                <a:ea typeface="TT Ramillas"/>
                <a:cs typeface="TT Ramillas"/>
                <a:sym typeface="TT Ramillas"/>
              </a:rPr>
              <a:t>O. Lawal, A. Okolie, and C. Obunadike, "An Explainable Graph Neural Network Framework for Anti-Money Laundering in Cryptocurrency Transactions using the Elliptic Dataset," International Journal of Network Security, 2025.</a:t>
            </a:r>
          </a:p>
          <a:p>
            <a:pPr algn="just" marL="852968" indent="-170594" lvl="4">
              <a:lnSpc>
                <a:spcPts val="2760"/>
              </a:lnSpc>
              <a:buAutoNum type="arabicPeriod" startAt="1"/>
            </a:pPr>
            <a:r>
              <a:rPr lang="en-US" sz="2300" spc="-17">
                <a:solidFill>
                  <a:srgbClr val="000000"/>
                </a:solidFill>
                <a:latin typeface="TT Ramillas"/>
                <a:ea typeface="TT Ramillas"/>
                <a:cs typeface="TT Ramillas"/>
                <a:sym typeface="TT Ramillas"/>
              </a:rPr>
              <a:t>Y. Nie, N. H. Nguyen, P. Sinthong, and J. Kalagnanam, "A Time Series Is Worth 64 Words: Long-Term Forecasting with Transformers," in Proc. International Conference on Learning Representations (ICLR), 2023, doi: 10.48550/arXiv.2211.14730.</a:t>
            </a:r>
          </a:p>
          <a:p>
            <a:pPr algn="just" marL="852968" indent="-170594" lvl="4">
              <a:lnSpc>
                <a:spcPts val="2760"/>
              </a:lnSpc>
              <a:buAutoNum type="arabicPeriod" startAt="1"/>
            </a:pPr>
            <a:r>
              <a:rPr lang="en-US" sz="2300" spc="-17">
                <a:solidFill>
                  <a:srgbClr val="000000"/>
                </a:solidFill>
                <a:latin typeface="TT Ramillas"/>
                <a:ea typeface="TT Ramillas"/>
                <a:cs typeface="TT Ramillas"/>
                <a:sym typeface="TT Ramillas"/>
              </a:rPr>
              <a:t>S. Ferretti, G. D'Angelo, and V. Ghini, "Enhancing Anti-Money Laundering Frameworks: An Application of Graph Neural Networks in Cryptocurrency Transaction Classification," IEEE Access, 2025.</a:t>
            </a:r>
          </a:p>
          <a:p>
            <a:pPr algn="just" marL="852968" indent="-170594" lvl="4">
              <a:lnSpc>
                <a:spcPts val="2760"/>
              </a:lnSpc>
              <a:buAutoNum type="arabicPeriod" startAt="1"/>
            </a:pPr>
            <a:r>
              <a:rPr lang="en-US" sz="2300" spc="-17">
                <a:solidFill>
                  <a:srgbClr val="000000"/>
                </a:solidFill>
                <a:latin typeface="TT Ramillas"/>
                <a:ea typeface="TT Ramillas"/>
                <a:cs typeface="TT Ramillas"/>
                <a:sym typeface="TT Ramillas"/>
              </a:rPr>
              <a:t>Y. He, L. Xing, Y. Chen, W. Pedrycz, L. Wang, and G. Wu, "A Generic Markov Decision Process Model and Reinforcement Learning Method for Scheduling Agile Earth Observation Satellites," IEEE Transactions on Systems, Man, and Cybernetics: Systems, vol. 52, no. 3, pp. 1463-1474, Mar. 2022, doi: 10.1109/TSMC.2020.3020732.</a:t>
            </a:r>
          </a:p>
          <a:p>
            <a:pPr algn="just" marL="852968" indent="-170594" lvl="4">
              <a:lnSpc>
                <a:spcPts val="2760"/>
              </a:lnSpc>
              <a:buAutoNum type="arabicPeriod" startAt="1"/>
            </a:pPr>
            <a:r>
              <a:rPr lang="en-US" sz="2300" spc="-17">
                <a:solidFill>
                  <a:srgbClr val="000000"/>
                </a:solidFill>
                <a:latin typeface="TT Ramillas"/>
                <a:ea typeface="TT Ramillas"/>
                <a:cs typeface="TT Ramillas"/>
                <a:sym typeface="TT Ramillas"/>
              </a:rPr>
              <a:t>B. Peng et al., "FACMAC: Factored Multi-Agent Centralised Policy Gradients," in Advances in Neural Information Processing Systems, vol. 34, pp. 12208-12221, 2021, doi: 10.48550/arXiv.2003.06709.</a:t>
            </a: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20</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97655"/>
            <a:ext cx="15157561" cy="685800"/>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Cont..</a:t>
            </a:r>
          </a:p>
        </p:txBody>
      </p:sp>
      <p:sp>
        <p:nvSpPr>
          <p:cNvPr name="TextBox 12" id="12"/>
          <p:cNvSpPr txBox="true"/>
          <p:nvPr/>
        </p:nvSpPr>
        <p:spPr>
          <a:xfrm rot="0">
            <a:off x="638137" y="1972923"/>
            <a:ext cx="16204968" cy="5143500"/>
          </a:xfrm>
          <a:prstGeom prst="rect">
            <a:avLst/>
          </a:prstGeom>
        </p:spPr>
        <p:txBody>
          <a:bodyPr anchor="t" rtlCol="false" tIns="0" lIns="0" bIns="0" rIns="0">
            <a:spAutoFit/>
          </a:bodyPr>
          <a:lstStyle/>
          <a:p>
            <a:pPr algn="l" marL="525781" indent="-175260" lvl="2">
              <a:lnSpc>
                <a:spcPts val="2760"/>
              </a:lnSpc>
              <a:buAutoNum type="arabicPeriod" startAt="1"/>
            </a:pPr>
            <a:r>
              <a:rPr lang="en-US" sz="2300" spc="-17">
                <a:solidFill>
                  <a:srgbClr val="000000"/>
                </a:solidFill>
                <a:latin typeface="TT Ramillas"/>
                <a:ea typeface="TT Ramillas"/>
                <a:cs typeface="TT Ramillas"/>
                <a:sym typeface="TT Ramillas"/>
              </a:rPr>
              <a:t>R. Ying, D. Bourgeois, J. You, M. Zitnik, and J. Leskovec, "GNNExplainer: Generating Explanations for Graph Neural Networks," Advances in Neural Information Processing Systems (NeurIPS), 2019.</a:t>
            </a:r>
          </a:p>
          <a:p>
            <a:pPr algn="just" marL="525781" indent="-175260" lvl="2">
              <a:lnSpc>
                <a:spcPts val="2760"/>
              </a:lnSpc>
              <a:buAutoNum type="arabicPeriod" startAt="1"/>
            </a:pPr>
            <a:r>
              <a:rPr lang="en-US" sz="2300" spc="-17">
                <a:solidFill>
                  <a:srgbClr val="000000"/>
                </a:solidFill>
                <a:latin typeface="TT Ramillas"/>
                <a:ea typeface="TT Ramillas"/>
                <a:cs typeface="TT Ramillas"/>
                <a:sym typeface="TT Ramillas"/>
              </a:rPr>
              <a:t>[X. Wang, G. Wu, L. Xing, and W. Pedrycz, "Agile Earth Observation Satellite Scheduling Over 20 Years: Formulations, Methods, and Future Directions," IEEE Systems Journal, vol. 15, no. 3, pp. 3881-3892, Sep. 2021, doi: 10.1109/JSYST.2020.2997050.</a:t>
            </a:r>
          </a:p>
          <a:p>
            <a:pPr algn="just" marL="525781" indent="-175260" lvl="2">
              <a:lnSpc>
                <a:spcPts val="2760"/>
              </a:lnSpc>
              <a:buAutoNum type="arabicPeriod" startAt="1"/>
            </a:pPr>
            <a:r>
              <a:rPr lang="en-US" sz="2300" spc="-17">
                <a:solidFill>
                  <a:srgbClr val="000000"/>
                </a:solidFill>
                <a:latin typeface="TT Ramillas"/>
                <a:ea typeface="TT Ramillas"/>
                <a:cs typeface="TT Ramillas"/>
                <a:sym typeface="TT Ramillas"/>
              </a:rPr>
              <a:t>P. Veličković, G. Cucurull, A. Casanova, A. Romero, P. Liò, and Y. Bengio, "Graph Attention Networks," International Conference on Learning Representations (ICLR), 2018.</a:t>
            </a:r>
          </a:p>
          <a:p>
            <a:pPr algn="just" marL="525781" indent="-175260" lvl="2">
              <a:lnSpc>
                <a:spcPts val="2760"/>
              </a:lnSpc>
              <a:buAutoNum type="arabicPeriod" startAt="1"/>
            </a:pPr>
            <a:r>
              <a:rPr lang="en-US" sz="2300" spc="-17">
                <a:solidFill>
                  <a:srgbClr val="000000"/>
                </a:solidFill>
                <a:latin typeface="TT Ramillas"/>
                <a:ea typeface="TT Ramillas"/>
                <a:cs typeface="TT Ramillas"/>
                <a:sym typeface="TT Ramillas"/>
              </a:rPr>
              <a:t>E. Rossi, B. Chamberlain, F. Frasca, D. Eynard, F. Monti, and M. Bronstein, "Temporal Graph Networks for Deep Learning on Dynamic Graphs," ICML 2020 Workshop on Graph Representation Learning.</a:t>
            </a:r>
          </a:p>
          <a:p>
            <a:pPr algn="just" marL="525781" indent="-175260" lvl="2">
              <a:lnSpc>
                <a:spcPts val="2760"/>
              </a:lnSpc>
              <a:buAutoNum type="arabicPeriod" startAt="1"/>
            </a:pPr>
            <a:r>
              <a:rPr lang="en-US" sz="2300" spc="-17">
                <a:solidFill>
                  <a:srgbClr val="000000"/>
                </a:solidFill>
                <a:latin typeface="TT Ramillas"/>
                <a:ea typeface="TT Ramillas"/>
                <a:cs typeface="TT Ramillas"/>
                <a:sym typeface="TT Ramillas"/>
              </a:rPr>
              <a:t>M. R. Karim, F. Hermsen, S. A. Chala, and P. De Perthuis, "Scalable Semi-Supervised Graph Learning Techniques for Anti-Money Laundering," IEEE, 2024.</a:t>
            </a:r>
          </a:p>
          <a:p>
            <a:pPr algn="just" marL="525781" indent="-175260" lvl="2">
              <a:lnSpc>
                <a:spcPts val="2760"/>
              </a:lnSpc>
              <a:buAutoNum type="arabicPeriod" startAt="1"/>
            </a:pPr>
            <a:r>
              <a:rPr lang="en-US" sz="2300" spc="-17">
                <a:solidFill>
                  <a:srgbClr val="000000"/>
                </a:solidFill>
                <a:latin typeface="TT Ramillas"/>
                <a:ea typeface="TT Ramillas"/>
                <a:cs typeface="TT Ramillas"/>
                <a:sym typeface="TT Ramillas"/>
              </a:rPr>
              <a:t>T. Rashid et al., "QMIX: Monotonic Value Function Factorisation for Deep Multi-Agent Reinforcement Learning," in Proc. 35th International Conference on Machine Learning (ICML), vol. 80, pp. 4295-4304, 2018, doi: 10.48550/arXiv.1803.11485.</a:t>
            </a:r>
          </a:p>
          <a:p>
            <a:pPr algn="just" marL="525781" indent="-175260" lvl="2">
              <a:lnSpc>
                <a:spcPts val="2760"/>
              </a:lnSpc>
              <a:buAutoNum type="arabicPeriod" startAt="1"/>
            </a:pPr>
            <a:r>
              <a:rPr lang="en-US" sz="2300" spc="-17">
                <a:solidFill>
                  <a:srgbClr val="000000"/>
                </a:solidFill>
                <a:latin typeface="TT Ramillas"/>
                <a:ea typeface="TT Ramillas"/>
                <a:cs typeface="TT Ramillas"/>
                <a:sym typeface="TT Ramillas"/>
              </a:rPr>
              <a:t>J. N. Foerster, G. Farquhar, T. Afouras, N. Nardelli, and S. Whiteson, "Counterfactual Multi-Agent Policy Gradients," in Proc. 32nd AAAI Conference on Artificial Intelligence (AAAI), pp. 2974-2982, 2018, doi: 10.1609/aaai.v32i1.11794.</a:t>
            </a: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21</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79" y="3272085"/>
            <a:ext cx="16797252" cy="2167195"/>
          </a:xfrm>
          <a:prstGeom prst="rect">
            <a:avLst/>
          </a:prstGeom>
        </p:spPr>
        <p:txBody>
          <a:bodyPr anchor="t" rtlCol="false" tIns="0" lIns="0" bIns="0" rIns="0">
            <a:spAutoFit/>
          </a:bodyPr>
          <a:lstStyle/>
          <a:p>
            <a:pPr algn="ctr">
              <a:lnSpc>
                <a:spcPts val="17280"/>
              </a:lnSpc>
            </a:pPr>
            <a:r>
              <a:rPr lang="en-US" sz="14400" spc="-65">
                <a:solidFill>
                  <a:srgbClr val="CC0000"/>
                </a:solidFill>
                <a:latin typeface="TT Ramillas"/>
                <a:ea typeface="TT Ramillas"/>
                <a:cs typeface="TT Ramillas"/>
                <a:sym typeface="TT Ramillas"/>
              </a:rPr>
              <a:t>Thank You </a:t>
            </a:r>
          </a:p>
        </p:txBody>
      </p:sp>
      <p:grpSp>
        <p:nvGrpSpPr>
          <p:cNvPr name="Group 12" id="12"/>
          <p:cNvGrpSpPr/>
          <p:nvPr/>
        </p:nvGrpSpPr>
        <p:grpSpPr>
          <a:xfrm rot="0">
            <a:off x="16830599" y="9612544"/>
            <a:ext cx="1097566" cy="602075"/>
            <a:chOff x="0" y="0"/>
            <a:chExt cx="1463421" cy="802767"/>
          </a:xfrm>
        </p:grpSpPr>
        <p:sp>
          <p:nvSpPr>
            <p:cNvPr name="Freeform 13" id="13"/>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4" id="14"/>
          <p:cNvGrpSpPr/>
          <p:nvPr/>
        </p:nvGrpSpPr>
        <p:grpSpPr>
          <a:xfrm rot="0">
            <a:off x="16830599" y="9598257"/>
            <a:ext cx="1097566" cy="616363"/>
            <a:chOff x="0" y="0"/>
            <a:chExt cx="1463421" cy="821817"/>
          </a:xfrm>
        </p:grpSpPr>
        <p:sp>
          <p:nvSpPr>
            <p:cNvPr name="Freeform 15" id="15"/>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6" id="16"/>
          <p:cNvGrpSpPr/>
          <p:nvPr/>
        </p:nvGrpSpPr>
        <p:grpSpPr>
          <a:xfrm rot="0">
            <a:off x="16830599" y="9583969"/>
            <a:ext cx="1097547" cy="630679"/>
            <a:chOff x="0" y="0"/>
            <a:chExt cx="1463396" cy="840905"/>
          </a:xfrm>
        </p:grpSpPr>
        <p:sp>
          <p:nvSpPr>
            <p:cNvPr name="Freeform 17" id="17"/>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8" id="18"/>
          <p:cNvGrpSpPr/>
          <p:nvPr/>
        </p:nvGrpSpPr>
        <p:grpSpPr>
          <a:xfrm rot="0">
            <a:off x="16830599" y="9569682"/>
            <a:ext cx="1097547" cy="644966"/>
            <a:chOff x="0" y="0"/>
            <a:chExt cx="1463396" cy="859955"/>
          </a:xfrm>
        </p:grpSpPr>
        <p:sp>
          <p:nvSpPr>
            <p:cNvPr name="Freeform 19" id="19"/>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0" id="20"/>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22</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DAHS6GS8eks</dc:identifier>
  <dcterms:modified xsi:type="dcterms:W3CDTF">2011-08-01T06:04:30Z</dcterms:modified>
  <cp:revision>1</cp:revision>
  <dc:title>TemporalAML_review_1(AnshuKumari).pptx</dc:title>
</cp:coreProperties>
</file>